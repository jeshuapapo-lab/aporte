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 narración:</a:t>
            </a:r>
          </a:p>
          <a:p>
            <a:r>
              <a:t>Imagina que entras a una tienda y nadie te explica qué vende ni por dónde empezar. En internet ocurre lo mismo. La página de inicio debe orientar. En este tema aprenderás a reconocer sus elementos, proponer una estructura clara y evaluar si ayuda a las personas a avanzar.</a:t>
            </a:r>
          </a:p>
          <a:p/>
          <a:p>
            <a:r>
              <a:t>El caso Minga Cacao y los datos son ficticios. Base curricular: sílabo UPS adjunto, p. 1. Accesibilidad: W3C, WCAG 2.2 (2023).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 narración:</a:t>
            </a:r>
          </a:p>
          <a:p>
            <a:r>
              <a:t>La página de inicio presenta la oferta y distribuye los recorridos del sitio. Debe responder tres preguntas: qué ofrece el negocio, para quién y qué puedo hacer ahora. No todas las visitas comienzan aquí. Una persona también puede llegar directamente a un producto desde un buscador. Por eso, el resto del sitio necesita orientación coherente.</a:t>
            </a:r>
          </a:p>
          <a:p/>
          <a:p>
            <a:r>
              <a:t>El caso Minga Cacao y los datos son ficticios. Base curricular: sílabo UPS adjunto, p. 1. Accesibilidad: W3C, WCAG 2.2 (2023).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 narración:</a:t>
            </a:r>
          </a:p>
          <a:p>
            <a:r>
              <a:t>Una estructura útil comienza con identidad y navegación. El bloque principal comunica el beneficio y presenta una acción prioritaria. Después, el contenido de apoyo muestra la oferta y aporta señales de confianza verificables. El pie reúne contacto, ayuda e información legal. No es una plantilla obligatoria: el orden se adapta al propósito y a las necesidades del público.</a:t>
            </a:r>
          </a:p>
          <a:p/>
          <a:p>
            <a:r>
              <a:t>El caso Minga Cacao y los datos son ficticios. Base curricular: sílabo UPS adjunto, p. 1. Accesibilidad: W3C, WCAG 2.2 (2023).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 narración:</a:t>
            </a:r>
          </a:p>
          <a:p>
            <a:r>
              <a:t>Pensemos en Minga Cacao, un negocio ficticio de Guayaquil. El mensaje calidad y pasión para ti no explica su oferta. Chocolate de cacao ecuatoriano para regalar resulta más concreto. Un botón que dice explorar regalos anticipa mejor el destino que haz clic aquí. Evita prometer entregas o certificaciones que el negocio no puede demostrar.</a:t>
            </a:r>
          </a:p>
          <a:p/>
          <a:p>
            <a:r>
              <a:t>El caso Minga Cacao y los datos son ficticios. Base curricular: sílabo UPS adjunto, p. 1. Accesibilidad: W3C, WCAG 2.2 (2023).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 narración:</a:t>
            </a:r>
          </a:p>
          <a:p>
            <a:r>
              <a:t>Diseña los recorridos según la intención. Quien ya sabe lo que busca necesita acceder fácilmente a las opciones. Quien está comparando necesita contexto y evidencia. Priorizar una acción no significa eliminar las demás. Significa ordenar su importancia para que la página no obligue a elegir entre demasiadas llamadas que compiten entre sí.</a:t>
            </a:r>
          </a:p>
          <a:p/>
          <a:p>
            <a:r>
              <a:t>El caso Minga Cacao y los datos son ficticios. Base curricular: sílabo UPS adjunto, p. 1. Accesibilidad: W3C, WCAG 2.2 (2023).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 narración:</a:t>
            </a:r>
          </a:p>
          <a:p>
            <a:r>
              <a:t>Comprueba la página en una pantalla pequeña y con teclado. ¿Se lee sin esfuerzo? ¿Se distingue dónde está el foco? Las imágenes informativas necesitan texto alternativo útil. Como referencia, las pautas de accesibilidad web establecen contraste mínimo de cuatro coma cinco a uno para texto normal, con excepciones. La claridad visual debe acompañarse de una experiencia que distintas personas puedan utilizar.</a:t>
            </a:r>
          </a:p>
          <a:p/>
          <a:p>
            <a:r>
              <a:t>El caso Minga Cacao y los datos son ficticios. Base curricular: sílabo UPS adjunto, p. 1. Accesibilidad: W3C, WCAG 2.2 (2023).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 narración:</a:t>
            </a:r>
          </a:p>
          <a:p>
            <a:r>
              <a:t>Elige una acción vinculada al objetivo antes de medir. Si cincuenta de dos mil sesiones que vieron el inicio completan esa acción, la proporción es dos coma cinco por ciento. Los datos son hipotéticos. Define el período y el conjunto de sesiones. Un clic no equivale a una venta, y una mejora observada no demuestra por sí sola qué cambio la causó.</a:t>
            </a:r>
          </a:p>
          <a:p/>
          <a:p>
            <a:r>
              <a:t>El caso Minga Cacao y los datos son ficticios. Base curricular: sílabo UPS adjunto, p. 1. Accesibilidad: W3C, WCAG 2.2 (2023).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 narración:</a:t>
            </a:r>
          </a:p>
          <a:p>
            <a:r>
              <a:t>Ahora aplica el criterio. El inicio ficticio de Minga Cacao dice bienvenidos, muestra seis botones iguales y no explica la oferta. Propón un mensaje concreto, dibuja una versión móvil y elige una acción principal. Justifica dos decisiones de accesibilidad y una medida de resultado. No necesitas programar: debes demostrar por qué tu propuesta orienta mejor.</a:t>
            </a:r>
          </a:p>
          <a:p/>
          <a:p>
            <a:r>
              <a:t>El caso Minga Cacao y los datos son ficticios. Base curricular: sílabo UPS adjunto, p. 1. Accesibilidad: W3C, WCAG 2.2 (2023).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 narración:</a:t>
            </a:r>
          </a:p>
          <a:p>
            <a:r>
              <a:t>Recuerda tres ideas: orientar, priorizar y comprobar. Una buena página de inicio explica la oferta, ordena los recorridos y se evalúa con criterios claros. Antes de publicarla, pide a otra persona que identifique qué ofrece el negocio y cuál sería su siguiente paso, sin recibir ayuda. Su respuesta te dará una primera pista para mejorar.</a:t>
            </a:r>
          </a:p>
          <a:p/>
          <a:p>
            <a:r>
              <a:t>El caso Minga Cacao y los datos son ficticios. Base curricular: sílabo UPS adjunto, p. 1. Accesibilidad: W3C, WCAG 2.2 (2023).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 narración:</a:t>
            </a:r>
          </a:p>
          <a:p>
            <a:r>
              <a:t>El tema corresponde al subtema uno punto uno del sílabo de Negocios Electrónicos. La referencia técnica de accesibilidad es la versión dos punto dos de las pautas del consorcio web. Continúa con la tarea y el cuestionario de práctica. Los ejemplos, el caso del negocio y sus cifras se elaboraron con fines educativos.</a:t>
            </a:r>
          </a:p>
          <a:p/>
          <a:p>
            <a:r>
              <a:t>El caso Minga Cacao y los datos son ficticios. Base curricular: sílabo UPS adjunto, p. 1. Accesibilidad: W3C, WCAG 2.2 (2023).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81000"/>
            <a:ext cx="1066800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E7AE53"/>
                </a:solidFill>
                <a:latin typeface="Noto Sans"/>
              </a:defRPr>
            </a:pPr>
            <a:r>
              <a:t>COMPRENDER · DISEÑAR · EVALUAR</a:t>
            </a:r>
          </a:p>
        </p:txBody>
      </p:sp>
      <p:sp>
        <p:nvSpPr>
          <p:cNvPr id="5" name="TextBox 4"/>
          <p:cNvSpPr txBox="1"/>
          <p:nvPr/>
        </p:nvSpPr>
        <p:spPr>
          <a:xfrm>
            <a:off x="609600" y="1089660"/>
            <a:ext cx="7848600" cy="2087880"/>
          </a:xfrm>
          <a:prstGeom prst="rect">
            <a:avLst/>
          </a:prstGeom>
          <a:noFill/>
        </p:spPr>
        <p:txBody>
          <a:bodyPr wrap="none" lIns="0" tIns="0" rIns="0" bIns="0" anchor="t">
            <a:spAutoFit/>
          </a:bodyPr>
          <a:lstStyle/>
          <a:p>
            <a:pPr>
              <a:lnSpc>
                <a:spcPts val="7800"/>
              </a:lnSpc>
              <a:spcBef>
                <a:spcPts val="0"/>
              </a:spcBef>
              <a:spcAft>
                <a:spcPts val="0"/>
              </a:spcAft>
              <a:defRPr sz="5640" b="1">
                <a:solidFill>
                  <a:srgbClr val="FFFFFF"/>
                </a:solidFill>
                <a:latin typeface="Noto Sans"/>
              </a:defRPr>
            </a:pPr>
            <a:r>
              <a:t>Las páginas</a:t>
            </a:r>
          </a:p>
          <a:p>
            <a:pPr>
              <a:lnSpc>
                <a:spcPts val="7800"/>
              </a:lnSpc>
              <a:spcBef>
                <a:spcPts val="0"/>
              </a:spcBef>
              <a:spcAft>
                <a:spcPts val="0"/>
              </a:spcAft>
              <a:defRPr sz="5640" b="1">
                <a:solidFill>
                  <a:srgbClr val="FFFFFF"/>
                </a:solidFill>
                <a:latin typeface="Noto Sans"/>
              </a:defRPr>
            </a:pPr>
            <a:r>
              <a:t>de inicio</a:t>
            </a:r>
          </a:p>
        </p:txBody>
      </p:sp>
      <p:sp>
        <p:nvSpPr>
          <p:cNvPr id="6" name="TextBox 5"/>
          <p:cNvSpPr txBox="1"/>
          <p:nvPr/>
        </p:nvSpPr>
        <p:spPr>
          <a:xfrm>
            <a:off x="647700" y="3474720"/>
            <a:ext cx="6477000" cy="899160"/>
          </a:xfrm>
          <a:prstGeom prst="rect">
            <a:avLst/>
          </a:prstGeom>
          <a:noFill/>
        </p:spPr>
        <p:txBody>
          <a:bodyPr wrap="none" lIns="0" tIns="0" rIns="0" bIns="0" anchor="t">
            <a:spAutoFit/>
          </a:bodyPr>
          <a:lstStyle/>
          <a:p>
            <a:pPr>
              <a:lnSpc>
                <a:spcPts val="3120"/>
              </a:lnSpc>
              <a:spcBef>
                <a:spcPts val="0"/>
              </a:spcBef>
              <a:spcAft>
                <a:spcPts val="0"/>
              </a:spcAft>
              <a:defRPr sz="2280" b="0">
                <a:solidFill>
                  <a:srgbClr val="D6E4E8"/>
                </a:solidFill>
                <a:latin typeface="Noto Sans"/>
              </a:defRPr>
            </a:pPr>
            <a:r>
              <a:t>La primera orientación de un negocio</a:t>
            </a:r>
          </a:p>
          <a:p>
            <a:pPr>
              <a:lnSpc>
                <a:spcPts val="3120"/>
              </a:lnSpc>
              <a:spcBef>
                <a:spcPts val="0"/>
              </a:spcBef>
              <a:spcAft>
                <a:spcPts val="0"/>
              </a:spcAft>
              <a:defRPr sz="2280" b="0">
                <a:solidFill>
                  <a:srgbClr val="D6E4E8"/>
                </a:solidFill>
                <a:latin typeface="Noto Sans"/>
              </a:defRPr>
            </a:pPr>
            <a:r>
              <a:t>electrónico.</a:t>
            </a:r>
          </a:p>
        </p:txBody>
      </p:sp>
      <p:sp>
        <p:nvSpPr>
          <p:cNvPr id="7" name="Rounded Rectangle 6"/>
          <p:cNvSpPr/>
          <p:nvPr/>
        </p:nvSpPr>
        <p:spPr>
          <a:xfrm>
            <a:off x="647700" y="4648200"/>
            <a:ext cx="6629400" cy="838200"/>
          </a:xfrm>
          <a:prstGeom prst="roundRect">
            <a:avLst>
              <a:gd name="adj" fmla="val 1363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800600"/>
            <a:ext cx="6263640" cy="655320"/>
          </a:xfrm>
          <a:prstGeom prst="rect">
            <a:avLst/>
          </a:prstGeom>
          <a:noFill/>
        </p:spPr>
        <p:txBody>
          <a:bodyPr wrap="none" lIns="0" tIns="0" rIns="0" bIns="0" anchor="t">
            <a:spAutoFit/>
          </a:bodyPr>
          <a:lstStyle/>
          <a:p>
            <a:pPr>
              <a:lnSpc>
                <a:spcPts val="2160"/>
              </a:lnSpc>
              <a:spcBef>
                <a:spcPts val="0"/>
              </a:spcBef>
              <a:spcAft>
                <a:spcPts val="0"/>
              </a:spcAft>
              <a:defRPr sz="1560" b="0">
                <a:solidFill>
                  <a:srgbClr val="FFFFFF"/>
                </a:solidFill>
                <a:latin typeface="Noto Sans"/>
              </a:defRPr>
            </a:pPr>
            <a:r>
              <a:t>Pregunta guía: ¿qué debe entender y poder hacer una persona al</a:t>
            </a:r>
          </a:p>
          <a:p>
            <a:pPr>
              <a:lnSpc>
                <a:spcPts val="2160"/>
              </a:lnSpc>
              <a:spcBef>
                <a:spcPts val="0"/>
              </a:spcBef>
              <a:spcAft>
                <a:spcPts val="0"/>
              </a:spcAft>
              <a:defRPr sz="1560" b="0">
                <a:solidFill>
                  <a:srgbClr val="FFFFFF"/>
                </a:solidFill>
                <a:latin typeface="Noto Sans"/>
              </a:defRPr>
            </a:pPr>
            <a:r>
              <a:t>llegar?</a:t>
            </a:r>
          </a:p>
        </p:txBody>
      </p:sp>
      <p:sp>
        <p:nvSpPr>
          <p:cNvPr id="9" name="Oval 8"/>
          <p:cNvSpPr/>
          <p:nvPr/>
        </p:nvSpPr>
        <p:spPr>
          <a:xfrm>
            <a:off x="8534400" y="1828800"/>
            <a:ext cx="2590800" cy="2590800"/>
          </a:xfrm>
          <a:prstGeom prst="ellipse">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067800" y="2171700"/>
            <a:ext cx="1440180" cy="2000250"/>
          </a:xfrm>
          <a:prstGeom prst="ellipse">
            <a:avLst/>
          </a:prstGeom>
          <a:solidFill>
            <a:srgbClr val="D95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259824" y="2347722"/>
            <a:ext cx="1056132" cy="1640205"/>
          </a:xfrm>
          <a:prstGeom prst="ellipse">
            <a:avLst/>
          </a:prstGeom>
          <a:solidFill>
            <a:srgbClr val="B442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747885" y="2291715"/>
            <a:ext cx="56007" cy="1776222"/>
          </a:xfrm>
          <a:prstGeom prst="roundRect">
            <a:avLst>
              <a:gd name="adj" fmla="val 20000"/>
            </a:avLst>
          </a:prstGeom>
          <a:solidFill>
            <a:srgbClr val="E7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451848" y="2611755"/>
            <a:ext cx="680085" cy="40005"/>
          </a:xfrm>
          <a:prstGeom prst="roundRect">
            <a:avLst>
              <a:gd name="adj" fmla="val 20000"/>
            </a:avLst>
          </a:prstGeom>
          <a:solidFill>
            <a:srgbClr val="E7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451848" y="2963799"/>
            <a:ext cx="680085" cy="40005"/>
          </a:xfrm>
          <a:prstGeom prst="roundRect">
            <a:avLst>
              <a:gd name="adj" fmla="val 20000"/>
            </a:avLst>
          </a:prstGeom>
          <a:solidFill>
            <a:srgbClr val="E7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51848" y="3315843"/>
            <a:ext cx="680085" cy="40005"/>
          </a:xfrm>
          <a:prstGeom prst="roundRect">
            <a:avLst>
              <a:gd name="adj" fmla="val 20000"/>
            </a:avLst>
          </a:prstGeom>
          <a:solidFill>
            <a:srgbClr val="E7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451848" y="3667887"/>
            <a:ext cx="680085" cy="40005"/>
          </a:xfrm>
          <a:prstGeom prst="roundRect">
            <a:avLst>
              <a:gd name="adj" fmla="val 20000"/>
            </a:avLst>
          </a:prstGeom>
          <a:solidFill>
            <a:srgbClr val="E7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739884" y="1875663"/>
            <a:ext cx="1040130" cy="360045"/>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5800" y="5029200"/>
            <a:ext cx="3352800" cy="716280"/>
          </a:xfrm>
          <a:prstGeom prst="rect">
            <a:avLst/>
          </a:prstGeom>
          <a:noFill/>
        </p:spPr>
        <p:txBody>
          <a:bodyPr wrap="none" lIns="0" tIns="0" rIns="0" bIns="0" anchor="t">
            <a:spAutoFit/>
          </a:bodyPr>
          <a:lstStyle/>
          <a:p>
            <a:pPr>
              <a:lnSpc>
                <a:spcPts val="2400"/>
              </a:lnSpc>
              <a:spcBef>
                <a:spcPts val="0"/>
              </a:spcBef>
              <a:spcAft>
                <a:spcPts val="0"/>
              </a:spcAft>
              <a:defRPr sz="1739" b="1">
                <a:solidFill>
                  <a:srgbClr val="FFFFFF"/>
                </a:solidFill>
                <a:latin typeface="Noto Sans"/>
              </a:defRPr>
            </a:pPr>
            <a:r>
              <a:t>Una oferta clara.</a:t>
            </a:r>
          </a:p>
          <a:p>
            <a:pPr>
              <a:lnSpc>
                <a:spcPts val="2400"/>
              </a:lnSpc>
              <a:spcBef>
                <a:spcPts val="0"/>
              </a:spcBef>
              <a:spcAft>
                <a:spcPts val="0"/>
              </a:spcAft>
              <a:defRPr sz="1739" b="1">
                <a:solidFill>
                  <a:srgbClr val="FFFFFF"/>
                </a:solidFill>
                <a:latin typeface="Noto Sans"/>
              </a:defRPr>
            </a:pPr>
            <a:r>
              <a:t>Un siguiente paso útil.</a:t>
            </a:r>
          </a:p>
        </p:txBody>
      </p:sp>
      <p:sp>
        <p:nvSpPr>
          <p:cNvPr id="19" name="TextBox 18"/>
          <p:cNvSpPr txBox="1"/>
          <p:nvPr/>
        </p:nvSpPr>
        <p:spPr>
          <a:xfrm>
            <a:off x="609600" y="6477000"/>
            <a:ext cx="10668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Negocios Electrónicos · Unidad 1 · Tema 1.1 / Material de elaboración original</a:t>
            </a:r>
          </a:p>
        </p:txBody>
      </p:sp>
      <p:sp>
        <p:nvSpPr>
          <p:cNvPr id="20" name="TextBox 19"/>
          <p:cNvSpPr txBox="1"/>
          <p:nvPr/>
        </p:nvSpPr>
        <p:spPr>
          <a:xfrm>
            <a:off x="11094720" y="6477000"/>
            <a:ext cx="70866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81000"/>
            <a:ext cx="1066800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087E8B"/>
                </a:solidFill>
                <a:latin typeface="Noto Sans"/>
              </a:defRPr>
            </a:pPr>
            <a:r>
              <a:t>01 / PROPÓSITO</a:t>
            </a:r>
          </a:p>
        </p:txBody>
      </p:sp>
      <p:sp>
        <p:nvSpPr>
          <p:cNvPr id="4" name="TextBox 3"/>
          <p:cNvSpPr txBox="1"/>
          <p:nvPr/>
        </p:nvSpPr>
        <p:spPr>
          <a:xfrm>
            <a:off x="609600" y="807720"/>
            <a:ext cx="11049000" cy="1386840"/>
          </a:xfrm>
          <a:prstGeom prst="rect">
            <a:avLst/>
          </a:prstGeom>
          <a:noFill/>
        </p:spPr>
        <p:txBody>
          <a:bodyPr wrap="none" lIns="0" tIns="0" rIns="0" bIns="0" anchor="t">
            <a:spAutoFit/>
          </a:bodyPr>
          <a:lstStyle/>
          <a:p>
            <a:pPr>
              <a:lnSpc>
                <a:spcPts val="5040"/>
              </a:lnSpc>
              <a:spcBef>
                <a:spcPts val="0"/>
              </a:spcBef>
              <a:spcAft>
                <a:spcPts val="0"/>
              </a:spcAft>
              <a:defRPr sz="3660" b="1">
                <a:solidFill>
                  <a:srgbClr val="18394A"/>
                </a:solidFill>
                <a:latin typeface="Noto Sans"/>
              </a:defRPr>
            </a:pPr>
            <a:r>
              <a:t>Una puerta de entrada,</a:t>
            </a:r>
          </a:p>
          <a:p>
            <a:pPr>
              <a:lnSpc>
                <a:spcPts val="5040"/>
              </a:lnSpc>
              <a:spcBef>
                <a:spcPts val="0"/>
              </a:spcBef>
              <a:spcAft>
                <a:spcPts val="0"/>
              </a:spcAft>
              <a:defRPr sz="3660" b="1">
                <a:solidFill>
                  <a:srgbClr val="18394A"/>
                </a:solidFill>
                <a:latin typeface="Noto Sans"/>
              </a:defRPr>
            </a:pPr>
            <a:r>
              <a:t>no todo el negocio</a:t>
            </a:r>
          </a:p>
        </p:txBody>
      </p:sp>
      <p:sp>
        <p:nvSpPr>
          <p:cNvPr id="5" name="Rounded Rectangle 4"/>
          <p:cNvSpPr/>
          <p:nvPr/>
        </p:nvSpPr>
        <p:spPr>
          <a:xfrm>
            <a:off x="609600" y="2438400"/>
            <a:ext cx="3520440" cy="2628900"/>
          </a:xfrm>
          <a:prstGeom prst="roundRect">
            <a:avLst>
              <a:gd name="adj" fmla="val 521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644140"/>
            <a:ext cx="309372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087E8B"/>
                </a:solidFill>
                <a:latin typeface="Noto Sans"/>
              </a:defRPr>
            </a:pPr>
            <a:r>
              <a:t>01</a:t>
            </a:r>
          </a:p>
        </p:txBody>
      </p:sp>
      <p:sp>
        <p:nvSpPr>
          <p:cNvPr id="7" name="TextBox 6"/>
          <p:cNvSpPr txBox="1"/>
          <p:nvPr/>
        </p:nvSpPr>
        <p:spPr>
          <a:xfrm>
            <a:off x="822960" y="2987040"/>
            <a:ext cx="30937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Qué es</a:t>
            </a:r>
          </a:p>
        </p:txBody>
      </p:sp>
      <p:sp>
        <p:nvSpPr>
          <p:cNvPr id="8" name="TextBox 7"/>
          <p:cNvSpPr txBox="1"/>
          <p:nvPr/>
        </p:nvSpPr>
        <p:spPr>
          <a:xfrm>
            <a:off x="822960" y="3459480"/>
            <a:ext cx="3093720" cy="95250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Es la página principal que</a:t>
            </a:r>
          </a:p>
          <a:p>
            <a:pPr>
              <a:lnSpc>
                <a:spcPts val="2220"/>
              </a:lnSpc>
              <a:spcBef>
                <a:spcPts val="0"/>
              </a:spcBef>
              <a:spcAft>
                <a:spcPts val="0"/>
              </a:spcAft>
              <a:defRPr sz="1620" b="0">
                <a:solidFill>
                  <a:srgbClr val="536975"/>
                </a:solidFill>
                <a:latin typeface="Noto Sans"/>
              </a:defRPr>
            </a:pPr>
            <a:r>
              <a:t>presenta la oferta y organiza el</a:t>
            </a:r>
          </a:p>
          <a:p>
            <a:pPr>
              <a:lnSpc>
                <a:spcPts val="2220"/>
              </a:lnSpc>
              <a:spcBef>
                <a:spcPts val="0"/>
              </a:spcBef>
              <a:spcAft>
                <a:spcPts val="0"/>
              </a:spcAft>
              <a:defRPr sz="1620" b="0">
                <a:solidFill>
                  <a:srgbClr val="536975"/>
                </a:solidFill>
                <a:latin typeface="Noto Sans"/>
              </a:defRPr>
            </a:pPr>
            <a:r>
              <a:t>acceso al contenido del sitio.</a:t>
            </a:r>
          </a:p>
        </p:txBody>
      </p:sp>
      <p:sp>
        <p:nvSpPr>
          <p:cNvPr id="9" name="Rounded Rectangle 8"/>
          <p:cNvSpPr/>
          <p:nvPr/>
        </p:nvSpPr>
        <p:spPr>
          <a:xfrm>
            <a:off x="4343400" y="2438400"/>
            <a:ext cx="3520440" cy="2628900"/>
          </a:xfrm>
          <a:prstGeom prst="roundRect">
            <a:avLst>
              <a:gd name="adj" fmla="val 521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6760" y="2644140"/>
            <a:ext cx="309372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087E8B"/>
                </a:solidFill>
                <a:latin typeface="Noto Sans"/>
              </a:defRPr>
            </a:pPr>
            <a:r>
              <a:t>02</a:t>
            </a:r>
          </a:p>
        </p:txBody>
      </p:sp>
      <p:sp>
        <p:nvSpPr>
          <p:cNvPr id="11" name="TextBox 10"/>
          <p:cNvSpPr txBox="1"/>
          <p:nvPr/>
        </p:nvSpPr>
        <p:spPr>
          <a:xfrm>
            <a:off x="4556760" y="2987040"/>
            <a:ext cx="30937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Qué resuelve</a:t>
            </a:r>
          </a:p>
        </p:txBody>
      </p:sp>
      <p:sp>
        <p:nvSpPr>
          <p:cNvPr id="12" name="TextBox 11"/>
          <p:cNvSpPr txBox="1"/>
          <p:nvPr/>
        </p:nvSpPr>
        <p:spPr>
          <a:xfrm>
            <a:off x="4556760" y="3459480"/>
            <a:ext cx="3093720" cy="95250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Responde qué ofrece el</a:t>
            </a:r>
          </a:p>
          <a:p>
            <a:pPr>
              <a:lnSpc>
                <a:spcPts val="2220"/>
              </a:lnSpc>
              <a:spcBef>
                <a:spcPts val="0"/>
              </a:spcBef>
              <a:spcAft>
                <a:spcPts val="0"/>
              </a:spcAft>
              <a:defRPr sz="1620" b="0">
                <a:solidFill>
                  <a:srgbClr val="536975"/>
                </a:solidFill>
                <a:latin typeface="Noto Sans"/>
              </a:defRPr>
            </a:pPr>
            <a:r>
              <a:t>negocio, a quién ayuda y cuál</a:t>
            </a:r>
          </a:p>
          <a:p>
            <a:pPr>
              <a:lnSpc>
                <a:spcPts val="2220"/>
              </a:lnSpc>
              <a:spcBef>
                <a:spcPts val="0"/>
              </a:spcBef>
              <a:spcAft>
                <a:spcPts val="0"/>
              </a:spcAft>
              <a:defRPr sz="1620" b="0">
                <a:solidFill>
                  <a:srgbClr val="536975"/>
                </a:solidFill>
                <a:latin typeface="Noto Sans"/>
              </a:defRPr>
            </a:pPr>
            <a:r>
              <a:t>es el siguiente paso relevante.</a:t>
            </a:r>
          </a:p>
        </p:txBody>
      </p:sp>
      <p:sp>
        <p:nvSpPr>
          <p:cNvPr id="13" name="Rounded Rectangle 12"/>
          <p:cNvSpPr/>
          <p:nvPr/>
        </p:nvSpPr>
        <p:spPr>
          <a:xfrm>
            <a:off x="8077200" y="2438400"/>
            <a:ext cx="3520440" cy="2628900"/>
          </a:xfrm>
          <a:prstGeom prst="roundRect">
            <a:avLst>
              <a:gd name="adj" fmla="val 521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90560" y="2644140"/>
            <a:ext cx="309372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087E8B"/>
                </a:solidFill>
                <a:latin typeface="Noto Sans"/>
              </a:defRPr>
            </a:pPr>
            <a:r>
              <a:t>03</a:t>
            </a:r>
          </a:p>
        </p:txBody>
      </p:sp>
      <p:sp>
        <p:nvSpPr>
          <p:cNvPr id="15" name="TextBox 14"/>
          <p:cNvSpPr txBox="1"/>
          <p:nvPr/>
        </p:nvSpPr>
        <p:spPr>
          <a:xfrm>
            <a:off x="8290560" y="2987040"/>
            <a:ext cx="30937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Qué no implica</a:t>
            </a:r>
          </a:p>
        </p:txBody>
      </p:sp>
      <p:sp>
        <p:nvSpPr>
          <p:cNvPr id="16" name="TextBox 15"/>
          <p:cNvSpPr txBox="1"/>
          <p:nvPr/>
        </p:nvSpPr>
        <p:spPr>
          <a:xfrm>
            <a:off x="8290560" y="3459480"/>
            <a:ext cx="3093720" cy="95250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Una visita no siempre empieza</a:t>
            </a:r>
          </a:p>
          <a:p>
            <a:pPr>
              <a:lnSpc>
                <a:spcPts val="2220"/>
              </a:lnSpc>
              <a:spcBef>
                <a:spcPts val="0"/>
              </a:spcBef>
              <a:spcAft>
                <a:spcPts val="0"/>
              </a:spcAft>
              <a:defRPr sz="1620" b="0">
                <a:solidFill>
                  <a:srgbClr val="536975"/>
                </a:solidFill>
                <a:latin typeface="Noto Sans"/>
              </a:defRPr>
            </a:pPr>
            <a:r>
              <a:t>aquí: también puede llegar a un</a:t>
            </a:r>
          </a:p>
          <a:p>
            <a:pPr>
              <a:lnSpc>
                <a:spcPts val="2220"/>
              </a:lnSpc>
              <a:spcBef>
                <a:spcPts val="0"/>
              </a:spcBef>
              <a:spcAft>
                <a:spcPts val="0"/>
              </a:spcAft>
              <a:defRPr sz="1620" b="0">
                <a:solidFill>
                  <a:srgbClr val="536975"/>
                </a:solidFill>
                <a:latin typeface="Noto Sans"/>
              </a:defRPr>
            </a:pPr>
            <a:r>
              <a:t>producto desde una búsqueda.</a:t>
            </a:r>
          </a:p>
        </p:txBody>
      </p:sp>
      <p:sp>
        <p:nvSpPr>
          <p:cNvPr id="17" name="Rounded Rectangle 16"/>
          <p:cNvSpPr/>
          <p:nvPr/>
        </p:nvSpPr>
        <p:spPr>
          <a:xfrm>
            <a:off x="609600" y="5844540"/>
            <a:ext cx="10934700" cy="396240"/>
          </a:xfrm>
          <a:prstGeom prst="roundRect">
            <a:avLst>
              <a:gd name="adj" fmla="val 17307"/>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6760" y="5935980"/>
            <a:ext cx="10668000" cy="297180"/>
          </a:xfrm>
          <a:prstGeom prst="rect">
            <a:avLst/>
          </a:prstGeom>
          <a:noFill/>
        </p:spPr>
        <p:txBody>
          <a:bodyPr wrap="none" lIns="0" tIns="0" rIns="0" bIns="0" anchor="t">
            <a:spAutoFit/>
          </a:bodyPr>
          <a:lstStyle/>
          <a:p>
            <a:pPr>
              <a:lnSpc>
                <a:spcPts val="1500"/>
              </a:lnSpc>
              <a:spcBef>
                <a:spcPts val="0"/>
              </a:spcBef>
              <a:spcAft>
                <a:spcPts val="0"/>
              </a:spcAft>
              <a:defRPr sz="1080" b="0">
                <a:solidFill>
                  <a:srgbClr val="18394A"/>
                </a:solidFill>
                <a:latin typeface="Noto Sans"/>
              </a:defRPr>
            </a:pPr>
            <a:r>
              <a:t>La página de inicio orienta; una landing page suele concentrarse en una campaña u objetivo específico.</a:t>
            </a:r>
          </a:p>
        </p:txBody>
      </p:sp>
      <p:sp>
        <p:nvSpPr>
          <p:cNvPr id="19" name="TextBox 18"/>
          <p:cNvSpPr txBox="1"/>
          <p:nvPr/>
        </p:nvSpPr>
        <p:spPr>
          <a:xfrm>
            <a:off x="609600" y="6477000"/>
            <a:ext cx="10668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Negocios Electrónicos · Unidad 1 · Tema 1.1 / Material de elaboración original</a:t>
            </a:r>
          </a:p>
        </p:txBody>
      </p:sp>
      <p:sp>
        <p:nvSpPr>
          <p:cNvPr id="20" name="TextBox 19"/>
          <p:cNvSpPr txBox="1"/>
          <p:nvPr/>
        </p:nvSpPr>
        <p:spPr>
          <a:xfrm>
            <a:off x="11094720" y="6477000"/>
            <a:ext cx="70866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81000"/>
            <a:ext cx="1066800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087E8B"/>
                </a:solidFill>
                <a:latin typeface="Noto Sans"/>
              </a:defRPr>
            </a:pPr>
            <a:r>
              <a:t>02 / ESTRUCTURA</a:t>
            </a:r>
          </a:p>
        </p:txBody>
      </p:sp>
      <p:sp>
        <p:nvSpPr>
          <p:cNvPr id="4" name="TextBox 3"/>
          <p:cNvSpPr txBox="1"/>
          <p:nvPr/>
        </p:nvSpPr>
        <p:spPr>
          <a:xfrm>
            <a:off x="609600" y="807720"/>
            <a:ext cx="11049000" cy="1386840"/>
          </a:xfrm>
          <a:prstGeom prst="rect">
            <a:avLst/>
          </a:prstGeom>
          <a:noFill/>
        </p:spPr>
        <p:txBody>
          <a:bodyPr wrap="none" lIns="0" tIns="0" rIns="0" bIns="0" anchor="t">
            <a:spAutoFit/>
          </a:bodyPr>
          <a:lstStyle/>
          <a:p>
            <a:pPr>
              <a:lnSpc>
                <a:spcPts val="5040"/>
              </a:lnSpc>
              <a:spcBef>
                <a:spcPts val="0"/>
              </a:spcBef>
              <a:spcAft>
                <a:spcPts val="0"/>
              </a:spcAft>
              <a:defRPr sz="3660" b="1">
                <a:solidFill>
                  <a:srgbClr val="18394A"/>
                </a:solidFill>
                <a:latin typeface="Noto Sans"/>
              </a:defRPr>
            </a:pPr>
            <a:r>
              <a:t>Una jerarquía que</a:t>
            </a:r>
          </a:p>
          <a:p>
            <a:pPr>
              <a:lnSpc>
                <a:spcPts val="5040"/>
              </a:lnSpc>
              <a:spcBef>
                <a:spcPts val="0"/>
              </a:spcBef>
              <a:spcAft>
                <a:spcPts val="0"/>
              </a:spcAft>
              <a:defRPr sz="3660" b="1">
                <a:solidFill>
                  <a:srgbClr val="18394A"/>
                </a:solidFill>
                <a:latin typeface="Noto Sans"/>
              </a:defRPr>
            </a:pPr>
            <a:r>
              <a:t>ayuda a decidir</a:t>
            </a:r>
          </a:p>
        </p:txBody>
      </p:sp>
      <p:sp>
        <p:nvSpPr>
          <p:cNvPr id="5" name="Rounded Rectangle 4"/>
          <p:cNvSpPr/>
          <p:nvPr/>
        </p:nvSpPr>
        <p:spPr>
          <a:xfrm>
            <a:off x="609600" y="2362200"/>
            <a:ext cx="5257800" cy="3337560"/>
          </a:xfrm>
          <a:prstGeom prst="roundRect">
            <a:avLst>
              <a:gd name="adj" fmla="val 4109"/>
            </a:avLst>
          </a:prstGeom>
          <a:solidFill>
            <a:srgbClr val="FFFFFF"/>
          </a:solidFill>
          <a:ln>
            <a:solidFill>
              <a:srgbClr val="D1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6760" y="2499360"/>
            <a:ext cx="4983480" cy="373380"/>
          </a:xfrm>
          <a:prstGeom prst="roundRect">
            <a:avLst>
              <a:gd name="adj" fmla="val 12244"/>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1540" y="2583180"/>
            <a:ext cx="4709160" cy="297180"/>
          </a:xfrm>
          <a:prstGeom prst="rect">
            <a:avLst/>
          </a:prstGeom>
          <a:noFill/>
        </p:spPr>
        <p:txBody>
          <a:bodyPr wrap="none" lIns="0" tIns="0" rIns="0" bIns="0" anchor="t">
            <a:spAutoFit/>
          </a:bodyPr>
          <a:lstStyle/>
          <a:p>
            <a:pPr>
              <a:lnSpc>
                <a:spcPts val="1500"/>
              </a:lnSpc>
              <a:spcBef>
                <a:spcPts val="0"/>
              </a:spcBef>
              <a:spcAft>
                <a:spcPts val="0"/>
              </a:spcAft>
              <a:defRPr sz="1080" b="1">
                <a:solidFill>
                  <a:srgbClr val="FFFFFF"/>
                </a:solidFill>
                <a:latin typeface="Noto Sans"/>
              </a:defRPr>
            </a:pPr>
            <a:r>
              <a:t>MINGA CACAO Inicio Regalos Contacto</a:t>
            </a:r>
          </a:p>
        </p:txBody>
      </p:sp>
      <p:sp>
        <p:nvSpPr>
          <p:cNvPr id="8" name="Rounded Rectangle 7"/>
          <p:cNvSpPr/>
          <p:nvPr/>
        </p:nvSpPr>
        <p:spPr>
          <a:xfrm>
            <a:off x="868680" y="3032760"/>
            <a:ext cx="4739640" cy="1272540"/>
          </a:xfrm>
          <a:prstGeom prst="roundRect">
            <a:avLst>
              <a:gd name="adj" fmla="val 5988"/>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1080" y="3177540"/>
            <a:ext cx="3078480" cy="701040"/>
          </a:xfrm>
          <a:prstGeom prst="rect">
            <a:avLst/>
          </a:prstGeom>
          <a:noFill/>
        </p:spPr>
        <p:txBody>
          <a:bodyPr wrap="none" lIns="0" tIns="0" rIns="0" bIns="0" anchor="t">
            <a:spAutoFit/>
          </a:bodyPr>
          <a:lstStyle/>
          <a:p>
            <a:pPr>
              <a:lnSpc>
                <a:spcPts val="2340"/>
              </a:lnSpc>
              <a:spcBef>
                <a:spcPts val="0"/>
              </a:spcBef>
              <a:spcAft>
                <a:spcPts val="0"/>
              </a:spcAft>
              <a:defRPr sz="1680" b="1">
                <a:solidFill>
                  <a:srgbClr val="18394A"/>
                </a:solidFill>
                <a:latin typeface="Noto Sans"/>
              </a:defRPr>
            </a:pPr>
            <a:r>
              <a:t>Cacao ecuatoriano</a:t>
            </a:r>
          </a:p>
          <a:p>
            <a:pPr>
              <a:lnSpc>
                <a:spcPts val="2340"/>
              </a:lnSpc>
              <a:spcBef>
                <a:spcPts val="0"/>
              </a:spcBef>
              <a:spcAft>
                <a:spcPts val="0"/>
              </a:spcAft>
              <a:defRPr sz="1680" b="1">
                <a:solidFill>
                  <a:srgbClr val="18394A"/>
                </a:solidFill>
                <a:latin typeface="Noto Sans"/>
              </a:defRPr>
            </a:pPr>
            <a:r>
              <a:t>para regalar</a:t>
            </a:r>
          </a:p>
        </p:txBody>
      </p:sp>
      <p:sp>
        <p:nvSpPr>
          <p:cNvPr id="10" name="Rounded Rectangle 9"/>
          <p:cNvSpPr/>
          <p:nvPr/>
        </p:nvSpPr>
        <p:spPr>
          <a:xfrm>
            <a:off x="1021080" y="3848099"/>
            <a:ext cx="1866899" cy="289560"/>
          </a:xfrm>
          <a:prstGeom prst="roundRect">
            <a:avLst>
              <a:gd name="adj" fmla="val 15789"/>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50620" y="3901440"/>
            <a:ext cx="1615440" cy="297180"/>
          </a:xfrm>
          <a:prstGeom prst="rect">
            <a:avLst/>
          </a:prstGeom>
          <a:noFill/>
        </p:spPr>
        <p:txBody>
          <a:bodyPr wrap="none" lIns="0" tIns="0" rIns="0" bIns="0" anchor="t">
            <a:spAutoFit/>
          </a:bodyPr>
          <a:lstStyle/>
          <a:p>
            <a:pPr>
              <a:lnSpc>
                <a:spcPts val="1500"/>
              </a:lnSpc>
              <a:spcBef>
                <a:spcPts val="0"/>
              </a:spcBef>
              <a:spcAft>
                <a:spcPts val="0"/>
              </a:spcAft>
              <a:defRPr sz="1080" b="1">
                <a:solidFill>
                  <a:srgbClr val="FFFFFF"/>
                </a:solidFill>
                <a:latin typeface="Noto Sans"/>
              </a:defRPr>
            </a:pPr>
            <a:r>
              <a:t>Explorar regalos</a:t>
            </a:r>
          </a:p>
        </p:txBody>
      </p:sp>
      <p:sp>
        <p:nvSpPr>
          <p:cNvPr id="12" name="Oval 11"/>
          <p:cNvSpPr/>
          <p:nvPr/>
        </p:nvSpPr>
        <p:spPr>
          <a:xfrm>
            <a:off x="4716780" y="3223260"/>
            <a:ext cx="507491" cy="704850"/>
          </a:xfrm>
          <a:prstGeom prst="ellipse">
            <a:avLst/>
          </a:prstGeom>
          <a:solidFill>
            <a:srgbClr val="D95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84445" y="3285286"/>
            <a:ext cx="372160" cy="577977"/>
          </a:xfrm>
          <a:prstGeom prst="ellipse">
            <a:avLst/>
          </a:prstGeom>
          <a:solidFill>
            <a:srgbClr val="B442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956429" y="3265551"/>
            <a:ext cx="19735" cy="625906"/>
          </a:xfrm>
          <a:prstGeom prst="roundRect">
            <a:avLst>
              <a:gd name="adj" fmla="val 20000"/>
            </a:avLst>
          </a:prstGeom>
          <a:solidFill>
            <a:srgbClr val="E7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852111" y="3378327"/>
            <a:ext cx="239649" cy="14097"/>
          </a:xfrm>
          <a:prstGeom prst="roundRect">
            <a:avLst>
              <a:gd name="adj" fmla="val 20000"/>
            </a:avLst>
          </a:prstGeom>
          <a:solidFill>
            <a:srgbClr val="E7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52111" y="3502380"/>
            <a:ext cx="239649" cy="14097"/>
          </a:xfrm>
          <a:prstGeom prst="roundRect">
            <a:avLst>
              <a:gd name="adj" fmla="val 20000"/>
            </a:avLst>
          </a:prstGeom>
          <a:solidFill>
            <a:srgbClr val="E7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852111" y="3626434"/>
            <a:ext cx="239649" cy="14097"/>
          </a:xfrm>
          <a:prstGeom prst="roundRect">
            <a:avLst>
              <a:gd name="adj" fmla="val 20000"/>
            </a:avLst>
          </a:prstGeom>
          <a:solidFill>
            <a:srgbClr val="E7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852111" y="3750487"/>
            <a:ext cx="239649" cy="14097"/>
          </a:xfrm>
          <a:prstGeom prst="roundRect">
            <a:avLst>
              <a:gd name="adj" fmla="val 20000"/>
            </a:avLst>
          </a:prstGeom>
          <a:solidFill>
            <a:srgbClr val="E7A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953609" y="3118942"/>
            <a:ext cx="366522" cy="126872"/>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68680" y="4450080"/>
            <a:ext cx="2301240" cy="617220"/>
          </a:xfrm>
          <a:prstGeom prst="roundRect">
            <a:avLst>
              <a:gd name="adj" fmla="val 9876"/>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610100"/>
            <a:ext cx="2057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18394A"/>
                </a:solidFill>
                <a:latin typeface="Noto Sans"/>
              </a:defRPr>
            </a:pPr>
            <a:r>
              <a:t>Oferta destacada</a:t>
            </a:r>
          </a:p>
        </p:txBody>
      </p:sp>
      <p:sp>
        <p:nvSpPr>
          <p:cNvPr id="22" name="Rounded Rectangle 21"/>
          <p:cNvSpPr/>
          <p:nvPr/>
        </p:nvSpPr>
        <p:spPr>
          <a:xfrm>
            <a:off x="3276600" y="4450080"/>
            <a:ext cx="2301240" cy="617220"/>
          </a:xfrm>
          <a:prstGeom prst="roundRect">
            <a:avLst>
              <a:gd name="adj" fmla="val 9876"/>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13760" y="4610100"/>
            <a:ext cx="2057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18394A"/>
                </a:solidFill>
                <a:latin typeface="Noto Sans"/>
              </a:defRPr>
            </a:pPr>
            <a:r>
              <a:t>Confianza verificable</a:t>
            </a:r>
          </a:p>
        </p:txBody>
      </p:sp>
      <p:sp>
        <p:nvSpPr>
          <p:cNvPr id="24" name="Rounded Rectangle 23"/>
          <p:cNvSpPr/>
          <p:nvPr/>
        </p:nvSpPr>
        <p:spPr>
          <a:xfrm>
            <a:off x="868680" y="5212080"/>
            <a:ext cx="4739640" cy="327660"/>
          </a:xfrm>
          <a:prstGeom prst="roundRect">
            <a:avLst>
              <a:gd name="adj" fmla="val 13953"/>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0599" y="5295900"/>
            <a:ext cx="44577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FFFFFF"/>
                </a:solidFill>
                <a:latin typeface="Noto Sans"/>
              </a:defRPr>
            </a:pPr>
            <a:r>
              <a:t>Contacto · Ayuda · Información legal</a:t>
            </a:r>
          </a:p>
        </p:txBody>
      </p:sp>
      <p:sp>
        <p:nvSpPr>
          <p:cNvPr id="26" name="Oval 25"/>
          <p:cNvSpPr/>
          <p:nvPr/>
        </p:nvSpPr>
        <p:spPr>
          <a:xfrm>
            <a:off x="6286500" y="2407920"/>
            <a:ext cx="327660" cy="32766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77940" y="2446020"/>
            <a:ext cx="21336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FFFFFF"/>
                </a:solidFill>
                <a:latin typeface="Noto Sans"/>
              </a:defRPr>
            </a:pPr>
            <a:r>
              <a:t>1</a:t>
            </a:r>
          </a:p>
        </p:txBody>
      </p:sp>
      <p:sp>
        <p:nvSpPr>
          <p:cNvPr id="28" name="TextBox 27"/>
          <p:cNvSpPr txBox="1"/>
          <p:nvPr/>
        </p:nvSpPr>
        <p:spPr>
          <a:xfrm>
            <a:off x="6781800" y="2392680"/>
            <a:ext cx="46863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Encabezado</a:t>
            </a:r>
          </a:p>
        </p:txBody>
      </p:sp>
      <p:sp>
        <p:nvSpPr>
          <p:cNvPr id="29" name="TextBox 28"/>
          <p:cNvSpPr txBox="1"/>
          <p:nvPr/>
        </p:nvSpPr>
        <p:spPr>
          <a:xfrm>
            <a:off x="6781800" y="2720340"/>
            <a:ext cx="4686300" cy="358140"/>
          </a:xfrm>
          <a:prstGeom prst="rect">
            <a:avLst/>
          </a:prstGeom>
          <a:noFill/>
        </p:spPr>
        <p:txBody>
          <a:bodyPr wrap="none" lIns="0" tIns="0" rIns="0" bIns="0" anchor="t">
            <a:spAutoFit/>
          </a:bodyPr>
          <a:lstStyle/>
          <a:p>
            <a:pPr>
              <a:lnSpc>
                <a:spcPts val="1980"/>
              </a:lnSpc>
              <a:spcBef>
                <a:spcPts val="0"/>
              </a:spcBef>
              <a:spcAft>
                <a:spcPts val="0"/>
              </a:spcAft>
              <a:defRPr sz="1439" b="0">
                <a:solidFill>
                  <a:srgbClr val="536975"/>
                </a:solidFill>
                <a:latin typeface="Noto Sans"/>
              </a:defRPr>
            </a:pPr>
            <a:r>
              <a:t>Identidad y navegación con etiquetas claras.</a:t>
            </a:r>
          </a:p>
        </p:txBody>
      </p:sp>
      <p:sp>
        <p:nvSpPr>
          <p:cNvPr id="30" name="Oval 29"/>
          <p:cNvSpPr/>
          <p:nvPr/>
        </p:nvSpPr>
        <p:spPr>
          <a:xfrm>
            <a:off x="6286500" y="3276600"/>
            <a:ext cx="327660" cy="32766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77940" y="3314700"/>
            <a:ext cx="21336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FFFFFF"/>
                </a:solidFill>
                <a:latin typeface="Noto Sans"/>
              </a:defRPr>
            </a:pPr>
            <a:r>
              <a:t>2</a:t>
            </a:r>
          </a:p>
        </p:txBody>
      </p:sp>
      <p:sp>
        <p:nvSpPr>
          <p:cNvPr id="32" name="TextBox 31"/>
          <p:cNvSpPr txBox="1"/>
          <p:nvPr/>
        </p:nvSpPr>
        <p:spPr>
          <a:xfrm>
            <a:off x="6781800" y="3261360"/>
            <a:ext cx="46863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Bloque principal</a:t>
            </a:r>
          </a:p>
        </p:txBody>
      </p:sp>
      <p:sp>
        <p:nvSpPr>
          <p:cNvPr id="33" name="TextBox 32"/>
          <p:cNvSpPr txBox="1"/>
          <p:nvPr/>
        </p:nvSpPr>
        <p:spPr>
          <a:xfrm>
            <a:off x="6781800" y="3589020"/>
            <a:ext cx="4686300" cy="609600"/>
          </a:xfrm>
          <a:prstGeom prst="rect">
            <a:avLst/>
          </a:prstGeom>
          <a:noFill/>
        </p:spPr>
        <p:txBody>
          <a:bodyPr wrap="none" lIns="0" tIns="0" rIns="0" bIns="0" anchor="t">
            <a:spAutoFit/>
          </a:bodyPr>
          <a:lstStyle/>
          <a:p>
            <a:pPr>
              <a:lnSpc>
                <a:spcPts val="1980"/>
              </a:lnSpc>
              <a:spcBef>
                <a:spcPts val="0"/>
              </a:spcBef>
              <a:spcAft>
                <a:spcPts val="0"/>
              </a:spcAft>
              <a:defRPr sz="1439" b="0">
                <a:solidFill>
                  <a:srgbClr val="536975"/>
                </a:solidFill>
                <a:latin typeface="Noto Sans"/>
              </a:defRPr>
            </a:pPr>
            <a:r>
              <a:t>Beneficio central, imagen pertinente y acción</a:t>
            </a:r>
          </a:p>
          <a:p>
            <a:pPr>
              <a:lnSpc>
                <a:spcPts val="1980"/>
              </a:lnSpc>
              <a:spcBef>
                <a:spcPts val="0"/>
              </a:spcBef>
              <a:spcAft>
                <a:spcPts val="0"/>
              </a:spcAft>
              <a:defRPr sz="1439" b="0">
                <a:solidFill>
                  <a:srgbClr val="536975"/>
                </a:solidFill>
                <a:latin typeface="Noto Sans"/>
              </a:defRPr>
            </a:pPr>
            <a:r>
              <a:t>prioritaria.</a:t>
            </a:r>
          </a:p>
        </p:txBody>
      </p:sp>
      <p:sp>
        <p:nvSpPr>
          <p:cNvPr id="34" name="Oval 33"/>
          <p:cNvSpPr/>
          <p:nvPr/>
        </p:nvSpPr>
        <p:spPr>
          <a:xfrm>
            <a:off x="6286500" y="4145280"/>
            <a:ext cx="327660" cy="32766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7940" y="4183380"/>
            <a:ext cx="21336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FFFFFF"/>
                </a:solidFill>
                <a:latin typeface="Noto Sans"/>
              </a:defRPr>
            </a:pPr>
            <a:r>
              <a:t>3</a:t>
            </a:r>
          </a:p>
        </p:txBody>
      </p:sp>
      <p:sp>
        <p:nvSpPr>
          <p:cNvPr id="36" name="TextBox 35"/>
          <p:cNvSpPr txBox="1"/>
          <p:nvPr/>
        </p:nvSpPr>
        <p:spPr>
          <a:xfrm>
            <a:off x="6781800" y="4130040"/>
            <a:ext cx="46863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Contenido de apoyo</a:t>
            </a:r>
          </a:p>
        </p:txBody>
      </p:sp>
      <p:sp>
        <p:nvSpPr>
          <p:cNvPr id="37" name="TextBox 36"/>
          <p:cNvSpPr txBox="1"/>
          <p:nvPr/>
        </p:nvSpPr>
        <p:spPr>
          <a:xfrm>
            <a:off x="6781800" y="4457700"/>
            <a:ext cx="4686300" cy="358140"/>
          </a:xfrm>
          <a:prstGeom prst="rect">
            <a:avLst/>
          </a:prstGeom>
          <a:noFill/>
        </p:spPr>
        <p:txBody>
          <a:bodyPr wrap="none" lIns="0" tIns="0" rIns="0" bIns="0" anchor="t">
            <a:spAutoFit/>
          </a:bodyPr>
          <a:lstStyle/>
          <a:p>
            <a:pPr>
              <a:lnSpc>
                <a:spcPts val="1980"/>
              </a:lnSpc>
              <a:spcBef>
                <a:spcPts val="0"/>
              </a:spcBef>
              <a:spcAft>
                <a:spcPts val="0"/>
              </a:spcAft>
              <a:defRPr sz="1439" b="0">
                <a:solidFill>
                  <a:srgbClr val="536975"/>
                </a:solidFill>
                <a:latin typeface="Noto Sans"/>
              </a:defRPr>
            </a:pPr>
            <a:r>
              <a:t>Oferta destacada y señales de confianza verificables.</a:t>
            </a:r>
          </a:p>
        </p:txBody>
      </p:sp>
      <p:sp>
        <p:nvSpPr>
          <p:cNvPr id="38" name="Oval 37"/>
          <p:cNvSpPr/>
          <p:nvPr/>
        </p:nvSpPr>
        <p:spPr>
          <a:xfrm>
            <a:off x="6286500" y="5013960"/>
            <a:ext cx="327660" cy="32766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77940" y="5052060"/>
            <a:ext cx="21336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FFFFFF"/>
                </a:solidFill>
                <a:latin typeface="Noto Sans"/>
              </a:defRPr>
            </a:pPr>
            <a:r>
              <a:t>4</a:t>
            </a:r>
          </a:p>
        </p:txBody>
      </p:sp>
      <p:sp>
        <p:nvSpPr>
          <p:cNvPr id="40" name="TextBox 39"/>
          <p:cNvSpPr txBox="1"/>
          <p:nvPr/>
        </p:nvSpPr>
        <p:spPr>
          <a:xfrm>
            <a:off x="6781800" y="4998720"/>
            <a:ext cx="46863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Pie de página</a:t>
            </a:r>
          </a:p>
        </p:txBody>
      </p:sp>
      <p:sp>
        <p:nvSpPr>
          <p:cNvPr id="41" name="TextBox 40"/>
          <p:cNvSpPr txBox="1"/>
          <p:nvPr/>
        </p:nvSpPr>
        <p:spPr>
          <a:xfrm>
            <a:off x="6781800" y="5326380"/>
            <a:ext cx="4686300" cy="358140"/>
          </a:xfrm>
          <a:prstGeom prst="rect">
            <a:avLst/>
          </a:prstGeom>
          <a:noFill/>
        </p:spPr>
        <p:txBody>
          <a:bodyPr wrap="none" lIns="0" tIns="0" rIns="0" bIns="0" anchor="t">
            <a:spAutoFit/>
          </a:bodyPr>
          <a:lstStyle/>
          <a:p>
            <a:pPr>
              <a:lnSpc>
                <a:spcPts val="1980"/>
              </a:lnSpc>
              <a:spcBef>
                <a:spcPts val="0"/>
              </a:spcBef>
              <a:spcAft>
                <a:spcPts val="0"/>
              </a:spcAft>
              <a:defRPr sz="1439" b="0">
                <a:solidFill>
                  <a:srgbClr val="536975"/>
                </a:solidFill>
                <a:latin typeface="Noto Sans"/>
              </a:defRPr>
            </a:pPr>
            <a:r>
              <a:t>Contacto, ayuda y enlaces de información legal.</a:t>
            </a:r>
          </a:p>
        </p:txBody>
      </p:sp>
      <p:sp>
        <p:nvSpPr>
          <p:cNvPr id="42" name="TextBox 41"/>
          <p:cNvSpPr txBox="1"/>
          <p:nvPr/>
        </p:nvSpPr>
        <p:spPr>
          <a:xfrm>
            <a:off x="609600" y="6477000"/>
            <a:ext cx="10668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Negocios Electrónicos · Unidad 1 · Tema 1.1 / Material de elaboración original</a:t>
            </a:r>
          </a:p>
        </p:txBody>
      </p:sp>
      <p:sp>
        <p:nvSpPr>
          <p:cNvPr id="43" name="TextBox 42"/>
          <p:cNvSpPr txBox="1"/>
          <p:nvPr/>
        </p:nvSpPr>
        <p:spPr>
          <a:xfrm>
            <a:off x="11094720" y="6477000"/>
            <a:ext cx="70866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81000"/>
            <a:ext cx="1066800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087E8B"/>
                </a:solidFill>
                <a:latin typeface="Noto Sans"/>
              </a:defRPr>
            </a:pPr>
            <a:r>
              <a:t>03 / MENSAJE Y ACCIÓN</a:t>
            </a:r>
          </a:p>
        </p:txBody>
      </p:sp>
      <p:sp>
        <p:nvSpPr>
          <p:cNvPr id="4" name="TextBox 3"/>
          <p:cNvSpPr txBox="1"/>
          <p:nvPr/>
        </p:nvSpPr>
        <p:spPr>
          <a:xfrm>
            <a:off x="609600" y="807720"/>
            <a:ext cx="11049000" cy="1386840"/>
          </a:xfrm>
          <a:prstGeom prst="rect">
            <a:avLst/>
          </a:prstGeom>
          <a:noFill/>
        </p:spPr>
        <p:txBody>
          <a:bodyPr wrap="none" lIns="0" tIns="0" rIns="0" bIns="0" anchor="t">
            <a:spAutoFit/>
          </a:bodyPr>
          <a:lstStyle/>
          <a:p>
            <a:pPr>
              <a:lnSpc>
                <a:spcPts val="5040"/>
              </a:lnSpc>
              <a:spcBef>
                <a:spcPts val="0"/>
              </a:spcBef>
              <a:spcAft>
                <a:spcPts val="0"/>
              </a:spcAft>
              <a:defRPr sz="3660" b="1">
                <a:solidFill>
                  <a:srgbClr val="18394A"/>
                </a:solidFill>
                <a:latin typeface="Noto Sans"/>
              </a:defRPr>
            </a:pPr>
            <a:r>
              <a:t>Decir algo concreto.</a:t>
            </a:r>
          </a:p>
          <a:p>
            <a:pPr>
              <a:lnSpc>
                <a:spcPts val="5040"/>
              </a:lnSpc>
              <a:spcBef>
                <a:spcPts val="0"/>
              </a:spcBef>
              <a:spcAft>
                <a:spcPts val="0"/>
              </a:spcAft>
              <a:defRPr sz="3660" b="1">
                <a:solidFill>
                  <a:srgbClr val="18394A"/>
                </a:solidFill>
                <a:latin typeface="Noto Sans"/>
              </a:defRPr>
            </a:pPr>
            <a:r>
              <a:t>Ofrecer un paso claro.</a:t>
            </a:r>
          </a:p>
        </p:txBody>
      </p:sp>
      <p:sp>
        <p:nvSpPr>
          <p:cNvPr id="5" name="Rounded Rectangle 4"/>
          <p:cNvSpPr/>
          <p:nvPr/>
        </p:nvSpPr>
        <p:spPr>
          <a:xfrm>
            <a:off x="609600" y="2400300"/>
            <a:ext cx="5295900" cy="3238500"/>
          </a:xfrm>
          <a:prstGeom prst="roundRect">
            <a:avLst>
              <a:gd name="adj" fmla="val 423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621280"/>
            <a:ext cx="486918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Mensaje ambiguo</a:t>
            </a:r>
          </a:p>
        </p:txBody>
      </p:sp>
      <p:sp>
        <p:nvSpPr>
          <p:cNvPr id="7" name="TextBox 6"/>
          <p:cNvSpPr txBox="1"/>
          <p:nvPr/>
        </p:nvSpPr>
        <p:spPr>
          <a:xfrm>
            <a:off x="822960" y="3093720"/>
            <a:ext cx="4869180" cy="151638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«Calidad y pasión para ti»</a:t>
            </a:r>
          </a:p>
          <a:p>
            <a:pPr>
              <a:lnSpc>
                <a:spcPts val="2220"/>
              </a:lnSpc>
              <a:spcBef>
                <a:spcPts val="0"/>
              </a:spcBef>
              <a:spcAft>
                <a:spcPts val="0"/>
              </a:spcAft>
              <a:defRPr sz="1620" b="0">
                <a:solidFill>
                  <a:srgbClr val="536975"/>
                </a:solidFill>
                <a:latin typeface="Noto Sans"/>
              </a:defRPr>
            </a:pPr>
          </a:p>
          <a:p>
            <a:pPr>
              <a:lnSpc>
                <a:spcPts val="2220"/>
              </a:lnSpc>
              <a:spcBef>
                <a:spcPts val="0"/>
              </a:spcBef>
              <a:spcAft>
                <a:spcPts val="0"/>
              </a:spcAft>
              <a:defRPr sz="1620" b="0">
                <a:solidFill>
                  <a:srgbClr val="536975"/>
                </a:solidFill>
                <a:latin typeface="Noto Sans"/>
              </a:defRPr>
            </a:pPr>
            <a:r>
              <a:t>Botón: «Haz clic aquí»</a:t>
            </a:r>
          </a:p>
          <a:p>
            <a:pPr>
              <a:lnSpc>
                <a:spcPts val="2220"/>
              </a:lnSpc>
              <a:spcBef>
                <a:spcPts val="0"/>
              </a:spcBef>
              <a:spcAft>
                <a:spcPts val="0"/>
              </a:spcAft>
              <a:defRPr sz="1620" b="0">
                <a:solidFill>
                  <a:srgbClr val="536975"/>
                </a:solidFill>
                <a:latin typeface="Noto Sans"/>
              </a:defRPr>
            </a:pPr>
          </a:p>
          <a:p>
            <a:pPr>
              <a:lnSpc>
                <a:spcPts val="2220"/>
              </a:lnSpc>
              <a:spcBef>
                <a:spcPts val="0"/>
              </a:spcBef>
              <a:spcAft>
                <a:spcPts val="0"/>
              </a:spcAft>
              <a:defRPr sz="1620" b="0">
                <a:solidFill>
                  <a:srgbClr val="536975"/>
                </a:solidFill>
                <a:latin typeface="Noto Sans"/>
              </a:defRPr>
            </a:pPr>
            <a:r>
              <a:t>No aclara qué se vende ni qué ocurrirá después.</a:t>
            </a:r>
          </a:p>
        </p:txBody>
      </p:sp>
      <p:sp>
        <p:nvSpPr>
          <p:cNvPr id="8" name="Rounded Rectangle 7"/>
          <p:cNvSpPr/>
          <p:nvPr/>
        </p:nvSpPr>
        <p:spPr>
          <a:xfrm>
            <a:off x="6134100" y="2400300"/>
            <a:ext cx="5410200" cy="3238500"/>
          </a:xfrm>
          <a:prstGeom prst="roundRect">
            <a:avLst>
              <a:gd name="adj" fmla="val 4235"/>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47460" y="2621280"/>
            <a:ext cx="498348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Propuesta específica</a:t>
            </a:r>
          </a:p>
        </p:txBody>
      </p:sp>
      <p:sp>
        <p:nvSpPr>
          <p:cNvPr id="10" name="TextBox 9"/>
          <p:cNvSpPr txBox="1"/>
          <p:nvPr/>
        </p:nvSpPr>
        <p:spPr>
          <a:xfrm>
            <a:off x="6347460" y="3093720"/>
            <a:ext cx="4983480" cy="151638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D6E4E8"/>
                </a:solidFill>
                <a:latin typeface="Noto Sans"/>
              </a:defRPr>
            </a:pPr>
            <a:r>
              <a:t>«Chocolate de cacao ecuatoriano para regalar»</a:t>
            </a:r>
          </a:p>
          <a:p>
            <a:pPr>
              <a:lnSpc>
                <a:spcPts val="2220"/>
              </a:lnSpc>
              <a:spcBef>
                <a:spcPts val="0"/>
              </a:spcBef>
              <a:spcAft>
                <a:spcPts val="0"/>
              </a:spcAft>
              <a:defRPr sz="1620" b="0">
                <a:solidFill>
                  <a:srgbClr val="D6E4E8"/>
                </a:solidFill>
                <a:latin typeface="Noto Sans"/>
              </a:defRPr>
            </a:pPr>
          </a:p>
          <a:p>
            <a:pPr>
              <a:lnSpc>
                <a:spcPts val="2220"/>
              </a:lnSpc>
              <a:spcBef>
                <a:spcPts val="0"/>
              </a:spcBef>
              <a:spcAft>
                <a:spcPts val="0"/>
              </a:spcAft>
              <a:defRPr sz="1620" b="0">
                <a:solidFill>
                  <a:srgbClr val="D6E4E8"/>
                </a:solidFill>
                <a:latin typeface="Noto Sans"/>
              </a:defRPr>
            </a:pPr>
            <a:r>
              <a:t>Botón: «Explorar regalos»</a:t>
            </a:r>
          </a:p>
          <a:p>
            <a:pPr>
              <a:lnSpc>
                <a:spcPts val="2220"/>
              </a:lnSpc>
              <a:spcBef>
                <a:spcPts val="0"/>
              </a:spcBef>
              <a:spcAft>
                <a:spcPts val="0"/>
              </a:spcAft>
              <a:defRPr sz="1620" b="0">
                <a:solidFill>
                  <a:srgbClr val="D6E4E8"/>
                </a:solidFill>
                <a:latin typeface="Noto Sans"/>
              </a:defRPr>
            </a:pPr>
          </a:p>
          <a:p>
            <a:pPr>
              <a:lnSpc>
                <a:spcPts val="2220"/>
              </a:lnSpc>
              <a:spcBef>
                <a:spcPts val="0"/>
              </a:spcBef>
              <a:spcAft>
                <a:spcPts val="0"/>
              </a:spcAft>
              <a:defRPr sz="1620" b="0">
                <a:solidFill>
                  <a:srgbClr val="D6E4E8"/>
                </a:solidFill>
                <a:latin typeface="Noto Sans"/>
              </a:defRPr>
            </a:pPr>
            <a:r>
              <a:t>Relaciona una oferta con una intención concreta.</a:t>
            </a:r>
          </a:p>
        </p:txBody>
      </p:sp>
      <p:sp>
        <p:nvSpPr>
          <p:cNvPr id="11" name="Rectangle 10"/>
          <p:cNvSpPr/>
          <p:nvPr/>
        </p:nvSpPr>
        <p:spPr>
          <a:xfrm>
            <a:off x="609600" y="2400300"/>
            <a:ext cx="68580" cy="3238500"/>
          </a:xfrm>
          <a:prstGeom prst="rect">
            <a:avLst/>
          </a:prstGeom>
          <a:solidFill>
            <a:srgbClr val="D95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34100" y="2400300"/>
            <a:ext cx="68580" cy="32385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09600" y="5844540"/>
            <a:ext cx="10934700" cy="396240"/>
          </a:xfrm>
          <a:prstGeom prst="roundRect">
            <a:avLst>
              <a:gd name="adj" fmla="val 17307"/>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6760" y="5935980"/>
            <a:ext cx="10668000" cy="297180"/>
          </a:xfrm>
          <a:prstGeom prst="rect">
            <a:avLst/>
          </a:prstGeom>
          <a:noFill/>
        </p:spPr>
        <p:txBody>
          <a:bodyPr wrap="none" lIns="0" tIns="0" rIns="0" bIns="0" anchor="t">
            <a:spAutoFit/>
          </a:bodyPr>
          <a:lstStyle/>
          <a:p>
            <a:pPr>
              <a:lnSpc>
                <a:spcPts val="1500"/>
              </a:lnSpc>
              <a:spcBef>
                <a:spcPts val="0"/>
              </a:spcBef>
              <a:spcAft>
                <a:spcPts val="0"/>
              </a:spcAft>
              <a:defRPr sz="1080" b="0">
                <a:solidFill>
                  <a:srgbClr val="18394A"/>
                </a:solidFill>
                <a:latin typeface="Noto Sans"/>
              </a:defRPr>
            </a:pPr>
            <a:r>
              <a:t>Ejemplo ficticio: Minga Cacao. Solo promete entregas o certificaciones si puedes demostrarlas.</a:t>
            </a:r>
          </a:p>
        </p:txBody>
      </p:sp>
      <p:sp>
        <p:nvSpPr>
          <p:cNvPr id="15" name="TextBox 14"/>
          <p:cNvSpPr txBox="1"/>
          <p:nvPr/>
        </p:nvSpPr>
        <p:spPr>
          <a:xfrm>
            <a:off x="609600" y="6477000"/>
            <a:ext cx="10668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Negocios Electrónicos · Unidad 1 · Tema 1.1 / Material de elaboración original</a:t>
            </a:r>
          </a:p>
        </p:txBody>
      </p:sp>
      <p:sp>
        <p:nvSpPr>
          <p:cNvPr id="16" name="TextBox 15"/>
          <p:cNvSpPr txBox="1"/>
          <p:nvPr/>
        </p:nvSpPr>
        <p:spPr>
          <a:xfrm>
            <a:off x="11094720" y="6477000"/>
            <a:ext cx="70866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81000"/>
            <a:ext cx="1066800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087E8B"/>
                </a:solidFill>
                <a:latin typeface="Noto Sans"/>
              </a:defRPr>
            </a:pPr>
            <a:r>
              <a:t>04 / RECORRIDOS</a:t>
            </a:r>
          </a:p>
        </p:txBody>
      </p:sp>
      <p:sp>
        <p:nvSpPr>
          <p:cNvPr id="4" name="TextBox 3"/>
          <p:cNvSpPr txBox="1"/>
          <p:nvPr/>
        </p:nvSpPr>
        <p:spPr>
          <a:xfrm>
            <a:off x="609600" y="807720"/>
            <a:ext cx="11049000" cy="1386840"/>
          </a:xfrm>
          <a:prstGeom prst="rect">
            <a:avLst/>
          </a:prstGeom>
          <a:noFill/>
        </p:spPr>
        <p:txBody>
          <a:bodyPr wrap="none" lIns="0" tIns="0" rIns="0" bIns="0" anchor="t">
            <a:spAutoFit/>
          </a:bodyPr>
          <a:lstStyle/>
          <a:p>
            <a:pPr>
              <a:lnSpc>
                <a:spcPts val="5040"/>
              </a:lnSpc>
              <a:spcBef>
                <a:spcPts val="0"/>
              </a:spcBef>
              <a:spcAft>
                <a:spcPts val="0"/>
              </a:spcAft>
              <a:defRPr sz="3660" b="1">
                <a:solidFill>
                  <a:srgbClr val="18394A"/>
                </a:solidFill>
                <a:latin typeface="Noto Sans"/>
              </a:defRPr>
            </a:pPr>
            <a:r>
              <a:t>Diseñar desde</a:t>
            </a:r>
          </a:p>
          <a:p>
            <a:pPr>
              <a:lnSpc>
                <a:spcPts val="5040"/>
              </a:lnSpc>
              <a:spcBef>
                <a:spcPts val="0"/>
              </a:spcBef>
              <a:spcAft>
                <a:spcPts val="0"/>
              </a:spcAft>
              <a:defRPr sz="3660" b="1">
                <a:solidFill>
                  <a:srgbClr val="18394A"/>
                </a:solidFill>
                <a:latin typeface="Noto Sans"/>
              </a:defRPr>
            </a:pPr>
            <a:r>
              <a:t>la intención del visitante</a:t>
            </a:r>
          </a:p>
        </p:txBody>
      </p:sp>
      <p:sp>
        <p:nvSpPr>
          <p:cNvPr id="5" name="Rounded Rectangle 4"/>
          <p:cNvSpPr/>
          <p:nvPr/>
        </p:nvSpPr>
        <p:spPr>
          <a:xfrm>
            <a:off x="609600" y="2415540"/>
            <a:ext cx="3520440" cy="975360"/>
          </a:xfrm>
          <a:prstGeom prst="roundRect">
            <a:avLst>
              <a:gd name="adj" fmla="val 10937"/>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7720" y="2552700"/>
            <a:ext cx="3124200" cy="434340"/>
          </a:xfrm>
          <a:prstGeom prst="rect">
            <a:avLst/>
          </a:prstGeom>
          <a:noFill/>
        </p:spPr>
        <p:txBody>
          <a:bodyPr wrap="none" lIns="0" tIns="0" rIns="0" bIns="0" anchor="t">
            <a:spAutoFit/>
          </a:bodyPr>
          <a:lstStyle/>
          <a:p>
            <a:pPr>
              <a:lnSpc>
                <a:spcPts val="2580"/>
              </a:lnSpc>
              <a:spcBef>
                <a:spcPts val="0"/>
              </a:spcBef>
              <a:spcAft>
                <a:spcPts val="0"/>
              </a:spcAft>
              <a:defRPr sz="1859" b="1">
                <a:solidFill>
                  <a:srgbClr val="FFFFFF"/>
                </a:solidFill>
                <a:latin typeface="Noto Sans"/>
              </a:defRPr>
            </a:pPr>
            <a:r>
              <a:t>Descubrir</a:t>
            </a:r>
          </a:p>
        </p:txBody>
      </p:sp>
      <p:sp>
        <p:nvSpPr>
          <p:cNvPr id="7" name="TextBox 6"/>
          <p:cNvSpPr txBox="1"/>
          <p:nvPr/>
        </p:nvSpPr>
        <p:spPr>
          <a:xfrm>
            <a:off x="807720" y="2987040"/>
            <a:ext cx="3124200" cy="35052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FFFFFF"/>
                </a:solidFill>
                <a:latin typeface="Noto Sans"/>
              </a:defRPr>
            </a:pPr>
            <a:r>
              <a:t>Entender la oferta</a:t>
            </a:r>
          </a:p>
        </p:txBody>
      </p:sp>
      <p:sp>
        <p:nvSpPr>
          <p:cNvPr id="8" name="Rounded Rectangle 7"/>
          <p:cNvSpPr/>
          <p:nvPr/>
        </p:nvSpPr>
        <p:spPr>
          <a:xfrm>
            <a:off x="4343400" y="2415540"/>
            <a:ext cx="3520440" cy="975360"/>
          </a:xfrm>
          <a:prstGeom prst="roundRect">
            <a:avLst>
              <a:gd name="adj" fmla="val 10937"/>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1520" y="2552700"/>
            <a:ext cx="3124200" cy="434340"/>
          </a:xfrm>
          <a:prstGeom prst="rect">
            <a:avLst/>
          </a:prstGeom>
          <a:noFill/>
        </p:spPr>
        <p:txBody>
          <a:bodyPr wrap="none" lIns="0" tIns="0" rIns="0" bIns="0" anchor="t">
            <a:spAutoFit/>
          </a:bodyPr>
          <a:lstStyle/>
          <a:p>
            <a:pPr>
              <a:lnSpc>
                <a:spcPts val="2580"/>
              </a:lnSpc>
              <a:spcBef>
                <a:spcPts val="0"/>
              </a:spcBef>
              <a:spcAft>
                <a:spcPts val="0"/>
              </a:spcAft>
              <a:defRPr sz="1859" b="1">
                <a:solidFill>
                  <a:srgbClr val="FFFFFF"/>
                </a:solidFill>
                <a:latin typeface="Noto Sans"/>
              </a:defRPr>
            </a:pPr>
            <a:r>
              <a:t>Explorar</a:t>
            </a:r>
          </a:p>
        </p:txBody>
      </p:sp>
      <p:sp>
        <p:nvSpPr>
          <p:cNvPr id="10" name="TextBox 9"/>
          <p:cNvSpPr txBox="1"/>
          <p:nvPr/>
        </p:nvSpPr>
        <p:spPr>
          <a:xfrm>
            <a:off x="4541520" y="2987040"/>
            <a:ext cx="3124200" cy="35052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FFFFFF"/>
                </a:solidFill>
                <a:latin typeface="Noto Sans"/>
              </a:defRPr>
            </a:pPr>
            <a:r>
              <a:t>Encontrar opciones</a:t>
            </a:r>
          </a:p>
        </p:txBody>
      </p:sp>
      <p:sp>
        <p:nvSpPr>
          <p:cNvPr id="11" name="Rounded Rectangle 10"/>
          <p:cNvSpPr/>
          <p:nvPr/>
        </p:nvSpPr>
        <p:spPr>
          <a:xfrm>
            <a:off x="8077200" y="2415540"/>
            <a:ext cx="3520440" cy="975360"/>
          </a:xfrm>
          <a:prstGeom prst="roundRect">
            <a:avLst>
              <a:gd name="adj" fmla="val 10937"/>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2552700"/>
            <a:ext cx="3124200" cy="434340"/>
          </a:xfrm>
          <a:prstGeom prst="rect">
            <a:avLst/>
          </a:prstGeom>
          <a:noFill/>
        </p:spPr>
        <p:txBody>
          <a:bodyPr wrap="none" lIns="0" tIns="0" rIns="0" bIns="0" anchor="t">
            <a:spAutoFit/>
          </a:bodyPr>
          <a:lstStyle/>
          <a:p>
            <a:pPr>
              <a:lnSpc>
                <a:spcPts val="2580"/>
              </a:lnSpc>
              <a:spcBef>
                <a:spcPts val="0"/>
              </a:spcBef>
              <a:spcAft>
                <a:spcPts val="0"/>
              </a:spcAft>
              <a:defRPr sz="1859" b="1">
                <a:solidFill>
                  <a:srgbClr val="FFFFFF"/>
                </a:solidFill>
                <a:latin typeface="Noto Sans"/>
              </a:defRPr>
            </a:pPr>
            <a:r>
              <a:t>Decidir</a:t>
            </a:r>
          </a:p>
        </p:txBody>
      </p:sp>
      <p:sp>
        <p:nvSpPr>
          <p:cNvPr id="13" name="TextBox 12"/>
          <p:cNvSpPr txBox="1"/>
          <p:nvPr/>
        </p:nvSpPr>
        <p:spPr>
          <a:xfrm>
            <a:off x="8275320" y="2987040"/>
            <a:ext cx="3124200" cy="35052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FFFFFF"/>
                </a:solidFill>
                <a:latin typeface="Noto Sans"/>
              </a:defRPr>
            </a:pPr>
            <a:r>
              <a:t>Elegir el siguiente paso</a:t>
            </a:r>
          </a:p>
        </p:txBody>
      </p:sp>
      <p:sp>
        <p:nvSpPr>
          <p:cNvPr id="14" name="Rounded Rectangle 13"/>
          <p:cNvSpPr/>
          <p:nvPr/>
        </p:nvSpPr>
        <p:spPr>
          <a:xfrm>
            <a:off x="609600" y="3657600"/>
            <a:ext cx="5387340" cy="1737360"/>
          </a:xfrm>
          <a:prstGeom prst="roundRect">
            <a:avLst>
              <a:gd name="adj" fmla="val 789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878579"/>
            <a:ext cx="49606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Persona que ya sabe qué busca</a:t>
            </a:r>
          </a:p>
        </p:txBody>
      </p:sp>
      <p:sp>
        <p:nvSpPr>
          <p:cNvPr id="16" name="TextBox 15"/>
          <p:cNvSpPr txBox="1"/>
          <p:nvPr/>
        </p:nvSpPr>
        <p:spPr>
          <a:xfrm>
            <a:off x="822960" y="4351020"/>
            <a:ext cx="496062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Necesita acceso fácil al catálogo o búsqueda, si la</a:t>
            </a:r>
          </a:p>
          <a:p>
            <a:pPr>
              <a:lnSpc>
                <a:spcPts val="2220"/>
              </a:lnSpc>
              <a:spcBef>
                <a:spcPts val="0"/>
              </a:spcBef>
              <a:spcAft>
                <a:spcPts val="0"/>
              </a:spcAft>
              <a:defRPr sz="1620" b="0">
                <a:solidFill>
                  <a:srgbClr val="536975"/>
                </a:solidFill>
                <a:latin typeface="Noto Sans"/>
              </a:defRPr>
            </a:pPr>
            <a:r>
              <a:t>oferta lo justifica.</a:t>
            </a:r>
          </a:p>
        </p:txBody>
      </p:sp>
      <p:sp>
        <p:nvSpPr>
          <p:cNvPr id="17" name="Rounded Rectangle 16"/>
          <p:cNvSpPr/>
          <p:nvPr/>
        </p:nvSpPr>
        <p:spPr>
          <a:xfrm>
            <a:off x="6210300" y="3657600"/>
            <a:ext cx="5387340" cy="1737360"/>
          </a:xfrm>
          <a:prstGeom prst="roundRect">
            <a:avLst>
              <a:gd name="adj" fmla="val 789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3660" y="3878579"/>
            <a:ext cx="49606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Persona que aún está comparando</a:t>
            </a:r>
          </a:p>
        </p:txBody>
      </p:sp>
      <p:sp>
        <p:nvSpPr>
          <p:cNvPr id="19" name="TextBox 18"/>
          <p:cNvSpPr txBox="1"/>
          <p:nvPr/>
        </p:nvSpPr>
        <p:spPr>
          <a:xfrm>
            <a:off x="6423660" y="4351020"/>
            <a:ext cx="496062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Necesita contexto, beneficios y evidencia para</a:t>
            </a:r>
          </a:p>
          <a:p>
            <a:pPr>
              <a:lnSpc>
                <a:spcPts val="2220"/>
              </a:lnSpc>
              <a:spcBef>
                <a:spcPts val="0"/>
              </a:spcBef>
              <a:spcAft>
                <a:spcPts val="0"/>
              </a:spcAft>
              <a:defRPr sz="1620" b="0">
                <a:solidFill>
                  <a:srgbClr val="536975"/>
                </a:solidFill>
                <a:latin typeface="Noto Sans"/>
              </a:defRPr>
            </a:pPr>
            <a:r>
              <a:t>ganar confianza.</a:t>
            </a:r>
          </a:p>
        </p:txBody>
      </p:sp>
      <p:sp>
        <p:nvSpPr>
          <p:cNvPr id="20" name="Rounded Rectangle 19"/>
          <p:cNvSpPr/>
          <p:nvPr/>
        </p:nvSpPr>
        <p:spPr>
          <a:xfrm>
            <a:off x="609600" y="5844540"/>
            <a:ext cx="10934700" cy="396240"/>
          </a:xfrm>
          <a:prstGeom prst="roundRect">
            <a:avLst>
              <a:gd name="adj" fmla="val 17307"/>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6760" y="5935980"/>
            <a:ext cx="10668000" cy="297180"/>
          </a:xfrm>
          <a:prstGeom prst="rect">
            <a:avLst/>
          </a:prstGeom>
          <a:noFill/>
        </p:spPr>
        <p:txBody>
          <a:bodyPr wrap="none" lIns="0" tIns="0" rIns="0" bIns="0" anchor="t">
            <a:spAutoFit/>
          </a:bodyPr>
          <a:lstStyle/>
          <a:p>
            <a:pPr>
              <a:lnSpc>
                <a:spcPts val="1500"/>
              </a:lnSpc>
              <a:spcBef>
                <a:spcPts val="0"/>
              </a:spcBef>
              <a:spcAft>
                <a:spcPts val="0"/>
              </a:spcAft>
              <a:defRPr sz="1080" b="0">
                <a:solidFill>
                  <a:srgbClr val="18394A"/>
                </a:solidFill>
                <a:latin typeface="Noto Sans"/>
              </a:defRPr>
            </a:pPr>
            <a:r>
              <a:t>Una acción principal visible puede convivir con rutas secundarias bien jerarquizadas.</a:t>
            </a:r>
          </a:p>
        </p:txBody>
      </p:sp>
      <p:sp>
        <p:nvSpPr>
          <p:cNvPr id="22" name="TextBox 21"/>
          <p:cNvSpPr txBox="1"/>
          <p:nvPr/>
        </p:nvSpPr>
        <p:spPr>
          <a:xfrm>
            <a:off x="609600" y="6477000"/>
            <a:ext cx="10668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Negocios Electrónicos · Unidad 1 · Tema 1.1 / Material de elaboración original</a:t>
            </a:r>
          </a:p>
        </p:txBody>
      </p:sp>
      <p:sp>
        <p:nvSpPr>
          <p:cNvPr id="23" name="TextBox 22"/>
          <p:cNvSpPr txBox="1"/>
          <p:nvPr/>
        </p:nvSpPr>
        <p:spPr>
          <a:xfrm>
            <a:off x="11094720" y="6477000"/>
            <a:ext cx="70866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81000"/>
            <a:ext cx="1066800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087E8B"/>
                </a:solidFill>
                <a:latin typeface="Noto Sans"/>
              </a:defRPr>
            </a:pPr>
            <a:r>
              <a:t>05 / MÓVIL Y ACCESIBILIDAD</a:t>
            </a:r>
          </a:p>
        </p:txBody>
      </p:sp>
      <p:sp>
        <p:nvSpPr>
          <p:cNvPr id="4" name="TextBox 3"/>
          <p:cNvSpPr txBox="1"/>
          <p:nvPr/>
        </p:nvSpPr>
        <p:spPr>
          <a:xfrm>
            <a:off x="609600" y="807720"/>
            <a:ext cx="11049000" cy="1386840"/>
          </a:xfrm>
          <a:prstGeom prst="rect">
            <a:avLst/>
          </a:prstGeom>
          <a:noFill/>
        </p:spPr>
        <p:txBody>
          <a:bodyPr wrap="none" lIns="0" tIns="0" rIns="0" bIns="0" anchor="t">
            <a:spAutoFit/>
          </a:bodyPr>
          <a:lstStyle/>
          <a:p>
            <a:pPr>
              <a:lnSpc>
                <a:spcPts val="5040"/>
              </a:lnSpc>
              <a:spcBef>
                <a:spcPts val="0"/>
              </a:spcBef>
              <a:spcAft>
                <a:spcPts val="0"/>
              </a:spcAft>
              <a:defRPr sz="3660" b="1">
                <a:solidFill>
                  <a:srgbClr val="18394A"/>
                </a:solidFill>
                <a:latin typeface="Noto Sans"/>
              </a:defRPr>
            </a:pPr>
            <a:r>
              <a:t>La claridad debe</a:t>
            </a:r>
          </a:p>
          <a:p>
            <a:pPr>
              <a:lnSpc>
                <a:spcPts val="5040"/>
              </a:lnSpc>
              <a:spcBef>
                <a:spcPts val="0"/>
              </a:spcBef>
              <a:spcAft>
                <a:spcPts val="0"/>
              </a:spcAft>
              <a:defRPr sz="3660" b="1">
                <a:solidFill>
                  <a:srgbClr val="18394A"/>
                </a:solidFill>
                <a:latin typeface="Noto Sans"/>
              </a:defRPr>
            </a:pPr>
            <a:r>
              <a:t>funcionar para más personas</a:t>
            </a:r>
          </a:p>
        </p:txBody>
      </p:sp>
      <p:sp>
        <p:nvSpPr>
          <p:cNvPr id="5" name="Rounded Rectangle 4"/>
          <p:cNvSpPr/>
          <p:nvPr/>
        </p:nvSpPr>
        <p:spPr>
          <a:xfrm>
            <a:off x="609600" y="2385060"/>
            <a:ext cx="5387340" cy="1463040"/>
          </a:xfrm>
          <a:prstGeom prst="roundRect">
            <a:avLst>
              <a:gd name="adj" fmla="val 937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606040"/>
            <a:ext cx="49606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Lectura cómoda</a:t>
            </a:r>
          </a:p>
        </p:txBody>
      </p:sp>
      <p:sp>
        <p:nvSpPr>
          <p:cNvPr id="7" name="TextBox 6"/>
          <p:cNvSpPr txBox="1"/>
          <p:nvPr/>
        </p:nvSpPr>
        <p:spPr>
          <a:xfrm>
            <a:off x="822960" y="3078480"/>
            <a:ext cx="496062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Texto legible, contenido adaptable y contraste</a:t>
            </a:r>
          </a:p>
          <a:p>
            <a:pPr>
              <a:lnSpc>
                <a:spcPts val="2220"/>
              </a:lnSpc>
              <a:spcBef>
                <a:spcPts val="0"/>
              </a:spcBef>
              <a:spcAft>
                <a:spcPts val="0"/>
              </a:spcAft>
              <a:defRPr sz="1620" b="0">
                <a:solidFill>
                  <a:srgbClr val="536975"/>
                </a:solidFill>
                <a:latin typeface="Noto Sans"/>
              </a:defRPr>
            </a:pPr>
            <a:r>
              <a:t>suficiente.</a:t>
            </a:r>
          </a:p>
        </p:txBody>
      </p:sp>
      <p:sp>
        <p:nvSpPr>
          <p:cNvPr id="8" name="Rounded Rectangle 7"/>
          <p:cNvSpPr/>
          <p:nvPr/>
        </p:nvSpPr>
        <p:spPr>
          <a:xfrm>
            <a:off x="6210300" y="2385060"/>
            <a:ext cx="5387340" cy="1463040"/>
          </a:xfrm>
          <a:prstGeom prst="roundRect">
            <a:avLst>
              <a:gd name="adj" fmla="val 937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3660" y="2606040"/>
            <a:ext cx="49606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Uso con teclado</a:t>
            </a:r>
          </a:p>
        </p:txBody>
      </p:sp>
      <p:sp>
        <p:nvSpPr>
          <p:cNvPr id="10" name="TextBox 9"/>
          <p:cNvSpPr txBox="1"/>
          <p:nvPr/>
        </p:nvSpPr>
        <p:spPr>
          <a:xfrm>
            <a:off x="6423660" y="3078480"/>
            <a:ext cx="496062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Recorrido lógico y foco visible en enlaces y</a:t>
            </a:r>
          </a:p>
          <a:p>
            <a:pPr>
              <a:lnSpc>
                <a:spcPts val="2220"/>
              </a:lnSpc>
              <a:spcBef>
                <a:spcPts val="0"/>
              </a:spcBef>
              <a:spcAft>
                <a:spcPts val="0"/>
              </a:spcAft>
              <a:defRPr sz="1620" b="0">
                <a:solidFill>
                  <a:srgbClr val="536975"/>
                </a:solidFill>
                <a:latin typeface="Noto Sans"/>
              </a:defRPr>
            </a:pPr>
            <a:r>
              <a:t>botones.</a:t>
            </a:r>
          </a:p>
        </p:txBody>
      </p:sp>
      <p:sp>
        <p:nvSpPr>
          <p:cNvPr id="11" name="Rounded Rectangle 10"/>
          <p:cNvSpPr/>
          <p:nvPr/>
        </p:nvSpPr>
        <p:spPr>
          <a:xfrm>
            <a:off x="609600" y="3939540"/>
            <a:ext cx="5387340" cy="1463040"/>
          </a:xfrm>
          <a:prstGeom prst="roundRect">
            <a:avLst>
              <a:gd name="adj" fmla="val 937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160520"/>
            <a:ext cx="49606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Imágenes que aportan</a:t>
            </a:r>
          </a:p>
        </p:txBody>
      </p:sp>
      <p:sp>
        <p:nvSpPr>
          <p:cNvPr id="13" name="TextBox 12"/>
          <p:cNvSpPr txBox="1"/>
          <p:nvPr/>
        </p:nvSpPr>
        <p:spPr>
          <a:xfrm>
            <a:off x="822960" y="4632960"/>
            <a:ext cx="496062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Texto alternativo cuando la imagen transmite</a:t>
            </a:r>
          </a:p>
          <a:p>
            <a:pPr>
              <a:lnSpc>
                <a:spcPts val="2220"/>
              </a:lnSpc>
              <a:spcBef>
                <a:spcPts val="0"/>
              </a:spcBef>
              <a:spcAft>
                <a:spcPts val="0"/>
              </a:spcAft>
              <a:defRPr sz="1620" b="0">
                <a:solidFill>
                  <a:srgbClr val="536975"/>
                </a:solidFill>
                <a:latin typeface="Noto Sans"/>
              </a:defRPr>
            </a:pPr>
            <a:r>
              <a:t>información.</a:t>
            </a:r>
          </a:p>
        </p:txBody>
      </p:sp>
      <p:sp>
        <p:nvSpPr>
          <p:cNvPr id="14" name="Rounded Rectangle 13"/>
          <p:cNvSpPr/>
          <p:nvPr/>
        </p:nvSpPr>
        <p:spPr>
          <a:xfrm>
            <a:off x="6210300" y="3939540"/>
            <a:ext cx="5387340" cy="1463040"/>
          </a:xfrm>
          <a:prstGeom prst="roundRect">
            <a:avLst>
              <a:gd name="adj" fmla="val 937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3660" y="4160520"/>
            <a:ext cx="49606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Acciones reconocibles</a:t>
            </a:r>
          </a:p>
        </p:txBody>
      </p:sp>
      <p:sp>
        <p:nvSpPr>
          <p:cNvPr id="16" name="TextBox 15"/>
          <p:cNvSpPr txBox="1"/>
          <p:nvPr/>
        </p:nvSpPr>
        <p:spPr>
          <a:xfrm>
            <a:off x="6423660" y="4632960"/>
            <a:ext cx="496062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Etiquetas descriptivas; controles fáciles de localizar</a:t>
            </a:r>
          </a:p>
          <a:p>
            <a:pPr>
              <a:lnSpc>
                <a:spcPts val="2220"/>
              </a:lnSpc>
              <a:spcBef>
                <a:spcPts val="0"/>
              </a:spcBef>
              <a:spcAft>
                <a:spcPts val="0"/>
              </a:spcAft>
              <a:defRPr sz="1620" b="0">
                <a:solidFill>
                  <a:srgbClr val="536975"/>
                </a:solidFill>
                <a:latin typeface="Noto Sans"/>
              </a:defRPr>
            </a:pPr>
            <a:r>
              <a:t>y activar.</a:t>
            </a:r>
          </a:p>
        </p:txBody>
      </p:sp>
      <p:sp>
        <p:nvSpPr>
          <p:cNvPr id="17" name="Rounded Rectangle 16"/>
          <p:cNvSpPr/>
          <p:nvPr/>
        </p:nvSpPr>
        <p:spPr>
          <a:xfrm>
            <a:off x="609600" y="5844540"/>
            <a:ext cx="10934700" cy="396240"/>
          </a:xfrm>
          <a:prstGeom prst="roundRect">
            <a:avLst>
              <a:gd name="adj" fmla="val 17307"/>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6760" y="5935980"/>
            <a:ext cx="10668000" cy="297180"/>
          </a:xfrm>
          <a:prstGeom prst="rect">
            <a:avLst/>
          </a:prstGeom>
          <a:noFill/>
        </p:spPr>
        <p:txBody>
          <a:bodyPr wrap="none" lIns="0" tIns="0" rIns="0" bIns="0" anchor="t">
            <a:spAutoFit/>
          </a:bodyPr>
          <a:lstStyle/>
          <a:p>
            <a:pPr>
              <a:lnSpc>
                <a:spcPts val="1500"/>
              </a:lnSpc>
              <a:spcBef>
                <a:spcPts val="0"/>
              </a:spcBef>
              <a:spcAft>
                <a:spcPts val="0"/>
              </a:spcAft>
              <a:defRPr sz="1080" b="0">
                <a:solidFill>
                  <a:srgbClr val="18394A"/>
                </a:solidFill>
                <a:latin typeface="Noto Sans"/>
              </a:defRPr>
            </a:pPr>
            <a:r>
              <a:t>WCAG 2.2: contraste mínimo 4,5:1 para texto normal; 3:1 para texto grande, con las excepciones del criterio 1.4.3.</a:t>
            </a:r>
          </a:p>
        </p:txBody>
      </p:sp>
      <p:sp>
        <p:nvSpPr>
          <p:cNvPr id="19" name="TextBox 18"/>
          <p:cNvSpPr txBox="1"/>
          <p:nvPr/>
        </p:nvSpPr>
        <p:spPr>
          <a:xfrm>
            <a:off x="609600" y="6477000"/>
            <a:ext cx="10668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Negocios Electrónicos · Unidad 1 · Tema 1.1 / Material de elaboración original</a:t>
            </a:r>
          </a:p>
        </p:txBody>
      </p:sp>
      <p:sp>
        <p:nvSpPr>
          <p:cNvPr id="20" name="TextBox 19"/>
          <p:cNvSpPr txBox="1"/>
          <p:nvPr/>
        </p:nvSpPr>
        <p:spPr>
          <a:xfrm>
            <a:off x="11094720" y="6477000"/>
            <a:ext cx="70866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81000"/>
            <a:ext cx="1066800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087E8B"/>
                </a:solidFill>
                <a:latin typeface="Noto Sans"/>
              </a:defRPr>
            </a:pPr>
            <a:r>
              <a:t>06 / EVALUACIÓN</a:t>
            </a:r>
          </a:p>
        </p:txBody>
      </p:sp>
      <p:sp>
        <p:nvSpPr>
          <p:cNvPr id="4" name="TextBox 3"/>
          <p:cNvSpPr txBox="1"/>
          <p:nvPr/>
        </p:nvSpPr>
        <p:spPr>
          <a:xfrm>
            <a:off x="609600" y="807720"/>
            <a:ext cx="11049000" cy="1386840"/>
          </a:xfrm>
          <a:prstGeom prst="rect">
            <a:avLst/>
          </a:prstGeom>
          <a:noFill/>
        </p:spPr>
        <p:txBody>
          <a:bodyPr wrap="none" lIns="0" tIns="0" rIns="0" bIns="0" anchor="t">
            <a:spAutoFit/>
          </a:bodyPr>
          <a:lstStyle/>
          <a:p>
            <a:pPr>
              <a:lnSpc>
                <a:spcPts val="5040"/>
              </a:lnSpc>
              <a:spcBef>
                <a:spcPts val="0"/>
              </a:spcBef>
              <a:spcAft>
                <a:spcPts val="0"/>
              </a:spcAft>
              <a:defRPr sz="3660" b="1">
                <a:solidFill>
                  <a:srgbClr val="18394A"/>
                </a:solidFill>
                <a:latin typeface="Noto Sans"/>
              </a:defRPr>
            </a:pPr>
            <a:r>
              <a:t>Medir una acción</a:t>
            </a:r>
          </a:p>
          <a:p>
            <a:pPr>
              <a:lnSpc>
                <a:spcPts val="5040"/>
              </a:lnSpc>
              <a:spcBef>
                <a:spcPts val="0"/>
              </a:spcBef>
              <a:spcAft>
                <a:spcPts val="0"/>
              </a:spcAft>
              <a:defRPr sz="3660" b="1">
                <a:solidFill>
                  <a:srgbClr val="18394A"/>
                </a:solidFill>
                <a:latin typeface="Noto Sans"/>
              </a:defRPr>
            </a:pPr>
            <a:r>
              <a:t>con un propósito definido</a:t>
            </a:r>
          </a:p>
        </p:txBody>
      </p:sp>
      <p:sp>
        <p:nvSpPr>
          <p:cNvPr id="5" name="Rounded Rectangle 4"/>
          <p:cNvSpPr/>
          <p:nvPr/>
        </p:nvSpPr>
        <p:spPr>
          <a:xfrm>
            <a:off x="609600" y="2400300"/>
            <a:ext cx="5943600" cy="1143000"/>
          </a:xfrm>
          <a:prstGeom prst="roundRect">
            <a:avLst>
              <a:gd name="adj" fmla="val 10666"/>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705100"/>
            <a:ext cx="5524500" cy="632460"/>
          </a:xfrm>
          <a:prstGeom prst="rect">
            <a:avLst/>
          </a:prstGeom>
          <a:noFill/>
        </p:spPr>
        <p:txBody>
          <a:bodyPr wrap="none" lIns="0" tIns="0" rIns="0" bIns="0" anchor="t">
            <a:spAutoFit/>
          </a:bodyPr>
          <a:lstStyle/>
          <a:p>
            <a:pPr>
              <a:lnSpc>
                <a:spcPts val="4140"/>
              </a:lnSpc>
              <a:spcBef>
                <a:spcPts val="0"/>
              </a:spcBef>
              <a:spcAft>
                <a:spcPts val="0"/>
              </a:spcAft>
              <a:defRPr sz="3000" b="1">
                <a:solidFill>
                  <a:srgbClr val="FFFFFF"/>
                </a:solidFill>
                <a:latin typeface="Noto Sans"/>
              </a:defRPr>
            </a:pPr>
            <a:r>
              <a:t>50 ÷ 2.000 × 100 = 2,5 %</a:t>
            </a:r>
          </a:p>
        </p:txBody>
      </p:sp>
      <p:sp>
        <p:nvSpPr>
          <p:cNvPr id="7" name="TextBox 6"/>
          <p:cNvSpPr txBox="1"/>
          <p:nvPr/>
        </p:nvSpPr>
        <p:spPr>
          <a:xfrm>
            <a:off x="685800" y="3771900"/>
            <a:ext cx="5760720" cy="998219"/>
          </a:xfrm>
          <a:prstGeom prst="rect">
            <a:avLst/>
          </a:prstGeom>
          <a:noFill/>
        </p:spPr>
        <p:txBody>
          <a:bodyPr wrap="none" lIns="0" tIns="0" rIns="0" bIns="0" anchor="t">
            <a:spAutoFit/>
          </a:bodyPr>
          <a:lstStyle/>
          <a:p>
            <a:pPr>
              <a:lnSpc>
                <a:spcPts val="2340"/>
              </a:lnSpc>
              <a:spcBef>
                <a:spcPts val="0"/>
              </a:spcBef>
              <a:spcAft>
                <a:spcPts val="0"/>
              </a:spcAft>
              <a:defRPr sz="1680" b="0">
                <a:solidFill>
                  <a:srgbClr val="536975"/>
                </a:solidFill>
                <a:latin typeface="Noto Sans"/>
              </a:defRPr>
            </a:pPr>
            <a:r>
              <a:t>Ejemplo hipotético: 50 de 2.000 sesiones que vieron el</a:t>
            </a:r>
          </a:p>
          <a:p>
            <a:pPr>
              <a:lnSpc>
                <a:spcPts val="2340"/>
              </a:lnSpc>
              <a:spcBef>
                <a:spcPts val="0"/>
              </a:spcBef>
              <a:spcAft>
                <a:spcPts val="0"/>
              </a:spcAft>
              <a:defRPr sz="1680" b="0">
                <a:solidFill>
                  <a:srgbClr val="536975"/>
                </a:solidFill>
                <a:latin typeface="Noto Sans"/>
              </a:defRPr>
            </a:pPr>
            <a:r>
              <a:t>inicio completaron la acción definida durante el período</a:t>
            </a:r>
          </a:p>
          <a:p>
            <a:pPr>
              <a:lnSpc>
                <a:spcPts val="2340"/>
              </a:lnSpc>
              <a:spcBef>
                <a:spcPts val="0"/>
              </a:spcBef>
              <a:spcAft>
                <a:spcPts val="0"/>
              </a:spcAft>
              <a:defRPr sz="1680" b="0">
                <a:solidFill>
                  <a:srgbClr val="536975"/>
                </a:solidFill>
                <a:latin typeface="Noto Sans"/>
              </a:defRPr>
            </a:pPr>
            <a:r>
              <a:t>observado.</a:t>
            </a:r>
          </a:p>
        </p:txBody>
      </p:sp>
      <p:sp>
        <p:nvSpPr>
          <p:cNvPr id="8" name="Rounded Rectangle 7"/>
          <p:cNvSpPr/>
          <p:nvPr/>
        </p:nvSpPr>
        <p:spPr>
          <a:xfrm>
            <a:off x="6858000" y="2385060"/>
            <a:ext cx="4678680" cy="1562100"/>
          </a:xfrm>
          <a:prstGeom prst="roundRect">
            <a:avLst>
              <a:gd name="adj" fmla="val 878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71360" y="2606040"/>
            <a:ext cx="425196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Define antes de medir</a:t>
            </a:r>
          </a:p>
        </p:txBody>
      </p:sp>
      <p:sp>
        <p:nvSpPr>
          <p:cNvPr id="10" name="TextBox 9"/>
          <p:cNvSpPr txBox="1"/>
          <p:nvPr/>
        </p:nvSpPr>
        <p:spPr>
          <a:xfrm>
            <a:off x="7071360" y="3078480"/>
            <a:ext cx="425196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Qué acción cuenta, qué período observas y</a:t>
            </a:r>
          </a:p>
          <a:p>
            <a:pPr>
              <a:lnSpc>
                <a:spcPts val="2220"/>
              </a:lnSpc>
              <a:spcBef>
                <a:spcPts val="0"/>
              </a:spcBef>
              <a:spcAft>
                <a:spcPts val="0"/>
              </a:spcAft>
              <a:defRPr sz="1620" b="0">
                <a:solidFill>
                  <a:srgbClr val="536975"/>
                </a:solidFill>
                <a:latin typeface="Noto Sans"/>
              </a:defRPr>
            </a:pPr>
            <a:r>
              <a:t>qué conjunto de sesiones usarás.</a:t>
            </a:r>
          </a:p>
        </p:txBody>
      </p:sp>
      <p:sp>
        <p:nvSpPr>
          <p:cNvPr id="11" name="Rounded Rectangle 10"/>
          <p:cNvSpPr/>
          <p:nvPr/>
        </p:nvSpPr>
        <p:spPr>
          <a:xfrm>
            <a:off x="6858000" y="4061460"/>
            <a:ext cx="4678680" cy="1562100"/>
          </a:xfrm>
          <a:prstGeom prst="roundRect">
            <a:avLst>
              <a:gd name="adj" fmla="val 878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71360" y="4282440"/>
            <a:ext cx="425196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Interpreta con cuidado</a:t>
            </a:r>
          </a:p>
        </p:txBody>
      </p:sp>
      <p:sp>
        <p:nvSpPr>
          <p:cNvPr id="13" name="TextBox 12"/>
          <p:cNvSpPr txBox="1"/>
          <p:nvPr/>
        </p:nvSpPr>
        <p:spPr>
          <a:xfrm>
            <a:off x="7071360" y="4754880"/>
            <a:ext cx="425196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Las visitas por sí solas no prueban utilidad.</a:t>
            </a:r>
          </a:p>
          <a:p>
            <a:pPr>
              <a:lnSpc>
                <a:spcPts val="2220"/>
              </a:lnSpc>
              <a:spcBef>
                <a:spcPts val="0"/>
              </a:spcBef>
              <a:spcAft>
                <a:spcPts val="0"/>
              </a:spcAft>
              <a:defRPr sz="1620" b="0">
                <a:solidFill>
                  <a:srgbClr val="536975"/>
                </a:solidFill>
                <a:latin typeface="Noto Sans"/>
              </a:defRPr>
            </a:pPr>
            <a:r>
              <a:t>Un clic tampoco equivale a una venta.</a:t>
            </a:r>
          </a:p>
        </p:txBody>
      </p:sp>
      <p:sp>
        <p:nvSpPr>
          <p:cNvPr id="14" name="Rounded Rectangle 13"/>
          <p:cNvSpPr/>
          <p:nvPr/>
        </p:nvSpPr>
        <p:spPr>
          <a:xfrm>
            <a:off x="609600" y="5844540"/>
            <a:ext cx="10934700" cy="396240"/>
          </a:xfrm>
          <a:prstGeom prst="roundRect">
            <a:avLst>
              <a:gd name="adj" fmla="val 17307"/>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6760" y="5935980"/>
            <a:ext cx="10668000" cy="297180"/>
          </a:xfrm>
          <a:prstGeom prst="rect">
            <a:avLst/>
          </a:prstGeom>
          <a:noFill/>
        </p:spPr>
        <p:txBody>
          <a:bodyPr wrap="none" lIns="0" tIns="0" rIns="0" bIns="0" anchor="t">
            <a:spAutoFit/>
          </a:bodyPr>
          <a:lstStyle/>
          <a:p>
            <a:pPr>
              <a:lnSpc>
                <a:spcPts val="1500"/>
              </a:lnSpc>
              <a:spcBef>
                <a:spcPts val="0"/>
              </a:spcBef>
              <a:spcAft>
                <a:spcPts val="0"/>
              </a:spcAft>
              <a:defRPr sz="1080" b="0">
                <a:solidFill>
                  <a:srgbClr val="18394A"/>
                </a:solidFill>
                <a:latin typeface="Noto Sans"/>
              </a:defRPr>
            </a:pPr>
            <a:r>
              <a:t>La proporción observada describe un resultado; por sí sola no demuestra qué cambio lo causó.</a:t>
            </a:r>
          </a:p>
        </p:txBody>
      </p:sp>
      <p:sp>
        <p:nvSpPr>
          <p:cNvPr id="16" name="TextBox 15"/>
          <p:cNvSpPr txBox="1"/>
          <p:nvPr/>
        </p:nvSpPr>
        <p:spPr>
          <a:xfrm>
            <a:off x="609600" y="6477000"/>
            <a:ext cx="10668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Negocios Electrónicos · Unidad 1 · Tema 1.1 / Material de elaboración original</a:t>
            </a:r>
          </a:p>
        </p:txBody>
      </p:sp>
      <p:sp>
        <p:nvSpPr>
          <p:cNvPr id="17" name="TextBox 16"/>
          <p:cNvSpPr txBox="1"/>
          <p:nvPr/>
        </p:nvSpPr>
        <p:spPr>
          <a:xfrm>
            <a:off x="11094720" y="6477000"/>
            <a:ext cx="70866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81000"/>
            <a:ext cx="1066800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087E8B"/>
                </a:solidFill>
                <a:latin typeface="Noto Sans"/>
              </a:defRPr>
            </a:pPr>
            <a:r>
              <a:t>07 / APLICACIÓN</a:t>
            </a:r>
          </a:p>
        </p:txBody>
      </p:sp>
      <p:sp>
        <p:nvSpPr>
          <p:cNvPr id="4" name="TextBox 3"/>
          <p:cNvSpPr txBox="1"/>
          <p:nvPr/>
        </p:nvSpPr>
        <p:spPr>
          <a:xfrm>
            <a:off x="609600" y="807720"/>
            <a:ext cx="11049000" cy="1386840"/>
          </a:xfrm>
          <a:prstGeom prst="rect">
            <a:avLst/>
          </a:prstGeom>
          <a:noFill/>
        </p:spPr>
        <p:txBody>
          <a:bodyPr wrap="none" lIns="0" tIns="0" rIns="0" bIns="0" anchor="t">
            <a:spAutoFit/>
          </a:bodyPr>
          <a:lstStyle/>
          <a:p>
            <a:pPr>
              <a:lnSpc>
                <a:spcPts val="5040"/>
              </a:lnSpc>
              <a:spcBef>
                <a:spcPts val="0"/>
              </a:spcBef>
              <a:spcAft>
                <a:spcPts val="0"/>
              </a:spcAft>
              <a:defRPr sz="3660" b="1">
                <a:solidFill>
                  <a:srgbClr val="18394A"/>
                </a:solidFill>
                <a:latin typeface="Noto Sans"/>
              </a:defRPr>
            </a:pPr>
            <a:r>
              <a:t>Tu reto: mejorar</a:t>
            </a:r>
          </a:p>
          <a:p>
            <a:pPr>
              <a:lnSpc>
                <a:spcPts val="5040"/>
              </a:lnSpc>
              <a:spcBef>
                <a:spcPts val="0"/>
              </a:spcBef>
              <a:spcAft>
                <a:spcPts val="0"/>
              </a:spcAft>
              <a:defRPr sz="3660" b="1">
                <a:solidFill>
                  <a:srgbClr val="18394A"/>
                </a:solidFill>
                <a:latin typeface="Noto Sans"/>
              </a:defRPr>
            </a:pPr>
            <a:r>
              <a:t>el inicio de Minga Cacao</a:t>
            </a:r>
          </a:p>
        </p:txBody>
      </p:sp>
      <p:sp>
        <p:nvSpPr>
          <p:cNvPr id="5" name="Rounded Rectangle 4"/>
          <p:cNvSpPr/>
          <p:nvPr/>
        </p:nvSpPr>
        <p:spPr>
          <a:xfrm>
            <a:off x="609600" y="2400300"/>
            <a:ext cx="3520440" cy="2971800"/>
          </a:xfrm>
          <a:prstGeom prst="roundRect">
            <a:avLst>
              <a:gd name="adj" fmla="val 461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606040"/>
            <a:ext cx="309372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087E8B"/>
                </a:solidFill>
                <a:latin typeface="Noto Sans"/>
              </a:defRPr>
            </a:pPr>
            <a:r>
              <a:t>01</a:t>
            </a:r>
          </a:p>
        </p:txBody>
      </p:sp>
      <p:sp>
        <p:nvSpPr>
          <p:cNvPr id="7" name="TextBox 6"/>
          <p:cNvSpPr txBox="1"/>
          <p:nvPr/>
        </p:nvSpPr>
        <p:spPr>
          <a:xfrm>
            <a:off x="822960" y="2948940"/>
            <a:ext cx="30937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Diagnostica</a:t>
            </a:r>
          </a:p>
        </p:txBody>
      </p:sp>
      <p:sp>
        <p:nvSpPr>
          <p:cNvPr id="8" name="TextBox 7"/>
          <p:cNvSpPr txBox="1"/>
          <p:nvPr/>
        </p:nvSpPr>
        <p:spPr>
          <a:xfrm>
            <a:off x="822960" y="3421380"/>
            <a:ext cx="3093720" cy="123444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La página solo dice</a:t>
            </a:r>
          </a:p>
          <a:p>
            <a:pPr>
              <a:lnSpc>
                <a:spcPts val="2220"/>
              </a:lnSpc>
              <a:spcBef>
                <a:spcPts val="0"/>
              </a:spcBef>
              <a:spcAft>
                <a:spcPts val="0"/>
              </a:spcAft>
              <a:defRPr sz="1620" b="0">
                <a:solidFill>
                  <a:srgbClr val="536975"/>
                </a:solidFill>
                <a:latin typeface="Noto Sans"/>
              </a:defRPr>
            </a:pPr>
            <a:r>
              <a:t>«Bienvenidos», tiene seis</a:t>
            </a:r>
          </a:p>
          <a:p>
            <a:pPr>
              <a:lnSpc>
                <a:spcPts val="2220"/>
              </a:lnSpc>
              <a:spcBef>
                <a:spcPts val="0"/>
              </a:spcBef>
              <a:spcAft>
                <a:spcPts val="0"/>
              </a:spcAft>
              <a:defRPr sz="1620" b="0">
                <a:solidFill>
                  <a:srgbClr val="536975"/>
                </a:solidFill>
                <a:latin typeface="Noto Sans"/>
              </a:defRPr>
            </a:pPr>
            <a:r>
              <a:t>botones iguales y no explica</a:t>
            </a:r>
          </a:p>
          <a:p>
            <a:pPr>
              <a:lnSpc>
                <a:spcPts val="2220"/>
              </a:lnSpc>
              <a:spcBef>
                <a:spcPts val="0"/>
              </a:spcBef>
              <a:spcAft>
                <a:spcPts val="0"/>
              </a:spcAft>
              <a:defRPr sz="1620" b="0">
                <a:solidFill>
                  <a:srgbClr val="536975"/>
                </a:solidFill>
                <a:latin typeface="Noto Sans"/>
              </a:defRPr>
            </a:pPr>
            <a:r>
              <a:t>qué vende.</a:t>
            </a:r>
          </a:p>
        </p:txBody>
      </p:sp>
      <p:sp>
        <p:nvSpPr>
          <p:cNvPr id="9" name="Rounded Rectangle 8"/>
          <p:cNvSpPr/>
          <p:nvPr/>
        </p:nvSpPr>
        <p:spPr>
          <a:xfrm>
            <a:off x="4343400" y="2400300"/>
            <a:ext cx="3520440" cy="2971800"/>
          </a:xfrm>
          <a:prstGeom prst="roundRect">
            <a:avLst>
              <a:gd name="adj" fmla="val 461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6760" y="2606040"/>
            <a:ext cx="309372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087E8B"/>
                </a:solidFill>
                <a:latin typeface="Noto Sans"/>
              </a:defRPr>
            </a:pPr>
            <a:r>
              <a:t>02</a:t>
            </a:r>
          </a:p>
        </p:txBody>
      </p:sp>
      <p:sp>
        <p:nvSpPr>
          <p:cNvPr id="11" name="TextBox 10"/>
          <p:cNvSpPr txBox="1"/>
          <p:nvPr/>
        </p:nvSpPr>
        <p:spPr>
          <a:xfrm>
            <a:off x="4556760" y="2948940"/>
            <a:ext cx="30937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Rediseña</a:t>
            </a:r>
          </a:p>
        </p:txBody>
      </p:sp>
      <p:sp>
        <p:nvSpPr>
          <p:cNvPr id="12" name="TextBox 11"/>
          <p:cNvSpPr txBox="1"/>
          <p:nvPr/>
        </p:nvSpPr>
        <p:spPr>
          <a:xfrm>
            <a:off x="4556760" y="3421380"/>
            <a:ext cx="3093720" cy="95250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Escribe una propuesta concreta</a:t>
            </a:r>
          </a:p>
          <a:p>
            <a:pPr>
              <a:lnSpc>
                <a:spcPts val="2220"/>
              </a:lnSpc>
              <a:spcBef>
                <a:spcPts val="0"/>
              </a:spcBef>
              <a:spcAft>
                <a:spcPts val="0"/>
              </a:spcAft>
              <a:defRPr sz="1620" b="0">
                <a:solidFill>
                  <a:srgbClr val="536975"/>
                </a:solidFill>
                <a:latin typeface="Noto Sans"/>
              </a:defRPr>
            </a:pPr>
            <a:r>
              <a:t>y dibuja la jerarquía para una</a:t>
            </a:r>
          </a:p>
          <a:p>
            <a:pPr>
              <a:lnSpc>
                <a:spcPts val="2220"/>
              </a:lnSpc>
              <a:spcBef>
                <a:spcPts val="0"/>
              </a:spcBef>
              <a:spcAft>
                <a:spcPts val="0"/>
              </a:spcAft>
              <a:defRPr sz="1620" b="0">
                <a:solidFill>
                  <a:srgbClr val="536975"/>
                </a:solidFill>
                <a:latin typeface="Noto Sans"/>
              </a:defRPr>
            </a:pPr>
            <a:r>
              <a:t>pantalla móvil.</a:t>
            </a:r>
          </a:p>
        </p:txBody>
      </p:sp>
      <p:sp>
        <p:nvSpPr>
          <p:cNvPr id="13" name="Rounded Rectangle 12"/>
          <p:cNvSpPr/>
          <p:nvPr/>
        </p:nvSpPr>
        <p:spPr>
          <a:xfrm>
            <a:off x="8077200" y="2400300"/>
            <a:ext cx="3520440" cy="2971800"/>
          </a:xfrm>
          <a:prstGeom prst="roundRect">
            <a:avLst>
              <a:gd name="adj" fmla="val 461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90560" y="2606040"/>
            <a:ext cx="309372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087E8B"/>
                </a:solidFill>
                <a:latin typeface="Noto Sans"/>
              </a:defRPr>
            </a:pPr>
            <a:r>
              <a:t>03</a:t>
            </a:r>
          </a:p>
        </p:txBody>
      </p:sp>
      <p:sp>
        <p:nvSpPr>
          <p:cNvPr id="15" name="TextBox 14"/>
          <p:cNvSpPr txBox="1"/>
          <p:nvPr/>
        </p:nvSpPr>
        <p:spPr>
          <a:xfrm>
            <a:off x="8290560" y="2948940"/>
            <a:ext cx="30937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Justifica</a:t>
            </a:r>
          </a:p>
        </p:txBody>
      </p:sp>
      <p:sp>
        <p:nvSpPr>
          <p:cNvPr id="16" name="TextBox 15"/>
          <p:cNvSpPr txBox="1"/>
          <p:nvPr/>
        </p:nvSpPr>
        <p:spPr>
          <a:xfrm>
            <a:off x="8290560" y="3421380"/>
            <a:ext cx="3093720" cy="95250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Explica la acción prioritaria, dos</a:t>
            </a:r>
          </a:p>
          <a:p>
            <a:pPr>
              <a:lnSpc>
                <a:spcPts val="2220"/>
              </a:lnSpc>
              <a:spcBef>
                <a:spcPts val="0"/>
              </a:spcBef>
              <a:spcAft>
                <a:spcPts val="0"/>
              </a:spcAft>
              <a:defRPr sz="1620" b="0">
                <a:solidFill>
                  <a:srgbClr val="536975"/>
                </a:solidFill>
                <a:latin typeface="Noto Sans"/>
              </a:defRPr>
            </a:pPr>
            <a:r>
              <a:t>mejoras de accesibilidad y una</a:t>
            </a:r>
          </a:p>
          <a:p>
            <a:pPr>
              <a:lnSpc>
                <a:spcPts val="2220"/>
              </a:lnSpc>
              <a:spcBef>
                <a:spcPts val="0"/>
              </a:spcBef>
              <a:spcAft>
                <a:spcPts val="0"/>
              </a:spcAft>
              <a:defRPr sz="1620" b="0">
                <a:solidFill>
                  <a:srgbClr val="536975"/>
                </a:solidFill>
                <a:latin typeface="Noto Sans"/>
              </a:defRPr>
            </a:pPr>
            <a:r>
              <a:t>medida de resultado.</a:t>
            </a:r>
          </a:p>
        </p:txBody>
      </p:sp>
      <p:sp>
        <p:nvSpPr>
          <p:cNvPr id="17" name="Rounded Rectangle 16"/>
          <p:cNvSpPr/>
          <p:nvPr/>
        </p:nvSpPr>
        <p:spPr>
          <a:xfrm>
            <a:off x="609600" y="5844540"/>
            <a:ext cx="10934700" cy="396240"/>
          </a:xfrm>
          <a:prstGeom prst="roundRect">
            <a:avLst>
              <a:gd name="adj" fmla="val 17307"/>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6760" y="5935980"/>
            <a:ext cx="10668000" cy="297180"/>
          </a:xfrm>
          <a:prstGeom prst="rect">
            <a:avLst/>
          </a:prstGeom>
          <a:noFill/>
        </p:spPr>
        <p:txBody>
          <a:bodyPr wrap="none" lIns="0" tIns="0" rIns="0" bIns="0" anchor="t">
            <a:spAutoFit/>
          </a:bodyPr>
          <a:lstStyle/>
          <a:p>
            <a:pPr>
              <a:lnSpc>
                <a:spcPts val="1500"/>
              </a:lnSpc>
              <a:spcBef>
                <a:spcPts val="0"/>
              </a:spcBef>
              <a:spcAft>
                <a:spcPts val="0"/>
              </a:spcAft>
              <a:defRPr sz="1080" b="0">
                <a:solidFill>
                  <a:srgbClr val="18394A"/>
                </a:solidFill>
                <a:latin typeface="Noto Sans"/>
              </a:defRPr>
            </a:pPr>
            <a:r>
              <a:t>Caso ficticio. No necesitas programar: entrega un boceto comentado y argumentos verificables.</a:t>
            </a:r>
          </a:p>
        </p:txBody>
      </p:sp>
      <p:sp>
        <p:nvSpPr>
          <p:cNvPr id="19" name="TextBox 18"/>
          <p:cNvSpPr txBox="1"/>
          <p:nvPr/>
        </p:nvSpPr>
        <p:spPr>
          <a:xfrm>
            <a:off x="609600" y="6477000"/>
            <a:ext cx="10668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Negocios Electrónicos · Unidad 1 · Tema 1.1 / Material de elaboración original</a:t>
            </a:r>
          </a:p>
        </p:txBody>
      </p:sp>
      <p:sp>
        <p:nvSpPr>
          <p:cNvPr id="20" name="TextBox 19"/>
          <p:cNvSpPr txBox="1"/>
          <p:nvPr/>
        </p:nvSpPr>
        <p:spPr>
          <a:xfrm>
            <a:off x="11094720" y="6477000"/>
            <a:ext cx="70866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81000"/>
            <a:ext cx="1066800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E7AE53"/>
                </a:solidFill>
                <a:latin typeface="Noto Sans"/>
              </a:defRPr>
            </a:pPr>
            <a:r>
              <a:t>08 / CONCLUSIÓN</a:t>
            </a:r>
          </a:p>
        </p:txBody>
      </p:sp>
      <p:sp>
        <p:nvSpPr>
          <p:cNvPr id="5" name="TextBox 4"/>
          <p:cNvSpPr txBox="1"/>
          <p:nvPr/>
        </p:nvSpPr>
        <p:spPr>
          <a:xfrm>
            <a:off x="609600" y="807720"/>
            <a:ext cx="11049000" cy="1386840"/>
          </a:xfrm>
          <a:prstGeom prst="rect">
            <a:avLst/>
          </a:prstGeom>
          <a:noFill/>
        </p:spPr>
        <p:txBody>
          <a:bodyPr wrap="none" lIns="0" tIns="0" rIns="0" bIns="0" anchor="t">
            <a:spAutoFit/>
          </a:bodyPr>
          <a:lstStyle/>
          <a:p>
            <a:pPr>
              <a:lnSpc>
                <a:spcPts val="5040"/>
              </a:lnSpc>
              <a:spcBef>
                <a:spcPts val="0"/>
              </a:spcBef>
              <a:spcAft>
                <a:spcPts val="0"/>
              </a:spcAft>
              <a:defRPr sz="3660" b="1">
                <a:solidFill>
                  <a:srgbClr val="FFFFFF"/>
                </a:solidFill>
                <a:latin typeface="Noto Sans"/>
              </a:defRPr>
            </a:pPr>
            <a:r>
              <a:t>Orientar. Priorizar.</a:t>
            </a:r>
          </a:p>
          <a:p>
            <a:pPr>
              <a:lnSpc>
                <a:spcPts val="5040"/>
              </a:lnSpc>
              <a:spcBef>
                <a:spcPts val="0"/>
              </a:spcBef>
              <a:spcAft>
                <a:spcPts val="0"/>
              </a:spcAft>
              <a:defRPr sz="3660" b="1">
                <a:solidFill>
                  <a:srgbClr val="FFFFFF"/>
                </a:solidFill>
                <a:latin typeface="Noto Sans"/>
              </a:defRPr>
            </a:pPr>
            <a:r>
              <a:t>Comprobar.</a:t>
            </a:r>
          </a:p>
        </p:txBody>
      </p:sp>
      <p:sp>
        <p:nvSpPr>
          <p:cNvPr id="6" name="Rounded Rectangle 5"/>
          <p:cNvSpPr/>
          <p:nvPr/>
        </p:nvSpPr>
        <p:spPr>
          <a:xfrm>
            <a:off x="609600" y="2438400"/>
            <a:ext cx="3520440" cy="2628900"/>
          </a:xfrm>
          <a:prstGeom prst="roundRect">
            <a:avLst>
              <a:gd name="adj" fmla="val 5217"/>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644140"/>
            <a:ext cx="309372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E7AE53"/>
                </a:solidFill>
                <a:latin typeface="Noto Sans"/>
              </a:defRPr>
            </a:pPr>
            <a:r>
              <a:t>01</a:t>
            </a:r>
          </a:p>
        </p:txBody>
      </p:sp>
      <p:sp>
        <p:nvSpPr>
          <p:cNvPr id="8" name="TextBox 7"/>
          <p:cNvSpPr txBox="1"/>
          <p:nvPr/>
        </p:nvSpPr>
        <p:spPr>
          <a:xfrm>
            <a:off x="822960" y="2987040"/>
            <a:ext cx="30937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Orientar</a:t>
            </a:r>
          </a:p>
        </p:txBody>
      </p:sp>
      <p:sp>
        <p:nvSpPr>
          <p:cNvPr id="9" name="TextBox 8"/>
          <p:cNvSpPr txBox="1"/>
          <p:nvPr/>
        </p:nvSpPr>
        <p:spPr>
          <a:xfrm>
            <a:off x="822960" y="3459480"/>
            <a:ext cx="3093720" cy="95250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D6E4E8"/>
                </a:solidFill>
                <a:latin typeface="Noto Sans"/>
              </a:defRPr>
            </a:pPr>
            <a:r>
              <a:t>Explica la oferta y permite</a:t>
            </a:r>
          </a:p>
          <a:p>
            <a:pPr>
              <a:lnSpc>
                <a:spcPts val="2220"/>
              </a:lnSpc>
              <a:spcBef>
                <a:spcPts val="0"/>
              </a:spcBef>
              <a:spcAft>
                <a:spcPts val="0"/>
              </a:spcAft>
              <a:defRPr sz="1620" b="0">
                <a:solidFill>
                  <a:srgbClr val="D6E4E8"/>
                </a:solidFill>
                <a:latin typeface="Noto Sans"/>
              </a:defRPr>
            </a:pPr>
            <a:r>
              <a:t>reconocer qué puede hacerse</a:t>
            </a:r>
          </a:p>
          <a:p>
            <a:pPr>
              <a:lnSpc>
                <a:spcPts val="2220"/>
              </a:lnSpc>
              <a:spcBef>
                <a:spcPts val="0"/>
              </a:spcBef>
              <a:spcAft>
                <a:spcPts val="0"/>
              </a:spcAft>
              <a:defRPr sz="1620" b="0">
                <a:solidFill>
                  <a:srgbClr val="D6E4E8"/>
                </a:solidFill>
                <a:latin typeface="Noto Sans"/>
              </a:defRPr>
            </a:pPr>
            <a:r>
              <a:t>en el sitio.</a:t>
            </a:r>
          </a:p>
        </p:txBody>
      </p:sp>
      <p:sp>
        <p:nvSpPr>
          <p:cNvPr id="10" name="Rounded Rectangle 9"/>
          <p:cNvSpPr/>
          <p:nvPr/>
        </p:nvSpPr>
        <p:spPr>
          <a:xfrm>
            <a:off x="4343400" y="2438400"/>
            <a:ext cx="3520440" cy="2628900"/>
          </a:xfrm>
          <a:prstGeom prst="roundRect">
            <a:avLst>
              <a:gd name="adj" fmla="val 5217"/>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6760" y="2644140"/>
            <a:ext cx="309372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E7AE53"/>
                </a:solidFill>
                <a:latin typeface="Noto Sans"/>
              </a:defRPr>
            </a:pPr>
            <a:r>
              <a:t>02</a:t>
            </a:r>
          </a:p>
        </p:txBody>
      </p:sp>
      <p:sp>
        <p:nvSpPr>
          <p:cNvPr id="12" name="TextBox 11"/>
          <p:cNvSpPr txBox="1"/>
          <p:nvPr/>
        </p:nvSpPr>
        <p:spPr>
          <a:xfrm>
            <a:off x="4556760" y="2987040"/>
            <a:ext cx="30937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Priorizar</a:t>
            </a:r>
          </a:p>
        </p:txBody>
      </p:sp>
      <p:sp>
        <p:nvSpPr>
          <p:cNvPr id="13" name="TextBox 12"/>
          <p:cNvSpPr txBox="1"/>
          <p:nvPr/>
        </p:nvSpPr>
        <p:spPr>
          <a:xfrm>
            <a:off x="4556760" y="3459480"/>
            <a:ext cx="309372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D6E4E8"/>
                </a:solidFill>
                <a:latin typeface="Noto Sans"/>
              </a:defRPr>
            </a:pPr>
            <a:r>
              <a:t>Ordena mensajes y recorridos</a:t>
            </a:r>
          </a:p>
          <a:p>
            <a:pPr>
              <a:lnSpc>
                <a:spcPts val="2220"/>
              </a:lnSpc>
              <a:spcBef>
                <a:spcPts val="0"/>
              </a:spcBef>
              <a:spcAft>
                <a:spcPts val="0"/>
              </a:spcAft>
              <a:defRPr sz="1620" b="0">
                <a:solidFill>
                  <a:srgbClr val="D6E4E8"/>
                </a:solidFill>
                <a:latin typeface="Noto Sans"/>
              </a:defRPr>
            </a:pPr>
            <a:r>
              <a:t>según la intención del público.</a:t>
            </a:r>
          </a:p>
        </p:txBody>
      </p:sp>
      <p:sp>
        <p:nvSpPr>
          <p:cNvPr id="14" name="Rounded Rectangle 13"/>
          <p:cNvSpPr/>
          <p:nvPr/>
        </p:nvSpPr>
        <p:spPr>
          <a:xfrm>
            <a:off x="8077200" y="2438400"/>
            <a:ext cx="3520440" cy="2628900"/>
          </a:xfrm>
          <a:prstGeom prst="roundRect">
            <a:avLst>
              <a:gd name="adj" fmla="val 5217"/>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90560" y="2644140"/>
            <a:ext cx="3093720" cy="350520"/>
          </a:xfrm>
          <a:prstGeom prst="rect">
            <a:avLst/>
          </a:prstGeom>
          <a:noFill/>
        </p:spPr>
        <p:txBody>
          <a:bodyPr wrap="none" lIns="0" tIns="0" rIns="0" bIns="0" anchor="t">
            <a:spAutoFit/>
          </a:bodyPr>
          <a:lstStyle/>
          <a:p>
            <a:pPr>
              <a:lnSpc>
                <a:spcPts val="1920"/>
              </a:lnSpc>
              <a:spcBef>
                <a:spcPts val="0"/>
              </a:spcBef>
              <a:spcAft>
                <a:spcPts val="0"/>
              </a:spcAft>
              <a:defRPr sz="1380" b="1">
                <a:solidFill>
                  <a:srgbClr val="E7AE53"/>
                </a:solidFill>
                <a:latin typeface="Noto Sans"/>
              </a:defRPr>
            </a:pPr>
            <a:r>
              <a:t>03</a:t>
            </a:r>
          </a:p>
        </p:txBody>
      </p:sp>
      <p:sp>
        <p:nvSpPr>
          <p:cNvPr id="16" name="TextBox 15"/>
          <p:cNvSpPr txBox="1"/>
          <p:nvPr/>
        </p:nvSpPr>
        <p:spPr>
          <a:xfrm>
            <a:off x="8290560" y="2987040"/>
            <a:ext cx="309372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7" name="TextBox 16"/>
          <p:cNvSpPr txBox="1"/>
          <p:nvPr/>
        </p:nvSpPr>
        <p:spPr>
          <a:xfrm>
            <a:off x="8290560" y="3459480"/>
            <a:ext cx="3093720" cy="95250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D6E4E8"/>
                </a:solidFill>
                <a:latin typeface="Noto Sans"/>
              </a:defRPr>
            </a:pPr>
            <a:r>
              <a:t>Revisa accesibilidad y observa</a:t>
            </a:r>
          </a:p>
          <a:p>
            <a:pPr>
              <a:lnSpc>
                <a:spcPts val="2220"/>
              </a:lnSpc>
              <a:spcBef>
                <a:spcPts val="0"/>
              </a:spcBef>
              <a:spcAft>
                <a:spcPts val="0"/>
              </a:spcAft>
              <a:defRPr sz="1620" b="0">
                <a:solidFill>
                  <a:srgbClr val="D6E4E8"/>
                </a:solidFill>
                <a:latin typeface="Noto Sans"/>
              </a:defRPr>
            </a:pPr>
            <a:r>
              <a:t>una acción definida con datos</a:t>
            </a:r>
          </a:p>
          <a:p>
            <a:pPr>
              <a:lnSpc>
                <a:spcPts val="2220"/>
              </a:lnSpc>
              <a:spcBef>
                <a:spcPts val="0"/>
              </a:spcBef>
              <a:spcAft>
                <a:spcPts val="0"/>
              </a:spcAft>
              <a:defRPr sz="1620" b="0">
                <a:solidFill>
                  <a:srgbClr val="D6E4E8"/>
                </a:solidFill>
                <a:latin typeface="Noto Sans"/>
              </a:defRPr>
            </a:pPr>
            <a:r>
              <a:t>bien delimitados.</a:t>
            </a:r>
          </a:p>
        </p:txBody>
      </p:sp>
      <p:sp>
        <p:nvSpPr>
          <p:cNvPr id="18" name="Rounded Rectangle 17"/>
          <p:cNvSpPr/>
          <p:nvPr/>
        </p:nvSpPr>
        <p:spPr>
          <a:xfrm>
            <a:off x="609600" y="5844540"/>
            <a:ext cx="10934700" cy="396240"/>
          </a:xfrm>
          <a:prstGeom prst="roundRect">
            <a:avLst>
              <a:gd name="adj" fmla="val 17307"/>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760" y="5935980"/>
            <a:ext cx="10668000" cy="297180"/>
          </a:xfrm>
          <a:prstGeom prst="rect">
            <a:avLst/>
          </a:prstGeom>
          <a:noFill/>
        </p:spPr>
        <p:txBody>
          <a:bodyPr wrap="none" lIns="0" tIns="0" rIns="0" bIns="0" anchor="t">
            <a:spAutoFit/>
          </a:bodyPr>
          <a:lstStyle/>
          <a:p>
            <a:pPr>
              <a:lnSpc>
                <a:spcPts val="1500"/>
              </a:lnSpc>
              <a:spcBef>
                <a:spcPts val="0"/>
              </a:spcBef>
              <a:spcAft>
                <a:spcPts val="0"/>
              </a:spcAft>
              <a:defRPr sz="1080" b="0">
                <a:solidFill>
                  <a:srgbClr val="FFFFFF"/>
                </a:solidFill>
                <a:latin typeface="Noto Sans"/>
              </a:defRPr>
            </a:pPr>
            <a:r>
              <a:t>Antes de publicar: pide a otra persona que identifique la oferta y el siguiente paso sin ayuda.</a:t>
            </a:r>
          </a:p>
        </p:txBody>
      </p:sp>
      <p:sp>
        <p:nvSpPr>
          <p:cNvPr id="20" name="TextBox 19"/>
          <p:cNvSpPr txBox="1"/>
          <p:nvPr/>
        </p:nvSpPr>
        <p:spPr>
          <a:xfrm>
            <a:off x="609600" y="6477000"/>
            <a:ext cx="10668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Negocios Electrónicos · Unidad 1 · Tema 1.1 / Material de elaboración original</a:t>
            </a:r>
          </a:p>
        </p:txBody>
      </p:sp>
      <p:sp>
        <p:nvSpPr>
          <p:cNvPr id="21" name="TextBox 20"/>
          <p:cNvSpPr txBox="1"/>
          <p:nvPr/>
        </p:nvSpPr>
        <p:spPr>
          <a:xfrm>
            <a:off x="11094720" y="6477000"/>
            <a:ext cx="70866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81000"/>
            <a:ext cx="10668000" cy="335280"/>
          </a:xfrm>
          <a:prstGeom prst="rect">
            <a:avLst/>
          </a:prstGeom>
          <a:noFill/>
        </p:spPr>
        <p:txBody>
          <a:bodyPr wrap="none" lIns="0" tIns="0" rIns="0" bIns="0" anchor="t">
            <a:spAutoFit/>
          </a:bodyPr>
          <a:lstStyle/>
          <a:p>
            <a:pPr>
              <a:lnSpc>
                <a:spcPts val="1800"/>
              </a:lnSpc>
              <a:spcBef>
                <a:spcPts val="0"/>
              </a:spcBef>
              <a:spcAft>
                <a:spcPts val="0"/>
              </a:spcAft>
              <a:defRPr sz="1320" b="1">
                <a:solidFill>
                  <a:srgbClr val="087E8B"/>
                </a:solidFill>
                <a:latin typeface="Noto Sans"/>
              </a:defRPr>
            </a:pPr>
            <a:r>
              <a:t>FUENTES Y CONTINUIDAD</a:t>
            </a:r>
          </a:p>
        </p:txBody>
      </p:sp>
      <p:sp>
        <p:nvSpPr>
          <p:cNvPr id="4" name="TextBox 3"/>
          <p:cNvSpPr txBox="1"/>
          <p:nvPr/>
        </p:nvSpPr>
        <p:spPr>
          <a:xfrm>
            <a:off x="609600" y="807720"/>
            <a:ext cx="11049000" cy="1386840"/>
          </a:xfrm>
          <a:prstGeom prst="rect">
            <a:avLst/>
          </a:prstGeom>
          <a:noFill/>
        </p:spPr>
        <p:txBody>
          <a:bodyPr wrap="none" lIns="0" tIns="0" rIns="0" bIns="0" anchor="t">
            <a:spAutoFit/>
          </a:bodyPr>
          <a:lstStyle/>
          <a:p>
            <a:pPr>
              <a:lnSpc>
                <a:spcPts val="5040"/>
              </a:lnSpc>
              <a:spcBef>
                <a:spcPts val="0"/>
              </a:spcBef>
              <a:spcAft>
                <a:spcPts val="0"/>
              </a:spcAft>
              <a:defRPr sz="3660" b="1">
                <a:solidFill>
                  <a:srgbClr val="18394A"/>
                </a:solidFill>
                <a:latin typeface="Noto Sans"/>
              </a:defRPr>
            </a:pPr>
            <a:r>
              <a:t>De la explicación</a:t>
            </a:r>
          </a:p>
          <a:p>
            <a:pPr>
              <a:lnSpc>
                <a:spcPts val="5040"/>
              </a:lnSpc>
              <a:spcBef>
                <a:spcPts val="0"/>
              </a:spcBef>
              <a:spcAft>
                <a:spcPts val="0"/>
              </a:spcAft>
              <a:defRPr sz="3660" b="1">
                <a:solidFill>
                  <a:srgbClr val="18394A"/>
                </a:solidFill>
                <a:latin typeface="Noto Sans"/>
              </a:defRPr>
            </a:pPr>
            <a:r>
              <a:t>a la práctica</a:t>
            </a:r>
          </a:p>
        </p:txBody>
      </p:sp>
      <p:sp>
        <p:nvSpPr>
          <p:cNvPr id="5" name="TextBox 4"/>
          <p:cNvSpPr txBox="1"/>
          <p:nvPr/>
        </p:nvSpPr>
        <p:spPr>
          <a:xfrm>
            <a:off x="647700" y="2362200"/>
            <a:ext cx="30480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087E8B"/>
                </a:solidFill>
                <a:latin typeface="Noto Sans"/>
              </a:defRPr>
            </a:pPr>
            <a:r>
              <a:t>Base curricular</a:t>
            </a:r>
          </a:p>
        </p:txBody>
      </p:sp>
      <p:sp>
        <p:nvSpPr>
          <p:cNvPr id="6" name="TextBox 5"/>
          <p:cNvSpPr txBox="1"/>
          <p:nvPr/>
        </p:nvSpPr>
        <p:spPr>
          <a:xfrm>
            <a:off x="3810000" y="2362200"/>
            <a:ext cx="758952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UPS · Negocios Electrónicos · 2026–2027. Unidad 1, subtema 1.1: «Las páginas</a:t>
            </a:r>
          </a:p>
          <a:p>
            <a:pPr>
              <a:lnSpc>
                <a:spcPts val="2220"/>
              </a:lnSpc>
              <a:spcBef>
                <a:spcPts val="0"/>
              </a:spcBef>
              <a:spcAft>
                <a:spcPts val="0"/>
              </a:spcAft>
              <a:defRPr sz="1620" b="0">
                <a:solidFill>
                  <a:srgbClr val="536975"/>
                </a:solidFill>
                <a:latin typeface="Noto Sans"/>
              </a:defRPr>
            </a:pPr>
            <a:r>
              <a:t>de inicio». Página 1 del sílabo adjunto.</a:t>
            </a:r>
          </a:p>
        </p:txBody>
      </p:sp>
      <p:sp>
        <p:nvSpPr>
          <p:cNvPr id="7" name="TextBox 6"/>
          <p:cNvSpPr txBox="1"/>
          <p:nvPr/>
        </p:nvSpPr>
        <p:spPr>
          <a:xfrm>
            <a:off x="647700" y="3375660"/>
            <a:ext cx="30480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087E8B"/>
                </a:solidFill>
                <a:latin typeface="Noto Sans"/>
              </a:defRPr>
            </a:pPr>
            <a:r>
              <a:t>Referencia de accesibilidad</a:t>
            </a:r>
          </a:p>
        </p:txBody>
      </p:sp>
      <p:sp>
        <p:nvSpPr>
          <p:cNvPr id="8" name="TextBox 7"/>
          <p:cNvSpPr txBox="1"/>
          <p:nvPr/>
        </p:nvSpPr>
        <p:spPr>
          <a:xfrm>
            <a:off x="3810000" y="3375660"/>
            <a:ext cx="758952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W3C (2023). Web Content Accessibility Guidelines (WCAG) 2.2. Criterios 1.1.1,</a:t>
            </a:r>
          </a:p>
          <a:p>
            <a:pPr>
              <a:lnSpc>
                <a:spcPts val="2220"/>
              </a:lnSpc>
              <a:spcBef>
                <a:spcPts val="0"/>
              </a:spcBef>
              <a:spcAft>
                <a:spcPts val="0"/>
              </a:spcAft>
              <a:defRPr sz="1620" b="0">
                <a:solidFill>
                  <a:srgbClr val="536975"/>
                </a:solidFill>
                <a:latin typeface="Noto Sans"/>
              </a:defRPr>
            </a:pPr>
            <a:r>
              <a:t>1.4.3, 1.4.10 y 2.4.7.</a:t>
            </a:r>
          </a:p>
        </p:txBody>
      </p:sp>
      <p:sp>
        <p:nvSpPr>
          <p:cNvPr id="9" name="TextBox 8"/>
          <p:cNvSpPr txBox="1"/>
          <p:nvPr/>
        </p:nvSpPr>
        <p:spPr>
          <a:xfrm>
            <a:off x="647700" y="4389120"/>
            <a:ext cx="30480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087E8B"/>
                </a:solidFill>
                <a:latin typeface="Noto Sans"/>
              </a:defRPr>
            </a:pPr>
            <a:r>
              <a:t>Siguiente paso</a:t>
            </a:r>
          </a:p>
        </p:txBody>
      </p:sp>
      <p:sp>
        <p:nvSpPr>
          <p:cNvPr id="10" name="TextBox 9"/>
          <p:cNvSpPr txBox="1"/>
          <p:nvPr/>
        </p:nvSpPr>
        <p:spPr>
          <a:xfrm>
            <a:off x="3810000" y="4389120"/>
            <a:ext cx="7589520" cy="67056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536975"/>
                </a:solidFill>
                <a:latin typeface="Noto Sans"/>
              </a:defRPr>
            </a:pPr>
            <a:r>
              <a:t>Resuelve Tarea.docx y practica con el cuestionario de 10 preguntas. El caso y</a:t>
            </a:r>
          </a:p>
          <a:p>
            <a:pPr>
              <a:lnSpc>
                <a:spcPts val="2220"/>
              </a:lnSpc>
              <a:spcBef>
                <a:spcPts val="0"/>
              </a:spcBef>
              <a:spcAft>
                <a:spcPts val="0"/>
              </a:spcAft>
              <a:defRPr sz="1620" b="0">
                <a:solidFill>
                  <a:srgbClr val="536975"/>
                </a:solidFill>
                <a:latin typeface="Noto Sans"/>
              </a:defRPr>
            </a:pPr>
            <a:r>
              <a:t>los datos del ejemplo son ficticios.</a:t>
            </a:r>
          </a:p>
        </p:txBody>
      </p:sp>
      <p:sp>
        <p:nvSpPr>
          <p:cNvPr id="11" name="Rounded Rectangle 10"/>
          <p:cNvSpPr/>
          <p:nvPr/>
        </p:nvSpPr>
        <p:spPr>
          <a:xfrm>
            <a:off x="609600" y="5844540"/>
            <a:ext cx="10934700" cy="396240"/>
          </a:xfrm>
          <a:prstGeom prst="roundRect">
            <a:avLst>
              <a:gd name="adj" fmla="val 17307"/>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6760" y="5935980"/>
            <a:ext cx="10668000" cy="297180"/>
          </a:xfrm>
          <a:prstGeom prst="rect">
            <a:avLst/>
          </a:prstGeom>
          <a:noFill/>
        </p:spPr>
        <p:txBody>
          <a:bodyPr wrap="none" lIns="0" tIns="0" rIns="0" bIns="0" anchor="t">
            <a:spAutoFit/>
          </a:bodyPr>
          <a:lstStyle/>
          <a:p>
            <a:pPr>
              <a:lnSpc>
                <a:spcPts val="1500"/>
              </a:lnSpc>
              <a:spcBef>
                <a:spcPts val="0"/>
              </a:spcBef>
              <a:spcAft>
                <a:spcPts val="0"/>
              </a:spcAft>
              <a:defRPr sz="1080" b="0">
                <a:solidFill>
                  <a:srgbClr val="18394A"/>
                </a:solidFill>
                <a:latin typeface="Noto Sans"/>
              </a:defRPr>
            </a:pPr>
            <a:r>
              <a:t>Referencia técnica: https://www.w3.org/TR/WCAG22/ · Material didáctico de elaboración original.</a:t>
            </a:r>
          </a:p>
        </p:txBody>
      </p:sp>
      <p:sp>
        <p:nvSpPr>
          <p:cNvPr id="13" name="TextBox 12"/>
          <p:cNvSpPr txBox="1"/>
          <p:nvPr/>
        </p:nvSpPr>
        <p:spPr>
          <a:xfrm>
            <a:off x="609600" y="6477000"/>
            <a:ext cx="10668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Negocios Electrónicos · Unidad 1 · Tema 1.1 / Material de elaboración original</a:t>
            </a:r>
          </a:p>
        </p:txBody>
      </p:sp>
      <p:sp>
        <p:nvSpPr>
          <p:cNvPr id="14" name="TextBox 13"/>
          <p:cNvSpPr txBox="1"/>
          <p:nvPr/>
        </p:nvSpPr>
        <p:spPr>
          <a:xfrm>
            <a:off x="11094720" y="6477000"/>
            <a:ext cx="70866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Las páginas de inicio</dc:title>
  <dc:subject>Negocios Electrónicos · Unidad 1 · Tema 1.1</dc:subject>
  <dc:creator>Proyecto educativo · elaboración asistida por IA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