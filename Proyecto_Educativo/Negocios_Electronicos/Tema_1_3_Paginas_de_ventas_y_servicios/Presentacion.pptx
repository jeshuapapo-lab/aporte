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páginas de ventas y servicios. El propósito es diseñar una página de venta o servicio que ayude a evaluar la oferta y anticipar las condiciones de contratación. Este contenido forma parte de negocios electrónicos. Trabajaremos con conceptos y un caso ficticio para tomar decisiones justificadas.</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¿Qué información y qué acción corresponden a cada una de las dos ofertas? Al terminar deberás explicar tu decisión, indicar cómo la comprobarías y reconocer los límites de la evidencia utilizada.</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página de venta explica una oferta concreta y permite valorar su adecuación antes de avanzar. Debe identificar el producto o servicio, el beneficio relevante y sus características verificables. La imagen acompaña la explicación, pero no sustituye dimensiones, alcance o condiciones. Diferencia la información esencial de los detalles complementarios y evita que una persona deba adivinar qué incluye el precio anunciado.</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producto resultan importantes las variantes, las medidas, la disponibilidad y las condiciones de entrega. En un servicio deben precisarse el alcance, las exclusiones, el procedimiento y los resultados que realmente pueden comprometerse. Un resultado esperado no equivale a una garantía ilimitada. El siguiente paso también cambia: comprar una unidad no requiere la misma información que solicitar una cotización o reservar una cita.</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la persona comprende qué se ofrece y qué necesidad atiende. Después compara características y condiciones, elige una variante o modalidad y confirma el siguiente paso. La página debe conservar la elección a lo largo del recorrido y comunicar con claridad si se está realizando una compra, una reserva o una solicitud sin compromiso.</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ficticio: Minga Cacao publica una caja de doce bombones con precio de veinte dólares, pero no informa ingredientes ni costo de envío. También ofrece cajas personalizadas para empresas sin aclarar cantidades mínimas ni plazos de cotización. Una mejora separa la compra de la caja estándar de la solicitud de personalización, informa condiciones verificadas y evita prometer tiempos de entrega todavía no confirmados.</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llamada a la acción debe describir qué sucederá, como añadir al carrito, solicitar cotización o reservar evaluación. Presenta los costos y las condiciones relevantes antes de asumir un compromiso. Evita escasez ficticia, reseñas inventadas o cargos que aparecen tarde. Una página persuasiva facilita una elección informada; no necesita presionar con afirmaciones que el negocio no puede demostrar.</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 que la variante elegida conserve su precio y disponibilidad al avanzar. Revisa formularios, mensajes de error y confirmaciones. Si alguien solicita una cotización, debe saber qué ocurrirá después y qué información recibirá. Para evaluar la página, distingue visitas, acciones iniciadas y operaciones completadas; contar clics en comprar no permite afirmar cuántas ventas se cobraron efectivamente.</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Redacta una ficha de producto con variantes y condiciones sin inventar certificaciones. Después, diseña mensajes de error y confirmación para una solicitud de cotización. Justifica tus decisiones con los conceptos de esta explicación y comprueba tus respuestas en la actividad interactiva.</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Explica qué incluye la oferta. Usa una acción acorde con el compromiso. Comprueba condiciones y continuidad. El caso y sus datos son ficticios. Revisa las fuentes indicadas en los materiales y continúa con la práctica para transferir estos criterios a otra situación.</a:t>
            </a:r>
          </a:p>
          <a:p/>
          <a:p>
            <a:r>
              <a:t>Fuente curricular: Negocios Electrónicos, 1.3, UPS 2026–2027. Referencia: OECD (2016), Consumer Protection in E-commerce: OECD Recommendation. https://doi.org/10.1787/9789264255258-en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1.3</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Páginas de ventas y servicios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Diseñar una página de venta o servicio que ayude a evaluar la oferta y anticipar las</a:t>
            </a:r>
          </a:p>
          <a:p>
            <a:pPr>
              <a:lnSpc>
                <a:spcPts val="2640"/>
              </a:lnSpc>
              <a:spcBef>
                <a:spcPts val="0"/>
              </a:spcBef>
              <a:spcAft>
                <a:spcPts val="0"/>
              </a:spcAft>
              <a:defRPr sz="1920" b="0">
                <a:solidFill>
                  <a:srgbClr val="D6E4E8"/>
                </a:solidFill>
                <a:latin typeface="Noto Sans"/>
              </a:defRPr>
            </a:pPr>
            <a:r>
              <a:t>condiciones de contratación.</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Diseñar una página de venta o servicio que ayude a evaluar la oferta y anticipar</a:t>
            </a:r>
          </a:p>
          <a:p>
            <a:pPr>
              <a:lnSpc>
                <a:spcPts val="2820"/>
              </a:lnSpc>
              <a:spcBef>
                <a:spcPts val="0"/>
              </a:spcBef>
              <a:spcAft>
                <a:spcPts val="0"/>
              </a:spcAft>
              <a:defRPr sz="2039" b="1">
                <a:solidFill>
                  <a:srgbClr val="18394A"/>
                </a:solidFill>
                <a:latin typeface="Noto Sans"/>
              </a:defRPr>
            </a:pPr>
            <a:r>
              <a:t>las condiciones de contratación.</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46482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información y qué acción corresponden a cada una de las dos ofertas?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Información para decidir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página de venta explica una oferta concreta y permite valorar su adecuación antes de</a:t>
            </a:r>
          </a:p>
          <a:p>
            <a:pPr>
              <a:lnSpc>
                <a:spcPts val="2580"/>
              </a:lnSpc>
              <a:spcBef>
                <a:spcPts val="0"/>
              </a:spcBef>
              <a:spcAft>
                <a:spcPts val="0"/>
              </a:spcAft>
              <a:defRPr sz="1859" b="0">
                <a:solidFill>
                  <a:srgbClr val="18394A"/>
                </a:solidFill>
                <a:latin typeface="Noto Sans"/>
              </a:defRPr>
            </a:pPr>
            <a:r>
              <a:t>avanzar. Debe identificar el producto o servicio, el beneficio relevante y sus características</a:t>
            </a:r>
          </a:p>
          <a:p>
            <a:pPr>
              <a:lnSpc>
                <a:spcPts val="2580"/>
              </a:lnSpc>
              <a:spcBef>
                <a:spcPts val="0"/>
              </a:spcBef>
              <a:spcAft>
                <a:spcPts val="0"/>
              </a:spcAft>
              <a:defRPr sz="1859" b="0">
                <a:solidFill>
                  <a:srgbClr val="18394A"/>
                </a:solidFill>
                <a:latin typeface="Noto Sans"/>
              </a:defRPr>
            </a:pPr>
            <a:r>
              <a:t>verificables. La imagen acompaña la explicación, pero no sustituye dimensiones, alcance o</a:t>
            </a:r>
          </a:p>
          <a:p>
            <a:pPr>
              <a:lnSpc>
                <a:spcPts val="2580"/>
              </a:lnSpc>
              <a:spcBef>
                <a:spcPts val="0"/>
              </a:spcBef>
              <a:spcAft>
                <a:spcPts val="0"/>
              </a:spcAft>
              <a:defRPr sz="1859" b="0">
                <a:solidFill>
                  <a:srgbClr val="18394A"/>
                </a:solidFill>
                <a:latin typeface="Noto Sans"/>
              </a:defRPr>
            </a:pPr>
            <a:r>
              <a:t>condiciones. Diferencia la información esencial de los detalles complementarios y evita que</a:t>
            </a:r>
          </a:p>
          <a:p>
            <a:pPr>
              <a:lnSpc>
                <a:spcPts val="2580"/>
              </a:lnSpc>
              <a:spcBef>
                <a:spcPts val="0"/>
              </a:spcBef>
              <a:spcAft>
                <a:spcPts val="0"/>
              </a:spcAft>
              <a:defRPr sz="1859" b="0">
                <a:solidFill>
                  <a:srgbClr val="18394A"/>
                </a:solidFill>
                <a:latin typeface="Noto Sans"/>
              </a:defRPr>
            </a:pPr>
            <a:r>
              <a:t>una persona deba adivinar qué incluye el precio anunciado.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Productos y servicios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207264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En un producto resultan importantes las variantes, las medidas, la disponibilidad y las</a:t>
            </a:r>
          </a:p>
          <a:p>
            <a:pPr>
              <a:lnSpc>
                <a:spcPts val="2580"/>
              </a:lnSpc>
              <a:spcBef>
                <a:spcPts val="0"/>
              </a:spcBef>
              <a:spcAft>
                <a:spcPts val="0"/>
              </a:spcAft>
              <a:defRPr sz="1859" b="0">
                <a:solidFill>
                  <a:srgbClr val="18394A"/>
                </a:solidFill>
                <a:latin typeface="Noto Sans"/>
              </a:defRPr>
            </a:pPr>
            <a:r>
              <a:t>condiciones de entrega. En un servicio deben precisarse el alcance, las exclusiones, el</a:t>
            </a:r>
          </a:p>
          <a:p>
            <a:pPr>
              <a:lnSpc>
                <a:spcPts val="2580"/>
              </a:lnSpc>
              <a:spcBef>
                <a:spcPts val="0"/>
              </a:spcBef>
              <a:spcAft>
                <a:spcPts val="0"/>
              </a:spcAft>
              <a:defRPr sz="1859" b="0">
                <a:solidFill>
                  <a:srgbClr val="18394A"/>
                </a:solidFill>
                <a:latin typeface="Noto Sans"/>
              </a:defRPr>
            </a:pPr>
            <a:r>
              <a:t>procedimiento y los resultados que realmente pueden comprometerse. Un resultado</a:t>
            </a:r>
          </a:p>
          <a:p>
            <a:pPr>
              <a:lnSpc>
                <a:spcPts val="2580"/>
              </a:lnSpc>
              <a:spcBef>
                <a:spcPts val="0"/>
              </a:spcBef>
              <a:spcAft>
                <a:spcPts val="0"/>
              </a:spcAft>
              <a:defRPr sz="1859" b="0">
                <a:solidFill>
                  <a:srgbClr val="18394A"/>
                </a:solidFill>
                <a:latin typeface="Noto Sans"/>
              </a:defRPr>
            </a:pPr>
            <a:r>
              <a:t>esperado no equivale a una garantía ilimitada. El siguiente paso también cambia: comprar</a:t>
            </a:r>
          </a:p>
          <a:p>
            <a:pPr>
              <a:lnSpc>
                <a:spcPts val="2580"/>
              </a:lnSpc>
              <a:spcBef>
                <a:spcPts val="0"/>
              </a:spcBef>
              <a:spcAft>
                <a:spcPts val="0"/>
              </a:spcAft>
              <a:defRPr sz="1859" b="0">
                <a:solidFill>
                  <a:srgbClr val="18394A"/>
                </a:solidFill>
                <a:latin typeface="Noto Sans"/>
              </a:defRPr>
            </a:pPr>
            <a:r>
              <a:t>una unidad no requiere la misma información que solicitar una cotización o reservar una</a:t>
            </a:r>
          </a:p>
          <a:p>
            <a:pPr>
              <a:lnSpc>
                <a:spcPts val="2580"/>
              </a:lnSpc>
              <a:spcBef>
                <a:spcPts val="0"/>
              </a:spcBef>
              <a:spcAft>
                <a:spcPts val="0"/>
              </a:spcAft>
              <a:defRPr sz="1859" b="0">
                <a:solidFill>
                  <a:srgbClr val="18394A"/>
                </a:solidFill>
                <a:latin typeface="Noto Sans"/>
              </a:defRPr>
            </a:pPr>
            <a:r>
              <a:t>cita.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Comprender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Comparar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Elegir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Confirmar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Primero la persona comprende qué se ofrece y qué necesidad atiende. Después compara</a:t>
            </a:r>
          </a:p>
          <a:p>
            <a:pPr>
              <a:lnSpc>
                <a:spcPts val="2400"/>
              </a:lnSpc>
              <a:spcBef>
                <a:spcPts val="0"/>
              </a:spcBef>
              <a:spcAft>
                <a:spcPts val="0"/>
              </a:spcAft>
              <a:defRPr sz="1739" b="0">
                <a:solidFill>
                  <a:srgbClr val="536975"/>
                </a:solidFill>
                <a:latin typeface="Noto Sans"/>
              </a:defRPr>
            </a:pPr>
            <a:r>
              <a:t>características y condiciones, elige una variante o modalidad y confirma el siguiente paso. La página</a:t>
            </a:r>
          </a:p>
          <a:p>
            <a:pPr>
              <a:lnSpc>
                <a:spcPts val="2400"/>
              </a:lnSpc>
              <a:spcBef>
                <a:spcPts val="0"/>
              </a:spcBef>
              <a:spcAft>
                <a:spcPts val="0"/>
              </a:spcAft>
              <a:defRPr sz="1739" b="0">
                <a:solidFill>
                  <a:srgbClr val="536975"/>
                </a:solidFill>
                <a:latin typeface="Noto Sans"/>
              </a:defRPr>
            </a:pPr>
            <a:r>
              <a:t>debe conservar la elección a lo largo del recorrido y comunicar con claridad si se está realizando una</a:t>
            </a:r>
          </a:p>
          <a:p>
            <a:pPr>
              <a:lnSpc>
                <a:spcPts val="2400"/>
              </a:lnSpc>
              <a:spcBef>
                <a:spcPts val="0"/>
              </a:spcBef>
              <a:spcAft>
                <a:spcPts val="0"/>
              </a:spcAft>
              <a:defRPr sz="1739" b="0">
                <a:solidFill>
                  <a:srgbClr val="536975"/>
                </a:solidFill>
                <a:latin typeface="Noto Sans"/>
              </a:defRPr>
            </a:pPr>
            <a:r>
              <a:t>compra, una reserva o una solicitud sin compromiso.</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Minga Cacao publica una caja de doce bombones con precio de veinte dólares, pero no</a:t>
            </a:r>
          </a:p>
          <a:p>
            <a:pPr>
              <a:lnSpc>
                <a:spcPts val="2400"/>
              </a:lnSpc>
              <a:spcBef>
                <a:spcPts val="0"/>
              </a:spcBef>
              <a:spcAft>
                <a:spcPts val="0"/>
              </a:spcAft>
              <a:defRPr sz="1739" b="0">
                <a:solidFill>
                  <a:srgbClr val="18394A"/>
                </a:solidFill>
                <a:latin typeface="Noto Sans"/>
              </a:defRPr>
            </a:pPr>
            <a:r>
              <a:t>informa ingredientes ni costo de envío. También ofrece cajas personalizadas para empresas sin</a:t>
            </a:r>
          </a:p>
          <a:p>
            <a:pPr>
              <a:lnSpc>
                <a:spcPts val="2400"/>
              </a:lnSpc>
              <a:spcBef>
                <a:spcPts val="0"/>
              </a:spcBef>
              <a:spcAft>
                <a:spcPts val="0"/>
              </a:spcAft>
              <a:defRPr sz="1739" b="0">
                <a:solidFill>
                  <a:srgbClr val="18394A"/>
                </a:solidFill>
                <a:latin typeface="Noto Sans"/>
              </a:defRPr>
            </a:pPr>
            <a:r>
              <a:t>aclarar cantidades mínimas ni plazos de cotización. Una mejora separa la compra de la caja</a:t>
            </a:r>
          </a:p>
          <a:p>
            <a:pPr>
              <a:lnSpc>
                <a:spcPts val="2400"/>
              </a:lnSpc>
              <a:spcBef>
                <a:spcPts val="0"/>
              </a:spcBef>
              <a:spcAft>
                <a:spcPts val="0"/>
              </a:spcAft>
              <a:defRPr sz="1739" b="0">
                <a:solidFill>
                  <a:srgbClr val="18394A"/>
                </a:solidFill>
                <a:latin typeface="Noto Sans"/>
              </a:defRPr>
            </a:pPr>
            <a:r>
              <a:t>estándar de la solicitud de personalización, informa condiciones verificadas y evita prometer</a:t>
            </a:r>
          </a:p>
          <a:p>
            <a:pPr>
              <a:lnSpc>
                <a:spcPts val="2400"/>
              </a:lnSpc>
              <a:spcBef>
                <a:spcPts val="0"/>
              </a:spcBef>
              <a:spcAft>
                <a:spcPts val="0"/>
              </a:spcAft>
              <a:defRPr sz="1739" b="0">
                <a:solidFill>
                  <a:srgbClr val="18394A"/>
                </a:solidFill>
                <a:latin typeface="Noto Sans"/>
              </a:defRPr>
            </a:pPr>
            <a:r>
              <a:t>tiempos de entrega todavía no confirmados.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información y qué acción corresponden a cada una de las dos ofertas?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Acciones y transparencia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llamada a la acción debe describir qué sucederá, como añadir al carrito, solicitar</a:t>
            </a:r>
          </a:p>
          <a:p>
            <a:pPr>
              <a:lnSpc>
                <a:spcPts val="2580"/>
              </a:lnSpc>
              <a:spcBef>
                <a:spcPts val="0"/>
              </a:spcBef>
              <a:spcAft>
                <a:spcPts val="0"/>
              </a:spcAft>
              <a:defRPr sz="1859" b="0">
                <a:solidFill>
                  <a:srgbClr val="18394A"/>
                </a:solidFill>
                <a:latin typeface="Noto Sans"/>
              </a:defRPr>
            </a:pPr>
            <a:r>
              <a:t>cotización o reservar evaluación. Presenta los costos y las condiciones relevantes antes de</a:t>
            </a:r>
          </a:p>
          <a:p>
            <a:pPr>
              <a:lnSpc>
                <a:spcPts val="2580"/>
              </a:lnSpc>
              <a:spcBef>
                <a:spcPts val="0"/>
              </a:spcBef>
              <a:spcAft>
                <a:spcPts val="0"/>
              </a:spcAft>
              <a:defRPr sz="1859" b="0">
                <a:solidFill>
                  <a:srgbClr val="18394A"/>
                </a:solidFill>
                <a:latin typeface="Noto Sans"/>
              </a:defRPr>
            </a:pPr>
            <a:r>
              <a:t>asumir un compromiso. Evita escasez ficticia, reseñas inventadas o cargos que aparecen</a:t>
            </a:r>
          </a:p>
          <a:p>
            <a:pPr>
              <a:lnSpc>
                <a:spcPts val="2580"/>
              </a:lnSpc>
              <a:spcBef>
                <a:spcPts val="0"/>
              </a:spcBef>
              <a:spcAft>
                <a:spcPts val="0"/>
              </a:spcAft>
              <a:defRPr sz="1859" b="0">
                <a:solidFill>
                  <a:srgbClr val="18394A"/>
                </a:solidFill>
                <a:latin typeface="Noto Sans"/>
              </a:defRPr>
            </a:pPr>
            <a:r>
              <a:t>tarde. Una página persuasiva facilita una elección informada; no necesita presionar con</a:t>
            </a:r>
          </a:p>
          <a:p>
            <a:pPr>
              <a:lnSpc>
                <a:spcPts val="2580"/>
              </a:lnSpc>
              <a:spcBef>
                <a:spcPts val="0"/>
              </a:spcBef>
              <a:spcAft>
                <a:spcPts val="0"/>
              </a:spcAft>
              <a:defRPr sz="1859" b="0">
                <a:solidFill>
                  <a:srgbClr val="18394A"/>
                </a:solidFill>
                <a:latin typeface="Noto Sans"/>
              </a:defRPr>
            </a:pPr>
            <a:r>
              <a:t>afirmaciones que el negocio no puede demostrar.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Comprobación del recorrido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Verifica que la variante elegida conserve su precio y disponibilidad al avanzar. Revisa</a:t>
            </a:r>
          </a:p>
          <a:p>
            <a:pPr>
              <a:lnSpc>
                <a:spcPts val="2580"/>
              </a:lnSpc>
              <a:spcBef>
                <a:spcPts val="0"/>
              </a:spcBef>
              <a:spcAft>
                <a:spcPts val="0"/>
              </a:spcAft>
              <a:defRPr sz="1859" b="0">
                <a:solidFill>
                  <a:srgbClr val="18394A"/>
                </a:solidFill>
                <a:latin typeface="Noto Sans"/>
              </a:defRPr>
            </a:pPr>
            <a:r>
              <a:t>formularios, mensajes de error y confirmaciones. Si alguien solicita una cotización, debe</a:t>
            </a:r>
          </a:p>
          <a:p>
            <a:pPr>
              <a:lnSpc>
                <a:spcPts val="2580"/>
              </a:lnSpc>
              <a:spcBef>
                <a:spcPts val="0"/>
              </a:spcBef>
              <a:spcAft>
                <a:spcPts val="0"/>
              </a:spcAft>
              <a:defRPr sz="1859" b="0">
                <a:solidFill>
                  <a:srgbClr val="18394A"/>
                </a:solidFill>
                <a:latin typeface="Noto Sans"/>
              </a:defRPr>
            </a:pPr>
            <a:r>
              <a:t>saber qué ocurrirá después y qué información recibirá. Para evaluar la página, distingue</a:t>
            </a:r>
          </a:p>
          <a:p>
            <a:pPr>
              <a:lnSpc>
                <a:spcPts val="2580"/>
              </a:lnSpc>
              <a:spcBef>
                <a:spcPts val="0"/>
              </a:spcBef>
              <a:spcAft>
                <a:spcPts val="0"/>
              </a:spcAft>
              <a:defRPr sz="1859" b="0">
                <a:solidFill>
                  <a:srgbClr val="18394A"/>
                </a:solidFill>
                <a:latin typeface="Noto Sans"/>
              </a:defRPr>
            </a:pPr>
            <a:r>
              <a:t>visitas, acciones iniciadas y operaciones completadas; contar clics en comprar no permite</a:t>
            </a:r>
          </a:p>
          <a:p>
            <a:pPr>
              <a:lnSpc>
                <a:spcPts val="2580"/>
              </a:lnSpc>
              <a:spcBef>
                <a:spcPts val="0"/>
              </a:spcBef>
              <a:spcAft>
                <a:spcPts val="0"/>
              </a:spcAft>
              <a:defRPr sz="1859" b="0">
                <a:solidFill>
                  <a:srgbClr val="18394A"/>
                </a:solidFill>
                <a:latin typeface="Noto Sans"/>
              </a:defRPr>
            </a:pPr>
            <a:r>
              <a:t>afirmar cuántas ventas se cobraron efectivamente.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Redacta una ficha de producto con variantes y condiciones sin inventar certificaciones.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Redacta una oferta de servicio con alcance, exclusiones y siguiente paso.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mensajes de error y confirmación para una solicitud de cotización.</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dos indicadores del recorrido y explica qué no permiten concluir por sí solos.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Explica qué incluye la oferta.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Usa una acción acorde con el compromiso.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Comprueba condiciones y continuidad.</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OECD (2016), Consumer Protection in E-commerce: OECD</a:t>
            </a:r>
          </a:p>
          <a:p>
            <a:pPr>
              <a:lnSpc>
                <a:spcPts val="1920"/>
              </a:lnSpc>
              <a:spcBef>
                <a:spcPts val="0"/>
              </a:spcBef>
              <a:spcAft>
                <a:spcPts val="0"/>
              </a:spcAft>
              <a:defRPr sz="1380" b="0">
                <a:solidFill>
                  <a:srgbClr val="D6E4E8"/>
                </a:solidFill>
                <a:latin typeface="Noto Sans"/>
              </a:defRPr>
            </a:pPr>
            <a:r>
              <a:t>Recommendation. https://doi.org/10.1787/9789264255258-en</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Páginas de ventas y servicios</dc:title>
  <dc:subject>Estructura del negocio electrónico</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