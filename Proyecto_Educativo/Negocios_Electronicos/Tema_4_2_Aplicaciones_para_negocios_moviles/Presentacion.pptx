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Hoy estudiaremos aplicaciones para negocios móviles. El propósito es diseñar una solución para negocios móviles según tareas, contexto de uso y capacidad de mantener una experiencia segura. Este contenido forma parte de negocios electrónicos. Trabajaremos con conceptos y un caso ficticio para tomar decisiones justificadas.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proponer una solución, considera esta pregunta: ¿Qué permisos resultan innecesarios en el caso y qué tarea debería demostrar el piloto? Al terminar deberás explicar tu decisión, indicar cómo la comprobarías y reconocer los límites de la evidencia utilizada.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negocio móvil atiende actividades que las personas realizan con dispositivos portátiles y conectividad variable. Considera tamaño de pantalla, interrupciones, uso táctil y tiempo disponible. No toda tarea de escritorio debe trasladarse sin cambios. Identifica una necesidad frecuente y simplifica el recorrido, preservando información suficiente para que la persona pueda tomar decisiones y corregir errores.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web adaptable puede cubrir muchos recorridos sin instalación. Una aplicación nativa puede aprovechar capacidades del dispositivo bajo condiciones y permisos específicos. Una aplicación web progresiva puede incorporar algunas capacidades según navegador y plataforma. Compara acceso, mantenimiento, distribución y necesidades reales; instalar una aplicación no es un objetivo de negocio por sí mismo.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Selecciona una tarea frecuente, como repetir un pedido, y elimina pasos que no aporten. Decide qué capacidades móviles se necesitan y qué permisos son proporcionales. Después prueba interrupciones y cambios de conexión, verificando que el estado de la operación sea claro y que un reintento no produzca un segundo pedido.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ficticio: clientes de Minga Cacao quieren repetir compras desde el teléfono. El negocio propone una aplicación que exige ubicación y acceso a contactos antes de mostrar el catálogo. Una alternativa de web adaptable permite explorar sin esos permisos y pedir los datos de entrega solo cuando corresponde. El piloto debe comprobar el pedido y su recuperación tras una caída de conexión, no únicamente descargas.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Solicita ubicación, cámara o notificaciones solo cuando la función lo necesite y explica la finalidad. Define qué ocurre si la persona no concede un permiso. Minimiza datos, protege sesiones y evita exponer información en notificaciones. El dispositivo puede perderse o compartirse, por lo que autenticación y cierre de sesión deben formar parte del recorrido y no añadirse únicamente al final.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Informa si una operación está pendiente, falló o fue confirmada. La repetición tras una caída no debe duplicar compras. Si se permite trabajar sin conexión, define qué datos pueden consultarse y cómo se sincronizan cambios. Evalúa tareas completadas, errores y tiempos en condiciones representativas; una demostración con conexión excelente no refleja todos los contextos móviles.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aplicar lo aprendido, desarrolla la tarea editable. Define una tarea móvil y las restricciones de su contexto de uso. Después, diseña la solicitud de permisos y la alternativa cuando se rechazan. Justifica tus decisiones con los conceptos de esta explicación y comprueba tus respuestas en la actividad interactiva.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 estas ideas. Diseña para una tarea y contexto reales. Pide permisos proporcionales. Haz visibles los estados y controla reintentos. El caso y sus datos son ficticios. Revisa las fuentes indicadas en los materiales y continúa con la práctica para transferir estos criterios a otra situación.</a:t>
            </a:r>
          </a:p>
          <a:p/>
          <a:p>
            <a:r>
              <a:t>Fuente curricular: Negocios Electrónicos, 4.2, UPS 2026–2027. Referencia: W3C (2023), WCAG 2.2: https://www.w3.org/TR/WCAG22/ . OWASP Mobile Application Security: https://mas.owasp.org/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03960"/>
            <a:ext cx="10744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3840" b="1">
                <a:solidFill>
                  <a:srgbClr val="FFFFFF"/>
                </a:solidFill>
                <a:latin typeface="Noto Sans"/>
              </a:defRPr>
            </a:pPr>
            <a:r>
              <a:t>Aplicaciones para negocios móviles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2080260"/>
            <a:ext cx="9982200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Diseñar una solución para negocios móviles según tareas, contexto de uso y capacidad</a:t>
            </a:r>
          </a:p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1920" b="0">
                <a:solidFill>
                  <a:srgbClr val="D6E4E8"/>
                </a:solidFill>
                <a:latin typeface="Noto Sans"/>
              </a:defRPr>
            </a:pPr>
            <a:r>
              <a:t>de mantener una experiencia segura.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77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Comprender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72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Aplicar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4983480"/>
            <a:ext cx="3467100" cy="792480"/>
          </a:xfrm>
          <a:prstGeom prst="roundRect">
            <a:avLst>
              <a:gd name="adj" fmla="val 15384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5189220"/>
            <a:ext cx="30480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Comprobar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Una decisión que podrás justificar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308860"/>
            <a:ext cx="10896600" cy="1341120"/>
          </a:xfrm>
          <a:prstGeom prst="roundRect">
            <a:avLst>
              <a:gd name="adj" fmla="val 1022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2484120"/>
            <a:ext cx="104394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Diseñar una solución para negocios móviles según tareas, contexto de uso y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1">
                <a:solidFill>
                  <a:srgbClr val="18394A"/>
                </a:solidFill>
                <a:latin typeface="Noto Sans"/>
              </a:defRPr>
            </a:pPr>
            <a:r>
              <a:t>capacidad de mantener una experiencia segura.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061460"/>
            <a:ext cx="106680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560" b="1">
                <a:solidFill>
                  <a:srgbClr val="087E8B"/>
                </a:solidFill>
                <a:latin typeface="Noto Sans"/>
              </a:defRPr>
            </a:pPr>
            <a:r>
              <a:t>Pregunta de 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8180"/>
            <a:ext cx="1066800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¿Qué permisos resultan innecesarios en el caso y qué tarea debería demostrar el</a:t>
            </a:r>
          </a:p>
          <a:p>
            <a:pPr>
              <a:lnSpc>
                <a:spcPts val="2820"/>
              </a:lnSpc>
              <a:spcBef>
                <a:spcPts val="0"/>
              </a:spcBef>
              <a:spcAft>
                <a:spcPts val="0"/>
              </a:spcAft>
              <a:defRPr sz="2039" b="0">
                <a:solidFill>
                  <a:srgbClr val="18394A"/>
                </a:solidFill>
                <a:latin typeface="Noto Sans"/>
              </a:defRPr>
            </a:pPr>
            <a:r>
              <a:t>piloto?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Contexto móvil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 negocio móvil atiende actividades que las personas realizan con dispositivos portátiles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conectividad variable. Considera tamaño de pantalla, interrupciones, uso táctil y tiempo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disponible. No toda tarea de escritorio debe trasladarse sin cambios. Identifica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necesidad frecuente y simplifica el recorrido, preservando información suficiente para que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la persona pueda tomar decisiones y corregir errores.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Elegir una solución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web adaptable puede cubrir muchos recorridos sin instalación. Una aplicación nativa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puede aprovechar capacidades del dispositivo bajo condiciones y permisos específicos.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aplicación web progresiva puede incorporar algunas capacidades según navegador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plataforma. Compara acceso, mantenimiento, distribución y necesidades reales; instalar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una aplicación no es un objetivo de negocio por sí mismo.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Del concepto a la acción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48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48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Elegir tarea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80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80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Reducir fricción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12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12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Gestionar permisos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811780"/>
            <a:ext cx="2286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394A"/>
                </a:solidFill>
                <a:latin typeface="Noto Sans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39200" y="2438400"/>
            <a:ext cx="2514600" cy="1188720"/>
          </a:xfrm>
          <a:prstGeom prst="roundRect">
            <a:avLst>
              <a:gd name="adj" fmla="val 9615"/>
            </a:avLst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4460" y="2606040"/>
            <a:ext cx="2171700" cy="3276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60" b="1">
                <a:solidFill>
                  <a:srgbClr val="FFFFFF"/>
                </a:solidFill>
                <a:latin typeface="Noto San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4460" y="2948940"/>
            <a:ext cx="21717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FFFFFF"/>
                </a:solidFill>
                <a:latin typeface="Noto Sans"/>
              </a:defRPr>
            </a:pPr>
            <a:r>
              <a:t>Comprobar estados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3962399"/>
            <a:ext cx="10881360" cy="1744980"/>
          </a:xfrm>
          <a:prstGeom prst="roundRect">
            <a:avLst>
              <a:gd name="adj" fmla="val 78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4175760"/>
            <a:ext cx="10424160" cy="1325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Selecciona una tarea frecuente, como repetir un pedido, y elimina pasos que no aporten. Decide qué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capacidades móviles se necesitan y qué permisos son proporcionales. Después prueba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interrupciones y cambios de conexión, verificando que el estado de la operación sea claro y que un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536975"/>
                </a:solidFill>
                <a:latin typeface="Noto Sans"/>
              </a:defRPr>
            </a:pPr>
            <a:r>
              <a:t>reintento no produzca un segundo pedido.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Caso aplicado · datos ficticios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70760"/>
            <a:ext cx="10881360" cy="2301240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" y="2484120"/>
            <a:ext cx="10393680" cy="16306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Caso ficticio: clientes de Minga Cacao quieren repetir compras desde el teléfono. El negocio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propone una aplicación que exige ubicación y acceso a contactos antes de mostrar el catálogo. Una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alternativa de web adaptable permite explorar sin esos permisos y pedir los datos de entrega solo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cuando corresponde. El piloto debe comprobar el pedido y su recuperación tras una caída de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1739" b="0">
                <a:solidFill>
                  <a:srgbClr val="18394A"/>
                </a:solidFill>
                <a:latin typeface="Noto Sans"/>
              </a:defRPr>
            </a:pPr>
            <a:r>
              <a:t>conexión, no únicamente descargas.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600" y="4785360"/>
            <a:ext cx="10881360" cy="922020"/>
          </a:xfrm>
          <a:prstGeom prst="roundRect">
            <a:avLst>
              <a:gd name="adj" fmla="val 12396"/>
            </a:avLst>
          </a:prstGeom>
          <a:solidFill>
            <a:srgbClr val="E2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580" y="4945380"/>
            <a:ext cx="104394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1">
                <a:solidFill>
                  <a:srgbClr val="18394A"/>
                </a:solidFill>
                <a:latin typeface="Noto Sans"/>
              </a:defRPr>
            </a:pPr>
            <a:r>
              <a:t>¿Qué permisos resultan innecesarios en el caso y qué tarea debería demostrar el piloto?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Permisos y datos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Solicita ubicación, cámara o notificaciones solo cuando la función lo necesite y explica la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finalidad. Define qué ocurre si la persona no concede un permiso. Minimiza datos, protege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sesiones y evita exponer información en notificaciones. El dispositivo puede perderse 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compartirse, por lo que autenticación y cierre de sesión deben formar parte del recorrido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no añadirse únicamente al final.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Conectividad y experiencia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2286000"/>
            <a:ext cx="10881360" cy="3390900"/>
          </a:xfrm>
          <a:prstGeom prst="roundRect">
            <a:avLst>
              <a:gd name="adj" fmla="val 404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286000"/>
            <a:ext cx="83820" cy="33909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9160" y="2522220"/>
            <a:ext cx="10210800" cy="1744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Informa si una operación está pendiente, falló o fue confirmada. La repetición tras una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caída no debe duplicar compras. Si se permite trabajar sin conexión, define qué datos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pueden consultarse y cómo se sincronizan cambios. Evalúa tareas completadas, errores y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tiempos en condiciones representativas; una demostración con conexión excelente no</a:t>
            </a:r>
          </a:p>
          <a:p>
            <a:pPr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defRPr sz="1859" b="0">
                <a:solidFill>
                  <a:srgbClr val="18394A"/>
                </a:solidFill>
                <a:latin typeface="Noto Sans"/>
              </a:defRPr>
            </a:pPr>
            <a:r>
              <a:t>refleja todos los contextos móviles.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87E8B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18394A"/>
                </a:solidFill>
                <a:latin typeface="Noto Sans"/>
              </a:defRPr>
            </a:pPr>
            <a:r>
              <a:t>Tu actividad de transferencia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230124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3900" y="235458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7076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Define una tarea móvil y las restricciones de su contexto de uso.</a:t>
            </a:r>
          </a:p>
        </p:txBody>
      </p:sp>
      <p:sp>
        <p:nvSpPr>
          <p:cNvPr id="8" name="Oval 7"/>
          <p:cNvSpPr/>
          <p:nvPr/>
        </p:nvSpPr>
        <p:spPr>
          <a:xfrm>
            <a:off x="609600" y="315468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" y="320802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12420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Compara web adaptable, aplicación nativa y opción progresiva según requisitos.</a:t>
            </a:r>
          </a:p>
        </p:txBody>
      </p:sp>
      <p:sp>
        <p:nvSpPr>
          <p:cNvPr id="11" name="Oval 10"/>
          <p:cNvSpPr/>
          <p:nvPr/>
        </p:nvSpPr>
        <p:spPr>
          <a:xfrm>
            <a:off x="609600" y="400812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" y="406146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977639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Diseña la solicitud de permisos y la alternativa cuando se rechazan.</a:t>
            </a:r>
          </a:p>
        </p:txBody>
      </p:sp>
      <p:sp>
        <p:nvSpPr>
          <p:cNvPr id="14" name="Oval 13"/>
          <p:cNvSpPr/>
          <p:nvPr/>
        </p:nvSpPr>
        <p:spPr>
          <a:xfrm>
            <a:off x="609600" y="4861560"/>
            <a:ext cx="381000" cy="381000"/>
          </a:xfrm>
          <a:prstGeom prst="ellipse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" y="4914900"/>
            <a:ext cx="266700" cy="3581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defRPr sz="1439" b="1">
                <a:solidFill>
                  <a:srgbClr val="FFFFFF"/>
                </a:solidFill>
                <a:latin typeface="Noto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4831080"/>
            <a:ext cx="10210800" cy="3886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220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394A"/>
                </a:solidFill>
                <a:latin typeface="Noto Sans"/>
              </a:defRPr>
            </a:pPr>
            <a:r>
              <a:t>Especifica estados, pruebas de interrupción y un indicador de tarea completada.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536975"/>
                </a:solidFill>
                <a:latin typeface="Noto San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65760"/>
            <a:ext cx="10820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7AE53"/>
                </a:solidFill>
                <a:latin typeface="Noto Sans"/>
              </a:defRPr>
            </a:pPr>
            <a:r>
              <a:t>NEGOCIOS ELECTRÓNICOS · U4 ·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0896600" cy="655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120" b="1">
                <a:solidFill>
                  <a:srgbClr val="FFFFFF"/>
                </a:solidFill>
                <a:latin typeface="Noto Sans"/>
              </a:defRPr>
            </a:pPr>
            <a:r>
              <a:t>Síntesis y referencias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17170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230886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Diseña para una tarea y contexto reales.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600" y="296418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8200" y="310134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Pide permisos proporcionales.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3756660"/>
            <a:ext cx="10896600" cy="693420"/>
          </a:xfrm>
          <a:prstGeom prst="roundRect">
            <a:avLst>
              <a:gd name="adj" fmla="val 13186"/>
            </a:avLst>
          </a:prstGeom>
          <a:solidFill>
            <a:srgbClr val="1D40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3893820"/>
            <a:ext cx="10439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4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Noto Sans"/>
              </a:defRPr>
            </a:pPr>
            <a:r>
              <a:t>Haz visibles los estados y controla reintentos.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77740"/>
            <a:ext cx="107442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Base curricular: sílabo UPS adjunto, página 1. Referencia de ampliación: W3C (2023), WCAG 2.2: https://www.w3.org/TR/WCAG22/ .</a:t>
            </a:r>
          </a:p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380" b="0">
                <a:solidFill>
                  <a:srgbClr val="D6E4E8"/>
                </a:solidFill>
                <a:latin typeface="Noto Sans"/>
              </a:defRPr>
            </a:pPr>
            <a:r>
              <a:t>OWASP Mobile Application Security: https://mas.owasp.org/ 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446520"/>
            <a:ext cx="105918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Material didáctico de elaboración original · Caso y datos ficticios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0" y="6446520"/>
            <a:ext cx="762000" cy="281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019" b="0">
                <a:solidFill>
                  <a:srgbClr val="C5D6DC"/>
                </a:solidFill>
                <a:latin typeface="Noto San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Aplicaciones para negocios móviles</dc:title>
  <dc:subject>Sistemas para negocios globales y negocios móviles</dc:subject>
  <dc:creator>Proyecto educativo · elaboración asistida por 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