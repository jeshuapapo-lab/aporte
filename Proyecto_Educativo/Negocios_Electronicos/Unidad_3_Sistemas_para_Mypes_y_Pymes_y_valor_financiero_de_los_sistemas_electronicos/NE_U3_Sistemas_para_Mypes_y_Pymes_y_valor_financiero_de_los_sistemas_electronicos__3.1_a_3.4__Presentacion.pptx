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Unidad 3: Sistemas para Mypes y Pymes y valor financiero de los sistemas electrónicos.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Unidad 3: Sistemas para Mypes y Pymes y valor financiero de los sistemas electrónicos. Se conservan íntegros los contenidos de las secciones del sílabo.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Hoy estudiaremos diferentes sistemas para mypes y pymes. El propósito es comparar sistemas para Mypes y Pymes según necesidades, capacidades y costo total de operación. Este contenido forma parte de negocios electrónicos. Trabajaremos con conceptos y un caso ficticio para tomar decisiones justificadas.</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Antes de proponer una solución, considera esta pregunta: ¿Qué requisito debe ser obligatorio y cómo demostrarías que una alternativa lo cumple? Al terminar deberás explicar tu decisión, indicar cómo la comprobarías y reconocer los límites de la evidencia utilizada.</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Una empresa pequeña puede necesitar facturación, inventario, contabilidad, ventas o atención al cliente, pero no todas esas funciones requieren implantarse simultáneamente. Describe los procesos críticos, el volumen de operaciones y quién usará el sistema. Elegir por moda o por cantidad de módulos puede añadir complejidad sin resolver el problema que afecta al negocio.</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Un punto de venta registra transacciones; un sistema contable organiza registros financieros; un CRM apoya relaciones; un ERP integra funciones empresariales. Una tienda electrónica presenta oferta y canaliza pedidos. Las categorías pueden solaparse entre proveedores. Compara capacidades concretas y relaciones entre datos, en vez de suponer que el nombre comercial garantiza todas las funciones necesarias.</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Prioriza una necesidad y tradúcela a requisitos observables. Compara alternativas usando esos requisitos y un costo total consistente. Ejecuta una prueba con datos ficticios y tareas reales. Solo después despliega de forma gradual, con responsables, formación y recuperación prevista si la operación no cumple los criterios de aceptación.</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Caso ficticio: una tienda de veinte empleados vende en local y por internet. El inventario se actualiza en dos archivos y aparecen pedidos sin existencias. Una opción ofrece muchos módulos, pero no sincroniza reservas; otra integra pedidos e inventario y permite exportar datos. La selección debe valorar esa capacidad crítica y su prueba, además del precio y el soporte disponibles.</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Un servicio en la nube puede reducir tareas locales de infraestructura, pero mantiene necesidades de acceso, conectividad y gestión de datos. Una solución instalada localmente puede exigir soporte, respaldos y actualizaciones propios. Considera disponibilidad, exportación de datos, permisos y dependencia del proveedor. La decisión cambia si la operación debe continuar aun cuando falla la conexión.</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Define requisitos obligatorios y deseables, prueba un recorrido representativo y calcula costo total: licencias, equipos, migración, integración, capacitación y soporte. Comienza con una función prioritaria y criterios de aceptación. Verifica que los usuarios puedan completar sus tareas y que los datos importados sean correctos antes de ampliar a módulos o sucursales adicionales.</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Para aplicar lo aprendido, desarrolla la tarea editable. Redacta cinco requisitos, separando obligatorios y deseables. Después, diseña una prueba de pedido, venta y cancelación con resultados esperados. Justifica tus decisiones con los conceptos de esta explicación y comprueba tus respuestas en la actividad interactiva.</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3.1: Diferentes sistemas para Mypes y Pymes</a:t>
            </a:r>
          </a:p>
          <a:p/>
          <a:p>
            <a:r>
              <a:t>Conserva estas ideas. Selecciona por requisitos críticos. Compara capacidades y costo total. Prueba y despliega gradualmente. El caso y sus datos son ficticios. Revisa las fuentes indicadas en los materiales y continúa con la práctica para transferir estos criterios a otra situación.</a:t>
            </a:r>
          </a:p>
          <a:p/>
          <a:p>
            <a:r>
              <a:t>Fuente curricular: Negocios Electrónicos, 3.1, UPS 2026–2027. Referencia: Laudon y Laudon, Management Information Systems: Managing the Digital Firm. Conceptos generales de ERP, CRM y sistemas organizacionales.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Hoy estudiaremos rendimiento financiero de los negocios electrónicos. El propósito es calcular e interpretar indicadores financieros de un negocio electrónico considerando margen, inversión y limitaciones de los supuestos. Este contenido forma parte de negocios electrónicos. Trabajaremos con conceptos y un caso ficticio para tomar decisiones justificadas.</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Antes de proponer una solución, considera esta pregunta: ¿Cómo cambia el punto de equilibrio cuando aumenta el costo variable y qué supuestos debes declarar? Al terminar deberás explicar tu decisión, indicar cómo la comprobarías y reconocer los límites de la evidencia utilizada.</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Los ingresos no son equivalentes a utilidad ni a efectivo disponible. Distingue ventas, costos variables, costos fijos e inversión inicial. Los costos variables cambian con el volumen bajo los supuestos del análisis; los fijos permanecen dentro de un rango y período definidos. Clasificar adecuadamente permite comprender qué parte de una venta contribuye a cubrir estructura y generar resultado.</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El margen de contribución unitario es precio menos costo variable unitario. Si un producto cuesta veinte dólares y su costo variable es doce, contribuye ocho dólares. Con ochocientos dólares de costos fijos mensuales, el equilibrio simple es cien unidades. El cálculo supone precio y costo unitarios constantes y una oferta homogénea; varios productos requieren considerar la mezcla de ventas.</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Define primero el período y qué ingresos y costos pertenecen a él. Calcula la contribución por unidad y los costos fijos para estimar el equilibrio bajo supuestos explícitos. Después prueba escenarios. Si la inversión cambia la operación, revisa también los flujos y el momento de los cobros y pagos, no solo el total de ventas.</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Ejemplo hipotético: una caja se vende en veinte dólares y tiene doce dólares de costo variable; los costos fijos del mes son ochocientos. La contribución es ocho y el equilibrio es cien cajas. Con ciento cincuenta cajas, el resultado operativo simple es cuatrocientos dólares, antes de partidas no incluidas. Si el costo variable aumenta a catorce, la contribución baja a seis y se requieren al menos ciento treinta y cuatro cajas para no perder.</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Una inversión puede evaluarse con flujos de caja, horizonte y riesgo. Un retorno simple compara beneficio neto atribuible e inversión, pero puede ocultar cuándo se obtiene el dinero. El valor presente descuenta flujos futuros usando una tasa justificada. No combines utilidad contable con flujo de caja sin explicar ajustes, ni presentes proyecciones como resultados ya obtenidos.</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Prueba cómo cambian los resultados si varían ventas, devoluciones, publicidad o costos logísticos. Identifica los supuestos más sensibles y las fuentes de datos. Un escenario optimista no reemplaza un presupuesto de caja. La evaluación debe reconocer incertidumbre y comparar alternativas consistentes, incluyendo los costos de operación de la solución digital después de su puesta en marcha.</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Para aplicar lo aprendido, desarrolla la tarea editable. Clasifica ingresos, costos variables, fijos e inversión en una tienda ficticia. Después, recalcula el equilibrio con costo variable de catorce y explica el redondeo. Justifica tus decisiones con los conceptos de esta explicación y comprueba tus respuestas en la actividad interactiva.</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3.2: Rendimiento financiero de los negocios electrónicos</a:t>
            </a:r>
          </a:p>
          <a:p/>
          <a:p>
            <a:r>
              <a:t>Conserva estas ideas. Separa ventas, resultado y caja. Calcula con supuestos visibles. Decide comparando escenarios y riesgo. El caso y sus datos son ficticios. Revisa las fuentes indicadas en los materiales y continúa con la práctica para transferir estos criterios a otra situación.</a:t>
            </a:r>
          </a:p>
          <a:p/>
          <a:p>
            <a:r>
              <a:t>Fuente curricular: Negocios Electrónicos, 3.2, UPS 2026–2027. Referencia: Brealey, Myers y Allen, Principles of Corporate Finance. Conceptos de flujos, inversión y valor temporal del dinero.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Hoy estudiaremos integraciones rentables de software y hardware. El propósito es diseñar una integración rentable de hardware y software con interoperabilidad, pruebas de datos y evaluación de costo total. Este contenido forma parte de negocios electrónicos. Trabajaremos con conceptos y un caso ficticio para tomar decisiones justificadas.</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Antes de proponer una solución, considera esta pregunta: ¿Cuál es el ahorro neto y qué pruebas impiden confundir una lectura exitosa con una transacción correcta? Al terminar deberás explicar tu decisión, indicar cómo la comprobarías y reconocer los límites de la evidencia utilizada.</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Integrar hardware y software conecta eventos físicos y registros digitales. Un lector puede capturar un código, una aplicación validar el producto y un sistema actualizar existencias. La rentabilidad depende del problema resuelto, el volumen y el costo total. Comprar dispositivos sin revisar el proceso puede acelerar la captura de información equivocada en lugar de reducir errores.</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Define qué datos produce cada dispositivo, qué formato usa y quién los interpreta. Un código debe corresponder a un identificador único y vigente en el catálogo. Las interfaces y controladores necesitan compatibilidad comprobada. Diferencia la lectura del código de la validación de la transacción: que un lector emita una señal no demuestra que el inventario haya cambiado correctamente.</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El dispositivo captura un evento, la aplicación valida su identidad y reglas, y el sistema registra la operación una sola vez. Después informa su estado y conserva trazabilidad. Prueba también qué ocurre cuando falla la comunicación justo después del registro: repetir una petición no debe duplicar la misma transacción.</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Caso hipotético: un negocio invierte mil doscientos dólares en lectores e integración. Estima un ahorro bruto de ciento ochenta dólares mensuales y sesenta de costo recurrente adicional. El ahorro neto esperado es ciento veinte y la recuperación simple, diez meses. Antes de aceptar esa estimación, prueba lectura duplicada, código desconocido y pérdida de conexión, y comprueba que el ahorro medido corresponda al volumen real.</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La integración debe manejar lecturas repetidas, códigos desconocidos, conexión interrumpida y reintentos. Decide cuándo una operación se considera confirmada y cómo se evita contabilizar dos veces el mismo evento. Incluye permisos, respaldo y trazabilidad. Una operación sin conexión requiere reglas de sincronización y resolución de conflictos, no solamente almacenar datos hasta que vuelva internet.</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Calcula adquisición, instalación, licencias, capacitación, soporte y reposición. Compara ahorro neto esperado con inversión y analiza sensibilidad al volumen. Un piloto debe probar tareas normales y fallos representativos, midiendo tiempo y errores antes y después. La recuperación simple de la inversión orienta, pero no refleja por sí sola el valor temporal ni todos los riesgos del proyecto.</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Para aplicar lo aprendido, desarrolla la tarea editable. Dibuja los componentes y los datos entre lector, aplicación y sistema de inventario. Después, diseña tres pruebas: duplicado, código desconocido y pérdida de conexión. Justifica tus decisiones con los conceptos de esta explicación y comprueba tus respuestas en la actividad interactiva.</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3.3: Integraciones rentables de software y hardware</a:t>
            </a:r>
          </a:p>
          <a:p/>
          <a:p>
            <a:r>
              <a:t>Conserva estas ideas. Integra eventos y registros con reglas claras. Prueba errores y reintentos. Calcula rentabilidad con costo total. El caso y sus datos son ficticios. Revisa las fuentes indicadas en los materiales y continúa con la práctica para transferir estos criterios a otra situación.</a:t>
            </a:r>
          </a:p>
          <a:p/>
          <a:p>
            <a:r>
              <a:t>Fuente curricular: Negocios Electrónicos, 3.3, UPS 2026–2027. Referencia: Laudon y Laudon, Management Information Systems. Brealey, Myers y Allen, Principles of Corporate Finance.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Hoy estudiaremos sistemas de pago y documentos electrónicos. El propósito es distinguir el ciclo de pagos electrónicos y documentos electrónicos, incorporando conciliación, seguridad y requisitos aplicables. Este contenido forma parte de negocios electrónicos. Trabajaremos con conceptos y un caso ficticio para tomar decisiones justificadas.</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Antes de proponer una solución, considera esta pregunta: ¿Qué evidencia usarías para confirmar cada pago y cómo registrarías los dos dólares de diferencia? Al terminar deberás explicar tu decisión, indicar cómo la comprobarías y reconocer los límites de la evidencia utilizada.</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Un pago electrónico involucra al comprador, al comercio y a proveedores que autorizan o procesan la operación. Distingue iniciado, autorizado, capturado, liquidado, rechazado y devuelto según el medio utilizado. No todos los sistemas usan exactamente los mismos estados. Mostrar una pantalla de éxito no demuestra por sí solo que el comercio haya recibido y conciliado los fondos.</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Relaciona pedido, operación de pago y movimiento liquidado mediante identificadores consistentes. La conciliación compara registros y explica diferencias por comisiones, plazos, devoluciones o disputas. Los avisos del proveedor deben validarse según su mecanismo de autenticidad y manejar reintentos. Un mensaje duplicado no debería cobrar ni confirmar dos veces el mismo pedido.</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El pedido inicia una operación de pago cuyo estado debe comprobarse mediante un mecanismo confiable. Después se emite y entrega el documento que corresponda al hecho real y al marco aplicable. La conciliación verifica el movimiento liquidado y sus diferencias. Las devoluciones y rechazos necesitan recorridos propios, con trazabilidad y comunicación al cliente.</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Caso ficticio: un pedido de cincuenta dólares aparece pagado porque el navegador mostró éxito, pero la operación fue rechazada. Otro proveedor liquida cuarenta y ocho tras una comisión de dos. El comercio debe comprobar estados, evitar despachar el pedido rechazado y explicar la diferencia de la liquidación válida. Además, la confirmación de compra debe distinguirse de la factura que cumpla los requisitos aplicables.</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Una confirmación de pedido, un comprobante de pago y una factura electrónica cumplen funciones diferentes. En Ecuador, la emisión de comprobantes electrónicos debe seguir las reglas vigentes del SRI y el esquema aplicable. Antes de implantar, consulta documentación oficial sobre emisión, firma, autorización, entrega y conservación. Un archivo PDF con un logotipo no garantiza validez tributaria ni sustituye esos requisitos.</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Reduce la exposición de información de pago usando proveedores y mecanismos adecuados, como páginas alojadas o tokenización cuando corresponda. No almacenes datos sensibles por comodidad. Aplica control de acceso, registros de operación y respuesta a incidentes. Las obligaciones de seguridad y cumplimiento dependen del papel del negocio y del medio de pago; contratar un proveedor no elimina toda responsabilidad propia.</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Para aplicar lo aprendido, desarrolla la tarea editable. Representa los estados de un pago con rechazo, reintento y devolución. Después, explica las diferencias entre confirmación, comprobante y factura electrónica. Justifica tus decisiones con los conceptos de esta explicación y comprueba tus respuestas en la actividad interactiva.</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Negocios Electrónicos · Unidad 3: Sistemas para Mypes y Pymes y valor financiero de los sistemas electrónicos</a:t>
            </a:r>
          </a:p>
          <a:p>
            <a:r>
              <a:t>Sección 3.4: Sistemas de pago y documentos electrónicos</a:t>
            </a:r>
          </a:p>
          <a:p/>
          <a:p>
            <a:r>
              <a:t>Conserva estas ideas. Distingue estados, documentos y liquidación. Concilia montos e identificadores. Consulta requisitos y minimiza exposición. El caso y sus datos son ficticios. Revisa las fuentes indicadas en los materiales y continúa con la práctica para transferir estos criterios a otra situación.</a:t>
            </a:r>
          </a:p>
          <a:p/>
          <a:p>
            <a:r>
              <a:t>Fuente curricular: Negocios Electrónicos, 3.4, UPS 2026–2027. Referencia: SRI, Facturación electrónica: https://www.sri.gob.ec/facturacion-electronica . PCI Security Standards Council: https://www.pcisecuritystandards.org/ . Requisitos específicos sujetos a la versión vigente.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NEGOCIOS ELECTRÓNICOS</a:t>
            </a:r>
          </a:p>
        </p:txBody>
      </p:sp>
      <p:sp>
        <p:nvSpPr>
          <p:cNvPr id="5" name="TextBox 4"/>
          <p:cNvSpPr txBox="1"/>
          <p:nvPr/>
        </p:nvSpPr>
        <p:spPr>
          <a:xfrm>
            <a:off x="609600" y="1371600"/>
            <a:ext cx="10896600" cy="502920"/>
          </a:xfrm>
          <a:prstGeom prst="rect">
            <a:avLst/>
          </a:prstGeom>
          <a:noFill/>
        </p:spPr>
        <p:txBody>
          <a:bodyPr wrap="none" lIns="0" tIns="0" rIns="0" bIns="0" anchor="t">
            <a:spAutoFit/>
          </a:bodyPr>
          <a:lstStyle/>
          <a:p>
            <a:pPr>
              <a:lnSpc>
                <a:spcPts val="3120"/>
              </a:lnSpc>
              <a:spcBef>
                <a:spcPts val="0"/>
              </a:spcBef>
              <a:spcAft>
                <a:spcPts val="0"/>
              </a:spcAft>
              <a:defRPr sz="2280" b="1">
                <a:solidFill>
                  <a:srgbClr val="D6E4E8"/>
                </a:solidFill>
                <a:latin typeface="Noto Sans"/>
              </a:defRPr>
            </a:pPr>
            <a:r>
              <a:t>Unidad 3</a:t>
            </a:r>
          </a:p>
        </p:txBody>
      </p:sp>
      <p:sp>
        <p:nvSpPr>
          <p:cNvPr id="6" name="TextBox 5"/>
          <p:cNvSpPr txBox="1"/>
          <p:nvPr/>
        </p:nvSpPr>
        <p:spPr>
          <a:xfrm>
            <a:off x="609600" y="2019300"/>
            <a:ext cx="10820400" cy="1325880"/>
          </a:xfrm>
          <a:prstGeom prst="rect">
            <a:avLst/>
          </a:prstGeom>
          <a:noFill/>
        </p:spPr>
        <p:txBody>
          <a:bodyPr wrap="none" lIns="0" tIns="0" rIns="0" bIns="0" anchor="t">
            <a:spAutoFit/>
          </a:bodyPr>
          <a:lstStyle/>
          <a:p>
            <a:pPr>
              <a:lnSpc>
                <a:spcPts val="4800"/>
              </a:lnSpc>
              <a:spcBef>
                <a:spcPts val="0"/>
              </a:spcBef>
              <a:spcAft>
                <a:spcPts val="0"/>
              </a:spcAft>
              <a:defRPr sz="3479" b="1">
                <a:solidFill>
                  <a:srgbClr val="FFFFFF"/>
                </a:solidFill>
                <a:latin typeface="Noto Sans"/>
              </a:defRPr>
            </a:pPr>
            <a:r>
              <a:t>Sistemas para Mypes y Pymes y valor financiero</a:t>
            </a:r>
          </a:p>
          <a:p>
            <a:pPr>
              <a:lnSpc>
                <a:spcPts val="4800"/>
              </a:lnSpc>
              <a:spcBef>
                <a:spcPts val="0"/>
              </a:spcBef>
              <a:spcAft>
                <a:spcPts val="0"/>
              </a:spcAft>
              <a:defRPr sz="3479" b="1">
                <a:solidFill>
                  <a:srgbClr val="FFFFFF"/>
                </a:solidFill>
                <a:latin typeface="Noto Sans"/>
              </a:defRPr>
            </a:pPr>
            <a:r>
              <a:t>de los sistemas electrónicos</a:t>
            </a:r>
          </a:p>
        </p:txBody>
      </p:sp>
      <p:sp>
        <p:nvSpPr>
          <p:cNvPr id="7" name="TextBox 6"/>
          <p:cNvSpPr txBox="1"/>
          <p:nvPr/>
        </p:nvSpPr>
        <p:spPr>
          <a:xfrm>
            <a:off x="647700" y="4953000"/>
            <a:ext cx="106680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Secciones 3.1 · 3.2 · 3.3 · 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19100"/>
            <a:ext cx="108204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E7AE53"/>
                </a:solidFill>
                <a:latin typeface="Noto Sans"/>
              </a:defRPr>
            </a:pPr>
            <a:r>
              <a:t>NEGOCIOS ELECTRÓNICOS</a:t>
            </a:r>
          </a:p>
        </p:txBody>
      </p:sp>
      <p:sp>
        <p:nvSpPr>
          <p:cNvPr id="5" name="TextBox 4"/>
          <p:cNvSpPr txBox="1"/>
          <p:nvPr/>
        </p:nvSpPr>
        <p:spPr>
          <a:xfrm>
            <a:off x="609600" y="1257300"/>
            <a:ext cx="10820400" cy="579120"/>
          </a:xfrm>
          <a:prstGeom prst="rect">
            <a:avLst/>
          </a:prstGeom>
          <a:noFill/>
        </p:spPr>
        <p:txBody>
          <a:bodyPr wrap="none" lIns="0" tIns="0" rIns="0" bIns="0" anchor="t">
            <a:spAutoFit/>
          </a:bodyPr>
          <a:lstStyle/>
          <a:p>
            <a:pPr>
              <a:lnSpc>
                <a:spcPts val="3719"/>
              </a:lnSpc>
              <a:spcBef>
                <a:spcPts val="0"/>
              </a:spcBef>
              <a:spcAft>
                <a:spcPts val="0"/>
              </a:spcAft>
              <a:defRPr sz="2700" b="1">
                <a:solidFill>
                  <a:srgbClr val="FFFFFF"/>
                </a:solidFill>
                <a:latin typeface="Noto Sans"/>
              </a:defRPr>
            </a:pPr>
            <a:r>
              <a:t>Secciones y contenidos de la unidad</a:t>
            </a:r>
          </a:p>
        </p:txBody>
      </p:sp>
      <p:sp>
        <p:nvSpPr>
          <p:cNvPr id="6" name="TextBox 5"/>
          <p:cNvSpPr txBox="1"/>
          <p:nvPr/>
        </p:nvSpPr>
        <p:spPr>
          <a:xfrm>
            <a:off x="685800" y="2362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3.1 · Diferentes sistemas para Mypes y Pymes</a:t>
            </a:r>
          </a:p>
        </p:txBody>
      </p:sp>
      <p:sp>
        <p:nvSpPr>
          <p:cNvPr id="7" name="TextBox 6"/>
          <p:cNvSpPr txBox="1"/>
          <p:nvPr/>
        </p:nvSpPr>
        <p:spPr>
          <a:xfrm>
            <a:off x="685800" y="3314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3.2 · Rendimiento financiero de los negocios electrónicos</a:t>
            </a:r>
          </a:p>
        </p:txBody>
      </p:sp>
      <p:sp>
        <p:nvSpPr>
          <p:cNvPr id="8" name="TextBox 7"/>
          <p:cNvSpPr txBox="1"/>
          <p:nvPr/>
        </p:nvSpPr>
        <p:spPr>
          <a:xfrm>
            <a:off x="685800" y="42672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3.3 · Integraciones rentables de software y hardware</a:t>
            </a:r>
          </a:p>
        </p:txBody>
      </p:sp>
      <p:sp>
        <p:nvSpPr>
          <p:cNvPr id="9" name="TextBox 8"/>
          <p:cNvSpPr txBox="1"/>
          <p:nvPr/>
        </p:nvSpPr>
        <p:spPr>
          <a:xfrm>
            <a:off x="685800" y="5219700"/>
            <a:ext cx="10744200" cy="44196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FFFFFF"/>
                </a:solidFill>
                <a:latin typeface="Noto Sans"/>
              </a:defRPr>
            </a:pPr>
            <a:r>
              <a:t>3.4 · Sistemas de pago y documentos electrónicos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3.1</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Diferentes sistemas para Mypes y Pymes</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Comparar sistemas para Mypes y Pymes según necesidades, capacidades y costo total</a:t>
            </a:r>
          </a:p>
          <a:p>
            <a:pPr>
              <a:lnSpc>
                <a:spcPts val="2640"/>
              </a:lnSpc>
              <a:spcBef>
                <a:spcPts val="0"/>
              </a:spcBef>
              <a:spcAft>
                <a:spcPts val="0"/>
              </a:spcAft>
              <a:defRPr sz="1920" b="0">
                <a:solidFill>
                  <a:srgbClr val="D6E4E8"/>
                </a:solidFill>
                <a:latin typeface="Noto Sans"/>
              </a:defRPr>
            </a:pPr>
            <a:r>
              <a:t>de operación.</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Comparar sistemas para Mypes y Pymes según necesidades, capacidades y costo</a:t>
            </a:r>
          </a:p>
          <a:p>
            <a:pPr>
              <a:lnSpc>
                <a:spcPts val="2820"/>
              </a:lnSpc>
              <a:spcBef>
                <a:spcPts val="0"/>
              </a:spcBef>
              <a:spcAft>
                <a:spcPts val="0"/>
              </a:spcAft>
              <a:defRPr sz="2039" b="1">
                <a:solidFill>
                  <a:srgbClr val="18394A"/>
                </a:solidFill>
                <a:latin typeface="Noto Sans"/>
              </a:defRPr>
            </a:pPr>
            <a:r>
              <a:t>total de operación.</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requisito debe ser obligatorio y cómo demostrarías que una alternativa lo</a:t>
            </a:r>
          </a:p>
          <a:p>
            <a:pPr>
              <a:lnSpc>
                <a:spcPts val="2820"/>
              </a:lnSpc>
              <a:spcBef>
                <a:spcPts val="0"/>
              </a:spcBef>
              <a:spcAft>
                <a:spcPts val="0"/>
              </a:spcAft>
              <a:defRPr sz="2039" b="0">
                <a:solidFill>
                  <a:srgbClr val="18394A"/>
                </a:solidFill>
                <a:latin typeface="Noto Sans"/>
              </a:defRPr>
            </a:pPr>
            <a:r>
              <a:t>cumple?</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Necesidades antes de productos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empresa pequeña puede necesitar facturación, inventario, contabilidad, ventas o</a:t>
            </a:r>
          </a:p>
          <a:p>
            <a:pPr>
              <a:lnSpc>
                <a:spcPts val="2580"/>
              </a:lnSpc>
              <a:spcBef>
                <a:spcPts val="0"/>
              </a:spcBef>
              <a:spcAft>
                <a:spcPts val="0"/>
              </a:spcAft>
              <a:defRPr sz="1859" b="0">
                <a:solidFill>
                  <a:srgbClr val="18394A"/>
                </a:solidFill>
                <a:latin typeface="Noto Sans"/>
              </a:defRPr>
            </a:pPr>
            <a:r>
              <a:t>atención al cliente, pero no todas esas funciones requieren implantarse simultáneamente.</a:t>
            </a:r>
          </a:p>
          <a:p>
            <a:pPr>
              <a:lnSpc>
                <a:spcPts val="2580"/>
              </a:lnSpc>
              <a:spcBef>
                <a:spcPts val="0"/>
              </a:spcBef>
              <a:spcAft>
                <a:spcPts val="0"/>
              </a:spcAft>
              <a:defRPr sz="1859" b="0">
                <a:solidFill>
                  <a:srgbClr val="18394A"/>
                </a:solidFill>
                <a:latin typeface="Noto Sans"/>
              </a:defRPr>
            </a:pPr>
            <a:r>
              <a:t>Describe los procesos críticos, el volumen de operaciones y quién usará el sistema. Elegir</a:t>
            </a:r>
          </a:p>
          <a:p>
            <a:pPr>
              <a:lnSpc>
                <a:spcPts val="2580"/>
              </a:lnSpc>
              <a:spcBef>
                <a:spcPts val="0"/>
              </a:spcBef>
              <a:spcAft>
                <a:spcPts val="0"/>
              </a:spcAft>
              <a:defRPr sz="1859" b="0">
                <a:solidFill>
                  <a:srgbClr val="18394A"/>
                </a:solidFill>
                <a:latin typeface="Noto Sans"/>
              </a:defRPr>
            </a:pPr>
            <a:r>
              <a:t>por moda o por cantidad de módulos puede añadir complejidad sin resolver el problema</a:t>
            </a:r>
          </a:p>
          <a:p>
            <a:pPr>
              <a:lnSpc>
                <a:spcPts val="2580"/>
              </a:lnSpc>
              <a:spcBef>
                <a:spcPts val="0"/>
              </a:spcBef>
              <a:spcAft>
                <a:spcPts val="0"/>
              </a:spcAft>
              <a:defRPr sz="1859" b="0">
                <a:solidFill>
                  <a:srgbClr val="18394A"/>
                </a:solidFill>
                <a:latin typeface="Noto Sans"/>
              </a:defRPr>
            </a:pPr>
            <a:r>
              <a:t>que afecta al negocio.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Tipos de sistemas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punto de venta registra transacciones; un sistema contable organiza registros</a:t>
            </a:r>
          </a:p>
          <a:p>
            <a:pPr>
              <a:lnSpc>
                <a:spcPts val="2580"/>
              </a:lnSpc>
              <a:spcBef>
                <a:spcPts val="0"/>
              </a:spcBef>
              <a:spcAft>
                <a:spcPts val="0"/>
              </a:spcAft>
              <a:defRPr sz="1859" b="0">
                <a:solidFill>
                  <a:srgbClr val="18394A"/>
                </a:solidFill>
                <a:latin typeface="Noto Sans"/>
              </a:defRPr>
            </a:pPr>
            <a:r>
              <a:t>financieros; un CRM apoya relaciones; un ERP integra funciones empresariales. Una tienda</a:t>
            </a:r>
          </a:p>
          <a:p>
            <a:pPr>
              <a:lnSpc>
                <a:spcPts val="2580"/>
              </a:lnSpc>
              <a:spcBef>
                <a:spcPts val="0"/>
              </a:spcBef>
              <a:spcAft>
                <a:spcPts val="0"/>
              </a:spcAft>
              <a:defRPr sz="1859" b="0">
                <a:solidFill>
                  <a:srgbClr val="18394A"/>
                </a:solidFill>
                <a:latin typeface="Noto Sans"/>
              </a:defRPr>
            </a:pPr>
            <a:r>
              <a:t>electrónica presenta oferta y canaliza pedidos. Las categorías pueden solaparse entre</a:t>
            </a:r>
          </a:p>
          <a:p>
            <a:pPr>
              <a:lnSpc>
                <a:spcPts val="2580"/>
              </a:lnSpc>
              <a:spcBef>
                <a:spcPts val="0"/>
              </a:spcBef>
              <a:spcAft>
                <a:spcPts val="0"/>
              </a:spcAft>
              <a:defRPr sz="1859" b="0">
                <a:solidFill>
                  <a:srgbClr val="18394A"/>
                </a:solidFill>
                <a:latin typeface="Noto Sans"/>
              </a:defRPr>
            </a:pPr>
            <a:r>
              <a:t>proveedores. Compara capacidades concretas y relaciones entre datos, en vez de suponer</a:t>
            </a:r>
          </a:p>
          <a:p>
            <a:pPr>
              <a:lnSpc>
                <a:spcPts val="2580"/>
              </a:lnSpc>
              <a:spcBef>
                <a:spcPts val="0"/>
              </a:spcBef>
              <a:spcAft>
                <a:spcPts val="0"/>
              </a:spcAft>
              <a:defRPr sz="1859" b="0">
                <a:solidFill>
                  <a:srgbClr val="18394A"/>
                </a:solidFill>
                <a:latin typeface="Noto Sans"/>
              </a:defRPr>
            </a:pPr>
            <a:r>
              <a:t>que el nombre comercial garantiza todas las funciones necesarias.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Priorizar</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Comparar</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Probar</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Desplegar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Prioriza una necesidad y tradúcela a requisitos observables. Compara alternativas usando esos</a:t>
            </a:r>
          </a:p>
          <a:p>
            <a:pPr>
              <a:lnSpc>
                <a:spcPts val="2400"/>
              </a:lnSpc>
              <a:spcBef>
                <a:spcPts val="0"/>
              </a:spcBef>
              <a:spcAft>
                <a:spcPts val="0"/>
              </a:spcAft>
              <a:defRPr sz="1739" b="0">
                <a:solidFill>
                  <a:srgbClr val="536975"/>
                </a:solidFill>
                <a:latin typeface="Noto Sans"/>
              </a:defRPr>
            </a:pPr>
            <a:r>
              <a:t>requisitos y un costo total consistente. Ejecuta una prueba con datos ficticios y tareas reales. Solo</a:t>
            </a:r>
          </a:p>
          <a:p>
            <a:pPr>
              <a:lnSpc>
                <a:spcPts val="2400"/>
              </a:lnSpc>
              <a:spcBef>
                <a:spcPts val="0"/>
              </a:spcBef>
              <a:spcAft>
                <a:spcPts val="0"/>
              </a:spcAft>
              <a:defRPr sz="1739" b="0">
                <a:solidFill>
                  <a:srgbClr val="536975"/>
                </a:solidFill>
                <a:latin typeface="Noto Sans"/>
              </a:defRPr>
            </a:pPr>
            <a:r>
              <a:t>después despliega de forma gradual, con responsables, formación y recuperación prevista si la</a:t>
            </a:r>
          </a:p>
          <a:p>
            <a:pPr>
              <a:lnSpc>
                <a:spcPts val="2400"/>
              </a:lnSpc>
              <a:spcBef>
                <a:spcPts val="0"/>
              </a:spcBef>
              <a:spcAft>
                <a:spcPts val="0"/>
              </a:spcAft>
              <a:defRPr sz="1739" b="0">
                <a:solidFill>
                  <a:srgbClr val="536975"/>
                </a:solidFill>
                <a:latin typeface="Noto Sans"/>
              </a:defRPr>
            </a:pPr>
            <a:r>
              <a:t>operación no cumple los criterios de aceptación.</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una tienda de veinte empleados vende en local y por internet. El inventario se actualiza</a:t>
            </a:r>
          </a:p>
          <a:p>
            <a:pPr>
              <a:lnSpc>
                <a:spcPts val="2400"/>
              </a:lnSpc>
              <a:spcBef>
                <a:spcPts val="0"/>
              </a:spcBef>
              <a:spcAft>
                <a:spcPts val="0"/>
              </a:spcAft>
              <a:defRPr sz="1739" b="0">
                <a:solidFill>
                  <a:srgbClr val="18394A"/>
                </a:solidFill>
                <a:latin typeface="Noto Sans"/>
              </a:defRPr>
            </a:pPr>
            <a:r>
              <a:t>en dos archivos y aparecen pedidos sin existencias. Una opción ofrece muchos módulos, pero no</a:t>
            </a:r>
          </a:p>
          <a:p>
            <a:pPr>
              <a:lnSpc>
                <a:spcPts val="2400"/>
              </a:lnSpc>
              <a:spcBef>
                <a:spcPts val="0"/>
              </a:spcBef>
              <a:spcAft>
                <a:spcPts val="0"/>
              </a:spcAft>
              <a:defRPr sz="1739" b="0">
                <a:solidFill>
                  <a:srgbClr val="18394A"/>
                </a:solidFill>
                <a:latin typeface="Noto Sans"/>
              </a:defRPr>
            </a:pPr>
            <a:r>
              <a:t>sincroniza reservas; otra integra pedidos e inventario y permite exportar datos. La selección debe</a:t>
            </a:r>
          </a:p>
          <a:p>
            <a:pPr>
              <a:lnSpc>
                <a:spcPts val="2400"/>
              </a:lnSpc>
              <a:spcBef>
                <a:spcPts val="0"/>
              </a:spcBef>
              <a:spcAft>
                <a:spcPts val="0"/>
              </a:spcAft>
              <a:defRPr sz="1739" b="0">
                <a:solidFill>
                  <a:srgbClr val="18394A"/>
                </a:solidFill>
                <a:latin typeface="Noto Sans"/>
              </a:defRPr>
            </a:pPr>
            <a:r>
              <a:t>valorar esa capacidad crítica y su prueba, además del precio y el soporte disponibles.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requisito debe ser obligatorio y cómo demostrarías que una alternativa lo cumple?</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Nube y capacidad interna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servicio en la nube puede reducir tareas locales de infraestructura, pero mantiene</a:t>
            </a:r>
          </a:p>
          <a:p>
            <a:pPr>
              <a:lnSpc>
                <a:spcPts val="2580"/>
              </a:lnSpc>
              <a:spcBef>
                <a:spcPts val="0"/>
              </a:spcBef>
              <a:spcAft>
                <a:spcPts val="0"/>
              </a:spcAft>
              <a:defRPr sz="1859" b="0">
                <a:solidFill>
                  <a:srgbClr val="18394A"/>
                </a:solidFill>
                <a:latin typeface="Noto Sans"/>
              </a:defRPr>
            </a:pPr>
            <a:r>
              <a:t>necesidades de acceso, conectividad y gestión de datos. Una solución instalada localmente</a:t>
            </a:r>
          </a:p>
          <a:p>
            <a:pPr>
              <a:lnSpc>
                <a:spcPts val="2580"/>
              </a:lnSpc>
              <a:spcBef>
                <a:spcPts val="0"/>
              </a:spcBef>
              <a:spcAft>
                <a:spcPts val="0"/>
              </a:spcAft>
              <a:defRPr sz="1859" b="0">
                <a:solidFill>
                  <a:srgbClr val="18394A"/>
                </a:solidFill>
                <a:latin typeface="Noto Sans"/>
              </a:defRPr>
            </a:pPr>
            <a:r>
              <a:t>puede exigir soporte, respaldos y actualizaciones propios. Considera disponibilidad,</a:t>
            </a:r>
          </a:p>
          <a:p>
            <a:pPr>
              <a:lnSpc>
                <a:spcPts val="2580"/>
              </a:lnSpc>
              <a:spcBef>
                <a:spcPts val="0"/>
              </a:spcBef>
              <a:spcAft>
                <a:spcPts val="0"/>
              </a:spcAft>
              <a:defRPr sz="1859" b="0">
                <a:solidFill>
                  <a:srgbClr val="18394A"/>
                </a:solidFill>
                <a:latin typeface="Noto Sans"/>
              </a:defRPr>
            </a:pPr>
            <a:r>
              <a:t>exportación de datos, permisos y dependencia del proveedor. La decisión cambia si la</a:t>
            </a:r>
          </a:p>
          <a:p>
            <a:pPr>
              <a:lnSpc>
                <a:spcPts val="2580"/>
              </a:lnSpc>
              <a:spcBef>
                <a:spcPts val="0"/>
              </a:spcBef>
              <a:spcAft>
                <a:spcPts val="0"/>
              </a:spcAft>
              <a:defRPr sz="1859" b="0">
                <a:solidFill>
                  <a:srgbClr val="18394A"/>
                </a:solidFill>
                <a:latin typeface="Noto Sans"/>
              </a:defRPr>
            </a:pPr>
            <a:r>
              <a:t>operación debe continuar aun cuando falla la conexión.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Selección e implantación gradual</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Define requisitos obligatorios y deseables, prueba un recorrido representativo y calcula</a:t>
            </a:r>
          </a:p>
          <a:p>
            <a:pPr>
              <a:lnSpc>
                <a:spcPts val="2580"/>
              </a:lnSpc>
              <a:spcBef>
                <a:spcPts val="0"/>
              </a:spcBef>
              <a:spcAft>
                <a:spcPts val="0"/>
              </a:spcAft>
              <a:defRPr sz="1859" b="0">
                <a:solidFill>
                  <a:srgbClr val="18394A"/>
                </a:solidFill>
                <a:latin typeface="Noto Sans"/>
              </a:defRPr>
            </a:pPr>
            <a:r>
              <a:t>costo total: licencias, equipos, migración, integración, capacitación y soporte. Comienza con</a:t>
            </a:r>
          </a:p>
          <a:p>
            <a:pPr>
              <a:lnSpc>
                <a:spcPts val="2580"/>
              </a:lnSpc>
              <a:spcBef>
                <a:spcPts val="0"/>
              </a:spcBef>
              <a:spcAft>
                <a:spcPts val="0"/>
              </a:spcAft>
              <a:defRPr sz="1859" b="0">
                <a:solidFill>
                  <a:srgbClr val="18394A"/>
                </a:solidFill>
                <a:latin typeface="Noto Sans"/>
              </a:defRPr>
            </a:pPr>
            <a:r>
              <a:t>una función prioritaria y criterios de aceptación. Verifica que los usuarios puedan completar</a:t>
            </a:r>
          </a:p>
          <a:p>
            <a:pPr>
              <a:lnSpc>
                <a:spcPts val="2580"/>
              </a:lnSpc>
              <a:spcBef>
                <a:spcPts val="0"/>
              </a:spcBef>
              <a:spcAft>
                <a:spcPts val="0"/>
              </a:spcAft>
              <a:defRPr sz="1859" b="0">
                <a:solidFill>
                  <a:srgbClr val="18394A"/>
                </a:solidFill>
                <a:latin typeface="Noto Sans"/>
              </a:defRPr>
            </a:pPr>
            <a:r>
              <a:t>sus tareas y que los datos importados sean correctos antes de ampliar a módulos o</a:t>
            </a:r>
          </a:p>
          <a:p>
            <a:pPr>
              <a:lnSpc>
                <a:spcPts val="2580"/>
              </a:lnSpc>
              <a:spcBef>
                <a:spcPts val="0"/>
              </a:spcBef>
              <a:spcAft>
                <a:spcPts val="0"/>
              </a:spcAft>
              <a:defRPr sz="1859" b="0">
                <a:solidFill>
                  <a:srgbClr val="18394A"/>
                </a:solidFill>
                <a:latin typeface="Noto Sans"/>
              </a:defRPr>
            </a:pPr>
            <a:r>
              <a:t>sucursales adicionales.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3.1</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Redacta cinco requisitos, separando obligatorios y deseables.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Construye una matriz comparativa de dos alternativas ficticias con costo total anual.</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una prueba de pedido, venta y cancelación con resultados esperados.</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implantación gradual, capacitación, respaldo y criterios de aceptación.</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NE_U3 · Sección 3.1 · Diferentes sistemas para Mypes y Pyme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3.1</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Selecciona por requisitos críticos.</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Compara capacidades y costo total.</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Prueba y despliega gradualmente.</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Laudon y Laudon, Management Information Systems:</a:t>
            </a:r>
          </a:p>
          <a:p>
            <a:pPr>
              <a:lnSpc>
                <a:spcPts val="1920"/>
              </a:lnSpc>
              <a:spcBef>
                <a:spcPts val="0"/>
              </a:spcBef>
              <a:spcAft>
                <a:spcPts val="0"/>
              </a:spcAft>
              <a:defRPr sz="1380" b="0">
                <a:solidFill>
                  <a:srgbClr val="D6E4E8"/>
                </a:solidFill>
                <a:latin typeface="Noto Sans"/>
              </a:defRPr>
            </a:pPr>
            <a:r>
              <a:t>Managing the Digital Firm. Conceptos generales de ERP, CRM y sistemas organizacionales.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3.2</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Rendimiento financiero de los negocios</a:t>
            </a:r>
          </a:p>
          <a:p>
            <a:pPr>
              <a:lnSpc>
                <a:spcPts val="5280"/>
              </a:lnSpc>
              <a:spcBef>
                <a:spcPts val="0"/>
              </a:spcBef>
              <a:spcAft>
                <a:spcPts val="0"/>
              </a:spcAft>
              <a:defRPr sz="3840" b="1">
                <a:solidFill>
                  <a:srgbClr val="FFFFFF"/>
                </a:solidFill>
                <a:latin typeface="Noto Sans"/>
              </a:defRPr>
            </a:pPr>
            <a:r>
              <a:t>electrónicos</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Calcular e interpretar indicadores financieros de un negocio electrónico considerando</a:t>
            </a:r>
          </a:p>
          <a:p>
            <a:pPr>
              <a:lnSpc>
                <a:spcPts val="2640"/>
              </a:lnSpc>
              <a:spcBef>
                <a:spcPts val="0"/>
              </a:spcBef>
              <a:spcAft>
                <a:spcPts val="0"/>
              </a:spcAft>
              <a:defRPr sz="1920" b="0">
                <a:solidFill>
                  <a:srgbClr val="D6E4E8"/>
                </a:solidFill>
                <a:latin typeface="Noto Sans"/>
              </a:defRPr>
            </a:pPr>
            <a:r>
              <a:t>margen, inversión y limitaciones de los supuestos.</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Calcular e interpretar indicadores financieros de un negocio electrónico</a:t>
            </a:r>
          </a:p>
          <a:p>
            <a:pPr>
              <a:lnSpc>
                <a:spcPts val="2820"/>
              </a:lnSpc>
              <a:spcBef>
                <a:spcPts val="0"/>
              </a:spcBef>
              <a:spcAft>
                <a:spcPts val="0"/>
              </a:spcAft>
              <a:defRPr sz="2039" b="1">
                <a:solidFill>
                  <a:srgbClr val="18394A"/>
                </a:solidFill>
                <a:latin typeface="Noto Sans"/>
              </a:defRPr>
            </a:pPr>
            <a:r>
              <a:t>considerando margen, inversión y limitaciones de los supuestos.</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¿Cómo cambia el punto de equilibrio cuando aumenta el costo variable y qué</a:t>
            </a:r>
          </a:p>
          <a:p>
            <a:pPr>
              <a:lnSpc>
                <a:spcPts val="2820"/>
              </a:lnSpc>
              <a:spcBef>
                <a:spcPts val="0"/>
              </a:spcBef>
              <a:spcAft>
                <a:spcPts val="0"/>
              </a:spcAft>
              <a:defRPr sz="2039" b="0">
                <a:solidFill>
                  <a:srgbClr val="18394A"/>
                </a:solidFill>
                <a:latin typeface="Noto Sans"/>
              </a:defRPr>
            </a:pPr>
            <a:r>
              <a:t>supuestos debes declarar?</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Ingresos y costos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Los ingresos no son equivalentes a utilidad ni a efectivo disponible. Distingue ventas, costos</a:t>
            </a:r>
          </a:p>
          <a:p>
            <a:pPr>
              <a:lnSpc>
                <a:spcPts val="2580"/>
              </a:lnSpc>
              <a:spcBef>
                <a:spcPts val="0"/>
              </a:spcBef>
              <a:spcAft>
                <a:spcPts val="0"/>
              </a:spcAft>
              <a:defRPr sz="1859" b="0">
                <a:solidFill>
                  <a:srgbClr val="18394A"/>
                </a:solidFill>
                <a:latin typeface="Noto Sans"/>
              </a:defRPr>
            </a:pPr>
            <a:r>
              <a:t>variables, costos fijos e inversión inicial. Los costos variables cambian con el volumen bajo</a:t>
            </a:r>
          </a:p>
          <a:p>
            <a:pPr>
              <a:lnSpc>
                <a:spcPts val="2580"/>
              </a:lnSpc>
              <a:spcBef>
                <a:spcPts val="0"/>
              </a:spcBef>
              <a:spcAft>
                <a:spcPts val="0"/>
              </a:spcAft>
              <a:defRPr sz="1859" b="0">
                <a:solidFill>
                  <a:srgbClr val="18394A"/>
                </a:solidFill>
                <a:latin typeface="Noto Sans"/>
              </a:defRPr>
            </a:pPr>
            <a:r>
              <a:t>los supuestos del análisis; los fijos permanecen dentro de un rango y período definidos.</a:t>
            </a:r>
          </a:p>
          <a:p>
            <a:pPr>
              <a:lnSpc>
                <a:spcPts val="2580"/>
              </a:lnSpc>
              <a:spcBef>
                <a:spcPts val="0"/>
              </a:spcBef>
              <a:spcAft>
                <a:spcPts val="0"/>
              </a:spcAft>
              <a:defRPr sz="1859" b="0">
                <a:solidFill>
                  <a:srgbClr val="18394A"/>
                </a:solidFill>
                <a:latin typeface="Noto Sans"/>
              </a:defRPr>
            </a:pPr>
            <a:r>
              <a:t>Clasificar adecuadamente permite comprender qué parte de una venta contribuye a cubrir</a:t>
            </a:r>
          </a:p>
          <a:p>
            <a:pPr>
              <a:lnSpc>
                <a:spcPts val="2580"/>
              </a:lnSpc>
              <a:spcBef>
                <a:spcPts val="0"/>
              </a:spcBef>
              <a:spcAft>
                <a:spcPts val="0"/>
              </a:spcAft>
              <a:defRPr sz="1859" b="0">
                <a:solidFill>
                  <a:srgbClr val="18394A"/>
                </a:solidFill>
                <a:latin typeface="Noto Sans"/>
              </a:defRPr>
            </a:pPr>
            <a:r>
              <a:t>estructura y generar resultado.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Contribución y equilibrio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margen de contribución unitario es precio menos costo variable unitario. Si un producto</a:t>
            </a:r>
          </a:p>
          <a:p>
            <a:pPr>
              <a:lnSpc>
                <a:spcPts val="2580"/>
              </a:lnSpc>
              <a:spcBef>
                <a:spcPts val="0"/>
              </a:spcBef>
              <a:spcAft>
                <a:spcPts val="0"/>
              </a:spcAft>
              <a:defRPr sz="1859" b="0">
                <a:solidFill>
                  <a:srgbClr val="18394A"/>
                </a:solidFill>
                <a:latin typeface="Noto Sans"/>
              </a:defRPr>
            </a:pPr>
            <a:r>
              <a:t>cuesta veinte dólares y su costo variable es doce, contribuye ocho dólares. Con ochocientos</a:t>
            </a:r>
          </a:p>
          <a:p>
            <a:pPr>
              <a:lnSpc>
                <a:spcPts val="2580"/>
              </a:lnSpc>
              <a:spcBef>
                <a:spcPts val="0"/>
              </a:spcBef>
              <a:spcAft>
                <a:spcPts val="0"/>
              </a:spcAft>
              <a:defRPr sz="1859" b="0">
                <a:solidFill>
                  <a:srgbClr val="18394A"/>
                </a:solidFill>
                <a:latin typeface="Noto Sans"/>
              </a:defRPr>
            </a:pPr>
            <a:r>
              <a:t>dólares de costos fijos mensuales, el equilibrio simple es cien unidades. El cálculo supone</a:t>
            </a:r>
          </a:p>
          <a:p>
            <a:pPr>
              <a:lnSpc>
                <a:spcPts val="2580"/>
              </a:lnSpc>
              <a:spcBef>
                <a:spcPts val="0"/>
              </a:spcBef>
              <a:spcAft>
                <a:spcPts val="0"/>
              </a:spcAft>
              <a:defRPr sz="1859" b="0">
                <a:solidFill>
                  <a:srgbClr val="18394A"/>
                </a:solidFill>
                <a:latin typeface="Noto Sans"/>
              </a:defRPr>
            </a:pPr>
            <a:r>
              <a:t>precio y costo unitarios constantes y una oferta homogénea; varios productos requieren</a:t>
            </a:r>
          </a:p>
          <a:p>
            <a:pPr>
              <a:lnSpc>
                <a:spcPts val="2580"/>
              </a:lnSpc>
              <a:spcBef>
                <a:spcPts val="0"/>
              </a:spcBef>
              <a:spcAft>
                <a:spcPts val="0"/>
              </a:spcAft>
              <a:defRPr sz="1859" b="0">
                <a:solidFill>
                  <a:srgbClr val="18394A"/>
                </a:solidFill>
                <a:latin typeface="Noto Sans"/>
              </a:defRPr>
            </a:pPr>
            <a:r>
              <a:t>considerar la mezcla de ventas.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período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Separar costos</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Calcular margen</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Probar escenarios</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Define primero el período y qué ingresos y costos pertenecen a él. Calcula la contribución por</a:t>
            </a:r>
          </a:p>
          <a:p>
            <a:pPr>
              <a:lnSpc>
                <a:spcPts val="2400"/>
              </a:lnSpc>
              <a:spcBef>
                <a:spcPts val="0"/>
              </a:spcBef>
              <a:spcAft>
                <a:spcPts val="0"/>
              </a:spcAft>
              <a:defRPr sz="1739" b="0">
                <a:solidFill>
                  <a:srgbClr val="536975"/>
                </a:solidFill>
                <a:latin typeface="Noto Sans"/>
              </a:defRPr>
            </a:pPr>
            <a:r>
              <a:t>unidad y los costos fijos para estimar el equilibrio bajo supuestos explícitos. Después prueba</a:t>
            </a:r>
          </a:p>
          <a:p>
            <a:pPr>
              <a:lnSpc>
                <a:spcPts val="2400"/>
              </a:lnSpc>
              <a:spcBef>
                <a:spcPts val="0"/>
              </a:spcBef>
              <a:spcAft>
                <a:spcPts val="0"/>
              </a:spcAft>
              <a:defRPr sz="1739" b="0">
                <a:solidFill>
                  <a:srgbClr val="536975"/>
                </a:solidFill>
                <a:latin typeface="Noto Sans"/>
              </a:defRPr>
            </a:pPr>
            <a:r>
              <a:t>escenarios. Si la inversión cambia la operación, revisa también los flujos y el momento de los cobros</a:t>
            </a:r>
          </a:p>
          <a:p>
            <a:pPr>
              <a:lnSpc>
                <a:spcPts val="2400"/>
              </a:lnSpc>
              <a:spcBef>
                <a:spcPts val="0"/>
              </a:spcBef>
              <a:spcAft>
                <a:spcPts val="0"/>
              </a:spcAft>
              <a:defRPr sz="1739" b="0">
                <a:solidFill>
                  <a:srgbClr val="536975"/>
                </a:solidFill>
                <a:latin typeface="Noto Sans"/>
              </a:defRPr>
            </a:pPr>
            <a:r>
              <a:t>y pagos, no solo el total de ventas.</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Ejemplo hipotético: una caja se vende en veinte dólares y tiene doce dólares de costo variable; los</a:t>
            </a:r>
          </a:p>
          <a:p>
            <a:pPr>
              <a:lnSpc>
                <a:spcPts val="2400"/>
              </a:lnSpc>
              <a:spcBef>
                <a:spcPts val="0"/>
              </a:spcBef>
              <a:spcAft>
                <a:spcPts val="0"/>
              </a:spcAft>
              <a:defRPr sz="1739" b="0">
                <a:solidFill>
                  <a:srgbClr val="18394A"/>
                </a:solidFill>
                <a:latin typeface="Noto Sans"/>
              </a:defRPr>
            </a:pPr>
            <a:r>
              <a:t>costos fijos del mes son ochocientos. La contribución es ocho y el equilibrio es cien cajas. Con ciento</a:t>
            </a:r>
          </a:p>
          <a:p>
            <a:pPr>
              <a:lnSpc>
                <a:spcPts val="2400"/>
              </a:lnSpc>
              <a:spcBef>
                <a:spcPts val="0"/>
              </a:spcBef>
              <a:spcAft>
                <a:spcPts val="0"/>
              </a:spcAft>
              <a:defRPr sz="1739" b="0">
                <a:solidFill>
                  <a:srgbClr val="18394A"/>
                </a:solidFill>
                <a:latin typeface="Noto Sans"/>
              </a:defRPr>
            </a:pPr>
            <a:r>
              <a:t>cincuenta cajas, el resultado operativo simple es cuatrocientos dólares, antes de partidas no</a:t>
            </a:r>
          </a:p>
          <a:p>
            <a:pPr>
              <a:lnSpc>
                <a:spcPts val="2400"/>
              </a:lnSpc>
              <a:spcBef>
                <a:spcPts val="0"/>
              </a:spcBef>
              <a:spcAft>
                <a:spcPts val="0"/>
              </a:spcAft>
              <a:defRPr sz="1739" b="0">
                <a:solidFill>
                  <a:srgbClr val="18394A"/>
                </a:solidFill>
                <a:latin typeface="Noto Sans"/>
              </a:defRPr>
            </a:pPr>
            <a:r>
              <a:t>incluidas. Si el costo variable aumenta a catorce, la contribución baja a seis y se requieren al menos</a:t>
            </a:r>
          </a:p>
          <a:p>
            <a:pPr>
              <a:lnSpc>
                <a:spcPts val="2400"/>
              </a:lnSpc>
              <a:spcBef>
                <a:spcPts val="0"/>
              </a:spcBef>
              <a:spcAft>
                <a:spcPts val="0"/>
              </a:spcAft>
              <a:defRPr sz="1739" b="0">
                <a:solidFill>
                  <a:srgbClr val="18394A"/>
                </a:solidFill>
                <a:latin typeface="Noto Sans"/>
              </a:defRPr>
            </a:pPr>
            <a:r>
              <a:t>ciento treinta y cuatro cajas para no perder.</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¿Cómo cambia el punto de equilibrio cuando aumenta el costo variable y qué supuestos debes</a:t>
            </a:r>
          </a:p>
          <a:p>
            <a:pPr>
              <a:lnSpc>
                <a:spcPts val="2220"/>
              </a:lnSpc>
              <a:spcBef>
                <a:spcPts val="0"/>
              </a:spcBef>
              <a:spcAft>
                <a:spcPts val="0"/>
              </a:spcAft>
              <a:defRPr sz="1620" b="1">
                <a:solidFill>
                  <a:srgbClr val="18394A"/>
                </a:solidFill>
                <a:latin typeface="Noto Sans"/>
              </a:defRPr>
            </a:pPr>
            <a:r>
              <a:t>declarar?</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Inversión y retorno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inversión puede evaluarse con flujos de caja, horizonte y riesgo. Un retorno simple</a:t>
            </a:r>
          </a:p>
          <a:p>
            <a:pPr>
              <a:lnSpc>
                <a:spcPts val="2580"/>
              </a:lnSpc>
              <a:spcBef>
                <a:spcPts val="0"/>
              </a:spcBef>
              <a:spcAft>
                <a:spcPts val="0"/>
              </a:spcAft>
              <a:defRPr sz="1859" b="0">
                <a:solidFill>
                  <a:srgbClr val="18394A"/>
                </a:solidFill>
                <a:latin typeface="Noto Sans"/>
              </a:defRPr>
            </a:pPr>
            <a:r>
              <a:t>compara beneficio neto atribuible e inversión, pero puede ocultar cuándo se obtiene el</a:t>
            </a:r>
          </a:p>
          <a:p>
            <a:pPr>
              <a:lnSpc>
                <a:spcPts val="2580"/>
              </a:lnSpc>
              <a:spcBef>
                <a:spcPts val="0"/>
              </a:spcBef>
              <a:spcAft>
                <a:spcPts val="0"/>
              </a:spcAft>
              <a:defRPr sz="1859" b="0">
                <a:solidFill>
                  <a:srgbClr val="18394A"/>
                </a:solidFill>
                <a:latin typeface="Noto Sans"/>
              </a:defRPr>
            </a:pPr>
            <a:r>
              <a:t>dinero. El valor presente descuenta flujos futuros usando una tasa justificada. No combines</a:t>
            </a:r>
          </a:p>
          <a:p>
            <a:pPr>
              <a:lnSpc>
                <a:spcPts val="2580"/>
              </a:lnSpc>
              <a:spcBef>
                <a:spcPts val="0"/>
              </a:spcBef>
              <a:spcAft>
                <a:spcPts val="0"/>
              </a:spcAft>
              <a:defRPr sz="1859" b="0">
                <a:solidFill>
                  <a:srgbClr val="18394A"/>
                </a:solidFill>
                <a:latin typeface="Noto Sans"/>
              </a:defRPr>
            </a:pPr>
            <a:r>
              <a:t>utilidad contable con flujo de caja sin explicar ajustes, ni presentes proyecciones como</a:t>
            </a:r>
          </a:p>
          <a:p>
            <a:pPr>
              <a:lnSpc>
                <a:spcPts val="2580"/>
              </a:lnSpc>
              <a:spcBef>
                <a:spcPts val="0"/>
              </a:spcBef>
              <a:spcAft>
                <a:spcPts val="0"/>
              </a:spcAft>
              <a:defRPr sz="1859" b="0">
                <a:solidFill>
                  <a:srgbClr val="18394A"/>
                </a:solidFill>
                <a:latin typeface="Noto Sans"/>
              </a:defRPr>
            </a:pPr>
            <a:r>
              <a:t>resultados ya obtenidos.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Escenarios y decisiones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Prueba cómo cambian los resultados si varían ventas, devoluciones, publicidad o costos</a:t>
            </a:r>
          </a:p>
          <a:p>
            <a:pPr>
              <a:lnSpc>
                <a:spcPts val="2580"/>
              </a:lnSpc>
              <a:spcBef>
                <a:spcPts val="0"/>
              </a:spcBef>
              <a:spcAft>
                <a:spcPts val="0"/>
              </a:spcAft>
              <a:defRPr sz="1859" b="0">
                <a:solidFill>
                  <a:srgbClr val="18394A"/>
                </a:solidFill>
                <a:latin typeface="Noto Sans"/>
              </a:defRPr>
            </a:pPr>
            <a:r>
              <a:t>logísticos. Identifica los supuestos más sensibles y las fuentes de datos. Un escenario</a:t>
            </a:r>
          </a:p>
          <a:p>
            <a:pPr>
              <a:lnSpc>
                <a:spcPts val="2580"/>
              </a:lnSpc>
              <a:spcBef>
                <a:spcPts val="0"/>
              </a:spcBef>
              <a:spcAft>
                <a:spcPts val="0"/>
              </a:spcAft>
              <a:defRPr sz="1859" b="0">
                <a:solidFill>
                  <a:srgbClr val="18394A"/>
                </a:solidFill>
                <a:latin typeface="Noto Sans"/>
              </a:defRPr>
            </a:pPr>
            <a:r>
              <a:t>optimista no reemplaza un presupuesto de caja. La evaluación debe reconocer</a:t>
            </a:r>
          </a:p>
          <a:p>
            <a:pPr>
              <a:lnSpc>
                <a:spcPts val="2580"/>
              </a:lnSpc>
              <a:spcBef>
                <a:spcPts val="0"/>
              </a:spcBef>
              <a:spcAft>
                <a:spcPts val="0"/>
              </a:spcAft>
              <a:defRPr sz="1859" b="0">
                <a:solidFill>
                  <a:srgbClr val="18394A"/>
                </a:solidFill>
                <a:latin typeface="Noto Sans"/>
              </a:defRPr>
            </a:pPr>
            <a:r>
              <a:t>incertidumbre y comparar alternativas consistentes, incluyendo los costos de operación de</a:t>
            </a:r>
          </a:p>
          <a:p>
            <a:pPr>
              <a:lnSpc>
                <a:spcPts val="2580"/>
              </a:lnSpc>
              <a:spcBef>
                <a:spcPts val="0"/>
              </a:spcBef>
              <a:spcAft>
                <a:spcPts val="0"/>
              </a:spcAft>
              <a:defRPr sz="1859" b="0">
                <a:solidFill>
                  <a:srgbClr val="18394A"/>
                </a:solidFill>
                <a:latin typeface="Noto Sans"/>
              </a:defRPr>
            </a:pPr>
            <a:r>
              <a:t>la solución digital después de su puesta en marcha.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Clasifica ingresos, costos variables, fijos e inversión en una tienda ficticia.</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Calcula margen, equilibrio y resultado de 150 cajas con los datos iniciales.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Recalcula el equilibrio con costo variable de catorce y explica el redondeo.</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Construye escenarios y distingue utilidad, flujo de caja y retorno de inversión.</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NE_U3 · Sección 3.2 · Rendimiento financiero de los negocios electrónic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Separa ventas, resultado y caja.</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Calcula con supuestos visibles.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Decide comparando escenarios y riesgo.</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Brealey, Myers y Allen, Principles of Corporate Finance.</a:t>
            </a:r>
          </a:p>
          <a:p>
            <a:pPr>
              <a:lnSpc>
                <a:spcPts val="1920"/>
              </a:lnSpc>
              <a:spcBef>
                <a:spcPts val="0"/>
              </a:spcBef>
              <a:spcAft>
                <a:spcPts val="0"/>
              </a:spcAft>
              <a:defRPr sz="1380" b="0">
                <a:solidFill>
                  <a:srgbClr val="D6E4E8"/>
                </a:solidFill>
                <a:latin typeface="Noto Sans"/>
              </a:defRPr>
            </a:pPr>
            <a:r>
              <a:t>Conceptos de flujos, inversión y valor temporal del dinero.</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3.3</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Integraciones rentables de software y</a:t>
            </a:r>
          </a:p>
          <a:p>
            <a:pPr>
              <a:lnSpc>
                <a:spcPts val="5280"/>
              </a:lnSpc>
              <a:spcBef>
                <a:spcPts val="0"/>
              </a:spcBef>
              <a:spcAft>
                <a:spcPts val="0"/>
              </a:spcAft>
              <a:defRPr sz="3840" b="1">
                <a:solidFill>
                  <a:srgbClr val="FFFFFF"/>
                </a:solidFill>
                <a:latin typeface="Noto Sans"/>
              </a:defRPr>
            </a:pPr>
            <a:r>
              <a:t>hardware</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Diseñar una integración rentable de hardware y software con interoperabilidad,</a:t>
            </a:r>
          </a:p>
          <a:p>
            <a:pPr>
              <a:lnSpc>
                <a:spcPts val="2640"/>
              </a:lnSpc>
              <a:spcBef>
                <a:spcPts val="0"/>
              </a:spcBef>
              <a:spcAft>
                <a:spcPts val="0"/>
              </a:spcAft>
              <a:defRPr sz="1920" b="0">
                <a:solidFill>
                  <a:srgbClr val="D6E4E8"/>
                </a:solidFill>
                <a:latin typeface="Noto Sans"/>
              </a:defRPr>
            </a:pPr>
            <a:r>
              <a:t>pruebas de datos y evaluación de costo total.</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Diseñar una integración rentable de hardware y software con interoperabilidad,</a:t>
            </a:r>
          </a:p>
          <a:p>
            <a:pPr>
              <a:lnSpc>
                <a:spcPts val="2820"/>
              </a:lnSpc>
              <a:spcBef>
                <a:spcPts val="0"/>
              </a:spcBef>
              <a:spcAft>
                <a:spcPts val="0"/>
              </a:spcAft>
              <a:defRPr sz="2039" b="1">
                <a:solidFill>
                  <a:srgbClr val="18394A"/>
                </a:solidFill>
                <a:latin typeface="Noto Sans"/>
              </a:defRPr>
            </a:pPr>
            <a:r>
              <a:t>pruebas de datos y evaluación de costo total.</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¿Cuál es el ahorro neto y qué pruebas impiden confundir una lectura exitosa con una</a:t>
            </a:r>
          </a:p>
          <a:p>
            <a:pPr>
              <a:lnSpc>
                <a:spcPts val="2820"/>
              </a:lnSpc>
              <a:spcBef>
                <a:spcPts val="0"/>
              </a:spcBef>
              <a:spcAft>
                <a:spcPts val="0"/>
              </a:spcAft>
              <a:defRPr sz="2039" b="0">
                <a:solidFill>
                  <a:srgbClr val="18394A"/>
                </a:solidFill>
                <a:latin typeface="Noto Sans"/>
              </a:defRPr>
            </a:pPr>
            <a:r>
              <a:t>transacción correcta?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Integración con propósito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Integrar hardware y software conecta eventos físicos y registros digitales. Un lector puede</a:t>
            </a:r>
          </a:p>
          <a:p>
            <a:pPr>
              <a:lnSpc>
                <a:spcPts val="2580"/>
              </a:lnSpc>
              <a:spcBef>
                <a:spcPts val="0"/>
              </a:spcBef>
              <a:spcAft>
                <a:spcPts val="0"/>
              </a:spcAft>
              <a:defRPr sz="1859" b="0">
                <a:solidFill>
                  <a:srgbClr val="18394A"/>
                </a:solidFill>
                <a:latin typeface="Noto Sans"/>
              </a:defRPr>
            </a:pPr>
            <a:r>
              <a:t>capturar un código, una aplicación validar el producto y un sistema actualizar existencias.</a:t>
            </a:r>
          </a:p>
          <a:p>
            <a:pPr>
              <a:lnSpc>
                <a:spcPts val="2580"/>
              </a:lnSpc>
              <a:spcBef>
                <a:spcPts val="0"/>
              </a:spcBef>
              <a:spcAft>
                <a:spcPts val="0"/>
              </a:spcAft>
              <a:defRPr sz="1859" b="0">
                <a:solidFill>
                  <a:srgbClr val="18394A"/>
                </a:solidFill>
                <a:latin typeface="Noto Sans"/>
              </a:defRPr>
            </a:pPr>
            <a:r>
              <a:t>La rentabilidad depende del problema resuelto, el volumen y el costo total. Comprar</a:t>
            </a:r>
          </a:p>
          <a:p>
            <a:pPr>
              <a:lnSpc>
                <a:spcPts val="2580"/>
              </a:lnSpc>
              <a:spcBef>
                <a:spcPts val="0"/>
              </a:spcBef>
              <a:spcAft>
                <a:spcPts val="0"/>
              </a:spcAft>
              <a:defRPr sz="1859" b="0">
                <a:solidFill>
                  <a:srgbClr val="18394A"/>
                </a:solidFill>
                <a:latin typeface="Noto Sans"/>
              </a:defRPr>
            </a:pPr>
            <a:r>
              <a:t>dispositivos sin revisar el proceso puede acelerar la captura de información equivocada en</a:t>
            </a:r>
          </a:p>
          <a:p>
            <a:pPr>
              <a:lnSpc>
                <a:spcPts val="2580"/>
              </a:lnSpc>
              <a:spcBef>
                <a:spcPts val="0"/>
              </a:spcBef>
              <a:spcAft>
                <a:spcPts val="0"/>
              </a:spcAft>
              <a:defRPr sz="1859" b="0">
                <a:solidFill>
                  <a:srgbClr val="18394A"/>
                </a:solidFill>
                <a:latin typeface="Noto Sans"/>
              </a:defRPr>
            </a:pPr>
            <a:r>
              <a:t>lugar de reducir errores.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Interfaces e identificadores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Define qué datos produce cada dispositivo, qué formato usa y quién los interpreta. Un</a:t>
            </a:r>
          </a:p>
          <a:p>
            <a:pPr>
              <a:lnSpc>
                <a:spcPts val="2580"/>
              </a:lnSpc>
              <a:spcBef>
                <a:spcPts val="0"/>
              </a:spcBef>
              <a:spcAft>
                <a:spcPts val="0"/>
              </a:spcAft>
              <a:defRPr sz="1859" b="0">
                <a:solidFill>
                  <a:srgbClr val="18394A"/>
                </a:solidFill>
                <a:latin typeface="Noto Sans"/>
              </a:defRPr>
            </a:pPr>
            <a:r>
              <a:t>código debe corresponder a un identificador único y vigente en el catálogo. Las interfaces y</a:t>
            </a:r>
          </a:p>
          <a:p>
            <a:pPr>
              <a:lnSpc>
                <a:spcPts val="2580"/>
              </a:lnSpc>
              <a:spcBef>
                <a:spcPts val="0"/>
              </a:spcBef>
              <a:spcAft>
                <a:spcPts val="0"/>
              </a:spcAft>
              <a:defRPr sz="1859" b="0">
                <a:solidFill>
                  <a:srgbClr val="18394A"/>
                </a:solidFill>
                <a:latin typeface="Noto Sans"/>
              </a:defRPr>
            </a:pPr>
            <a:r>
              <a:t>controladores necesitan compatibilidad comprobada. Diferencia la lectura del código de la</a:t>
            </a:r>
          </a:p>
          <a:p>
            <a:pPr>
              <a:lnSpc>
                <a:spcPts val="2580"/>
              </a:lnSpc>
              <a:spcBef>
                <a:spcPts val="0"/>
              </a:spcBef>
              <a:spcAft>
                <a:spcPts val="0"/>
              </a:spcAft>
              <a:defRPr sz="1859" b="0">
                <a:solidFill>
                  <a:srgbClr val="18394A"/>
                </a:solidFill>
                <a:latin typeface="Noto Sans"/>
              </a:defRPr>
            </a:pPr>
            <a:r>
              <a:t>validación de la transacción: que un lector emita una señal no demuestra que el inventario</a:t>
            </a:r>
          </a:p>
          <a:p>
            <a:pPr>
              <a:lnSpc>
                <a:spcPts val="2580"/>
              </a:lnSpc>
              <a:spcBef>
                <a:spcPts val="0"/>
              </a:spcBef>
              <a:spcAft>
                <a:spcPts val="0"/>
              </a:spcAft>
              <a:defRPr sz="1859" b="0">
                <a:solidFill>
                  <a:srgbClr val="18394A"/>
                </a:solidFill>
                <a:latin typeface="Noto Sans"/>
              </a:defRPr>
            </a:pPr>
            <a:r>
              <a:t>haya cambiado correctamente.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Capturar evento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Validar identidad</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Registrar una vez</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Confirmar resultado</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El dispositivo captura un evento, la aplicación valida su identidad y reglas, y el sistema registra la</a:t>
            </a:r>
          </a:p>
          <a:p>
            <a:pPr>
              <a:lnSpc>
                <a:spcPts val="2400"/>
              </a:lnSpc>
              <a:spcBef>
                <a:spcPts val="0"/>
              </a:spcBef>
              <a:spcAft>
                <a:spcPts val="0"/>
              </a:spcAft>
              <a:defRPr sz="1739" b="0">
                <a:solidFill>
                  <a:srgbClr val="536975"/>
                </a:solidFill>
                <a:latin typeface="Noto Sans"/>
              </a:defRPr>
            </a:pPr>
            <a:r>
              <a:t>operación una sola vez. Después informa su estado y conserva trazabilidad. Prueba también qué</a:t>
            </a:r>
          </a:p>
          <a:p>
            <a:pPr>
              <a:lnSpc>
                <a:spcPts val="2400"/>
              </a:lnSpc>
              <a:spcBef>
                <a:spcPts val="0"/>
              </a:spcBef>
              <a:spcAft>
                <a:spcPts val="0"/>
              </a:spcAft>
              <a:defRPr sz="1739" b="0">
                <a:solidFill>
                  <a:srgbClr val="536975"/>
                </a:solidFill>
                <a:latin typeface="Noto Sans"/>
              </a:defRPr>
            </a:pPr>
            <a:r>
              <a:t>ocurre cuando falla la comunicación justo después del registro: repetir una petición no debe</a:t>
            </a:r>
          </a:p>
          <a:p>
            <a:pPr>
              <a:lnSpc>
                <a:spcPts val="2400"/>
              </a:lnSpc>
              <a:spcBef>
                <a:spcPts val="0"/>
              </a:spcBef>
              <a:spcAft>
                <a:spcPts val="0"/>
              </a:spcAft>
              <a:defRPr sz="1739" b="0">
                <a:solidFill>
                  <a:srgbClr val="536975"/>
                </a:solidFill>
                <a:latin typeface="Noto Sans"/>
              </a:defRPr>
            </a:pPr>
            <a:r>
              <a:t>duplicar la misma transacción.</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hipotético: un negocio invierte mil doscientos dólares en lectores e integración. Estima un</a:t>
            </a:r>
          </a:p>
          <a:p>
            <a:pPr>
              <a:lnSpc>
                <a:spcPts val="2400"/>
              </a:lnSpc>
              <a:spcBef>
                <a:spcPts val="0"/>
              </a:spcBef>
              <a:spcAft>
                <a:spcPts val="0"/>
              </a:spcAft>
              <a:defRPr sz="1739" b="0">
                <a:solidFill>
                  <a:srgbClr val="18394A"/>
                </a:solidFill>
                <a:latin typeface="Noto Sans"/>
              </a:defRPr>
            </a:pPr>
            <a:r>
              <a:t>ahorro bruto de ciento ochenta dólares mensuales y sesenta de costo recurrente adicional. El</a:t>
            </a:r>
          </a:p>
          <a:p>
            <a:pPr>
              <a:lnSpc>
                <a:spcPts val="2400"/>
              </a:lnSpc>
              <a:spcBef>
                <a:spcPts val="0"/>
              </a:spcBef>
              <a:spcAft>
                <a:spcPts val="0"/>
              </a:spcAft>
              <a:defRPr sz="1739" b="0">
                <a:solidFill>
                  <a:srgbClr val="18394A"/>
                </a:solidFill>
                <a:latin typeface="Noto Sans"/>
              </a:defRPr>
            </a:pPr>
            <a:r>
              <a:t>ahorro neto esperado es ciento veinte y la recuperación simple, diez meses. Antes de aceptar esa</a:t>
            </a:r>
          </a:p>
          <a:p>
            <a:pPr>
              <a:lnSpc>
                <a:spcPts val="2400"/>
              </a:lnSpc>
              <a:spcBef>
                <a:spcPts val="0"/>
              </a:spcBef>
              <a:spcAft>
                <a:spcPts val="0"/>
              </a:spcAft>
              <a:defRPr sz="1739" b="0">
                <a:solidFill>
                  <a:srgbClr val="18394A"/>
                </a:solidFill>
                <a:latin typeface="Noto Sans"/>
              </a:defRPr>
            </a:pPr>
            <a:r>
              <a:t>estimación, prueba lectura duplicada, código desconocido y pérdida de conexión, y comprueba que</a:t>
            </a:r>
          </a:p>
          <a:p>
            <a:pPr>
              <a:lnSpc>
                <a:spcPts val="2400"/>
              </a:lnSpc>
              <a:spcBef>
                <a:spcPts val="0"/>
              </a:spcBef>
              <a:spcAft>
                <a:spcPts val="0"/>
              </a:spcAft>
              <a:defRPr sz="1739" b="0">
                <a:solidFill>
                  <a:srgbClr val="18394A"/>
                </a:solidFill>
                <a:latin typeface="Noto Sans"/>
              </a:defRPr>
            </a:pPr>
            <a:r>
              <a:t>el ahorro medido corresponda al volumen real.</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¿Cuál es el ahorro neto y qué pruebas impiden confundir una lectura exitosa con una transacción</a:t>
            </a:r>
          </a:p>
          <a:p>
            <a:pPr>
              <a:lnSpc>
                <a:spcPts val="2220"/>
              </a:lnSpc>
              <a:spcBef>
                <a:spcPts val="0"/>
              </a:spcBef>
              <a:spcAft>
                <a:spcPts val="0"/>
              </a:spcAft>
              <a:defRPr sz="1620" b="1">
                <a:solidFill>
                  <a:srgbClr val="18394A"/>
                </a:solidFill>
                <a:latin typeface="Noto Sans"/>
              </a:defRPr>
            </a:pPr>
            <a:r>
              <a:t>correcta?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Errores y continuidad</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 integración debe manejar lecturas repetidas, códigos desconocidos, conexión</a:t>
            </a:r>
          </a:p>
          <a:p>
            <a:pPr>
              <a:lnSpc>
                <a:spcPts val="2580"/>
              </a:lnSpc>
              <a:spcBef>
                <a:spcPts val="0"/>
              </a:spcBef>
              <a:spcAft>
                <a:spcPts val="0"/>
              </a:spcAft>
              <a:defRPr sz="1859" b="0">
                <a:solidFill>
                  <a:srgbClr val="18394A"/>
                </a:solidFill>
                <a:latin typeface="Noto Sans"/>
              </a:defRPr>
            </a:pPr>
            <a:r>
              <a:t>interrumpida y reintentos. Decide cuándo una operación se considera confirmada y cómo</a:t>
            </a:r>
          </a:p>
          <a:p>
            <a:pPr>
              <a:lnSpc>
                <a:spcPts val="2580"/>
              </a:lnSpc>
              <a:spcBef>
                <a:spcPts val="0"/>
              </a:spcBef>
              <a:spcAft>
                <a:spcPts val="0"/>
              </a:spcAft>
              <a:defRPr sz="1859" b="0">
                <a:solidFill>
                  <a:srgbClr val="18394A"/>
                </a:solidFill>
                <a:latin typeface="Noto Sans"/>
              </a:defRPr>
            </a:pPr>
            <a:r>
              <a:t>se evita contabilizar dos veces el mismo evento. Incluye permisos, respaldo y trazabilidad.</a:t>
            </a:r>
          </a:p>
          <a:p>
            <a:pPr>
              <a:lnSpc>
                <a:spcPts val="2580"/>
              </a:lnSpc>
              <a:spcBef>
                <a:spcPts val="0"/>
              </a:spcBef>
              <a:spcAft>
                <a:spcPts val="0"/>
              </a:spcAft>
              <a:defRPr sz="1859" b="0">
                <a:solidFill>
                  <a:srgbClr val="18394A"/>
                </a:solidFill>
                <a:latin typeface="Noto Sans"/>
              </a:defRPr>
            </a:pPr>
            <a:r>
              <a:t>Una operación sin conexión requiere reglas de sincronización y resolución de conflictos, no</a:t>
            </a:r>
          </a:p>
          <a:p>
            <a:pPr>
              <a:lnSpc>
                <a:spcPts val="2580"/>
              </a:lnSpc>
              <a:spcBef>
                <a:spcPts val="0"/>
              </a:spcBef>
              <a:spcAft>
                <a:spcPts val="0"/>
              </a:spcAft>
              <a:defRPr sz="1859" b="0">
                <a:solidFill>
                  <a:srgbClr val="18394A"/>
                </a:solidFill>
                <a:latin typeface="Noto Sans"/>
              </a:defRPr>
            </a:pPr>
            <a:r>
              <a:t>solamente almacenar datos hasta que vuelva internet.</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Economía y prueba piloto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Calcula adquisición, instalación, licencias, capacitación, soporte y reposición. Compara</a:t>
            </a:r>
          </a:p>
          <a:p>
            <a:pPr>
              <a:lnSpc>
                <a:spcPts val="2580"/>
              </a:lnSpc>
              <a:spcBef>
                <a:spcPts val="0"/>
              </a:spcBef>
              <a:spcAft>
                <a:spcPts val="0"/>
              </a:spcAft>
              <a:defRPr sz="1859" b="0">
                <a:solidFill>
                  <a:srgbClr val="18394A"/>
                </a:solidFill>
                <a:latin typeface="Noto Sans"/>
              </a:defRPr>
            </a:pPr>
            <a:r>
              <a:t>ahorro neto esperado con inversión y analiza sensibilidad al volumen. Un piloto debe</a:t>
            </a:r>
          </a:p>
          <a:p>
            <a:pPr>
              <a:lnSpc>
                <a:spcPts val="2580"/>
              </a:lnSpc>
              <a:spcBef>
                <a:spcPts val="0"/>
              </a:spcBef>
              <a:spcAft>
                <a:spcPts val="0"/>
              </a:spcAft>
              <a:defRPr sz="1859" b="0">
                <a:solidFill>
                  <a:srgbClr val="18394A"/>
                </a:solidFill>
                <a:latin typeface="Noto Sans"/>
              </a:defRPr>
            </a:pPr>
            <a:r>
              <a:t>probar tareas normales y fallos representativos, midiendo tiempo y errores antes y</a:t>
            </a:r>
          </a:p>
          <a:p>
            <a:pPr>
              <a:lnSpc>
                <a:spcPts val="2580"/>
              </a:lnSpc>
              <a:spcBef>
                <a:spcPts val="0"/>
              </a:spcBef>
              <a:spcAft>
                <a:spcPts val="0"/>
              </a:spcAft>
              <a:defRPr sz="1859" b="0">
                <a:solidFill>
                  <a:srgbClr val="18394A"/>
                </a:solidFill>
                <a:latin typeface="Noto Sans"/>
              </a:defRPr>
            </a:pPr>
            <a:r>
              <a:t>después. La recuperación simple de la inversión orienta, pero no refleja por sí sola el valor</a:t>
            </a:r>
          </a:p>
          <a:p>
            <a:pPr>
              <a:lnSpc>
                <a:spcPts val="2580"/>
              </a:lnSpc>
              <a:spcBef>
                <a:spcPts val="0"/>
              </a:spcBef>
              <a:spcAft>
                <a:spcPts val="0"/>
              </a:spcAft>
              <a:defRPr sz="1859" b="0">
                <a:solidFill>
                  <a:srgbClr val="18394A"/>
                </a:solidFill>
                <a:latin typeface="Noto Sans"/>
              </a:defRPr>
            </a:pPr>
            <a:r>
              <a:t>temporal ni todos los riesgos del proyecto.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Dibuja los componentes y los datos entre lector, aplicación y sistema de inventario.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Calcula ahorro neto y recuperación simple, declarando exclusiones.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tres pruebas: duplicado, código desconocido y pérdida de conexión.</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Evalúa compatibilidad, mantenimiento, reposición y un escenario de menor volumen.</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NE_U3 · Sección 3.3 · Integraciones rentables de software y hardware">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3.3</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Integra eventos y registros con reglas claras.</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Prueba errores y reintentos.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Calcula rentabilidad con costo total.</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Laudon y Laudon, Management Information Systems.</a:t>
            </a:r>
          </a:p>
          <a:p>
            <a:pPr>
              <a:lnSpc>
                <a:spcPts val="1920"/>
              </a:lnSpc>
              <a:spcBef>
                <a:spcPts val="0"/>
              </a:spcBef>
              <a:spcAft>
                <a:spcPts val="0"/>
              </a:spcAft>
              <a:defRPr sz="1380" b="0">
                <a:solidFill>
                  <a:srgbClr val="D6E4E8"/>
                </a:solidFill>
                <a:latin typeface="Noto Sans"/>
              </a:defRPr>
            </a:pPr>
            <a:r>
              <a:t>Brealey, Myers y Allen, Principles of Corporate Finance.</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3.4</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Sistemas de pago y documentos</a:t>
            </a:r>
          </a:p>
          <a:p>
            <a:pPr>
              <a:lnSpc>
                <a:spcPts val="5280"/>
              </a:lnSpc>
              <a:spcBef>
                <a:spcPts val="0"/>
              </a:spcBef>
              <a:spcAft>
                <a:spcPts val="0"/>
              </a:spcAft>
              <a:defRPr sz="3840" b="1">
                <a:solidFill>
                  <a:srgbClr val="FFFFFF"/>
                </a:solidFill>
                <a:latin typeface="Noto Sans"/>
              </a:defRPr>
            </a:pPr>
            <a:r>
              <a:t>electrónicos</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Distinguir el ciclo de pagos electrónicos y documentos electrónicos, incorporando</a:t>
            </a:r>
          </a:p>
          <a:p>
            <a:pPr>
              <a:lnSpc>
                <a:spcPts val="2640"/>
              </a:lnSpc>
              <a:spcBef>
                <a:spcPts val="0"/>
              </a:spcBef>
              <a:spcAft>
                <a:spcPts val="0"/>
              </a:spcAft>
              <a:defRPr sz="1920" b="0">
                <a:solidFill>
                  <a:srgbClr val="D6E4E8"/>
                </a:solidFill>
                <a:latin typeface="Noto Sans"/>
              </a:defRPr>
            </a:pPr>
            <a:r>
              <a:t>conciliación, seguridad y requisitos aplicables.</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Distinguir el ciclo de pagos electrónicos y documentos electrónicos,</a:t>
            </a:r>
          </a:p>
          <a:p>
            <a:pPr>
              <a:lnSpc>
                <a:spcPts val="2820"/>
              </a:lnSpc>
              <a:spcBef>
                <a:spcPts val="0"/>
              </a:spcBef>
              <a:spcAft>
                <a:spcPts val="0"/>
              </a:spcAft>
              <a:defRPr sz="2039" b="1">
                <a:solidFill>
                  <a:srgbClr val="18394A"/>
                </a:solidFill>
                <a:latin typeface="Noto Sans"/>
              </a:defRPr>
            </a:pPr>
            <a:r>
              <a:t>incorporando conciliación, seguridad y requisitos aplicables.</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evidencia usarías para confirmar cada pago y cómo registrarías los dos dólares de</a:t>
            </a:r>
          </a:p>
          <a:p>
            <a:pPr>
              <a:lnSpc>
                <a:spcPts val="2820"/>
              </a:lnSpc>
              <a:spcBef>
                <a:spcPts val="0"/>
              </a:spcBef>
              <a:spcAft>
                <a:spcPts val="0"/>
              </a:spcAft>
              <a:defRPr sz="2039" b="0">
                <a:solidFill>
                  <a:srgbClr val="18394A"/>
                </a:solidFill>
                <a:latin typeface="Noto Sans"/>
              </a:defRPr>
            </a:pPr>
            <a:r>
              <a:t>diferencia?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Estados del pago</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 pago electrónico involucra al comprador, al comercio y a proveedores que autorizan o</a:t>
            </a:r>
          </a:p>
          <a:p>
            <a:pPr>
              <a:lnSpc>
                <a:spcPts val="2580"/>
              </a:lnSpc>
              <a:spcBef>
                <a:spcPts val="0"/>
              </a:spcBef>
              <a:spcAft>
                <a:spcPts val="0"/>
              </a:spcAft>
              <a:defRPr sz="1859" b="0">
                <a:solidFill>
                  <a:srgbClr val="18394A"/>
                </a:solidFill>
                <a:latin typeface="Noto Sans"/>
              </a:defRPr>
            </a:pPr>
            <a:r>
              <a:t>procesan la operación. Distingue iniciado, autorizado, capturado, liquidado, rechazado y</a:t>
            </a:r>
          </a:p>
          <a:p>
            <a:pPr>
              <a:lnSpc>
                <a:spcPts val="2580"/>
              </a:lnSpc>
              <a:spcBef>
                <a:spcPts val="0"/>
              </a:spcBef>
              <a:spcAft>
                <a:spcPts val="0"/>
              </a:spcAft>
              <a:defRPr sz="1859" b="0">
                <a:solidFill>
                  <a:srgbClr val="18394A"/>
                </a:solidFill>
                <a:latin typeface="Noto Sans"/>
              </a:defRPr>
            </a:pPr>
            <a:r>
              <a:t>devuelto según el medio utilizado. No todos los sistemas usan exactamente los mismos</a:t>
            </a:r>
          </a:p>
          <a:p>
            <a:pPr>
              <a:lnSpc>
                <a:spcPts val="2580"/>
              </a:lnSpc>
              <a:spcBef>
                <a:spcPts val="0"/>
              </a:spcBef>
              <a:spcAft>
                <a:spcPts val="0"/>
              </a:spcAft>
              <a:defRPr sz="1859" b="0">
                <a:solidFill>
                  <a:srgbClr val="18394A"/>
                </a:solidFill>
                <a:latin typeface="Noto Sans"/>
              </a:defRPr>
            </a:pPr>
            <a:r>
              <a:t>estados. Mostrar una pantalla de éxito no demuestra por sí solo que el comercio haya</a:t>
            </a:r>
          </a:p>
          <a:p>
            <a:pPr>
              <a:lnSpc>
                <a:spcPts val="2580"/>
              </a:lnSpc>
              <a:spcBef>
                <a:spcPts val="0"/>
              </a:spcBef>
              <a:spcAft>
                <a:spcPts val="0"/>
              </a:spcAft>
              <a:defRPr sz="1859" b="0">
                <a:solidFill>
                  <a:srgbClr val="18394A"/>
                </a:solidFill>
                <a:latin typeface="Noto Sans"/>
              </a:defRPr>
            </a:pPr>
            <a:r>
              <a:t>recibido y conciliado los fondos.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Conciliación y evidencia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Relaciona pedido, operación de pago y movimiento liquidado mediante identificadores</a:t>
            </a:r>
          </a:p>
          <a:p>
            <a:pPr>
              <a:lnSpc>
                <a:spcPts val="2580"/>
              </a:lnSpc>
              <a:spcBef>
                <a:spcPts val="0"/>
              </a:spcBef>
              <a:spcAft>
                <a:spcPts val="0"/>
              </a:spcAft>
              <a:defRPr sz="1859" b="0">
                <a:solidFill>
                  <a:srgbClr val="18394A"/>
                </a:solidFill>
                <a:latin typeface="Noto Sans"/>
              </a:defRPr>
            </a:pPr>
            <a:r>
              <a:t>consistentes. La conciliación compara registros y explica diferencias por comisiones, plazos,</a:t>
            </a:r>
          </a:p>
          <a:p>
            <a:pPr>
              <a:lnSpc>
                <a:spcPts val="2580"/>
              </a:lnSpc>
              <a:spcBef>
                <a:spcPts val="0"/>
              </a:spcBef>
              <a:spcAft>
                <a:spcPts val="0"/>
              </a:spcAft>
              <a:defRPr sz="1859" b="0">
                <a:solidFill>
                  <a:srgbClr val="18394A"/>
                </a:solidFill>
                <a:latin typeface="Noto Sans"/>
              </a:defRPr>
            </a:pPr>
            <a:r>
              <a:t>devoluciones o disputas. Los avisos del proveedor deben validarse según su mecanismo de</a:t>
            </a:r>
          </a:p>
          <a:p>
            <a:pPr>
              <a:lnSpc>
                <a:spcPts val="2580"/>
              </a:lnSpc>
              <a:spcBef>
                <a:spcPts val="0"/>
              </a:spcBef>
              <a:spcAft>
                <a:spcPts val="0"/>
              </a:spcAft>
              <a:defRPr sz="1859" b="0">
                <a:solidFill>
                  <a:srgbClr val="18394A"/>
                </a:solidFill>
                <a:latin typeface="Noto Sans"/>
              </a:defRPr>
            </a:pPr>
            <a:r>
              <a:t>autenticidad y manejar reintentos. Un mensaje duplicado no debería cobrar ni confirmar</a:t>
            </a:r>
          </a:p>
          <a:p>
            <a:pPr>
              <a:lnSpc>
                <a:spcPts val="2580"/>
              </a:lnSpc>
              <a:spcBef>
                <a:spcPts val="0"/>
              </a:spcBef>
              <a:spcAft>
                <a:spcPts val="0"/>
              </a:spcAft>
              <a:defRPr sz="1859" b="0">
                <a:solidFill>
                  <a:srgbClr val="18394A"/>
                </a:solidFill>
                <a:latin typeface="Noto Sans"/>
              </a:defRPr>
            </a:pPr>
            <a:r>
              <a:t>dos veces el mismo pedido.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Iniciar pago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Confirmar estado</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Emitir documento</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Conciliar</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El pedido inicia una operación de pago cuyo estado debe comprobarse mediante un mecanismo</a:t>
            </a:r>
          </a:p>
          <a:p>
            <a:pPr>
              <a:lnSpc>
                <a:spcPts val="2400"/>
              </a:lnSpc>
              <a:spcBef>
                <a:spcPts val="0"/>
              </a:spcBef>
              <a:spcAft>
                <a:spcPts val="0"/>
              </a:spcAft>
              <a:defRPr sz="1739" b="0">
                <a:solidFill>
                  <a:srgbClr val="536975"/>
                </a:solidFill>
                <a:latin typeface="Noto Sans"/>
              </a:defRPr>
            </a:pPr>
            <a:r>
              <a:t>confiable. Después se emite y entrega el documento que corresponda al hecho real y al marco</a:t>
            </a:r>
          </a:p>
          <a:p>
            <a:pPr>
              <a:lnSpc>
                <a:spcPts val="2400"/>
              </a:lnSpc>
              <a:spcBef>
                <a:spcPts val="0"/>
              </a:spcBef>
              <a:spcAft>
                <a:spcPts val="0"/>
              </a:spcAft>
              <a:defRPr sz="1739" b="0">
                <a:solidFill>
                  <a:srgbClr val="536975"/>
                </a:solidFill>
                <a:latin typeface="Noto Sans"/>
              </a:defRPr>
            </a:pPr>
            <a:r>
              <a:t>aplicable. La conciliación verifica el movimiento liquidado y sus diferencias. Las devoluciones y</a:t>
            </a:r>
          </a:p>
          <a:p>
            <a:pPr>
              <a:lnSpc>
                <a:spcPts val="2400"/>
              </a:lnSpc>
              <a:spcBef>
                <a:spcPts val="0"/>
              </a:spcBef>
              <a:spcAft>
                <a:spcPts val="0"/>
              </a:spcAft>
              <a:defRPr sz="1739" b="0">
                <a:solidFill>
                  <a:srgbClr val="536975"/>
                </a:solidFill>
                <a:latin typeface="Noto Sans"/>
              </a:defRPr>
            </a:pPr>
            <a:r>
              <a:t>rechazos necesitan recorridos propios, con trazabilidad y comunicación al cliente.</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 pedido de cincuenta dólares aparece pagado porque el navegador mostró éxito,</a:t>
            </a:r>
          </a:p>
          <a:p>
            <a:pPr>
              <a:lnSpc>
                <a:spcPts val="2400"/>
              </a:lnSpc>
              <a:spcBef>
                <a:spcPts val="0"/>
              </a:spcBef>
              <a:spcAft>
                <a:spcPts val="0"/>
              </a:spcAft>
              <a:defRPr sz="1739" b="0">
                <a:solidFill>
                  <a:srgbClr val="18394A"/>
                </a:solidFill>
                <a:latin typeface="Noto Sans"/>
              </a:defRPr>
            </a:pPr>
            <a:r>
              <a:t>pero la operación fue rechazada. Otro proveedor liquida cuarenta y ocho tras una comisión de dos.</a:t>
            </a:r>
          </a:p>
          <a:p>
            <a:pPr>
              <a:lnSpc>
                <a:spcPts val="2400"/>
              </a:lnSpc>
              <a:spcBef>
                <a:spcPts val="0"/>
              </a:spcBef>
              <a:spcAft>
                <a:spcPts val="0"/>
              </a:spcAft>
              <a:defRPr sz="1739" b="0">
                <a:solidFill>
                  <a:srgbClr val="18394A"/>
                </a:solidFill>
                <a:latin typeface="Noto Sans"/>
              </a:defRPr>
            </a:pPr>
            <a:r>
              <a:t>El comercio debe comprobar estados, evitar despachar el pedido rechazado y explicar la diferencia</a:t>
            </a:r>
          </a:p>
          <a:p>
            <a:pPr>
              <a:lnSpc>
                <a:spcPts val="2400"/>
              </a:lnSpc>
              <a:spcBef>
                <a:spcPts val="0"/>
              </a:spcBef>
              <a:spcAft>
                <a:spcPts val="0"/>
              </a:spcAft>
              <a:defRPr sz="1739" b="0">
                <a:solidFill>
                  <a:srgbClr val="18394A"/>
                </a:solidFill>
                <a:latin typeface="Noto Sans"/>
              </a:defRPr>
            </a:pPr>
            <a:r>
              <a:t>de la liquidación válida. Además, la confirmación de compra debe distinguirse de la factura que</a:t>
            </a:r>
          </a:p>
          <a:p>
            <a:pPr>
              <a:lnSpc>
                <a:spcPts val="2400"/>
              </a:lnSpc>
              <a:spcBef>
                <a:spcPts val="0"/>
              </a:spcBef>
              <a:spcAft>
                <a:spcPts val="0"/>
              </a:spcAft>
              <a:defRPr sz="1739" b="0">
                <a:solidFill>
                  <a:srgbClr val="18394A"/>
                </a:solidFill>
                <a:latin typeface="Noto Sans"/>
              </a:defRPr>
            </a:pPr>
            <a:r>
              <a:t>cumpla los requisitos aplicables.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evidencia usarías para confirmar cada pago y cómo registrarías los dos dólares de diferencia?</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Documentos electrónicos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confirmación de pedido, un comprobante de pago y una factura electrónica cumplen</a:t>
            </a:r>
          </a:p>
          <a:p>
            <a:pPr>
              <a:lnSpc>
                <a:spcPts val="2580"/>
              </a:lnSpc>
              <a:spcBef>
                <a:spcPts val="0"/>
              </a:spcBef>
              <a:spcAft>
                <a:spcPts val="0"/>
              </a:spcAft>
              <a:defRPr sz="1859" b="0">
                <a:solidFill>
                  <a:srgbClr val="18394A"/>
                </a:solidFill>
                <a:latin typeface="Noto Sans"/>
              </a:defRPr>
            </a:pPr>
            <a:r>
              <a:t>funciones diferentes. En Ecuador, la emisión de comprobantes electrónicos debe seguir las</a:t>
            </a:r>
          </a:p>
          <a:p>
            <a:pPr>
              <a:lnSpc>
                <a:spcPts val="2580"/>
              </a:lnSpc>
              <a:spcBef>
                <a:spcPts val="0"/>
              </a:spcBef>
              <a:spcAft>
                <a:spcPts val="0"/>
              </a:spcAft>
              <a:defRPr sz="1859" b="0">
                <a:solidFill>
                  <a:srgbClr val="18394A"/>
                </a:solidFill>
                <a:latin typeface="Noto Sans"/>
              </a:defRPr>
            </a:pPr>
            <a:r>
              <a:t>reglas vigentes del SRI y el esquema aplicable. Antes de implantar, consulta documentación</a:t>
            </a:r>
          </a:p>
          <a:p>
            <a:pPr>
              <a:lnSpc>
                <a:spcPts val="2580"/>
              </a:lnSpc>
              <a:spcBef>
                <a:spcPts val="0"/>
              </a:spcBef>
              <a:spcAft>
                <a:spcPts val="0"/>
              </a:spcAft>
              <a:defRPr sz="1859" b="0">
                <a:solidFill>
                  <a:srgbClr val="18394A"/>
                </a:solidFill>
                <a:latin typeface="Noto Sans"/>
              </a:defRPr>
            </a:pPr>
            <a:r>
              <a:t>oficial sobre emisión, firma, autorización, entrega y conservación. Un archivo PDF con un</a:t>
            </a:r>
          </a:p>
          <a:p>
            <a:pPr>
              <a:lnSpc>
                <a:spcPts val="2580"/>
              </a:lnSpc>
              <a:spcBef>
                <a:spcPts val="0"/>
              </a:spcBef>
              <a:spcAft>
                <a:spcPts val="0"/>
              </a:spcAft>
              <a:defRPr sz="1859" b="0">
                <a:solidFill>
                  <a:srgbClr val="18394A"/>
                </a:solidFill>
                <a:latin typeface="Noto Sans"/>
              </a:defRPr>
            </a:pPr>
            <a:r>
              <a:t>logotipo no garantiza validez tributaria ni sustituye esos requisitos.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Seguridad y minimización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Reduce la exposición de información de pago usando proveedores y mecanismos</a:t>
            </a:r>
          </a:p>
          <a:p>
            <a:pPr>
              <a:lnSpc>
                <a:spcPts val="2580"/>
              </a:lnSpc>
              <a:spcBef>
                <a:spcPts val="0"/>
              </a:spcBef>
              <a:spcAft>
                <a:spcPts val="0"/>
              </a:spcAft>
              <a:defRPr sz="1859" b="0">
                <a:solidFill>
                  <a:srgbClr val="18394A"/>
                </a:solidFill>
                <a:latin typeface="Noto Sans"/>
              </a:defRPr>
            </a:pPr>
            <a:r>
              <a:t>adecuados, como páginas alojadas o tokenización cuando corresponda. No almacenes</a:t>
            </a:r>
          </a:p>
          <a:p>
            <a:pPr>
              <a:lnSpc>
                <a:spcPts val="2580"/>
              </a:lnSpc>
              <a:spcBef>
                <a:spcPts val="0"/>
              </a:spcBef>
              <a:spcAft>
                <a:spcPts val="0"/>
              </a:spcAft>
              <a:defRPr sz="1859" b="0">
                <a:solidFill>
                  <a:srgbClr val="18394A"/>
                </a:solidFill>
                <a:latin typeface="Noto Sans"/>
              </a:defRPr>
            </a:pPr>
            <a:r>
              <a:t>datos sensibles por comodidad. Aplica control de acceso, registros de operación y respuesta</a:t>
            </a:r>
          </a:p>
          <a:p>
            <a:pPr>
              <a:lnSpc>
                <a:spcPts val="2580"/>
              </a:lnSpc>
              <a:spcBef>
                <a:spcPts val="0"/>
              </a:spcBef>
              <a:spcAft>
                <a:spcPts val="0"/>
              </a:spcAft>
              <a:defRPr sz="1859" b="0">
                <a:solidFill>
                  <a:srgbClr val="18394A"/>
                </a:solidFill>
                <a:latin typeface="Noto Sans"/>
              </a:defRPr>
            </a:pPr>
            <a:r>
              <a:t>a incidentes. Las obligaciones de seguridad y cumplimiento dependen del papel del negocio</a:t>
            </a:r>
          </a:p>
          <a:p>
            <a:pPr>
              <a:lnSpc>
                <a:spcPts val="2580"/>
              </a:lnSpc>
              <a:spcBef>
                <a:spcPts val="0"/>
              </a:spcBef>
              <a:spcAft>
                <a:spcPts val="0"/>
              </a:spcAft>
              <a:defRPr sz="1859" b="0">
                <a:solidFill>
                  <a:srgbClr val="18394A"/>
                </a:solidFill>
                <a:latin typeface="Noto Sans"/>
              </a:defRPr>
            </a:pPr>
            <a:r>
              <a:t>y del medio de pago; contratar un proveedor no elimina toda responsabilidad propia.</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NEGOCIOS ELECTRÓNICOS · U3 · 3.4</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Representa los estados de un pago con rechazo, reintento y devolución.</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 registro que conecte pedido, pago, liquidación y diferencias.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Explica las diferencias entre confirmación, comprobante y factura electrónica.</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controles de autenticidad, minimización y acceso; consulta las reglas oficiales vigentes.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NE_U3 · Sección 3.4 · Sistemas de pago y documentos electrónicos">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NEGOCIOS ELECTRÓNICOS · U3 · 3.4</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Distingue estados, documentos y liquidación.</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Concilia montos e identificadores.</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Consulta requisitos y minimiza exposición.</a:t>
            </a:r>
          </a:p>
        </p:txBody>
      </p:sp>
      <p:sp>
        <p:nvSpPr>
          <p:cNvPr id="12" name="TextBox 11"/>
          <p:cNvSpPr txBox="1"/>
          <p:nvPr/>
        </p:nvSpPr>
        <p:spPr>
          <a:xfrm>
            <a:off x="685800" y="4777740"/>
            <a:ext cx="10744200" cy="83820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SRI, Facturación electrónica:</a:t>
            </a:r>
          </a:p>
          <a:p>
            <a:pPr>
              <a:lnSpc>
                <a:spcPts val="1920"/>
              </a:lnSpc>
              <a:spcBef>
                <a:spcPts val="0"/>
              </a:spcBef>
              <a:spcAft>
                <a:spcPts val="0"/>
              </a:spcAft>
              <a:defRPr sz="1380" b="0">
                <a:solidFill>
                  <a:srgbClr val="D6E4E8"/>
                </a:solidFill>
                <a:latin typeface="Noto Sans"/>
              </a:defRPr>
            </a:pPr>
            <a:r>
              <a:t>https://www.sri.gob.ec/facturacion-electronica . PCI Security Standards Council: https://www.pcisecuritystandards.org/ . Requisitos</a:t>
            </a:r>
          </a:p>
          <a:p>
            <a:pPr>
              <a:lnSpc>
                <a:spcPts val="1920"/>
              </a:lnSpc>
              <a:spcBef>
                <a:spcPts val="0"/>
              </a:spcBef>
              <a:spcAft>
                <a:spcPts val="0"/>
              </a:spcAft>
              <a:defRPr sz="1380" b="0">
                <a:solidFill>
                  <a:srgbClr val="D6E4E8"/>
                </a:solidFill>
                <a:latin typeface="Noto Sans"/>
              </a:defRPr>
            </a:pPr>
            <a:r>
              <a:t>específicos sujetos a la versión vigente.</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3. Sistemas para Mypes y Pymes y valor financiero de los sistemas electrónicos</dc:title>
  <dc:subject>Negocios Electrónicos · 3.1 Diferentes sistemas para Mypes y Pymes · 3.2 Rendimiento financiero de los negocios electrónicos · 3.3 Integraciones rentables de software y hardware · 3.4 Sistemas de pago y documentos electrónicos</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