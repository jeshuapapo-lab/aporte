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Electrónicos. Unidad 4: Sistemas para negocios globales y negocios móviles. Se conservan íntegros los contenidos de las secciones del sílabo.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Electrónicos. Unidad 4: Sistemas para negocios globales y negocios móviles. Se conservan íntegros los contenidos de las secciones del sílabo.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4: Sistemas para negocios globales y negocios móviles</a:t>
            </a:r>
          </a:p>
          <a:p>
            <a:r>
              <a:t>Sección 4.1: Internacionalización de los negocios electrónicos</a:t>
            </a:r>
          </a:p>
          <a:p/>
          <a:p>
            <a:r>
              <a:t>Hoy estudiaremos internacionalización de los negocios electrónicos. El propósito es evaluar la entrada de un negocio electrónico a otro mercado considerando demanda, adaptación y operación transfronteriza. Este contenido forma parte de negocios electrónicos. Trabajaremos con conceptos y un caso ficticio para tomar decisiones justificadas.</a:t>
            </a:r>
          </a:p>
          <a:p/>
          <a:p>
            <a:r>
              <a:t>Fuente curricular: Negocios Electrónicos, 4.1, UPS 2026–2027. Referencia: OECD (2016), Consumer Protection in E-commerce. WTO: https://www.wto.org/ . Revisar requisitos oficiales del producto y destino antes de operar.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4: Sistemas para negocios globales y negocios móviles</a:t>
            </a:r>
          </a:p>
          <a:p>
            <a:r>
              <a:t>Sección 4.1: Internacionalización de los negocios electrónicos</a:t>
            </a:r>
          </a:p>
          <a:p/>
          <a:p>
            <a:r>
              <a:t>Antes de proponer una solución, considera esta pregunta: ¿Qué muestra la diferencia de siete dólares y qué falta conocer antes de declarar rentable la expansión? Al terminar deberás explicar tu decisión, indicar cómo la comprobarías y reconocer los límites de la evidencia utilizada.</a:t>
            </a:r>
          </a:p>
          <a:p/>
          <a:p>
            <a:r>
              <a:t>Fuente curricular: Negocios Electrónicos, 4.1, UPS 2026–2027. Referencia: OECD (2016), Consumer Protection in E-commerce. WTO: https://www.wto.org/ . Revisar requisitos oficiales del producto y destino antes de operar.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4: Sistemas para negocios globales y negocios móviles</a:t>
            </a:r>
          </a:p>
          <a:p>
            <a:r>
              <a:t>Sección 4.1: Internacionalización de los negocios electrónicos</a:t>
            </a:r>
          </a:p>
          <a:p/>
          <a:p>
            <a:r>
              <a:t>Internacionalizar un negocio electrónico consiste en atender mercados de otros países con una propuesta y una operación viables. Traducir el sitio es solo una parte. Investiga necesidades, alternativas existentes, hábitos de compra y barreras de acceso. La demanda observada en el mercado local no demuestra que la misma oferta, precio o comunicación funcionen en otro contexto.</a:t>
            </a:r>
          </a:p>
          <a:p/>
          <a:p>
            <a:r>
              <a:t>Fuente curricular: Negocios Electrónicos, 4.1, UPS 2026–2027. Referencia: OECD (2016), Consumer Protection in E-commerce. WTO: https://www.wto.org/ . Revisar requisitos oficiales del producto y destino antes de operar.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4: Sistemas para negocios globales y negocios móviles</a:t>
            </a:r>
          </a:p>
          <a:p>
            <a:r>
              <a:t>Sección 4.1: Internacionalización de los negocios electrónicos</a:t>
            </a:r>
          </a:p>
          <a:p/>
          <a:p>
            <a:r>
              <a:t>Adapta lenguaje, moneda, formatos y explicaciones sin prometer condiciones que la operación no puede cumplir. Considera medios de pago disponibles y soporte en horarios pertinentes. La localización requiere comprobar comprensión y expectativas del público destino. Una traducción literal puede producir ambigüedades, y mostrar un precio convertido no resuelve por sí solo impuestos, comisiones o costos de entrega.</a:t>
            </a:r>
          </a:p>
          <a:p/>
          <a:p>
            <a:r>
              <a:t>Fuente curricular: Negocios Electrónicos, 4.1, UPS 2026–2027. Referencia: OECD (2016), Consumer Protection in E-commerce. WTO: https://www.wto.org/ . Revisar requisitos oficiales del producto y destino antes de operar.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4: Sistemas para negocios globales y negocios móviles</a:t>
            </a:r>
          </a:p>
          <a:p>
            <a:r>
              <a:t>Sección 4.1: Internacionalización de los negocios electrónicos</a:t>
            </a:r>
          </a:p>
          <a:p/>
          <a:p>
            <a:r>
              <a:t>Compara destinos según demanda y restricciones. Adapta la oferta y comprueba que el público entiende condiciones y costo total. Prepara pagos, logística, requisitos y atención. Finalmente ejecuta un piloto con límites de volumen y criterios de continuidad; amplía solo si los resultados de margen y cumplimiento justifican la decisión.</a:t>
            </a:r>
          </a:p>
          <a:p/>
          <a:p>
            <a:r>
              <a:t>Fuente curricular: Negocios Electrónicos, 4.1, UPS 2026–2027. Referencia: OECD (2016), Consumer Protection in E-commerce. WTO: https://www.wto.org/ . Revisar requisitos oficiales del producto y destino antes de operar.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4: Sistemas para negocios globales y negocios móviles</a:t>
            </a:r>
          </a:p>
          <a:p>
            <a:r>
              <a:t>Sección 4.1: Internacionalización de los negocios electrónicos</a:t>
            </a:r>
          </a:p>
          <a:p/>
          <a:p>
            <a:r>
              <a:t>Caso hipotético: Minga Cacao considera vender una caja en otro país por cuarenta dólares. El costo del producto es dieciocho, la logística doce y las comisiones tres, antes de publicidad, impuestos u otros gastos. Quedan siete dólares para cubrir esas partidas y resultado. Antes de lanzar, debe comprobar si el destino admite el producto, qué condiciones aplican y cómo resolver devoluciones.</a:t>
            </a:r>
          </a:p>
          <a:p/>
          <a:p>
            <a:r>
              <a:t>Fuente curricular: Negocios Electrónicos, 4.1, UPS 2026–2027. Referencia: OECD (2016), Consumer Protection in E-commerce. WTO: https://www.wto.org/ . Revisar requisitos oficiales del producto y destino antes de operar.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4: Sistemas para negocios globales y negocios móviles</a:t>
            </a:r>
          </a:p>
          <a:p>
            <a:r>
              <a:t>Sección 4.1: Internacionalización de los negocios electrónicos</a:t>
            </a:r>
          </a:p>
          <a:p/>
          <a:p>
            <a:r>
              <a:t>Define origen, destino, transporte, trazabilidad y tratamiento de devoluciones. Los requisitos aduaneros, tributarios, sanitarios o de etiquetado dependen del producto y los países involucrados. Consulta fuentes oficiales y asesoría competente antes de operar. Distingue el precio del producto del costo total que deberá asumir el comprador y aclara quién gestiona cada trámite y eventual incidencia.</a:t>
            </a:r>
          </a:p>
          <a:p/>
          <a:p>
            <a:r>
              <a:t>Fuente curricular: Negocios Electrónicos, 4.1, UPS 2026–2027. Referencia: OECD (2016), Consumer Protection in E-commerce. WTO: https://www.wto.org/ . Revisar requisitos oficiales del producto y destino antes de operar.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4: Sistemas para negocios globales y negocios móviles</a:t>
            </a:r>
          </a:p>
          <a:p>
            <a:r>
              <a:t>Sección 4.1: Internacionalización de los negocios electrónicos</a:t>
            </a:r>
          </a:p>
          <a:p/>
          <a:p>
            <a:r>
              <a:t>Selecciona un mercado y una oferta limitados para un piloto. Evalúa costo de adquisición, margen después de logística y comisiones, cumplimiento de plazos y consultas. Considera cambios de tipo de cambio y reglas aplicables. Crecer en visitas internacionales no demuestra rentabilidad ni capacidad de servicio; la expansión necesita evidencia sobre la operación completa y no únicamente sobre el alcance publicitario.</a:t>
            </a:r>
          </a:p>
          <a:p/>
          <a:p>
            <a:r>
              <a:t>Fuente curricular: Negocios Electrónicos, 4.1, UPS 2026–2027. Referencia: OECD (2016), Consumer Protection in E-commerce. WTO: https://www.wto.org/ . Revisar requisitos oficiales del producto y destino antes de operar.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4: Sistemas para negocios globales y negocios móviles</a:t>
            </a:r>
          </a:p>
          <a:p>
            <a:r>
              <a:t>Sección 4.1: Internacionalización de los negocios electrónicos</a:t>
            </a:r>
          </a:p>
          <a:p/>
          <a:p>
            <a:r>
              <a:t>Para aplicar lo aprendido, desarrolla la tarea editable. Compara dos destinos ficticios con demanda, competencia y restricciones explícitas. Después, calcula la contribución del caso y enumera los costos excluidos. Justifica tus decisiones con los conceptos de esta explicación y comprueba tus respuestas en la actividad interactiva.</a:t>
            </a:r>
          </a:p>
          <a:p/>
          <a:p>
            <a:r>
              <a:t>Fuente curricular: Negocios Electrónicos, 4.1, UPS 2026–2027. Referencia: OECD (2016), Consumer Protection in E-commerce. WTO: https://www.wto.org/ . Revisar requisitos oficiales del producto y destino antes de operar.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4: Sistemas para negocios globales y negocios móviles</a:t>
            </a:r>
          </a:p>
          <a:p>
            <a:r>
              <a:t>Sección 4.1: Internacionalización de los negocios electrónicos</a:t>
            </a:r>
          </a:p>
          <a:p/>
          <a:p>
            <a:r>
              <a:t>Conserva estas ideas. Elige mercados con evidencia. Localiza experiencia y operación. Prueba margen y cumplimiento antes de escalar. El caso y sus datos son ficticios. Revisa las fuentes indicadas en los materiales y continúa con la práctica para transferir estos criterios a otra situación.</a:t>
            </a:r>
          </a:p>
          <a:p/>
          <a:p>
            <a:r>
              <a:t>Fuente curricular: Negocios Electrónicos, 4.1, UPS 2026–2027. Referencia: OECD (2016), Consumer Protection in E-commerce. WTO: https://www.wto.org/ . Revisar requisitos oficiales del producto y destino antes de operar.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4: Sistemas para negocios globales y negocios móviles</a:t>
            </a:r>
          </a:p>
          <a:p>
            <a:r>
              <a:t>Sección 4.2: Aplicaciones para negocios móviles</a:t>
            </a:r>
          </a:p>
          <a:p/>
          <a:p>
            <a:r>
              <a:t>Hoy estudiaremos aplicaciones para negocios móviles. El propósito es diseñar una solución para negocios móviles según tareas, contexto de uso y capacidad de mantener una experiencia segura. Este contenido forma parte de negocios electrónicos. Trabajaremos con conceptos y un caso ficticio para tomar decisiones justificadas.</a:t>
            </a:r>
          </a:p>
          <a:p/>
          <a:p>
            <a:r>
              <a:t>Fuente curricular: Negocios Electrónicos, 4.2, UPS 2026–2027. Referencia: W3C (2023), WCAG 2.2: https://www.w3.org/TR/WCAG22/ . OWASP Mobile Application Security: https://mas.owasp.org/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4: Sistemas para negocios globales y negocios móviles</a:t>
            </a:r>
          </a:p>
          <a:p>
            <a:r>
              <a:t>Sección 4.2: Aplicaciones para negocios móviles</a:t>
            </a:r>
          </a:p>
          <a:p/>
          <a:p>
            <a:r>
              <a:t>Antes de proponer una solución, considera esta pregunta: ¿Qué permisos resultan innecesarios en el caso y qué tarea debería demostrar el piloto? Al terminar deberás explicar tu decisión, indicar cómo la comprobarías y reconocer los límites de la evidencia utilizada.</a:t>
            </a:r>
          </a:p>
          <a:p/>
          <a:p>
            <a:r>
              <a:t>Fuente curricular: Negocios Electrónicos, 4.2, UPS 2026–2027. Referencia: W3C (2023), WCAG 2.2: https://www.w3.org/TR/WCAG22/ . OWASP Mobile Application Security: https://mas.owasp.org/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4: Sistemas para negocios globales y negocios móviles</a:t>
            </a:r>
          </a:p>
          <a:p>
            <a:r>
              <a:t>Sección 4.2: Aplicaciones para negocios móviles</a:t>
            </a:r>
          </a:p>
          <a:p/>
          <a:p>
            <a:r>
              <a:t>Un negocio móvil atiende actividades que las personas realizan con dispositivos portátiles y conectividad variable. Considera tamaño de pantalla, interrupciones, uso táctil y tiempo disponible. No toda tarea de escritorio debe trasladarse sin cambios. Identifica una necesidad frecuente y simplifica el recorrido, preservando información suficiente para que la persona pueda tomar decisiones y corregir errores.</a:t>
            </a:r>
          </a:p>
          <a:p/>
          <a:p>
            <a:r>
              <a:t>Fuente curricular: Negocios Electrónicos, 4.2, UPS 2026–2027. Referencia: W3C (2023), WCAG 2.2: https://www.w3.org/TR/WCAG22/ . OWASP Mobile Application Security: https://mas.owasp.org/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4: Sistemas para negocios globales y negocios móviles</a:t>
            </a:r>
          </a:p>
          <a:p>
            <a:r>
              <a:t>Sección 4.2: Aplicaciones para negocios móviles</a:t>
            </a:r>
          </a:p>
          <a:p/>
          <a:p>
            <a:r>
              <a:t>Una web adaptable puede cubrir muchos recorridos sin instalación. Una aplicación nativa puede aprovechar capacidades del dispositivo bajo condiciones y permisos específicos. Una aplicación web progresiva puede incorporar algunas capacidades según navegador y plataforma. Compara acceso, mantenimiento, distribución y necesidades reales; instalar una aplicación no es un objetivo de negocio por sí mismo.</a:t>
            </a:r>
          </a:p>
          <a:p/>
          <a:p>
            <a:r>
              <a:t>Fuente curricular: Negocios Electrónicos, 4.2, UPS 2026–2027. Referencia: W3C (2023), WCAG 2.2: https://www.w3.org/TR/WCAG22/ . OWASP Mobile Application Security: https://mas.owasp.org/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4: Sistemas para negocios globales y negocios móviles</a:t>
            </a:r>
          </a:p>
          <a:p>
            <a:r>
              <a:t>Sección 4.2: Aplicaciones para negocios móviles</a:t>
            </a:r>
          </a:p>
          <a:p/>
          <a:p>
            <a:r>
              <a:t>Selecciona una tarea frecuente, como repetir un pedido, y elimina pasos que no aporten. Decide qué capacidades móviles se necesitan y qué permisos son proporcionales. Después prueba interrupciones y cambios de conexión, verificando que el estado de la operación sea claro y que un reintento no produzca un segundo pedido.</a:t>
            </a:r>
          </a:p>
          <a:p/>
          <a:p>
            <a:r>
              <a:t>Fuente curricular: Negocios Electrónicos, 4.2, UPS 2026–2027. Referencia: W3C (2023), WCAG 2.2: https://www.w3.org/TR/WCAG22/ . OWASP Mobile Application Security: https://mas.owasp.org/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4: Sistemas para negocios globales y negocios móviles</a:t>
            </a:r>
          </a:p>
          <a:p>
            <a:r>
              <a:t>Sección 4.2: Aplicaciones para negocios móviles</a:t>
            </a:r>
          </a:p>
          <a:p/>
          <a:p>
            <a:r>
              <a:t>Caso ficticio: clientes de Minga Cacao quieren repetir compras desde el teléfono. El negocio propone una aplicación que exige ubicación y acceso a contactos antes de mostrar el catálogo. Una alternativa de web adaptable permite explorar sin esos permisos y pedir los datos de entrega solo cuando corresponde. El piloto debe comprobar el pedido y su recuperación tras una caída de conexión, no únicamente descargas.</a:t>
            </a:r>
          </a:p>
          <a:p/>
          <a:p>
            <a:r>
              <a:t>Fuente curricular: Negocios Electrónicos, 4.2, UPS 2026–2027. Referencia: W3C (2023), WCAG 2.2: https://www.w3.org/TR/WCAG22/ . OWASP Mobile Application Security: https://mas.owasp.org/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4: Sistemas para negocios globales y negocios móviles</a:t>
            </a:r>
          </a:p>
          <a:p>
            <a:r>
              <a:t>Sección 4.2: Aplicaciones para negocios móviles</a:t>
            </a:r>
          </a:p>
          <a:p/>
          <a:p>
            <a:r>
              <a:t>Solicita ubicación, cámara o notificaciones solo cuando la función lo necesite y explica la finalidad. Define qué ocurre si la persona no concede un permiso. Minimiza datos, protege sesiones y evita exponer información en notificaciones. El dispositivo puede perderse o compartirse, por lo que autenticación y cierre de sesión deben formar parte del recorrido y no añadirse únicamente al final.</a:t>
            </a:r>
          </a:p>
          <a:p/>
          <a:p>
            <a:r>
              <a:t>Fuente curricular: Negocios Electrónicos, 4.2, UPS 2026–2027. Referencia: W3C (2023), WCAG 2.2: https://www.w3.org/TR/WCAG22/ . OWASP Mobile Application Security: https://mas.owasp.org/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4: Sistemas para negocios globales y negocios móviles</a:t>
            </a:r>
          </a:p>
          <a:p>
            <a:r>
              <a:t>Sección 4.2: Aplicaciones para negocios móviles</a:t>
            </a:r>
          </a:p>
          <a:p/>
          <a:p>
            <a:r>
              <a:t>Informa si una operación está pendiente, falló o fue confirmada. La repetición tras una caída no debe duplicar compras. Si se permite trabajar sin conexión, define qué datos pueden consultarse y cómo se sincronizan cambios. Evalúa tareas completadas, errores y tiempos en condiciones representativas; una demostración con conexión excelente no refleja todos los contextos móviles.</a:t>
            </a:r>
          </a:p>
          <a:p/>
          <a:p>
            <a:r>
              <a:t>Fuente curricular: Negocios Electrónicos, 4.2, UPS 2026–2027. Referencia: W3C (2023), WCAG 2.2: https://www.w3.org/TR/WCAG22/ . OWASP Mobile Application Security: https://mas.owasp.org/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4: Sistemas para negocios globales y negocios móviles</a:t>
            </a:r>
          </a:p>
          <a:p>
            <a:r>
              <a:t>Sección 4.2: Aplicaciones para negocios móviles</a:t>
            </a:r>
          </a:p>
          <a:p/>
          <a:p>
            <a:r>
              <a:t>Para aplicar lo aprendido, desarrolla la tarea editable. Define una tarea móvil y las restricciones de su contexto de uso. Después, diseña la solicitud de permisos y la alternativa cuando se rechazan. Justifica tus decisiones con los conceptos de esta explicación y comprueba tus respuestas en la actividad interactiva.</a:t>
            </a:r>
          </a:p>
          <a:p/>
          <a:p>
            <a:r>
              <a:t>Fuente curricular: Negocios Electrónicos, 4.2, UPS 2026–2027. Referencia: W3C (2023), WCAG 2.2: https://www.w3.org/TR/WCAG22/ . OWASP Mobile Application Security: https://mas.owasp.org/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Negocios Electrónicos · Unidad 4: Sistemas para negocios globales y negocios móviles</a:t>
            </a:r>
          </a:p>
          <a:p>
            <a:r>
              <a:t>Sección 4.2: Aplicaciones para negocios móviles</a:t>
            </a:r>
          </a:p>
          <a:p/>
          <a:p>
            <a:r>
              <a:t>Conserva estas ideas. Diseña para una tarea y contexto reales. Pide permisos proporcionales. Haz visibles los estados y controla reintentos. El caso y sus datos son ficticios. Revisa las fuentes indicadas en los materiales y continúa con la práctica para transferir estos criterios a otra situación.</a:t>
            </a:r>
          </a:p>
          <a:p/>
          <a:p>
            <a:r>
              <a:t>Fuente curricular: Negocios Electrónicos, 4.2, UPS 2026–2027. Referencia: W3C (2023), WCAG 2.2: https://www.w3.org/TR/WCAG22/ . OWASP Mobile Application Security: https://mas.owasp.org/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19100"/>
            <a:ext cx="10820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E7AE53"/>
                </a:solidFill>
                <a:latin typeface="Noto Sans"/>
              </a:defRPr>
            </a:pPr>
            <a:r>
              <a:t>NEGOCIOS ELECTRÓNICOS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371600"/>
            <a:ext cx="1089660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280" b="1">
                <a:solidFill>
                  <a:srgbClr val="D6E4E8"/>
                </a:solidFill>
                <a:latin typeface="Noto Sans"/>
              </a:defRPr>
            </a:pPr>
            <a:r>
              <a:t>Unidad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019300"/>
            <a:ext cx="1082040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FFFFFF"/>
                </a:solidFill>
                <a:latin typeface="Noto Sans"/>
              </a:defRPr>
            </a:pPr>
            <a:r>
              <a:t>Sistemas para negocios globales y negocios</a:t>
            </a:r>
          </a:p>
          <a:p>
            <a:pPr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FFFFFF"/>
                </a:solidFill>
                <a:latin typeface="Noto Sans"/>
              </a:defRPr>
            </a:pPr>
            <a:r>
              <a:t>móviles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4953000"/>
            <a:ext cx="10668000" cy="441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Secciones 4.1 · 4.2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19100"/>
            <a:ext cx="10820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E7AE53"/>
                </a:solidFill>
                <a:latin typeface="Noto Sans"/>
              </a:defRPr>
            </a:pPr>
            <a:r>
              <a:t>NEGOCIOS ELECTRÓNICOS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57300"/>
            <a:ext cx="10820400" cy="5791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3719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Noto Sans"/>
              </a:defRPr>
            </a:pPr>
            <a:r>
              <a:t>Secciones y contenidos de la unidad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62200"/>
            <a:ext cx="10744200" cy="441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FFFFFF"/>
                </a:solidFill>
                <a:latin typeface="Noto Sans"/>
              </a:defRPr>
            </a:pPr>
            <a:r>
              <a:t>4.1 · Internacionalización de los negocios electrónicos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14700"/>
            <a:ext cx="10744200" cy="441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FFFFFF"/>
                </a:solidFill>
                <a:latin typeface="Noto Sans"/>
              </a:defRPr>
            </a:pPr>
            <a:r>
              <a:t>4.2 · Aplicaciones para negocios móviles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4 · Sección 4.1 · Internacionalización de los negocios electrónicos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NEGOCIOS ELECTRÓNICOS · U4 · 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03960"/>
            <a:ext cx="10744200" cy="1447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Internacionalización de los negocios</a:t>
            </a:r>
          </a:p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electrónicos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750820"/>
            <a:ext cx="9982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Evaluar la entrada de un negocio electrónico a otro mercado considerando demanda,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adaptación y operación transfronteriza.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7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72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Aplicar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53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Comprobar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4 · Sección 4.1 · Internacionalización de los negocios electrónicos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Una decisión que podrás justificar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308860"/>
            <a:ext cx="10896600" cy="134112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484120"/>
            <a:ext cx="104394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Evaluar la entrada de un negocio electrónico a otro mercado considerando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demanda, adaptación y operación transfronteriza.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1460"/>
            <a:ext cx="10668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087E8B"/>
                </a:solidFill>
                <a:latin typeface="Noto Sans"/>
              </a:defRPr>
            </a:pPr>
            <a:r>
              <a:t>Pregunta de 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88180"/>
            <a:ext cx="106680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¿Qué muestra la diferencia de siete dólares y qué falta conocer antes de declarar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rentable la expansión?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4 · Sección 4.1 · Internacionalización de los negocios electrónicos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Elegir un mercado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Internacionalizar un negocio electrónico consiste en atender mercados de otros países con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una propuesta y una operación viables. Traducir el sitio es solo una parte. Investiga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necesidades, alternativas existentes, hábitos de compra y barreras de acceso. La demanda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observada en el mercado local no demuestra que la misma oferta, precio o comunicación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funcionen en otro contexto.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4 · Sección 4.1 · Internacionalización de los negocios electrónicos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Localización de la experiencia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Adapta lenguaje, moneda, formatos y explicaciones sin prometer condiciones que la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operación no puede cumplir. Considera medios de pago disponibles y soporte en horarios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pertinentes. La localización requiere comprobar comprensión y expectativas del público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destino. Una traducción literal puede producir ambigüedades, y mostrar un precio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convertido no resuelve por sí solo impuestos, comisiones o costos de entrega.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4 · Sección 4.1 · Internacionalización de los negocios electrónicos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Del concepto a la acción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Elegir destino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8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80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80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Adaptar oferta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12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12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Preparar operación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92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44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44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Probar escala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3962399"/>
            <a:ext cx="10881360" cy="1744980"/>
          </a:xfrm>
          <a:prstGeom prst="roundRect">
            <a:avLst>
              <a:gd name="adj" fmla="val 78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4175760"/>
            <a:ext cx="1042416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Compara destinos según demanda y restricciones. Adapta la oferta y comprueba que el público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entiende condiciones y costo total. Prepara pagos, logística, requisitos y atención. Finalmente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ejecuta un piloto con límites de volumen y criterios de continuidad; amplía solo si los resultados de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margen y cumplimiento justifican la decisión.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4 · Sección 4.1 · Internacionalización de los negocios electrónicos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Caso aplicado · datos ficticios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70760"/>
            <a:ext cx="10881360" cy="2301240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" y="2484120"/>
            <a:ext cx="1039368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Caso hipotético: Minga Cacao considera vender una caja en otro país por cuarenta dólares. El costo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del producto es dieciocho, la logística doce y las comisiones tres, antes de publicidad, impuestos u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otros gastos. Quedan siete dólares para cubrir esas partidas y resultado. Antes de lanzar, debe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comprobar si el destino admite el producto, qué condiciones aplican y cómo resolver devoluciones.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4785360"/>
            <a:ext cx="10881360" cy="922020"/>
          </a:xfrm>
          <a:prstGeom prst="roundRect">
            <a:avLst>
              <a:gd name="adj" fmla="val 12396"/>
            </a:avLst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580" y="4945380"/>
            <a:ext cx="10439400" cy="6705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¿Qué muestra la diferencia de siete dólares y qué falta conocer antes de declarar rentable la</a:t>
            </a:r>
          </a:p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expansión?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4 · Sección 4.1 · Internacionalización de los negocios electrónicos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Logística y requisitos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Define origen, destino, transporte, trazabilidad y tratamiento de devoluciones. Los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requisitos aduaneros, tributarios, sanitarios o de etiquetado dependen del producto y los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países involucrados. Consulta fuentes oficiales y asesoría competente antes de operar.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Distingue el precio del producto del costo total que deberá asumir el comprador y aclara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quién gestiona cada trámite y eventual incidencia.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4 · Sección 4.1 · Internacionalización de los negocios electrónicos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Experimentar y controlar riesgo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Selecciona un mercado y una oferta limitados para un piloto. Evalúa costo de adquisición,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margen después de logística y comisiones, cumplimiento de plazos y consultas. Considera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cambios de tipo de cambio y reglas aplicables. Crecer en visitas internacionales no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demuestra rentabilidad ni capacidad de servicio; la expansión necesita evidencia sobre la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operación completa y no únicamente sobre el alcance publicitario.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4 · Sección 4.1 · Internacionalización de los negocios electrónicos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Tu actividad de transferencia</a:t>
            </a:r>
          </a:p>
        </p:txBody>
      </p:sp>
      <p:sp>
        <p:nvSpPr>
          <p:cNvPr id="5" name="Oval 4"/>
          <p:cNvSpPr/>
          <p:nvPr/>
        </p:nvSpPr>
        <p:spPr>
          <a:xfrm>
            <a:off x="609600" y="230124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235458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27076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Compara dos destinos ficticios con demanda, competencia y restricciones explícitas.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315468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320802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12420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Propón adaptaciones de idioma, moneda, pago y atención con pruebas de comprensión.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400812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406146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977639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Calcula la contribución del caso y enumera los costos excluidos.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486156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491490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483108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Diseña un piloto con criterios de margen, entrega, devolución y decisión de continuidad.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4 · Sección 4.1 · Internacionalización de los negocios electrónicos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NEGOCIOS ELECTRÓNICOS · U4 · 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FFFFFF"/>
                </a:solidFill>
                <a:latin typeface="Noto Sans"/>
              </a:defRPr>
            </a:pPr>
            <a:r>
              <a:t>Síntesis y referencias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17170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30886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Elige mercados con evidencia.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96418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310134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Localiza experiencia y operación.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75666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89382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Prueba margen y cumplimiento antes de escalar.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77740"/>
            <a:ext cx="107442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Base curricular: sílabo UPS adjunto, página 1. Referencia de ampliación: OECD (2016), Consumer Protection in E-commerce. WTO:</a:t>
            </a:r>
          </a:p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https://www.wto.org/ . Revisar requisitos oficiales del producto y destino antes de operar.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4 · Sección 4.2 · Aplicaciones para negocios móviles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NEGOCIOS ELECTRÓNICOS · U4 · 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03960"/>
            <a:ext cx="10744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Aplicaciones para negocios móviles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080260"/>
            <a:ext cx="9982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Diseñar una solución para negocios móviles según tareas, contexto de uso y capacidad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de mantener una experiencia segura.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7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72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Aplicar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53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Comprobar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4 · Sección 4.2 · Aplicaciones para negocios móviles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Una decisión que podrás justificar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308860"/>
            <a:ext cx="10896600" cy="134112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484120"/>
            <a:ext cx="104394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Diseñar una solución para negocios móviles según tareas, contexto de uso y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capacidad de mantener una experiencia segura.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1460"/>
            <a:ext cx="10668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087E8B"/>
                </a:solidFill>
                <a:latin typeface="Noto Sans"/>
              </a:defRPr>
            </a:pPr>
            <a:r>
              <a:t>Pregunta de 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88180"/>
            <a:ext cx="106680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¿Qué permisos resultan innecesarios en el caso y qué tarea debería demostrar el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piloto?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4 · Sección 4.2 · Aplicaciones para negocios móviles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Contexto móvil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 negocio móvil atiende actividades que las personas realizan con dispositivos portátiles y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conectividad variable. Considera tamaño de pantalla, interrupciones, uso táctil y tiempo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disponible. No toda tarea de escritorio debe trasladarse sin cambios. Identifica una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necesidad frecuente y simplifica el recorrido, preservando información suficiente para que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la persona pueda tomar decisiones y corregir errores.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4 · Sección 4.2 · Aplicaciones para negocios móviles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Elegir una solución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Una web adaptable puede cubrir muchos recorridos sin instalación. Una aplicación nativa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puede aprovechar capacidades del dispositivo bajo condiciones y permisos específicos. Una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aplicación web progresiva puede incorporar algunas capacidades según navegador y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plataforma. Compara acceso, mantenimiento, distribución y necesidades reales; instalar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una aplicación no es un objetivo de negocio por sí mismo.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4 · Sección 4.2 · Aplicaciones para negocios móviles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Del concepto a la acción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Elegir tarea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8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80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80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Reducir fricción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12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12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Gestionar permisos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92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44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44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Comprobar estados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3962399"/>
            <a:ext cx="10881360" cy="1744980"/>
          </a:xfrm>
          <a:prstGeom prst="roundRect">
            <a:avLst>
              <a:gd name="adj" fmla="val 78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4175760"/>
            <a:ext cx="1042416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Selecciona una tarea frecuente, como repetir un pedido, y elimina pasos que no aporten. Decide qué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capacidades móviles se necesitan y qué permisos son proporcionales. Después prueba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interrupciones y cambios de conexión, verificando que el estado de la operación sea claro y que un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reintento no produzca un segundo pedido.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4 · Sección 4.2 · Aplicaciones para negocios móviles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Caso aplicado · datos ficticios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70760"/>
            <a:ext cx="10881360" cy="2301240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" y="2484120"/>
            <a:ext cx="10393680" cy="1630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Caso ficticio: clientes de Minga Cacao quieren repetir compras desde el teléfono. El negocio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propone una aplicación que exige ubicación y acceso a contactos antes de mostrar el catálogo. Una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alternativa de web adaptable permite explorar sin esos permisos y pedir los datos de entrega solo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cuando corresponde. El piloto debe comprobar el pedido y su recuperación tras una caída de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conexión, no únicamente descargas.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4785360"/>
            <a:ext cx="10881360" cy="922020"/>
          </a:xfrm>
          <a:prstGeom prst="roundRect">
            <a:avLst>
              <a:gd name="adj" fmla="val 12396"/>
            </a:avLst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580" y="4945380"/>
            <a:ext cx="104394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¿Qué permisos resultan innecesarios en el caso y qué tarea debería demostrar el piloto?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4 · Sección 4.2 · Aplicaciones para negocios móviles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Permisos y datos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Solicita ubicación, cámara o notificaciones solo cuando la función lo necesite y explica la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finalidad. Define qué ocurre si la persona no concede un permiso. Minimiza datos, protege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sesiones y evita exponer información en notificaciones. El dispositivo puede perderse 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compartirse, por lo que autenticación y cierre de sesión deben formar parte del recorrido y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no añadirse únicamente al final.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4 · Sección 4.2 · Aplicaciones para negocios móviles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Conectividad y experiencia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Informa si una operación está pendiente, falló o fue confirmada. La repetición tras una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caída no debe duplicar compras. Si se permite trabajar sin conexión, define qué datos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pueden consultarse y cómo se sincronizan cambios. Evalúa tareas completadas, errores y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tiempos en condiciones representativas; una demostración con conexión excelente no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refleja todos los contextos móviles.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4 · Sección 4.2 · Aplicaciones para negocios móviles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Tu actividad de transferencia</a:t>
            </a:r>
          </a:p>
        </p:txBody>
      </p:sp>
      <p:sp>
        <p:nvSpPr>
          <p:cNvPr id="5" name="Oval 4"/>
          <p:cNvSpPr/>
          <p:nvPr/>
        </p:nvSpPr>
        <p:spPr>
          <a:xfrm>
            <a:off x="609600" y="230124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235458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27076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Define una tarea móvil y las restricciones de su contexto de uso.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315468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320802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12420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Compara web adaptable, aplicación nativa y opción progresiva según requisitos.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400812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406146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977639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Diseña la solicitud de permisos y la alternativa cuando se rechazan.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486156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491490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483108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Especifica estados, pruebas de interrupción y un indicador de tarea completada.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_U4 · Sección 4.2 · Aplicaciones para negocios móviles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NEGOCIOS ELECTRÓNICOS · U4 · 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FFFFFF"/>
                </a:solidFill>
                <a:latin typeface="Noto Sans"/>
              </a:defRPr>
            </a:pPr>
            <a:r>
              <a:t>Síntesis y referencias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17170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30886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Diseña para una tarea y contexto reales.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96418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310134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Pide permisos proporcionales.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75666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89382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Haz visibles los estados y controla reintentos.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77740"/>
            <a:ext cx="107442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Base curricular: sílabo UPS adjunto, página 1. Referencia de ampliación: W3C (2023), WCAG 2.2: https://www.w3.org/TR/WCAG22/ .</a:t>
            </a:r>
          </a:p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OWASP Mobile Application Security: https://mas.owasp.org/ 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4. Sistemas para negocios globales y negocios móviles</dc:title>
  <dc:subject>Negocios Electrónicos · 4.1 Internacionalización de los negocios electrónicos · 4.2 Aplicaciones para negocios móviles</dc:subject>
  <dc:creator>Proyecto educativo · elaboración asistida por 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