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Unidad 1: Estructura del negocio electrónico.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Unidad 1: Estructura del negocio electrónico.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Imagina que entras a una tienda y nadie te explica qué vende ni por dónde empezar. En internet ocurre lo mismo. La página de inicio debe orientar. En este tema aprenderás a reconocer sus elementos, proponer una estructura clara y evaluar si ayuda a las personas a avanzar.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La página de inicio presenta la oferta y distribuye los recorridos del sitio. Debe responder tres preguntas: qué ofrece el negocio, para quién y qué puedo hacer ahora. No todas las visitas comienzan aquí. Una persona también puede llegar directamente a un producto desde un buscador. Por eso, el resto del sitio necesita orientación coherente.</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Una estructura útil comienza con identidad y navegación. El bloque principal comunica el beneficio y presenta una acción prioritaria. Después, el contenido de apoyo muestra la oferta y aporta señales de confianza verificables. El pie reúne contacto, ayuda e información legal. No es una plantilla obligatoria: el orden se adapta al propósito y a las necesidades del público.</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Pensemos en Minga Cacao, un negocio ficticio de Guayaquil. El mensaje calidad y pasión para ti no explica su oferta. Chocolate de cacao ecuatoriano para regalar resulta más concreto. Un botón que dice explorar regalos anticipa mejor el destino que haz clic aquí. Evita prometer entregas o certificaciones que el negocio no puede demostrar.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Diseña los recorridos según la intención. Quien ya sabe lo que busca necesita acceder fácilmente a las opciones. Quien está comparando necesita contexto y evidencia. Priorizar una acción no significa eliminar las demás. Significa ordenar su importancia para que la página no obligue a elegir entre demasiadas llamadas que compiten entre sí.</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Comprueba la página en una pantalla pequeña y con teclado. ¿Se lee sin esfuerzo? ¿Se distingue dónde está el foco? Las imágenes informativas necesitan texto alternativo útil. Como referencia, las pautas de accesibilidad web establecen contraste mínimo de cuatro coma cinco a uno para texto normal, con excepciones. La claridad visual debe acompañarse de una experiencia que distintas personas puedan utilizar.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Elige una acción vinculada al objetivo antes de medir. Si cincuenta de dos mil sesiones que vieron el inicio completan esa acción, la proporción es dos coma cinco por ciento. Los datos son hipotéticos. Define el período y el conjunto de sesiones. Un clic no equivale a una venta, y una mejora observada no demuestra por sí sola qué cambio la causó.</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Ahora aplica el criterio. El inicio ficticio de Minga Cacao dice bienvenidos, muestra seis botones iguales y no explica la oferta. Propón un mensaje concreto, dibuja una versión móvil y elige una acción principal. Justifica dos decisiones de accesibilidad y una medida de resultado. No necesitas programar: debes demostrar por qué tu propuesta orienta mejor.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Recuerda tres ideas: orientar, priorizar y comprobar. Una buena página de inicio explica la oferta, ordena los recorridos y se evalúa con criterios claros. Antes de publicarla, pide a otra persona que identifique qué ofrece el negocio y cuál sería su siguiente paso, sin recibir ayuda. Su respuesta te dará una primera pista para mejorar.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1.1: Las páginas de inicio</a:t>
            </a:r>
          </a:p>
          <a:p/>
          <a:p>
            <a:r>
              <a:t>Guion de narración:</a:t>
            </a:r>
          </a:p>
          <a:p>
            <a:r>
              <a:t>El tema corresponde al subtema uno punto uno del sílabo de Negocios Electrónicos. La referencia técnica de accesibilidad es la versión dos punto dos de las pautas del consorcio web. Continúa con la tarea y el cuestionario de práctica. Los ejemplos, el caso del negocio y sus cifras se elaboraron con fines educativos.</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Hoy estudiaremos división por departamentos y categorías. El propósito es diseñar una organización de catálogo que permita encontrar productos y distinguir categorías de filtros. Este contenido forma parte de negocios electrónicos. Trabajaremos con conceptos y un caso ficticio para tomar decisiones justificadas.</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Antes de proponer una solución, considera esta pregunta: ¿Cómo separarías las categorías y los filtros sin duplicar el mismo producto? Al terminar deberás explicar tu decisión, indicar cómo la comprobarías y reconocer los límites de la evidencia utilizada.</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Un departamento agrupa grandes familias de oferta; una categoría organiza productos con una característica o uso compartido. La estructura debe responder a cómo buscan las personas, no copiar automáticamente el organigrama interno. Antes de clasificar, identifica el vocabulario del público, el tamaño del catálogo y las tareas más frecuentes. Una taxonomía comprensible reduce decisiones innecesarias y ayuda a mantener el catálogo cuando crece.</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Una jerarquía establece relaciones entre niveles, como alimentos, chocolates y tabletas. Las facetas permiten limitar resultados por atributos, como precio, porcentaje de cacao o disponibilidad. No conviene convertir cada combinación de atributos en una categoría nueva. Un producto puede aparecer en varias rutas de navegación, pero debe conservar una identidad y una ficha consistentes para no duplicar inventario ni información.</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Comienza reuniendo búsquedas y tareas reales. Agrupa productos por semejanzas relevantes y asigna etiquetas comprensibles. Después comprueba si una persona puede encontrar un artículo concreto sin recibir instrucciones. Corrige los nombres o la estructura cuando el recorrido observado contradiga lo que el equipo esperaba.</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Caso ficticio: Minga Cacao vende tabletas, bombones, cajas para regalo y accesorios. Su menú separa premium, varios y línea dos; además, crea una categoría distinta para cada precio. Una cliente busca una caja sin azúcar para regalar y debe abrir cuatro secciones. Se propone organizar por tipo de producto y usar precio y composición como filtros, siempre con información verificable de ingredientes.</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El ordenamiento de tarjetas ayuda a explorar cómo las personas agruparían productos y qué nombres elegirían. Una prueba de árbol comprueba si pueden encontrar un artículo dentro de una estructura de etiquetas sin depender del diseño visual. Registra éxito, recorrido y dudas. Estas técnicas aportan evidencia sobre comprensión; una muestra pequeña sirve para detectar problemas, pero no representa automáticamente a todo el mercado.</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Define quién puede crear categorías, qué atributos son obligatorios y cómo se corrigen sinónimos o productos mal ubicados. Mantén nombres paralelos y evita etiquetas internas como varios o grupo B. La búsqueda y las rutas de navegación deben usar información coherente. Si cambias una estructura publicada, revisa enlaces y accesos existentes para evitar que una mejora de clasificación deje productos difíciles de encontrar.</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Para aplicar lo aprendido, desarrolla la tarea editable. Clasifica doce productos propuestos por ti y justifica dos niveles de categorías. Después, diseña una prueba de árbol con dos tareas y criterios observables de éxito. Justifica tus decisiones con los conceptos de esta explicación y comprueba tus respuestas en la actividad interactiva.</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1.2: División por departamentos y categorías</a:t>
            </a:r>
          </a:p>
          <a:p/>
          <a:p>
            <a:r>
              <a:t>Conserva estas ideas. Clasifica para las tareas del público. Separa jerarquías de filtros. Valida y mantén el catálogo. El caso y sus datos son ficticios. Revisa las fuentes indicadas en los materiales y continúa con la práctica para transferir estos criterios a otra situación.</a:t>
            </a:r>
          </a:p>
          <a:p/>
          <a:p>
            <a:r>
              <a:t>Fuente curricular: Negocios Electrónicos, 1.2, UPS 2026–2027. Referencia: Rosenfeld, Morville y Arango (2015), Information Architecture: For the Web and Beyond, 4.ª ed. O’Reilly.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Hoy estudiaremos páginas de ventas y servicios. El propósito es diseñar una página de venta o servicio que ayude a evaluar la oferta y anticipar las condiciones de contratación. Este contenido forma parte de negocios electrónicos. Trabajaremos con conceptos y un caso ficticio para tomar decisiones justificadas.</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Antes de proponer una solución, considera esta pregunta: ¿Qué información y qué acción corresponden a cada una de las dos ofertas? Al terminar deberás explicar tu decisión, indicar cómo la comprobarías y reconocer los límites de la evidencia utilizada.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Una página de venta explica una oferta concreta y permite valorar su adecuación antes de avanzar. Debe identificar el producto o servicio, el beneficio relevante y sus características verificables. La imagen acompaña la explicación, pero no sustituye dimensiones, alcance o condiciones. Diferencia la información esencial de los detalles complementarios y evita que una persona deba adivinar qué incluye el precio anunciado.</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En un producto resultan importantes las variantes, las medidas, la disponibilidad y las condiciones de entrega. En un servicio deben precisarse el alcance, las exclusiones, el procedimiento y los resultados que realmente pueden comprometerse. Un resultado esperado no equivale a una garantía ilimitada. El siguiente paso también cambia: comprar una unidad no requiere la misma información que solicitar una cotización o reservar una cita.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Primero la persona comprende qué se ofrece y qué necesidad atiende. Después compara características y condiciones, elige una variante o modalidad y confirma el siguiente paso. La página debe conservar la elección a lo largo del recorrido y comunicar con claridad si se está realizando una compra, una reserva o una solicitud sin compromiso.</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Caso ficticio: Minga Cacao publica una caja de doce bombones con precio de veinte dólares, pero no informa ingredientes ni costo de envío. También ofrece cajas personalizadas para empresas sin aclarar cantidades mínimas ni plazos de cotización. Una mejora separa la compra de la caja estándar de la solicitud de personalización, informa condiciones verificadas y evita prometer tiempos de entrega todavía no confirmados.</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La llamada a la acción debe describir qué sucederá, como añadir al carrito, solicitar cotización o reservar evaluación. Presenta los costos y las condiciones relevantes antes de asumir un compromiso. Evita escasez ficticia, reseñas inventadas o cargos que aparecen tarde. Una página persuasiva facilita una elección informada; no necesita presionar con afirmaciones que el negocio no puede demostrar.</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Verifica que la variante elegida conserve su precio y disponibilidad al avanzar. Revisa formularios, mensajes de error y confirmaciones. Si alguien solicita una cotización, debe saber qué ocurrirá después y qué información recibirá. Para evaluar la página, distingue visitas, acciones iniciadas y operaciones completadas; contar clics en comprar no permite afirmar cuántas ventas se cobraron efectivamente.</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Para aplicar lo aprendido, desarrolla la tarea editable. Redacta una ficha de producto con variantes y condiciones sin inventar certificaciones. Después, diseña mensajes de error y confirmación para una solicitud de cotización. Justifica tus decisiones con los conceptos de esta explicación y comprueba tus respuestas en la actividad interactiva.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1.3: Páginas de ventas y servicios</a:t>
            </a:r>
          </a:p>
          <a:p/>
          <a:p>
            <a:r>
              <a:t>Conserva estas ideas. Explica qué incluye la oferta. Usa una acción acorde con el compromiso. Comprueba condiciones y continuidad. El caso y sus datos son ficticios. Revisa las fuentes indicadas en los materiales y continúa con la práctica para transferir estos criterios a otra situación.</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Hoy estudiaremos aspectos institucionales. El propósito es definir información institucional verificable que aporte identidad, transparencia y canales de atención al negocio electrónico. Este contenido forma parte de negocios electrónicos. Trabajaremos con conceptos y un caso ficticio para tomar decisiones justificadas.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Antes de proponer una solución, considera esta pregunta: ¿Cuáles son las tres correcciones prioritarias y cómo verificarías que se mantienen vigentes? Al terminar deberás explicar tu decisión, indicar cómo la comprobarías y reconocer los límites de la evidencia utilizada.</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Los aspectos institucionales permiten reconocer quién está detrás del negocio y cómo puede contactarse. Incluyen identidad comercial, propósito, trayectoria comprobable y canales de atención. Su función es reducir incertidumbre sobre la organización, sin convertir una historia atractiva en prueba de calidad por sí sola. Una empresa debe mantener consistencia entre lo que afirma en su sitio y sus prácticas reales.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Las condiciones de compra, atención, cambios, devoluciones y tratamiento de datos deben ser localizables y expresarse con claridad. Una política copiada de otro país o negocio puede describir procedimientos que la organización no aplica. La redacción necesita revisión de responsables de operación y, cuando corresponda, asesoramiento jurídico competente. Este material educativo no determina obligaciones legales concretas para todos los negocios.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La información institucional comienza identificando al responsable del negocio. Después comunica condiciones de relación y abre canales que realmente atiendan consultas. El ciclo termina revisando vigencia, responsables y cambios. Conviene comprobar cada enlace de contacto y seguir una consulta de prueba hasta su respuesta, en lugar de limitarse a verificar que existe un formulario.</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Caso ficticio: Minga Cacao anuncia atención permanente, pero su equipo responde solo en horario laboral. Copió una política de devoluciones que menciona otra empresa y publica un sello sin respaldo. El rediseño institucional debe corregir las afirmaciones, publicar condiciones que la operación pueda cumplir y asignar a una persona responsable de consultas y revisiones. Antes de publicar datos personales de empleados debe comprobarse la autorización y necesidad.</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Muestra certificaciones, alianzas y testimonios solo cuando sean auténticos y exista autorización para publicarlos. Una dirección o un formulario no bastan si los mensajes no llegan a un responsable. Define tiempos de respuesta que puedan cumplirse y procedimientos para escalar reclamos. La información institucional debe ayudar a resolver dudas, no limitarse a decorar una sección de quiénes somos.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Solicita únicamente los datos necesarios para cada finalidad y explica su uso. Controla quién puede acceder a formularios y documentos, y establece revisiones periódicas de contactos y políticas. Si cambian las condiciones, registra versiones y fechas pertinentes. Una política desactualizada puede generar expectativas equivocadas incluso cuando el sitio funciona técnicamente y sus páginas cargan sin errores.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Para aplicar lo aprendido, desarrolla la tarea editable. Elabora una ficha institucional con identidad y tres evidencias verificables. Después, audita las tres afirmaciones del caso y establece qué evidencia exigirías. Justifica tus decisiones con los conceptos de esta explicación y comprueba tus respuestas en la actividad interactiva.</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1: Estructura del negocio electrónico</a:t>
            </a:r>
          </a:p>
          <a:p>
            <a:r>
              <a:t>Sección 1.4: Aspectos institucionales</a:t>
            </a:r>
          </a:p>
          <a:p/>
          <a:p>
            <a:r>
              <a:t>Conserva estas ideas. La identidad debe poder comprobarse. Las políticas deben corresponder a la operación. Atender y actualizar también genera confianza. El caso y sus datos son ficticios. Revisa las fuentes indicadas en los materiales y continúa con la práctica para transferir estos criterios a otra situación.</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NEGOCIOS ELECTRÓNICOS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1</a:t>
            </a:r>
          </a:p>
        </p:txBody>
      </p:sp>
      <p:sp>
        <p:nvSpPr>
          <p:cNvPr id="6" name="TextBox 5"/>
          <p:cNvSpPr txBox="1"/>
          <p:nvPr/>
        </p:nvSpPr>
        <p:spPr>
          <a:xfrm>
            <a:off x="609600" y="2019300"/>
            <a:ext cx="10820400" cy="7162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Estructura del negocio electrónico</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1.1 · 1.2 · 1.3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NEGOCIOS ELECTRÓNICOS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1.1 · Las páginas de inicio</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1.2 · División por departamentos y categorías</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1.3 · Páginas de ventas y servicios</a:t>
            </a:r>
          </a:p>
        </p:txBody>
      </p:sp>
      <p:sp>
        <p:nvSpPr>
          <p:cNvPr id="9" name="TextBox 8"/>
          <p:cNvSpPr txBox="1"/>
          <p:nvPr/>
        </p:nvSpPr>
        <p:spPr>
          <a:xfrm>
            <a:off x="685800" y="5219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1.4 · Aspectos institucionales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E7AE53"/>
                </a:solidFill>
                <a:latin typeface="Noto Sans"/>
              </a:defRPr>
            </a:pPr>
            <a:r>
              <a:t>COMPRENDER · DISEÑAR · EVALUAR</a:t>
            </a:r>
          </a:p>
        </p:txBody>
      </p:sp>
      <p:sp>
        <p:nvSpPr>
          <p:cNvPr id="5" name="TextBox 4"/>
          <p:cNvSpPr txBox="1"/>
          <p:nvPr/>
        </p:nvSpPr>
        <p:spPr>
          <a:xfrm>
            <a:off x="609600" y="1089660"/>
            <a:ext cx="7848600" cy="2087880"/>
          </a:xfrm>
          <a:prstGeom prst="rect">
            <a:avLst/>
          </a:prstGeom>
          <a:noFill/>
        </p:spPr>
        <p:txBody>
          <a:bodyPr wrap="none" lIns="0" tIns="0" rIns="0" bIns="0" anchor="t">
            <a:spAutoFit/>
          </a:bodyPr>
          <a:lstStyle/>
          <a:p>
            <a:pPr>
              <a:lnSpc>
                <a:spcPts val="7800"/>
              </a:lnSpc>
              <a:spcBef>
                <a:spcPts val="0"/>
              </a:spcBef>
              <a:spcAft>
                <a:spcPts val="0"/>
              </a:spcAft>
              <a:defRPr sz="5640" b="1">
                <a:solidFill>
                  <a:srgbClr val="FFFFFF"/>
                </a:solidFill>
                <a:latin typeface="Noto Sans"/>
              </a:defRPr>
            </a:pPr>
            <a:r>
              <a:t>Las páginas</a:t>
            </a:r>
          </a:p>
          <a:p>
            <a:pPr>
              <a:lnSpc>
                <a:spcPts val="7800"/>
              </a:lnSpc>
              <a:spcBef>
                <a:spcPts val="0"/>
              </a:spcBef>
              <a:spcAft>
                <a:spcPts val="0"/>
              </a:spcAft>
              <a:defRPr sz="5640" b="1">
                <a:solidFill>
                  <a:srgbClr val="FFFFFF"/>
                </a:solidFill>
                <a:latin typeface="Noto Sans"/>
              </a:defRPr>
            </a:pPr>
            <a:r>
              <a:t>de inicio</a:t>
            </a:r>
          </a:p>
        </p:txBody>
      </p:sp>
      <p:sp>
        <p:nvSpPr>
          <p:cNvPr id="6" name="TextBox 5"/>
          <p:cNvSpPr txBox="1"/>
          <p:nvPr/>
        </p:nvSpPr>
        <p:spPr>
          <a:xfrm>
            <a:off x="647700" y="3474720"/>
            <a:ext cx="6477000" cy="899160"/>
          </a:xfrm>
          <a:prstGeom prst="rect">
            <a:avLst/>
          </a:prstGeom>
          <a:noFill/>
        </p:spPr>
        <p:txBody>
          <a:bodyPr wrap="none" lIns="0" tIns="0" rIns="0" bIns="0" anchor="t">
            <a:spAutoFit/>
          </a:bodyPr>
          <a:lstStyle/>
          <a:p>
            <a:pPr>
              <a:lnSpc>
                <a:spcPts val="3120"/>
              </a:lnSpc>
              <a:spcBef>
                <a:spcPts val="0"/>
              </a:spcBef>
              <a:spcAft>
                <a:spcPts val="0"/>
              </a:spcAft>
              <a:defRPr sz="2280" b="0">
                <a:solidFill>
                  <a:srgbClr val="D6E4E8"/>
                </a:solidFill>
                <a:latin typeface="Noto Sans"/>
              </a:defRPr>
            </a:pPr>
            <a:r>
              <a:t>La primera orientación de un negocio</a:t>
            </a:r>
          </a:p>
          <a:p>
            <a:pPr>
              <a:lnSpc>
                <a:spcPts val="3120"/>
              </a:lnSpc>
              <a:spcBef>
                <a:spcPts val="0"/>
              </a:spcBef>
              <a:spcAft>
                <a:spcPts val="0"/>
              </a:spcAft>
              <a:defRPr sz="2280" b="0">
                <a:solidFill>
                  <a:srgbClr val="D6E4E8"/>
                </a:solidFill>
                <a:latin typeface="Noto Sans"/>
              </a:defRPr>
            </a:pPr>
            <a:r>
              <a:t>electrónico.</a:t>
            </a:r>
          </a:p>
        </p:txBody>
      </p:sp>
      <p:sp>
        <p:nvSpPr>
          <p:cNvPr id="7" name="Rounded Rectangle 6"/>
          <p:cNvSpPr/>
          <p:nvPr/>
        </p:nvSpPr>
        <p:spPr>
          <a:xfrm>
            <a:off x="647700" y="4648200"/>
            <a:ext cx="6629400" cy="838200"/>
          </a:xfrm>
          <a:prstGeom prst="roundRect">
            <a:avLst>
              <a:gd name="adj" fmla="val 1363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800600"/>
            <a:ext cx="6263640" cy="655320"/>
          </a:xfrm>
          <a:prstGeom prst="rect">
            <a:avLst/>
          </a:prstGeom>
          <a:noFill/>
        </p:spPr>
        <p:txBody>
          <a:bodyPr wrap="none" lIns="0" tIns="0" rIns="0" bIns="0" anchor="t">
            <a:spAutoFit/>
          </a:bodyPr>
          <a:lstStyle/>
          <a:p>
            <a:pPr>
              <a:lnSpc>
                <a:spcPts val="2160"/>
              </a:lnSpc>
              <a:spcBef>
                <a:spcPts val="0"/>
              </a:spcBef>
              <a:spcAft>
                <a:spcPts val="0"/>
              </a:spcAft>
              <a:defRPr sz="1560" b="0">
                <a:solidFill>
                  <a:srgbClr val="FFFFFF"/>
                </a:solidFill>
                <a:latin typeface="Noto Sans"/>
              </a:defRPr>
            </a:pPr>
            <a:r>
              <a:t>Pregunta guía: ¿qué debe entender y poder hacer una persona al</a:t>
            </a:r>
          </a:p>
          <a:p>
            <a:pPr>
              <a:lnSpc>
                <a:spcPts val="2160"/>
              </a:lnSpc>
              <a:spcBef>
                <a:spcPts val="0"/>
              </a:spcBef>
              <a:spcAft>
                <a:spcPts val="0"/>
              </a:spcAft>
              <a:defRPr sz="1560" b="0">
                <a:solidFill>
                  <a:srgbClr val="FFFFFF"/>
                </a:solidFill>
                <a:latin typeface="Noto Sans"/>
              </a:defRPr>
            </a:pPr>
            <a:r>
              <a:t>llegar?</a:t>
            </a:r>
          </a:p>
        </p:txBody>
      </p:sp>
      <p:sp>
        <p:nvSpPr>
          <p:cNvPr id="9" name="Oval 8"/>
          <p:cNvSpPr/>
          <p:nvPr/>
        </p:nvSpPr>
        <p:spPr>
          <a:xfrm>
            <a:off x="8534400" y="1828800"/>
            <a:ext cx="2590800" cy="2590800"/>
          </a:xfrm>
          <a:prstGeom prst="ellipse">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067800" y="2171700"/>
            <a:ext cx="1440180" cy="2000250"/>
          </a:xfrm>
          <a:prstGeom prst="ellipse">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59824" y="2347722"/>
            <a:ext cx="1056132" cy="1640205"/>
          </a:xfrm>
          <a:prstGeom prst="ellipse">
            <a:avLst/>
          </a:prstGeom>
          <a:solidFill>
            <a:srgbClr val="B442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47885" y="2291715"/>
            <a:ext cx="56007" cy="1776222"/>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51848" y="2611755"/>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51848" y="2963799"/>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51848" y="3315843"/>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51848" y="3667887"/>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39884" y="1875663"/>
            <a:ext cx="1040130" cy="360045"/>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5800" y="5029200"/>
            <a:ext cx="3352800" cy="716280"/>
          </a:xfrm>
          <a:prstGeom prst="rect">
            <a:avLst/>
          </a:prstGeom>
          <a:noFill/>
        </p:spPr>
        <p:txBody>
          <a:bodyPr wrap="none" lIns="0" tIns="0" rIns="0" bIns="0" anchor="t">
            <a:spAutoFit/>
          </a:bodyPr>
          <a:lstStyle/>
          <a:p>
            <a:pPr>
              <a:lnSpc>
                <a:spcPts val="2400"/>
              </a:lnSpc>
              <a:spcBef>
                <a:spcPts val="0"/>
              </a:spcBef>
              <a:spcAft>
                <a:spcPts val="0"/>
              </a:spcAft>
              <a:defRPr sz="1739" b="1">
                <a:solidFill>
                  <a:srgbClr val="FFFFFF"/>
                </a:solidFill>
                <a:latin typeface="Noto Sans"/>
              </a:defRPr>
            </a:pPr>
            <a:r>
              <a:t>Una oferta clara.</a:t>
            </a:r>
          </a:p>
          <a:p>
            <a:pPr>
              <a:lnSpc>
                <a:spcPts val="2400"/>
              </a:lnSpc>
              <a:spcBef>
                <a:spcPts val="0"/>
              </a:spcBef>
              <a:spcAft>
                <a:spcPts val="0"/>
              </a:spcAft>
              <a:defRPr sz="1739" b="1">
                <a:solidFill>
                  <a:srgbClr val="FFFFFF"/>
                </a:solidFill>
                <a:latin typeface="Noto Sans"/>
              </a:defRPr>
            </a:pPr>
            <a:r>
              <a:t>Un siguiente paso útil.</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01 / PROPÓSITO</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Una puerta de entrada,</a:t>
            </a:r>
          </a:p>
          <a:p>
            <a:pPr>
              <a:lnSpc>
                <a:spcPts val="5040"/>
              </a:lnSpc>
              <a:spcBef>
                <a:spcPts val="0"/>
              </a:spcBef>
              <a:spcAft>
                <a:spcPts val="0"/>
              </a:spcAft>
              <a:defRPr sz="3660" b="1">
                <a:solidFill>
                  <a:srgbClr val="18394A"/>
                </a:solidFill>
                <a:latin typeface="Noto Sans"/>
              </a:defRPr>
            </a:pPr>
            <a:r>
              <a:t>no todo el negocio</a:t>
            </a:r>
          </a:p>
        </p:txBody>
      </p:sp>
      <p:sp>
        <p:nvSpPr>
          <p:cNvPr id="5" name="Rounded Rectangle 4"/>
          <p:cNvSpPr/>
          <p:nvPr/>
        </p:nvSpPr>
        <p:spPr>
          <a:xfrm>
            <a:off x="6096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01</a:t>
            </a:r>
          </a:p>
        </p:txBody>
      </p:sp>
      <p:sp>
        <p:nvSpPr>
          <p:cNvPr id="7" name="TextBox 6"/>
          <p:cNvSpPr txBox="1"/>
          <p:nvPr/>
        </p:nvSpPr>
        <p:spPr>
          <a:xfrm>
            <a:off x="8229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es</a:t>
            </a:r>
          </a:p>
        </p:txBody>
      </p:sp>
      <p:sp>
        <p:nvSpPr>
          <p:cNvPr id="8" name="TextBox 7"/>
          <p:cNvSpPr txBox="1"/>
          <p:nvPr/>
        </p:nvSpPr>
        <p:spPr>
          <a:xfrm>
            <a:off x="8229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Es la página principal que</a:t>
            </a:r>
          </a:p>
          <a:p>
            <a:pPr>
              <a:lnSpc>
                <a:spcPts val="2220"/>
              </a:lnSpc>
              <a:spcBef>
                <a:spcPts val="0"/>
              </a:spcBef>
              <a:spcAft>
                <a:spcPts val="0"/>
              </a:spcAft>
              <a:defRPr sz="1620" b="0">
                <a:solidFill>
                  <a:srgbClr val="536975"/>
                </a:solidFill>
                <a:latin typeface="Noto Sans"/>
              </a:defRPr>
            </a:pPr>
            <a:r>
              <a:t>presenta la oferta y organiza el</a:t>
            </a:r>
          </a:p>
          <a:p>
            <a:pPr>
              <a:lnSpc>
                <a:spcPts val="2220"/>
              </a:lnSpc>
              <a:spcBef>
                <a:spcPts val="0"/>
              </a:spcBef>
              <a:spcAft>
                <a:spcPts val="0"/>
              </a:spcAft>
              <a:defRPr sz="1620" b="0">
                <a:solidFill>
                  <a:srgbClr val="536975"/>
                </a:solidFill>
                <a:latin typeface="Noto Sans"/>
              </a:defRPr>
            </a:pPr>
            <a:r>
              <a:t>acceso al contenido del sitio.</a:t>
            </a:r>
          </a:p>
        </p:txBody>
      </p:sp>
      <p:sp>
        <p:nvSpPr>
          <p:cNvPr id="9" name="Rounded Rectangle 8"/>
          <p:cNvSpPr/>
          <p:nvPr/>
        </p:nvSpPr>
        <p:spPr>
          <a:xfrm>
            <a:off x="43434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67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02</a:t>
            </a:r>
          </a:p>
        </p:txBody>
      </p:sp>
      <p:sp>
        <p:nvSpPr>
          <p:cNvPr id="11" name="TextBox 10"/>
          <p:cNvSpPr txBox="1"/>
          <p:nvPr/>
        </p:nvSpPr>
        <p:spPr>
          <a:xfrm>
            <a:off x="45567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resuelve</a:t>
            </a:r>
          </a:p>
        </p:txBody>
      </p:sp>
      <p:sp>
        <p:nvSpPr>
          <p:cNvPr id="12" name="TextBox 11"/>
          <p:cNvSpPr txBox="1"/>
          <p:nvPr/>
        </p:nvSpPr>
        <p:spPr>
          <a:xfrm>
            <a:off x="45567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Responde qué ofrece el</a:t>
            </a:r>
          </a:p>
          <a:p>
            <a:pPr>
              <a:lnSpc>
                <a:spcPts val="2220"/>
              </a:lnSpc>
              <a:spcBef>
                <a:spcPts val="0"/>
              </a:spcBef>
              <a:spcAft>
                <a:spcPts val="0"/>
              </a:spcAft>
              <a:defRPr sz="1620" b="0">
                <a:solidFill>
                  <a:srgbClr val="536975"/>
                </a:solidFill>
                <a:latin typeface="Noto Sans"/>
              </a:defRPr>
            </a:pPr>
            <a:r>
              <a:t>negocio, a quién ayuda y cuál</a:t>
            </a:r>
          </a:p>
          <a:p>
            <a:pPr>
              <a:lnSpc>
                <a:spcPts val="2220"/>
              </a:lnSpc>
              <a:spcBef>
                <a:spcPts val="0"/>
              </a:spcBef>
              <a:spcAft>
                <a:spcPts val="0"/>
              </a:spcAft>
              <a:defRPr sz="1620" b="0">
                <a:solidFill>
                  <a:srgbClr val="536975"/>
                </a:solidFill>
                <a:latin typeface="Noto Sans"/>
              </a:defRPr>
            </a:pPr>
            <a:r>
              <a:t>es el siguiente paso relevante.</a:t>
            </a:r>
          </a:p>
        </p:txBody>
      </p:sp>
      <p:sp>
        <p:nvSpPr>
          <p:cNvPr id="13" name="Rounded Rectangle 12"/>
          <p:cNvSpPr/>
          <p:nvPr/>
        </p:nvSpPr>
        <p:spPr>
          <a:xfrm>
            <a:off x="80772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05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03</a:t>
            </a:r>
          </a:p>
        </p:txBody>
      </p:sp>
      <p:sp>
        <p:nvSpPr>
          <p:cNvPr id="15" name="TextBox 14"/>
          <p:cNvSpPr txBox="1"/>
          <p:nvPr/>
        </p:nvSpPr>
        <p:spPr>
          <a:xfrm>
            <a:off x="82905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no implica</a:t>
            </a:r>
          </a:p>
        </p:txBody>
      </p:sp>
      <p:sp>
        <p:nvSpPr>
          <p:cNvPr id="16" name="TextBox 15"/>
          <p:cNvSpPr txBox="1"/>
          <p:nvPr/>
        </p:nvSpPr>
        <p:spPr>
          <a:xfrm>
            <a:off x="82905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Una visita no siempre empieza</a:t>
            </a:r>
          </a:p>
          <a:p>
            <a:pPr>
              <a:lnSpc>
                <a:spcPts val="2220"/>
              </a:lnSpc>
              <a:spcBef>
                <a:spcPts val="0"/>
              </a:spcBef>
              <a:spcAft>
                <a:spcPts val="0"/>
              </a:spcAft>
              <a:defRPr sz="1620" b="0">
                <a:solidFill>
                  <a:srgbClr val="536975"/>
                </a:solidFill>
                <a:latin typeface="Noto Sans"/>
              </a:defRPr>
            </a:pPr>
            <a:r>
              <a:t>aquí: también puede llegar a un</a:t>
            </a:r>
          </a:p>
          <a:p>
            <a:pPr>
              <a:lnSpc>
                <a:spcPts val="2220"/>
              </a:lnSpc>
              <a:spcBef>
                <a:spcPts val="0"/>
              </a:spcBef>
              <a:spcAft>
                <a:spcPts val="0"/>
              </a:spcAft>
              <a:defRPr sz="1620" b="0">
                <a:solidFill>
                  <a:srgbClr val="536975"/>
                </a:solidFill>
                <a:latin typeface="Noto Sans"/>
              </a:defRPr>
            </a:pPr>
            <a:r>
              <a:t>producto desde una búsqueda.</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La página de inicio orienta; una landing page suele concentrarse en una campaña u objetivo específico.</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02 / ESTRUCTURA</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Una jerarquía que</a:t>
            </a:r>
          </a:p>
          <a:p>
            <a:pPr>
              <a:lnSpc>
                <a:spcPts val="5040"/>
              </a:lnSpc>
              <a:spcBef>
                <a:spcPts val="0"/>
              </a:spcBef>
              <a:spcAft>
                <a:spcPts val="0"/>
              </a:spcAft>
              <a:defRPr sz="3660" b="1">
                <a:solidFill>
                  <a:srgbClr val="18394A"/>
                </a:solidFill>
                <a:latin typeface="Noto Sans"/>
              </a:defRPr>
            </a:pPr>
            <a:r>
              <a:t>ayuda a decidir</a:t>
            </a:r>
          </a:p>
        </p:txBody>
      </p:sp>
      <p:sp>
        <p:nvSpPr>
          <p:cNvPr id="5" name="Rounded Rectangle 4"/>
          <p:cNvSpPr/>
          <p:nvPr/>
        </p:nvSpPr>
        <p:spPr>
          <a:xfrm>
            <a:off x="609600" y="2362200"/>
            <a:ext cx="5257800" cy="3337560"/>
          </a:xfrm>
          <a:prstGeom prst="roundRect">
            <a:avLst>
              <a:gd name="adj" fmla="val 4109"/>
            </a:avLst>
          </a:prstGeom>
          <a:solidFill>
            <a:srgbClr val="FFFFFF"/>
          </a:solidFill>
          <a:ln>
            <a:solidFill>
              <a:srgbClr val="D1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6760" y="2499360"/>
            <a:ext cx="4983480" cy="373380"/>
          </a:xfrm>
          <a:prstGeom prst="roundRect">
            <a:avLst>
              <a:gd name="adj" fmla="val 12244"/>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 y="2583180"/>
            <a:ext cx="470916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FFFFFF"/>
                </a:solidFill>
                <a:latin typeface="Noto Sans"/>
              </a:defRPr>
            </a:pPr>
            <a:r>
              <a:t>MINGA CACAO Inicio Regalos Contacto</a:t>
            </a:r>
          </a:p>
        </p:txBody>
      </p:sp>
      <p:sp>
        <p:nvSpPr>
          <p:cNvPr id="8" name="Rounded Rectangle 7"/>
          <p:cNvSpPr/>
          <p:nvPr/>
        </p:nvSpPr>
        <p:spPr>
          <a:xfrm>
            <a:off x="868680" y="3032760"/>
            <a:ext cx="4739640" cy="1272540"/>
          </a:xfrm>
          <a:prstGeom prst="roundRect">
            <a:avLst>
              <a:gd name="adj" fmla="val 5988"/>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1080" y="3177540"/>
            <a:ext cx="3078480" cy="701040"/>
          </a:xfrm>
          <a:prstGeom prst="rect">
            <a:avLst/>
          </a:prstGeom>
          <a:noFill/>
        </p:spPr>
        <p:txBody>
          <a:bodyPr wrap="none" lIns="0" tIns="0" rIns="0" bIns="0" anchor="t">
            <a:spAutoFit/>
          </a:bodyPr>
          <a:lstStyle/>
          <a:p>
            <a:pPr>
              <a:lnSpc>
                <a:spcPts val="2340"/>
              </a:lnSpc>
              <a:spcBef>
                <a:spcPts val="0"/>
              </a:spcBef>
              <a:spcAft>
                <a:spcPts val="0"/>
              </a:spcAft>
              <a:defRPr sz="1680" b="1">
                <a:solidFill>
                  <a:srgbClr val="18394A"/>
                </a:solidFill>
                <a:latin typeface="Noto Sans"/>
              </a:defRPr>
            </a:pPr>
            <a:r>
              <a:t>Cacao ecuatoriano</a:t>
            </a:r>
          </a:p>
          <a:p>
            <a:pPr>
              <a:lnSpc>
                <a:spcPts val="2340"/>
              </a:lnSpc>
              <a:spcBef>
                <a:spcPts val="0"/>
              </a:spcBef>
              <a:spcAft>
                <a:spcPts val="0"/>
              </a:spcAft>
              <a:defRPr sz="1680" b="1">
                <a:solidFill>
                  <a:srgbClr val="18394A"/>
                </a:solidFill>
                <a:latin typeface="Noto Sans"/>
              </a:defRPr>
            </a:pPr>
            <a:r>
              <a:t>para regalar</a:t>
            </a:r>
          </a:p>
        </p:txBody>
      </p:sp>
      <p:sp>
        <p:nvSpPr>
          <p:cNvPr id="10" name="Rounded Rectangle 9"/>
          <p:cNvSpPr/>
          <p:nvPr/>
        </p:nvSpPr>
        <p:spPr>
          <a:xfrm>
            <a:off x="1021080" y="3848099"/>
            <a:ext cx="1866899" cy="289560"/>
          </a:xfrm>
          <a:prstGeom prst="roundRect">
            <a:avLst>
              <a:gd name="adj" fmla="val 15789"/>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0620" y="3901440"/>
            <a:ext cx="161544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FFFFFF"/>
                </a:solidFill>
                <a:latin typeface="Noto Sans"/>
              </a:defRPr>
            </a:pPr>
            <a:r>
              <a:t>Explorar regalos</a:t>
            </a:r>
          </a:p>
        </p:txBody>
      </p:sp>
      <p:sp>
        <p:nvSpPr>
          <p:cNvPr id="12" name="Oval 11"/>
          <p:cNvSpPr/>
          <p:nvPr/>
        </p:nvSpPr>
        <p:spPr>
          <a:xfrm>
            <a:off x="4716780" y="3223260"/>
            <a:ext cx="507491" cy="704850"/>
          </a:xfrm>
          <a:prstGeom prst="ellipse">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84445" y="3285286"/>
            <a:ext cx="372160" cy="577977"/>
          </a:xfrm>
          <a:prstGeom prst="ellipse">
            <a:avLst/>
          </a:prstGeom>
          <a:solidFill>
            <a:srgbClr val="B442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56429" y="3265551"/>
            <a:ext cx="19735" cy="625906"/>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52111" y="3378327"/>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52111" y="3502380"/>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52111" y="3626434"/>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52111" y="3750487"/>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53609" y="3118942"/>
            <a:ext cx="366522" cy="126872"/>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4450080"/>
            <a:ext cx="2301240" cy="617220"/>
          </a:xfrm>
          <a:prstGeom prst="roundRect">
            <a:avLst>
              <a:gd name="adj" fmla="val 9876"/>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610100"/>
            <a:ext cx="2057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18394A"/>
                </a:solidFill>
                <a:latin typeface="Noto Sans"/>
              </a:defRPr>
            </a:pPr>
            <a:r>
              <a:t>Oferta destacada</a:t>
            </a:r>
          </a:p>
        </p:txBody>
      </p:sp>
      <p:sp>
        <p:nvSpPr>
          <p:cNvPr id="22" name="Rounded Rectangle 21"/>
          <p:cNvSpPr/>
          <p:nvPr/>
        </p:nvSpPr>
        <p:spPr>
          <a:xfrm>
            <a:off x="3276600" y="4450080"/>
            <a:ext cx="2301240" cy="617220"/>
          </a:xfrm>
          <a:prstGeom prst="roundRect">
            <a:avLst>
              <a:gd name="adj" fmla="val 9876"/>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13760" y="4610100"/>
            <a:ext cx="2057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18394A"/>
                </a:solidFill>
                <a:latin typeface="Noto Sans"/>
              </a:defRPr>
            </a:pPr>
            <a:r>
              <a:t>Confianza verificable</a:t>
            </a:r>
          </a:p>
        </p:txBody>
      </p:sp>
      <p:sp>
        <p:nvSpPr>
          <p:cNvPr id="24" name="Rounded Rectangle 23"/>
          <p:cNvSpPr/>
          <p:nvPr/>
        </p:nvSpPr>
        <p:spPr>
          <a:xfrm>
            <a:off x="868680" y="5212080"/>
            <a:ext cx="4739640" cy="327660"/>
          </a:xfrm>
          <a:prstGeom prst="roundRect">
            <a:avLst>
              <a:gd name="adj" fmla="val 13953"/>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599" y="5295900"/>
            <a:ext cx="44577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FFFFFF"/>
                </a:solidFill>
                <a:latin typeface="Noto Sans"/>
              </a:defRPr>
            </a:pPr>
            <a:r>
              <a:t>Contacto · Ayuda · Información legal</a:t>
            </a:r>
          </a:p>
        </p:txBody>
      </p:sp>
      <p:sp>
        <p:nvSpPr>
          <p:cNvPr id="26" name="Oval 25"/>
          <p:cNvSpPr/>
          <p:nvPr/>
        </p:nvSpPr>
        <p:spPr>
          <a:xfrm>
            <a:off x="6286500" y="240792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7940" y="244602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1</a:t>
            </a:r>
          </a:p>
        </p:txBody>
      </p:sp>
      <p:sp>
        <p:nvSpPr>
          <p:cNvPr id="28" name="TextBox 27"/>
          <p:cNvSpPr txBox="1"/>
          <p:nvPr/>
        </p:nvSpPr>
        <p:spPr>
          <a:xfrm>
            <a:off x="6781800" y="239268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Encabezado</a:t>
            </a:r>
          </a:p>
        </p:txBody>
      </p:sp>
      <p:sp>
        <p:nvSpPr>
          <p:cNvPr id="29" name="TextBox 28"/>
          <p:cNvSpPr txBox="1"/>
          <p:nvPr/>
        </p:nvSpPr>
        <p:spPr>
          <a:xfrm>
            <a:off x="6781800" y="272034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Identidad y navegación con etiquetas claras.</a:t>
            </a:r>
          </a:p>
        </p:txBody>
      </p:sp>
      <p:sp>
        <p:nvSpPr>
          <p:cNvPr id="30" name="Oval 29"/>
          <p:cNvSpPr/>
          <p:nvPr/>
        </p:nvSpPr>
        <p:spPr>
          <a:xfrm>
            <a:off x="6286500" y="327660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7940" y="331470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2</a:t>
            </a:r>
          </a:p>
        </p:txBody>
      </p:sp>
      <p:sp>
        <p:nvSpPr>
          <p:cNvPr id="32" name="TextBox 31"/>
          <p:cNvSpPr txBox="1"/>
          <p:nvPr/>
        </p:nvSpPr>
        <p:spPr>
          <a:xfrm>
            <a:off x="6781800" y="326136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Bloque principal</a:t>
            </a:r>
          </a:p>
        </p:txBody>
      </p:sp>
      <p:sp>
        <p:nvSpPr>
          <p:cNvPr id="33" name="TextBox 32"/>
          <p:cNvSpPr txBox="1"/>
          <p:nvPr/>
        </p:nvSpPr>
        <p:spPr>
          <a:xfrm>
            <a:off x="6781800" y="3589020"/>
            <a:ext cx="4686300" cy="60960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Beneficio central, imagen pertinente y acción</a:t>
            </a:r>
          </a:p>
          <a:p>
            <a:pPr>
              <a:lnSpc>
                <a:spcPts val="1980"/>
              </a:lnSpc>
              <a:spcBef>
                <a:spcPts val="0"/>
              </a:spcBef>
              <a:spcAft>
                <a:spcPts val="0"/>
              </a:spcAft>
              <a:defRPr sz="1439" b="0">
                <a:solidFill>
                  <a:srgbClr val="536975"/>
                </a:solidFill>
                <a:latin typeface="Noto Sans"/>
              </a:defRPr>
            </a:pPr>
            <a:r>
              <a:t>prioritaria.</a:t>
            </a:r>
          </a:p>
        </p:txBody>
      </p:sp>
      <p:sp>
        <p:nvSpPr>
          <p:cNvPr id="34" name="Oval 33"/>
          <p:cNvSpPr/>
          <p:nvPr/>
        </p:nvSpPr>
        <p:spPr>
          <a:xfrm>
            <a:off x="6286500" y="414528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7940" y="418338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3</a:t>
            </a:r>
          </a:p>
        </p:txBody>
      </p:sp>
      <p:sp>
        <p:nvSpPr>
          <p:cNvPr id="36" name="TextBox 35"/>
          <p:cNvSpPr txBox="1"/>
          <p:nvPr/>
        </p:nvSpPr>
        <p:spPr>
          <a:xfrm>
            <a:off x="6781800" y="413004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Contenido de apoyo</a:t>
            </a:r>
          </a:p>
        </p:txBody>
      </p:sp>
      <p:sp>
        <p:nvSpPr>
          <p:cNvPr id="37" name="TextBox 36"/>
          <p:cNvSpPr txBox="1"/>
          <p:nvPr/>
        </p:nvSpPr>
        <p:spPr>
          <a:xfrm>
            <a:off x="6781800" y="445770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Oferta destacada y señales de confianza verificables.</a:t>
            </a:r>
          </a:p>
        </p:txBody>
      </p:sp>
      <p:sp>
        <p:nvSpPr>
          <p:cNvPr id="38" name="Oval 37"/>
          <p:cNvSpPr/>
          <p:nvPr/>
        </p:nvSpPr>
        <p:spPr>
          <a:xfrm>
            <a:off x="6286500" y="501396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7940" y="505206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4</a:t>
            </a:r>
          </a:p>
        </p:txBody>
      </p:sp>
      <p:sp>
        <p:nvSpPr>
          <p:cNvPr id="40" name="TextBox 39"/>
          <p:cNvSpPr txBox="1"/>
          <p:nvPr/>
        </p:nvSpPr>
        <p:spPr>
          <a:xfrm>
            <a:off x="6781800" y="499872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Pie de página</a:t>
            </a:r>
          </a:p>
        </p:txBody>
      </p:sp>
      <p:sp>
        <p:nvSpPr>
          <p:cNvPr id="41" name="TextBox 40"/>
          <p:cNvSpPr txBox="1"/>
          <p:nvPr/>
        </p:nvSpPr>
        <p:spPr>
          <a:xfrm>
            <a:off x="6781800" y="532638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Contacto, ayuda y enlaces de información legal.</a:t>
            </a:r>
          </a:p>
        </p:txBody>
      </p:sp>
      <p:sp>
        <p:nvSpPr>
          <p:cNvPr id="42" name="TextBox 41"/>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43" name="TextBox 42"/>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03 / MENSAJE Y ACCIÓN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Decir algo concreto.</a:t>
            </a:r>
          </a:p>
          <a:p>
            <a:pPr>
              <a:lnSpc>
                <a:spcPts val="5040"/>
              </a:lnSpc>
              <a:spcBef>
                <a:spcPts val="0"/>
              </a:spcBef>
              <a:spcAft>
                <a:spcPts val="0"/>
              </a:spcAft>
              <a:defRPr sz="3660" b="1">
                <a:solidFill>
                  <a:srgbClr val="18394A"/>
                </a:solidFill>
                <a:latin typeface="Noto Sans"/>
              </a:defRPr>
            </a:pPr>
            <a:r>
              <a:t>Ofrecer un paso claro.</a:t>
            </a:r>
          </a:p>
        </p:txBody>
      </p:sp>
      <p:sp>
        <p:nvSpPr>
          <p:cNvPr id="5" name="Rounded Rectangle 4"/>
          <p:cNvSpPr/>
          <p:nvPr/>
        </p:nvSpPr>
        <p:spPr>
          <a:xfrm>
            <a:off x="609600" y="2400300"/>
            <a:ext cx="5295900" cy="3238500"/>
          </a:xfrm>
          <a:prstGeom prst="roundRect">
            <a:avLst>
              <a:gd name="adj" fmla="val 423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21280"/>
            <a:ext cx="486918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Mensaje ambiguo</a:t>
            </a:r>
          </a:p>
        </p:txBody>
      </p:sp>
      <p:sp>
        <p:nvSpPr>
          <p:cNvPr id="7" name="TextBox 6"/>
          <p:cNvSpPr txBox="1"/>
          <p:nvPr/>
        </p:nvSpPr>
        <p:spPr>
          <a:xfrm>
            <a:off x="822960" y="3093720"/>
            <a:ext cx="4869180" cy="151638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«Calidad y pasión para ti»</a:t>
            </a:r>
          </a:p>
          <a:p>
            <a:pPr>
              <a:lnSpc>
                <a:spcPts val="2220"/>
              </a:lnSpc>
              <a:spcBef>
                <a:spcPts val="0"/>
              </a:spcBef>
              <a:spcAft>
                <a:spcPts val="0"/>
              </a:spcAft>
              <a:defRPr sz="1620" b="0">
                <a:solidFill>
                  <a:srgbClr val="536975"/>
                </a:solidFill>
                <a:latin typeface="Noto Sans"/>
              </a:defRPr>
            </a:pPr>
          </a:p>
          <a:p>
            <a:pPr>
              <a:lnSpc>
                <a:spcPts val="2220"/>
              </a:lnSpc>
              <a:spcBef>
                <a:spcPts val="0"/>
              </a:spcBef>
              <a:spcAft>
                <a:spcPts val="0"/>
              </a:spcAft>
              <a:defRPr sz="1620" b="0">
                <a:solidFill>
                  <a:srgbClr val="536975"/>
                </a:solidFill>
                <a:latin typeface="Noto Sans"/>
              </a:defRPr>
            </a:pPr>
            <a:r>
              <a:t>Botón: «Haz clic aquí»</a:t>
            </a:r>
          </a:p>
          <a:p>
            <a:pPr>
              <a:lnSpc>
                <a:spcPts val="2220"/>
              </a:lnSpc>
              <a:spcBef>
                <a:spcPts val="0"/>
              </a:spcBef>
              <a:spcAft>
                <a:spcPts val="0"/>
              </a:spcAft>
              <a:defRPr sz="1620" b="0">
                <a:solidFill>
                  <a:srgbClr val="536975"/>
                </a:solidFill>
                <a:latin typeface="Noto Sans"/>
              </a:defRPr>
            </a:pPr>
          </a:p>
          <a:p>
            <a:pPr>
              <a:lnSpc>
                <a:spcPts val="2220"/>
              </a:lnSpc>
              <a:spcBef>
                <a:spcPts val="0"/>
              </a:spcBef>
              <a:spcAft>
                <a:spcPts val="0"/>
              </a:spcAft>
              <a:defRPr sz="1620" b="0">
                <a:solidFill>
                  <a:srgbClr val="536975"/>
                </a:solidFill>
                <a:latin typeface="Noto Sans"/>
              </a:defRPr>
            </a:pPr>
            <a:r>
              <a:t>No aclara qué se vende ni qué ocurrirá después.</a:t>
            </a:r>
          </a:p>
        </p:txBody>
      </p:sp>
      <p:sp>
        <p:nvSpPr>
          <p:cNvPr id="8" name="Rounded Rectangle 7"/>
          <p:cNvSpPr/>
          <p:nvPr/>
        </p:nvSpPr>
        <p:spPr>
          <a:xfrm>
            <a:off x="6134100" y="2400300"/>
            <a:ext cx="5410200" cy="3238500"/>
          </a:xfrm>
          <a:prstGeom prst="roundRect">
            <a:avLst>
              <a:gd name="adj" fmla="val 4235"/>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7460" y="2621280"/>
            <a:ext cx="498348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Propuesta específica</a:t>
            </a:r>
          </a:p>
        </p:txBody>
      </p:sp>
      <p:sp>
        <p:nvSpPr>
          <p:cNvPr id="10" name="TextBox 9"/>
          <p:cNvSpPr txBox="1"/>
          <p:nvPr/>
        </p:nvSpPr>
        <p:spPr>
          <a:xfrm>
            <a:off x="6347460" y="3093720"/>
            <a:ext cx="4983480" cy="151638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«Chocolate de cacao ecuatoriano para regalar»</a:t>
            </a:r>
          </a:p>
          <a:p>
            <a:pPr>
              <a:lnSpc>
                <a:spcPts val="2220"/>
              </a:lnSpc>
              <a:spcBef>
                <a:spcPts val="0"/>
              </a:spcBef>
              <a:spcAft>
                <a:spcPts val="0"/>
              </a:spcAft>
              <a:defRPr sz="1620" b="0">
                <a:solidFill>
                  <a:srgbClr val="D6E4E8"/>
                </a:solidFill>
                <a:latin typeface="Noto Sans"/>
              </a:defRPr>
            </a:pPr>
          </a:p>
          <a:p>
            <a:pPr>
              <a:lnSpc>
                <a:spcPts val="2220"/>
              </a:lnSpc>
              <a:spcBef>
                <a:spcPts val="0"/>
              </a:spcBef>
              <a:spcAft>
                <a:spcPts val="0"/>
              </a:spcAft>
              <a:defRPr sz="1620" b="0">
                <a:solidFill>
                  <a:srgbClr val="D6E4E8"/>
                </a:solidFill>
                <a:latin typeface="Noto Sans"/>
              </a:defRPr>
            </a:pPr>
            <a:r>
              <a:t>Botón: «Explorar regalos»</a:t>
            </a:r>
          </a:p>
          <a:p>
            <a:pPr>
              <a:lnSpc>
                <a:spcPts val="2220"/>
              </a:lnSpc>
              <a:spcBef>
                <a:spcPts val="0"/>
              </a:spcBef>
              <a:spcAft>
                <a:spcPts val="0"/>
              </a:spcAft>
              <a:defRPr sz="1620" b="0">
                <a:solidFill>
                  <a:srgbClr val="D6E4E8"/>
                </a:solidFill>
                <a:latin typeface="Noto Sans"/>
              </a:defRPr>
            </a:pPr>
          </a:p>
          <a:p>
            <a:pPr>
              <a:lnSpc>
                <a:spcPts val="2220"/>
              </a:lnSpc>
              <a:spcBef>
                <a:spcPts val="0"/>
              </a:spcBef>
              <a:spcAft>
                <a:spcPts val="0"/>
              </a:spcAft>
              <a:defRPr sz="1620" b="0">
                <a:solidFill>
                  <a:srgbClr val="D6E4E8"/>
                </a:solidFill>
                <a:latin typeface="Noto Sans"/>
              </a:defRPr>
            </a:pPr>
            <a:r>
              <a:t>Relaciona una oferta con una intención concreta.</a:t>
            </a:r>
          </a:p>
        </p:txBody>
      </p:sp>
      <p:sp>
        <p:nvSpPr>
          <p:cNvPr id="11" name="Rectangle 10"/>
          <p:cNvSpPr/>
          <p:nvPr/>
        </p:nvSpPr>
        <p:spPr>
          <a:xfrm>
            <a:off x="609600" y="2400300"/>
            <a:ext cx="68580" cy="3238500"/>
          </a:xfrm>
          <a:prstGeom prst="rect">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34100" y="2400300"/>
            <a:ext cx="68580" cy="32385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Ejemplo ficticio: Minga Cacao. Solo promete entregas o certificaciones si puedes demostrarlas.</a:t>
            </a:r>
          </a:p>
        </p:txBody>
      </p:sp>
      <p:sp>
        <p:nvSpPr>
          <p:cNvPr id="15" name="TextBox 14"/>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6" name="TextBox 15"/>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04 / RECORRIDOS</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Diseñar desde</a:t>
            </a:r>
          </a:p>
          <a:p>
            <a:pPr>
              <a:lnSpc>
                <a:spcPts val="5040"/>
              </a:lnSpc>
              <a:spcBef>
                <a:spcPts val="0"/>
              </a:spcBef>
              <a:spcAft>
                <a:spcPts val="0"/>
              </a:spcAft>
              <a:defRPr sz="3660" b="1">
                <a:solidFill>
                  <a:srgbClr val="18394A"/>
                </a:solidFill>
                <a:latin typeface="Noto Sans"/>
              </a:defRPr>
            </a:pPr>
            <a:r>
              <a:t>la intención del visitante</a:t>
            </a:r>
          </a:p>
        </p:txBody>
      </p:sp>
      <p:sp>
        <p:nvSpPr>
          <p:cNvPr id="5" name="Rounded Rectangle 4"/>
          <p:cNvSpPr/>
          <p:nvPr/>
        </p:nvSpPr>
        <p:spPr>
          <a:xfrm>
            <a:off x="6096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77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Descubrir</a:t>
            </a:r>
          </a:p>
        </p:txBody>
      </p:sp>
      <p:sp>
        <p:nvSpPr>
          <p:cNvPr id="7" name="TextBox 6"/>
          <p:cNvSpPr txBox="1"/>
          <p:nvPr/>
        </p:nvSpPr>
        <p:spPr>
          <a:xfrm>
            <a:off x="8077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Entender la oferta</a:t>
            </a:r>
          </a:p>
        </p:txBody>
      </p:sp>
      <p:sp>
        <p:nvSpPr>
          <p:cNvPr id="8" name="Rounded Rectangle 7"/>
          <p:cNvSpPr/>
          <p:nvPr/>
        </p:nvSpPr>
        <p:spPr>
          <a:xfrm>
            <a:off x="43434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15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Explorar</a:t>
            </a:r>
          </a:p>
        </p:txBody>
      </p:sp>
      <p:sp>
        <p:nvSpPr>
          <p:cNvPr id="10" name="TextBox 9"/>
          <p:cNvSpPr txBox="1"/>
          <p:nvPr/>
        </p:nvSpPr>
        <p:spPr>
          <a:xfrm>
            <a:off x="45415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Encontrar opciones</a:t>
            </a:r>
          </a:p>
        </p:txBody>
      </p:sp>
      <p:sp>
        <p:nvSpPr>
          <p:cNvPr id="11" name="Rounded Rectangle 10"/>
          <p:cNvSpPr/>
          <p:nvPr/>
        </p:nvSpPr>
        <p:spPr>
          <a:xfrm>
            <a:off x="80772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Decidir</a:t>
            </a:r>
          </a:p>
        </p:txBody>
      </p:sp>
      <p:sp>
        <p:nvSpPr>
          <p:cNvPr id="13" name="TextBox 12"/>
          <p:cNvSpPr txBox="1"/>
          <p:nvPr/>
        </p:nvSpPr>
        <p:spPr>
          <a:xfrm>
            <a:off x="82753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Elegir el siguiente paso</a:t>
            </a:r>
          </a:p>
        </p:txBody>
      </p:sp>
      <p:sp>
        <p:nvSpPr>
          <p:cNvPr id="14" name="Rounded Rectangle 13"/>
          <p:cNvSpPr/>
          <p:nvPr/>
        </p:nvSpPr>
        <p:spPr>
          <a:xfrm>
            <a:off x="609600" y="3657600"/>
            <a:ext cx="5387340" cy="1737360"/>
          </a:xfrm>
          <a:prstGeom prst="roundRect">
            <a:avLst>
              <a:gd name="adj" fmla="val 78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78579"/>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Persona que ya sabe qué busca</a:t>
            </a:r>
          </a:p>
        </p:txBody>
      </p:sp>
      <p:sp>
        <p:nvSpPr>
          <p:cNvPr id="16" name="TextBox 15"/>
          <p:cNvSpPr txBox="1"/>
          <p:nvPr/>
        </p:nvSpPr>
        <p:spPr>
          <a:xfrm>
            <a:off x="822960" y="435102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Necesita acceso fácil al catálogo o búsqueda, si la</a:t>
            </a:r>
          </a:p>
          <a:p>
            <a:pPr>
              <a:lnSpc>
                <a:spcPts val="2220"/>
              </a:lnSpc>
              <a:spcBef>
                <a:spcPts val="0"/>
              </a:spcBef>
              <a:spcAft>
                <a:spcPts val="0"/>
              </a:spcAft>
              <a:defRPr sz="1620" b="0">
                <a:solidFill>
                  <a:srgbClr val="536975"/>
                </a:solidFill>
                <a:latin typeface="Noto Sans"/>
              </a:defRPr>
            </a:pPr>
            <a:r>
              <a:t>oferta lo justifica.</a:t>
            </a:r>
          </a:p>
        </p:txBody>
      </p:sp>
      <p:sp>
        <p:nvSpPr>
          <p:cNvPr id="17" name="Rounded Rectangle 16"/>
          <p:cNvSpPr/>
          <p:nvPr/>
        </p:nvSpPr>
        <p:spPr>
          <a:xfrm>
            <a:off x="6210300" y="3657600"/>
            <a:ext cx="5387340" cy="1737360"/>
          </a:xfrm>
          <a:prstGeom prst="roundRect">
            <a:avLst>
              <a:gd name="adj" fmla="val 78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3660" y="3878579"/>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Persona que aún está comparando</a:t>
            </a:r>
          </a:p>
        </p:txBody>
      </p:sp>
      <p:sp>
        <p:nvSpPr>
          <p:cNvPr id="19" name="TextBox 18"/>
          <p:cNvSpPr txBox="1"/>
          <p:nvPr/>
        </p:nvSpPr>
        <p:spPr>
          <a:xfrm>
            <a:off x="6423660" y="435102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Necesita contexto, beneficios y evidencia para</a:t>
            </a:r>
          </a:p>
          <a:p>
            <a:pPr>
              <a:lnSpc>
                <a:spcPts val="2220"/>
              </a:lnSpc>
              <a:spcBef>
                <a:spcPts val="0"/>
              </a:spcBef>
              <a:spcAft>
                <a:spcPts val="0"/>
              </a:spcAft>
              <a:defRPr sz="1620" b="0">
                <a:solidFill>
                  <a:srgbClr val="536975"/>
                </a:solidFill>
                <a:latin typeface="Noto Sans"/>
              </a:defRPr>
            </a:pPr>
            <a:r>
              <a:t>ganar confianza.</a:t>
            </a:r>
          </a:p>
        </p:txBody>
      </p:sp>
      <p:sp>
        <p:nvSpPr>
          <p:cNvPr id="20" name="Rounded Rectangle 19"/>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Una acción principal visible puede convivir con rutas secundarias bien jerarquizadas.</a:t>
            </a:r>
          </a:p>
        </p:txBody>
      </p:sp>
      <p:sp>
        <p:nvSpPr>
          <p:cNvPr id="22" name="TextBox 21"/>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3" name="TextBox 22"/>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05 / MÓVIL Y ACCESIBILIDAD</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La claridad debe</a:t>
            </a:r>
          </a:p>
          <a:p>
            <a:pPr>
              <a:lnSpc>
                <a:spcPts val="5040"/>
              </a:lnSpc>
              <a:spcBef>
                <a:spcPts val="0"/>
              </a:spcBef>
              <a:spcAft>
                <a:spcPts val="0"/>
              </a:spcAft>
              <a:defRPr sz="3660" b="1">
                <a:solidFill>
                  <a:srgbClr val="18394A"/>
                </a:solidFill>
                <a:latin typeface="Noto Sans"/>
              </a:defRPr>
            </a:pPr>
            <a:r>
              <a:t>funcionar para más personas</a:t>
            </a:r>
          </a:p>
        </p:txBody>
      </p:sp>
      <p:sp>
        <p:nvSpPr>
          <p:cNvPr id="5" name="Rounded Rectangle 4"/>
          <p:cNvSpPr/>
          <p:nvPr/>
        </p:nvSpPr>
        <p:spPr>
          <a:xfrm>
            <a:off x="609600" y="238506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Lectura cómoda</a:t>
            </a:r>
          </a:p>
        </p:txBody>
      </p:sp>
      <p:sp>
        <p:nvSpPr>
          <p:cNvPr id="7" name="TextBox 6"/>
          <p:cNvSpPr txBox="1"/>
          <p:nvPr/>
        </p:nvSpPr>
        <p:spPr>
          <a:xfrm>
            <a:off x="822960" y="307848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Texto legible, contenido adaptable y contraste</a:t>
            </a:r>
          </a:p>
          <a:p>
            <a:pPr>
              <a:lnSpc>
                <a:spcPts val="2220"/>
              </a:lnSpc>
              <a:spcBef>
                <a:spcPts val="0"/>
              </a:spcBef>
              <a:spcAft>
                <a:spcPts val="0"/>
              </a:spcAft>
              <a:defRPr sz="1620" b="0">
                <a:solidFill>
                  <a:srgbClr val="536975"/>
                </a:solidFill>
                <a:latin typeface="Noto Sans"/>
              </a:defRPr>
            </a:pPr>
            <a:r>
              <a:t>suficiente.</a:t>
            </a:r>
          </a:p>
        </p:txBody>
      </p:sp>
      <p:sp>
        <p:nvSpPr>
          <p:cNvPr id="8" name="Rounded Rectangle 7"/>
          <p:cNvSpPr/>
          <p:nvPr/>
        </p:nvSpPr>
        <p:spPr>
          <a:xfrm>
            <a:off x="6210300" y="238506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3660" y="260604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Uso con teclado</a:t>
            </a:r>
          </a:p>
        </p:txBody>
      </p:sp>
      <p:sp>
        <p:nvSpPr>
          <p:cNvPr id="10" name="TextBox 9"/>
          <p:cNvSpPr txBox="1"/>
          <p:nvPr/>
        </p:nvSpPr>
        <p:spPr>
          <a:xfrm>
            <a:off x="6423660" y="307848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Recorrido lógico y foco visible en enlaces y</a:t>
            </a:r>
          </a:p>
          <a:p>
            <a:pPr>
              <a:lnSpc>
                <a:spcPts val="2220"/>
              </a:lnSpc>
              <a:spcBef>
                <a:spcPts val="0"/>
              </a:spcBef>
              <a:spcAft>
                <a:spcPts val="0"/>
              </a:spcAft>
              <a:defRPr sz="1620" b="0">
                <a:solidFill>
                  <a:srgbClr val="536975"/>
                </a:solidFill>
                <a:latin typeface="Noto Sans"/>
              </a:defRPr>
            </a:pPr>
            <a:r>
              <a:t>botones.</a:t>
            </a:r>
          </a:p>
        </p:txBody>
      </p:sp>
      <p:sp>
        <p:nvSpPr>
          <p:cNvPr id="11" name="Rounded Rectangle 10"/>
          <p:cNvSpPr/>
          <p:nvPr/>
        </p:nvSpPr>
        <p:spPr>
          <a:xfrm>
            <a:off x="609600" y="393954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6052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Imágenes que aportan</a:t>
            </a:r>
          </a:p>
        </p:txBody>
      </p:sp>
      <p:sp>
        <p:nvSpPr>
          <p:cNvPr id="13" name="TextBox 12"/>
          <p:cNvSpPr txBox="1"/>
          <p:nvPr/>
        </p:nvSpPr>
        <p:spPr>
          <a:xfrm>
            <a:off x="822960" y="463296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Texto alternativo cuando la imagen transmite</a:t>
            </a:r>
          </a:p>
          <a:p>
            <a:pPr>
              <a:lnSpc>
                <a:spcPts val="2220"/>
              </a:lnSpc>
              <a:spcBef>
                <a:spcPts val="0"/>
              </a:spcBef>
              <a:spcAft>
                <a:spcPts val="0"/>
              </a:spcAft>
              <a:defRPr sz="1620" b="0">
                <a:solidFill>
                  <a:srgbClr val="536975"/>
                </a:solidFill>
                <a:latin typeface="Noto Sans"/>
              </a:defRPr>
            </a:pPr>
            <a:r>
              <a:t>información.</a:t>
            </a:r>
          </a:p>
        </p:txBody>
      </p:sp>
      <p:sp>
        <p:nvSpPr>
          <p:cNvPr id="14" name="Rounded Rectangle 13"/>
          <p:cNvSpPr/>
          <p:nvPr/>
        </p:nvSpPr>
        <p:spPr>
          <a:xfrm>
            <a:off x="6210300" y="393954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3660" y="416052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Acciones reconocibles</a:t>
            </a:r>
          </a:p>
        </p:txBody>
      </p:sp>
      <p:sp>
        <p:nvSpPr>
          <p:cNvPr id="16" name="TextBox 15"/>
          <p:cNvSpPr txBox="1"/>
          <p:nvPr/>
        </p:nvSpPr>
        <p:spPr>
          <a:xfrm>
            <a:off x="6423660" y="463296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Etiquetas descriptivas; controles fáciles de localizar</a:t>
            </a:r>
          </a:p>
          <a:p>
            <a:pPr>
              <a:lnSpc>
                <a:spcPts val="2220"/>
              </a:lnSpc>
              <a:spcBef>
                <a:spcPts val="0"/>
              </a:spcBef>
              <a:spcAft>
                <a:spcPts val="0"/>
              </a:spcAft>
              <a:defRPr sz="1620" b="0">
                <a:solidFill>
                  <a:srgbClr val="536975"/>
                </a:solidFill>
                <a:latin typeface="Noto Sans"/>
              </a:defRPr>
            </a:pPr>
            <a:r>
              <a:t>y activar.</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WCAG 2.2: contraste mínimo 4,5:1 para texto normal; 3:1 para texto grande, con las excepciones del criterio 1.4.3.</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06 / EVALUACIÓN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Medir una acción</a:t>
            </a:r>
          </a:p>
          <a:p>
            <a:pPr>
              <a:lnSpc>
                <a:spcPts val="5040"/>
              </a:lnSpc>
              <a:spcBef>
                <a:spcPts val="0"/>
              </a:spcBef>
              <a:spcAft>
                <a:spcPts val="0"/>
              </a:spcAft>
              <a:defRPr sz="3660" b="1">
                <a:solidFill>
                  <a:srgbClr val="18394A"/>
                </a:solidFill>
                <a:latin typeface="Noto Sans"/>
              </a:defRPr>
            </a:pPr>
            <a:r>
              <a:t>con un propósito definido</a:t>
            </a:r>
          </a:p>
        </p:txBody>
      </p:sp>
      <p:sp>
        <p:nvSpPr>
          <p:cNvPr id="5" name="Rounded Rectangle 4"/>
          <p:cNvSpPr/>
          <p:nvPr/>
        </p:nvSpPr>
        <p:spPr>
          <a:xfrm>
            <a:off x="609600" y="2400300"/>
            <a:ext cx="5943600" cy="1143000"/>
          </a:xfrm>
          <a:prstGeom prst="roundRect">
            <a:avLst>
              <a:gd name="adj" fmla="val 10666"/>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705100"/>
            <a:ext cx="5524500" cy="632460"/>
          </a:xfrm>
          <a:prstGeom prst="rect">
            <a:avLst/>
          </a:prstGeom>
          <a:noFill/>
        </p:spPr>
        <p:txBody>
          <a:bodyPr wrap="none" lIns="0" tIns="0" rIns="0" bIns="0" anchor="t">
            <a:spAutoFit/>
          </a:bodyPr>
          <a:lstStyle/>
          <a:p>
            <a:pPr>
              <a:lnSpc>
                <a:spcPts val="4140"/>
              </a:lnSpc>
              <a:spcBef>
                <a:spcPts val="0"/>
              </a:spcBef>
              <a:spcAft>
                <a:spcPts val="0"/>
              </a:spcAft>
              <a:defRPr sz="3000" b="1">
                <a:solidFill>
                  <a:srgbClr val="FFFFFF"/>
                </a:solidFill>
                <a:latin typeface="Noto Sans"/>
              </a:defRPr>
            </a:pPr>
            <a:r>
              <a:t>50 ÷ 2.000 × 100 = 2,5 %</a:t>
            </a:r>
          </a:p>
        </p:txBody>
      </p:sp>
      <p:sp>
        <p:nvSpPr>
          <p:cNvPr id="7" name="TextBox 6"/>
          <p:cNvSpPr txBox="1"/>
          <p:nvPr/>
        </p:nvSpPr>
        <p:spPr>
          <a:xfrm>
            <a:off x="685800" y="3771900"/>
            <a:ext cx="5760720" cy="998219"/>
          </a:xfrm>
          <a:prstGeom prst="rect">
            <a:avLst/>
          </a:prstGeom>
          <a:noFill/>
        </p:spPr>
        <p:txBody>
          <a:bodyPr wrap="none" lIns="0" tIns="0" rIns="0" bIns="0" anchor="t">
            <a:spAutoFit/>
          </a:bodyPr>
          <a:lstStyle/>
          <a:p>
            <a:pPr>
              <a:lnSpc>
                <a:spcPts val="2340"/>
              </a:lnSpc>
              <a:spcBef>
                <a:spcPts val="0"/>
              </a:spcBef>
              <a:spcAft>
                <a:spcPts val="0"/>
              </a:spcAft>
              <a:defRPr sz="1680" b="0">
                <a:solidFill>
                  <a:srgbClr val="536975"/>
                </a:solidFill>
                <a:latin typeface="Noto Sans"/>
              </a:defRPr>
            </a:pPr>
            <a:r>
              <a:t>Ejemplo hipotético: 50 de 2.000 sesiones que vieron el</a:t>
            </a:r>
          </a:p>
          <a:p>
            <a:pPr>
              <a:lnSpc>
                <a:spcPts val="2340"/>
              </a:lnSpc>
              <a:spcBef>
                <a:spcPts val="0"/>
              </a:spcBef>
              <a:spcAft>
                <a:spcPts val="0"/>
              </a:spcAft>
              <a:defRPr sz="1680" b="0">
                <a:solidFill>
                  <a:srgbClr val="536975"/>
                </a:solidFill>
                <a:latin typeface="Noto Sans"/>
              </a:defRPr>
            </a:pPr>
            <a:r>
              <a:t>inicio completaron la acción definida durante el período</a:t>
            </a:r>
          </a:p>
          <a:p>
            <a:pPr>
              <a:lnSpc>
                <a:spcPts val="2340"/>
              </a:lnSpc>
              <a:spcBef>
                <a:spcPts val="0"/>
              </a:spcBef>
              <a:spcAft>
                <a:spcPts val="0"/>
              </a:spcAft>
              <a:defRPr sz="1680" b="0">
                <a:solidFill>
                  <a:srgbClr val="536975"/>
                </a:solidFill>
                <a:latin typeface="Noto Sans"/>
              </a:defRPr>
            </a:pPr>
            <a:r>
              <a:t>observado.</a:t>
            </a:r>
          </a:p>
        </p:txBody>
      </p:sp>
      <p:sp>
        <p:nvSpPr>
          <p:cNvPr id="8" name="Rounded Rectangle 7"/>
          <p:cNvSpPr/>
          <p:nvPr/>
        </p:nvSpPr>
        <p:spPr>
          <a:xfrm>
            <a:off x="6858000" y="2385060"/>
            <a:ext cx="4678680" cy="1562100"/>
          </a:xfrm>
          <a:prstGeom prst="roundRect">
            <a:avLst>
              <a:gd name="adj" fmla="val 87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71360" y="2606040"/>
            <a:ext cx="425196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Define antes de medir</a:t>
            </a:r>
          </a:p>
        </p:txBody>
      </p:sp>
      <p:sp>
        <p:nvSpPr>
          <p:cNvPr id="10" name="TextBox 9"/>
          <p:cNvSpPr txBox="1"/>
          <p:nvPr/>
        </p:nvSpPr>
        <p:spPr>
          <a:xfrm>
            <a:off x="7071360" y="3078480"/>
            <a:ext cx="425196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Qué acción cuenta, qué período observas y</a:t>
            </a:r>
          </a:p>
          <a:p>
            <a:pPr>
              <a:lnSpc>
                <a:spcPts val="2220"/>
              </a:lnSpc>
              <a:spcBef>
                <a:spcPts val="0"/>
              </a:spcBef>
              <a:spcAft>
                <a:spcPts val="0"/>
              </a:spcAft>
              <a:defRPr sz="1620" b="0">
                <a:solidFill>
                  <a:srgbClr val="536975"/>
                </a:solidFill>
                <a:latin typeface="Noto Sans"/>
              </a:defRPr>
            </a:pPr>
            <a:r>
              <a:t>qué conjunto de sesiones usarás.</a:t>
            </a:r>
          </a:p>
        </p:txBody>
      </p:sp>
      <p:sp>
        <p:nvSpPr>
          <p:cNvPr id="11" name="Rounded Rectangle 10"/>
          <p:cNvSpPr/>
          <p:nvPr/>
        </p:nvSpPr>
        <p:spPr>
          <a:xfrm>
            <a:off x="6858000" y="4061460"/>
            <a:ext cx="4678680" cy="1562100"/>
          </a:xfrm>
          <a:prstGeom prst="roundRect">
            <a:avLst>
              <a:gd name="adj" fmla="val 87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71360" y="4282440"/>
            <a:ext cx="425196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Interpreta con cuidado</a:t>
            </a:r>
          </a:p>
        </p:txBody>
      </p:sp>
      <p:sp>
        <p:nvSpPr>
          <p:cNvPr id="13" name="TextBox 12"/>
          <p:cNvSpPr txBox="1"/>
          <p:nvPr/>
        </p:nvSpPr>
        <p:spPr>
          <a:xfrm>
            <a:off x="7071360" y="4754880"/>
            <a:ext cx="425196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Las visitas por sí solas no prueban utilidad.</a:t>
            </a:r>
          </a:p>
          <a:p>
            <a:pPr>
              <a:lnSpc>
                <a:spcPts val="2220"/>
              </a:lnSpc>
              <a:spcBef>
                <a:spcPts val="0"/>
              </a:spcBef>
              <a:spcAft>
                <a:spcPts val="0"/>
              </a:spcAft>
              <a:defRPr sz="1620" b="0">
                <a:solidFill>
                  <a:srgbClr val="536975"/>
                </a:solidFill>
                <a:latin typeface="Noto Sans"/>
              </a:defRPr>
            </a:pPr>
            <a:r>
              <a:t>Un clic tampoco equivale a una venta.</a:t>
            </a:r>
          </a:p>
        </p:txBody>
      </p:sp>
      <p:sp>
        <p:nvSpPr>
          <p:cNvPr id="14" name="Rounded Rectangle 13"/>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La proporción observada describe un resultado; por sí sola no demuestra qué cambio lo causó.</a:t>
            </a:r>
          </a:p>
        </p:txBody>
      </p:sp>
      <p:sp>
        <p:nvSpPr>
          <p:cNvPr id="16" name="TextBox 15"/>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7" name="TextBox 16"/>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07 / APLICACIÓN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Tu reto: mejorar</a:t>
            </a:r>
          </a:p>
          <a:p>
            <a:pPr>
              <a:lnSpc>
                <a:spcPts val="5040"/>
              </a:lnSpc>
              <a:spcBef>
                <a:spcPts val="0"/>
              </a:spcBef>
              <a:spcAft>
                <a:spcPts val="0"/>
              </a:spcAft>
              <a:defRPr sz="3660" b="1">
                <a:solidFill>
                  <a:srgbClr val="18394A"/>
                </a:solidFill>
                <a:latin typeface="Noto Sans"/>
              </a:defRPr>
            </a:pPr>
            <a:r>
              <a:t>el inicio de Minga Cacao</a:t>
            </a:r>
          </a:p>
        </p:txBody>
      </p:sp>
      <p:sp>
        <p:nvSpPr>
          <p:cNvPr id="5" name="Rounded Rectangle 4"/>
          <p:cNvSpPr/>
          <p:nvPr/>
        </p:nvSpPr>
        <p:spPr>
          <a:xfrm>
            <a:off x="6096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01</a:t>
            </a:r>
          </a:p>
        </p:txBody>
      </p:sp>
      <p:sp>
        <p:nvSpPr>
          <p:cNvPr id="7" name="TextBox 6"/>
          <p:cNvSpPr txBox="1"/>
          <p:nvPr/>
        </p:nvSpPr>
        <p:spPr>
          <a:xfrm>
            <a:off x="8229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Diagnostica</a:t>
            </a:r>
          </a:p>
        </p:txBody>
      </p:sp>
      <p:sp>
        <p:nvSpPr>
          <p:cNvPr id="8" name="TextBox 7"/>
          <p:cNvSpPr txBox="1"/>
          <p:nvPr/>
        </p:nvSpPr>
        <p:spPr>
          <a:xfrm>
            <a:off x="822960" y="3421380"/>
            <a:ext cx="3093720" cy="123444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La página solo dice</a:t>
            </a:r>
          </a:p>
          <a:p>
            <a:pPr>
              <a:lnSpc>
                <a:spcPts val="2220"/>
              </a:lnSpc>
              <a:spcBef>
                <a:spcPts val="0"/>
              </a:spcBef>
              <a:spcAft>
                <a:spcPts val="0"/>
              </a:spcAft>
              <a:defRPr sz="1620" b="0">
                <a:solidFill>
                  <a:srgbClr val="536975"/>
                </a:solidFill>
                <a:latin typeface="Noto Sans"/>
              </a:defRPr>
            </a:pPr>
            <a:r>
              <a:t>«Bienvenidos», tiene seis</a:t>
            </a:r>
          </a:p>
          <a:p>
            <a:pPr>
              <a:lnSpc>
                <a:spcPts val="2220"/>
              </a:lnSpc>
              <a:spcBef>
                <a:spcPts val="0"/>
              </a:spcBef>
              <a:spcAft>
                <a:spcPts val="0"/>
              </a:spcAft>
              <a:defRPr sz="1620" b="0">
                <a:solidFill>
                  <a:srgbClr val="536975"/>
                </a:solidFill>
                <a:latin typeface="Noto Sans"/>
              </a:defRPr>
            </a:pPr>
            <a:r>
              <a:t>botones iguales y no explica</a:t>
            </a:r>
          </a:p>
          <a:p>
            <a:pPr>
              <a:lnSpc>
                <a:spcPts val="2220"/>
              </a:lnSpc>
              <a:spcBef>
                <a:spcPts val="0"/>
              </a:spcBef>
              <a:spcAft>
                <a:spcPts val="0"/>
              </a:spcAft>
              <a:defRPr sz="1620" b="0">
                <a:solidFill>
                  <a:srgbClr val="536975"/>
                </a:solidFill>
                <a:latin typeface="Noto Sans"/>
              </a:defRPr>
            </a:pPr>
            <a:r>
              <a:t>qué vende.</a:t>
            </a:r>
          </a:p>
        </p:txBody>
      </p:sp>
      <p:sp>
        <p:nvSpPr>
          <p:cNvPr id="9" name="Rounded Rectangle 8"/>
          <p:cNvSpPr/>
          <p:nvPr/>
        </p:nvSpPr>
        <p:spPr>
          <a:xfrm>
            <a:off x="43434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67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02</a:t>
            </a:r>
          </a:p>
        </p:txBody>
      </p:sp>
      <p:sp>
        <p:nvSpPr>
          <p:cNvPr id="11" name="TextBox 10"/>
          <p:cNvSpPr txBox="1"/>
          <p:nvPr/>
        </p:nvSpPr>
        <p:spPr>
          <a:xfrm>
            <a:off x="45567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Rediseña</a:t>
            </a:r>
          </a:p>
        </p:txBody>
      </p:sp>
      <p:sp>
        <p:nvSpPr>
          <p:cNvPr id="12" name="TextBox 11"/>
          <p:cNvSpPr txBox="1"/>
          <p:nvPr/>
        </p:nvSpPr>
        <p:spPr>
          <a:xfrm>
            <a:off x="4556760" y="34213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Escribe una propuesta concreta</a:t>
            </a:r>
          </a:p>
          <a:p>
            <a:pPr>
              <a:lnSpc>
                <a:spcPts val="2220"/>
              </a:lnSpc>
              <a:spcBef>
                <a:spcPts val="0"/>
              </a:spcBef>
              <a:spcAft>
                <a:spcPts val="0"/>
              </a:spcAft>
              <a:defRPr sz="1620" b="0">
                <a:solidFill>
                  <a:srgbClr val="536975"/>
                </a:solidFill>
                <a:latin typeface="Noto Sans"/>
              </a:defRPr>
            </a:pPr>
            <a:r>
              <a:t>y dibuja la jerarquía para una</a:t>
            </a:r>
          </a:p>
          <a:p>
            <a:pPr>
              <a:lnSpc>
                <a:spcPts val="2220"/>
              </a:lnSpc>
              <a:spcBef>
                <a:spcPts val="0"/>
              </a:spcBef>
              <a:spcAft>
                <a:spcPts val="0"/>
              </a:spcAft>
              <a:defRPr sz="1620" b="0">
                <a:solidFill>
                  <a:srgbClr val="536975"/>
                </a:solidFill>
                <a:latin typeface="Noto Sans"/>
              </a:defRPr>
            </a:pPr>
            <a:r>
              <a:t>pantalla móvil.</a:t>
            </a:r>
          </a:p>
        </p:txBody>
      </p:sp>
      <p:sp>
        <p:nvSpPr>
          <p:cNvPr id="13" name="Rounded Rectangle 12"/>
          <p:cNvSpPr/>
          <p:nvPr/>
        </p:nvSpPr>
        <p:spPr>
          <a:xfrm>
            <a:off x="80772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05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03</a:t>
            </a:r>
          </a:p>
        </p:txBody>
      </p:sp>
      <p:sp>
        <p:nvSpPr>
          <p:cNvPr id="15" name="TextBox 14"/>
          <p:cNvSpPr txBox="1"/>
          <p:nvPr/>
        </p:nvSpPr>
        <p:spPr>
          <a:xfrm>
            <a:off x="82905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Justifica</a:t>
            </a:r>
          </a:p>
        </p:txBody>
      </p:sp>
      <p:sp>
        <p:nvSpPr>
          <p:cNvPr id="16" name="TextBox 15"/>
          <p:cNvSpPr txBox="1"/>
          <p:nvPr/>
        </p:nvSpPr>
        <p:spPr>
          <a:xfrm>
            <a:off x="8290560" y="34213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Explica la acción prioritaria, dos</a:t>
            </a:r>
          </a:p>
          <a:p>
            <a:pPr>
              <a:lnSpc>
                <a:spcPts val="2220"/>
              </a:lnSpc>
              <a:spcBef>
                <a:spcPts val="0"/>
              </a:spcBef>
              <a:spcAft>
                <a:spcPts val="0"/>
              </a:spcAft>
              <a:defRPr sz="1620" b="0">
                <a:solidFill>
                  <a:srgbClr val="536975"/>
                </a:solidFill>
                <a:latin typeface="Noto Sans"/>
              </a:defRPr>
            </a:pPr>
            <a:r>
              <a:t>mejoras de accesibilidad y una</a:t>
            </a:r>
          </a:p>
          <a:p>
            <a:pPr>
              <a:lnSpc>
                <a:spcPts val="2220"/>
              </a:lnSpc>
              <a:spcBef>
                <a:spcPts val="0"/>
              </a:spcBef>
              <a:spcAft>
                <a:spcPts val="0"/>
              </a:spcAft>
              <a:defRPr sz="1620" b="0">
                <a:solidFill>
                  <a:srgbClr val="536975"/>
                </a:solidFill>
                <a:latin typeface="Noto Sans"/>
              </a:defRPr>
            </a:pPr>
            <a:r>
              <a:t>medida de resultado.</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Caso ficticio. No necesitas programar: entrega un boceto comentado y argumentos verificables.</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E7AE53"/>
                </a:solidFill>
                <a:latin typeface="Noto Sans"/>
              </a:defRPr>
            </a:pPr>
            <a:r>
              <a:t>08 / CONCLUSIÓN</a:t>
            </a:r>
          </a:p>
        </p:txBody>
      </p:sp>
      <p:sp>
        <p:nvSpPr>
          <p:cNvPr id="5" name="TextBox 4"/>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FFFFFF"/>
                </a:solidFill>
                <a:latin typeface="Noto Sans"/>
              </a:defRPr>
            </a:pPr>
            <a:r>
              <a:t>Orientar. Priorizar.</a:t>
            </a:r>
          </a:p>
          <a:p>
            <a:pPr>
              <a:lnSpc>
                <a:spcPts val="5040"/>
              </a:lnSpc>
              <a:spcBef>
                <a:spcPts val="0"/>
              </a:spcBef>
              <a:spcAft>
                <a:spcPts val="0"/>
              </a:spcAft>
              <a:defRPr sz="3660" b="1">
                <a:solidFill>
                  <a:srgbClr val="FFFFFF"/>
                </a:solidFill>
                <a:latin typeface="Noto Sans"/>
              </a:defRPr>
            </a:pPr>
            <a:r>
              <a:t>Comprobar.</a:t>
            </a:r>
          </a:p>
        </p:txBody>
      </p:sp>
      <p:sp>
        <p:nvSpPr>
          <p:cNvPr id="6" name="Rounded Rectangle 5"/>
          <p:cNvSpPr/>
          <p:nvPr/>
        </p:nvSpPr>
        <p:spPr>
          <a:xfrm>
            <a:off x="6096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01</a:t>
            </a:r>
          </a:p>
        </p:txBody>
      </p:sp>
      <p:sp>
        <p:nvSpPr>
          <p:cNvPr id="8" name="TextBox 7"/>
          <p:cNvSpPr txBox="1"/>
          <p:nvPr/>
        </p:nvSpPr>
        <p:spPr>
          <a:xfrm>
            <a:off x="8229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Orientar</a:t>
            </a:r>
          </a:p>
        </p:txBody>
      </p:sp>
      <p:sp>
        <p:nvSpPr>
          <p:cNvPr id="9" name="TextBox 8"/>
          <p:cNvSpPr txBox="1"/>
          <p:nvPr/>
        </p:nvSpPr>
        <p:spPr>
          <a:xfrm>
            <a:off x="8229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Explica la oferta y permite</a:t>
            </a:r>
          </a:p>
          <a:p>
            <a:pPr>
              <a:lnSpc>
                <a:spcPts val="2220"/>
              </a:lnSpc>
              <a:spcBef>
                <a:spcPts val="0"/>
              </a:spcBef>
              <a:spcAft>
                <a:spcPts val="0"/>
              </a:spcAft>
              <a:defRPr sz="1620" b="0">
                <a:solidFill>
                  <a:srgbClr val="D6E4E8"/>
                </a:solidFill>
                <a:latin typeface="Noto Sans"/>
              </a:defRPr>
            </a:pPr>
            <a:r>
              <a:t>reconocer qué puede hacerse</a:t>
            </a:r>
          </a:p>
          <a:p>
            <a:pPr>
              <a:lnSpc>
                <a:spcPts val="2220"/>
              </a:lnSpc>
              <a:spcBef>
                <a:spcPts val="0"/>
              </a:spcBef>
              <a:spcAft>
                <a:spcPts val="0"/>
              </a:spcAft>
              <a:defRPr sz="1620" b="0">
                <a:solidFill>
                  <a:srgbClr val="D6E4E8"/>
                </a:solidFill>
                <a:latin typeface="Noto Sans"/>
              </a:defRPr>
            </a:pPr>
            <a:r>
              <a:t>en el sitio.</a:t>
            </a:r>
          </a:p>
        </p:txBody>
      </p:sp>
      <p:sp>
        <p:nvSpPr>
          <p:cNvPr id="10" name="Rounded Rectangle 9"/>
          <p:cNvSpPr/>
          <p:nvPr/>
        </p:nvSpPr>
        <p:spPr>
          <a:xfrm>
            <a:off x="43434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67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02</a:t>
            </a:r>
          </a:p>
        </p:txBody>
      </p:sp>
      <p:sp>
        <p:nvSpPr>
          <p:cNvPr id="12" name="TextBox 11"/>
          <p:cNvSpPr txBox="1"/>
          <p:nvPr/>
        </p:nvSpPr>
        <p:spPr>
          <a:xfrm>
            <a:off x="45567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Priorizar</a:t>
            </a:r>
          </a:p>
        </p:txBody>
      </p:sp>
      <p:sp>
        <p:nvSpPr>
          <p:cNvPr id="13" name="TextBox 12"/>
          <p:cNvSpPr txBox="1"/>
          <p:nvPr/>
        </p:nvSpPr>
        <p:spPr>
          <a:xfrm>
            <a:off x="4556760" y="3459480"/>
            <a:ext cx="30937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Ordena mensajes y recorridos</a:t>
            </a:r>
          </a:p>
          <a:p>
            <a:pPr>
              <a:lnSpc>
                <a:spcPts val="2220"/>
              </a:lnSpc>
              <a:spcBef>
                <a:spcPts val="0"/>
              </a:spcBef>
              <a:spcAft>
                <a:spcPts val="0"/>
              </a:spcAft>
              <a:defRPr sz="1620" b="0">
                <a:solidFill>
                  <a:srgbClr val="D6E4E8"/>
                </a:solidFill>
                <a:latin typeface="Noto Sans"/>
              </a:defRPr>
            </a:pPr>
            <a:r>
              <a:t>según la intención del público.</a:t>
            </a:r>
          </a:p>
        </p:txBody>
      </p:sp>
      <p:sp>
        <p:nvSpPr>
          <p:cNvPr id="14" name="Rounded Rectangle 13"/>
          <p:cNvSpPr/>
          <p:nvPr/>
        </p:nvSpPr>
        <p:spPr>
          <a:xfrm>
            <a:off x="80772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05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03</a:t>
            </a:r>
          </a:p>
        </p:txBody>
      </p:sp>
      <p:sp>
        <p:nvSpPr>
          <p:cNvPr id="16" name="TextBox 15"/>
          <p:cNvSpPr txBox="1"/>
          <p:nvPr/>
        </p:nvSpPr>
        <p:spPr>
          <a:xfrm>
            <a:off x="82905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7" name="TextBox 16"/>
          <p:cNvSpPr txBox="1"/>
          <p:nvPr/>
        </p:nvSpPr>
        <p:spPr>
          <a:xfrm>
            <a:off x="82905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Revisa accesibilidad y observa</a:t>
            </a:r>
          </a:p>
          <a:p>
            <a:pPr>
              <a:lnSpc>
                <a:spcPts val="2220"/>
              </a:lnSpc>
              <a:spcBef>
                <a:spcPts val="0"/>
              </a:spcBef>
              <a:spcAft>
                <a:spcPts val="0"/>
              </a:spcAft>
              <a:defRPr sz="1620" b="0">
                <a:solidFill>
                  <a:srgbClr val="D6E4E8"/>
                </a:solidFill>
                <a:latin typeface="Noto Sans"/>
              </a:defRPr>
            </a:pPr>
            <a:r>
              <a:t>una acción definida con datos</a:t>
            </a:r>
          </a:p>
          <a:p>
            <a:pPr>
              <a:lnSpc>
                <a:spcPts val="2220"/>
              </a:lnSpc>
              <a:spcBef>
                <a:spcPts val="0"/>
              </a:spcBef>
              <a:spcAft>
                <a:spcPts val="0"/>
              </a:spcAft>
              <a:defRPr sz="1620" b="0">
                <a:solidFill>
                  <a:srgbClr val="D6E4E8"/>
                </a:solidFill>
                <a:latin typeface="Noto Sans"/>
              </a:defRPr>
            </a:pPr>
            <a:r>
              <a:t>bien delimitados.</a:t>
            </a:r>
          </a:p>
        </p:txBody>
      </p:sp>
      <p:sp>
        <p:nvSpPr>
          <p:cNvPr id="18" name="Rounded Rectangle 17"/>
          <p:cNvSpPr/>
          <p:nvPr/>
        </p:nvSpPr>
        <p:spPr>
          <a:xfrm>
            <a:off x="609600" y="5844540"/>
            <a:ext cx="10934700" cy="396240"/>
          </a:xfrm>
          <a:prstGeom prst="roundRect">
            <a:avLst>
              <a:gd name="adj" fmla="val 17307"/>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FFFFFF"/>
                </a:solidFill>
                <a:latin typeface="Noto Sans"/>
              </a:defRPr>
            </a:pPr>
            <a:r>
              <a:t>Antes de publicar: pide a otra persona que identifique la oferta y el siguiente paso sin ayuda.</a:t>
            </a:r>
          </a:p>
        </p:txBody>
      </p:sp>
      <p:sp>
        <p:nvSpPr>
          <p:cNvPr id="20" name="TextBox 19"/>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Negocios Electrónicos · Unidad 1 · Tema 1.1 / Material de elaboración original</a:t>
            </a:r>
          </a:p>
        </p:txBody>
      </p:sp>
      <p:sp>
        <p:nvSpPr>
          <p:cNvPr id="21" name="TextBox 20"/>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NE_U1 · Sección 1.1 · Las páginas de inici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FUENTES Y CONTINUIDAD</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De la explicación</a:t>
            </a:r>
          </a:p>
          <a:p>
            <a:pPr>
              <a:lnSpc>
                <a:spcPts val="5040"/>
              </a:lnSpc>
              <a:spcBef>
                <a:spcPts val="0"/>
              </a:spcBef>
              <a:spcAft>
                <a:spcPts val="0"/>
              </a:spcAft>
              <a:defRPr sz="3660" b="1">
                <a:solidFill>
                  <a:srgbClr val="18394A"/>
                </a:solidFill>
                <a:latin typeface="Noto Sans"/>
              </a:defRPr>
            </a:pPr>
            <a:r>
              <a:t>a la práctica</a:t>
            </a:r>
          </a:p>
        </p:txBody>
      </p:sp>
      <p:sp>
        <p:nvSpPr>
          <p:cNvPr id="5" name="TextBox 4"/>
          <p:cNvSpPr txBox="1"/>
          <p:nvPr/>
        </p:nvSpPr>
        <p:spPr>
          <a:xfrm>
            <a:off x="647700" y="236220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Base curricular</a:t>
            </a:r>
          </a:p>
        </p:txBody>
      </p:sp>
      <p:sp>
        <p:nvSpPr>
          <p:cNvPr id="6" name="TextBox 5"/>
          <p:cNvSpPr txBox="1"/>
          <p:nvPr/>
        </p:nvSpPr>
        <p:spPr>
          <a:xfrm>
            <a:off x="3810000" y="236220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UPS · Negocios Electrónicos · 2026–2027. Unidad 1, subtema 1.1: «Las páginas</a:t>
            </a:r>
          </a:p>
          <a:p>
            <a:pPr>
              <a:lnSpc>
                <a:spcPts val="2220"/>
              </a:lnSpc>
              <a:spcBef>
                <a:spcPts val="0"/>
              </a:spcBef>
              <a:spcAft>
                <a:spcPts val="0"/>
              </a:spcAft>
              <a:defRPr sz="1620" b="0">
                <a:solidFill>
                  <a:srgbClr val="536975"/>
                </a:solidFill>
                <a:latin typeface="Noto Sans"/>
              </a:defRPr>
            </a:pPr>
            <a:r>
              <a:t>de inicio». Página 1 del sílabo adjunto.</a:t>
            </a:r>
          </a:p>
        </p:txBody>
      </p:sp>
      <p:sp>
        <p:nvSpPr>
          <p:cNvPr id="7" name="TextBox 6"/>
          <p:cNvSpPr txBox="1"/>
          <p:nvPr/>
        </p:nvSpPr>
        <p:spPr>
          <a:xfrm>
            <a:off x="647700" y="337566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Referencia de accesibilidad</a:t>
            </a:r>
          </a:p>
        </p:txBody>
      </p:sp>
      <p:sp>
        <p:nvSpPr>
          <p:cNvPr id="8" name="TextBox 7"/>
          <p:cNvSpPr txBox="1"/>
          <p:nvPr/>
        </p:nvSpPr>
        <p:spPr>
          <a:xfrm>
            <a:off x="3810000" y="337566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W3C (2023). Web Content Accessibility Guidelines (WCAG) 2.2. Criterios 1.1.1,</a:t>
            </a:r>
          </a:p>
          <a:p>
            <a:pPr>
              <a:lnSpc>
                <a:spcPts val="2220"/>
              </a:lnSpc>
              <a:spcBef>
                <a:spcPts val="0"/>
              </a:spcBef>
              <a:spcAft>
                <a:spcPts val="0"/>
              </a:spcAft>
              <a:defRPr sz="1620" b="0">
                <a:solidFill>
                  <a:srgbClr val="536975"/>
                </a:solidFill>
                <a:latin typeface="Noto Sans"/>
              </a:defRPr>
            </a:pPr>
            <a:r>
              <a:t>1.4.3, 1.4.10 y 2.4.7.</a:t>
            </a:r>
          </a:p>
        </p:txBody>
      </p:sp>
      <p:sp>
        <p:nvSpPr>
          <p:cNvPr id="9" name="TextBox 8"/>
          <p:cNvSpPr txBox="1"/>
          <p:nvPr/>
        </p:nvSpPr>
        <p:spPr>
          <a:xfrm>
            <a:off x="647700" y="438912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Siguiente paso</a:t>
            </a:r>
          </a:p>
        </p:txBody>
      </p:sp>
      <p:sp>
        <p:nvSpPr>
          <p:cNvPr id="10" name="TextBox 9"/>
          <p:cNvSpPr txBox="1"/>
          <p:nvPr/>
        </p:nvSpPr>
        <p:spPr>
          <a:xfrm>
            <a:off x="3810000" y="438912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Resuelve Tarea.docx y practica con el cuestionario de 10 preguntas. El caso y</a:t>
            </a:r>
          </a:p>
          <a:p>
            <a:pPr>
              <a:lnSpc>
                <a:spcPts val="2220"/>
              </a:lnSpc>
              <a:spcBef>
                <a:spcPts val="0"/>
              </a:spcBef>
              <a:spcAft>
                <a:spcPts val="0"/>
              </a:spcAft>
              <a:defRPr sz="1620" b="0">
                <a:solidFill>
                  <a:srgbClr val="536975"/>
                </a:solidFill>
                <a:latin typeface="Noto Sans"/>
              </a:defRPr>
            </a:pPr>
            <a:r>
              <a:t>los datos del ejemplo son ficticios.</a:t>
            </a:r>
          </a:p>
        </p:txBody>
      </p:sp>
      <p:sp>
        <p:nvSpPr>
          <p:cNvPr id="11" name="Rounded Rectangle 10"/>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Referencia técnica: https://www.w3.org/TR/WCAG22/ · Material didáctico de elaboración original.</a:t>
            </a:r>
          </a:p>
        </p:txBody>
      </p:sp>
      <p:sp>
        <p:nvSpPr>
          <p:cNvPr id="13" name="TextBox 12"/>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4" name="TextBox 13"/>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División por departamentos y categorías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Diseñar una organización de catálogo que permita encontrar productos y distinguir</a:t>
            </a:r>
          </a:p>
          <a:p>
            <a:pPr>
              <a:lnSpc>
                <a:spcPts val="2640"/>
              </a:lnSpc>
              <a:spcBef>
                <a:spcPts val="0"/>
              </a:spcBef>
              <a:spcAft>
                <a:spcPts val="0"/>
              </a:spcAft>
              <a:defRPr sz="1920" b="0">
                <a:solidFill>
                  <a:srgbClr val="D6E4E8"/>
                </a:solidFill>
                <a:latin typeface="Noto Sans"/>
              </a:defRPr>
            </a:pPr>
            <a:r>
              <a:t>categorías de filtros.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Diseñar una organización de catálogo que permita encontrar productos y</a:t>
            </a:r>
          </a:p>
          <a:p>
            <a:pPr>
              <a:lnSpc>
                <a:spcPts val="2820"/>
              </a:lnSpc>
              <a:spcBef>
                <a:spcPts val="0"/>
              </a:spcBef>
              <a:spcAft>
                <a:spcPts val="0"/>
              </a:spcAft>
              <a:defRPr sz="2039" b="1">
                <a:solidFill>
                  <a:srgbClr val="18394A"/>
                </a:solidFill>
                <a:latin typeface="Noto Sans"/>
              </a:defRPr>
            </a:pPr>
            <a:r>
              <a:t>distinguir categorías de filtros.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¿Cómo separarías las categorías y los filtros sin duplicar el mismo producto?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Categorías orientadas al público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departamento agrupa grandes familias de oferta; una categoría organiza productos con</a:t>
            </a:r>
          </a:p>
          <a:p>
            <a:pPr>
              <a:lnSpc>
                <a:spcPts val="2580"/>
              </a:lnSpc>
              <a:spcBef>
                <a:spcPts val="0"/>
              </a:spcBef>
              <a:spcAft>
                <a:spcPts val="0"/>
              </a:spcAft>
              <a:defRPr sz="1859" b="0">
                <a:solidFill>
                  <a:srgbClr val="18394A"/>
                </a:solidFill>
                <a:latin typeface="Noto Sans"/>
              </a:defRPr>
            </a:pPr>
            <a:r>
              <a:t>una característica o uso compartido. La estructura debe responder a cómo buscan las</a:t>
            </a:r>
          </a:p>
          <a:p>
            <a:pPr>
              <a:lnSpc>
                <a:spcPts val="2580"/>
              </a:lnSpc>
              <a:spcBef>
                <a:spcPts val="0"/>
              </a:spcBef>
              <a:spcAft>
                <a:spcPts val="0"/>
              </a:spcAft>
              <a:defRPr sz="1859" b="0">
                <a:solidFill>
                  <a:srgbClr val="18394A"/>
                </a:solidFill>
                <a:latin typeface="Noto Sans"/>
              </a:defRPr>
            </a:pPr>
            <a:r>
              <a:t>personas, no copiar automáticamente el organigrama interno. Antes de clasificar, identifica</a:t>
            </a:r>
          </a:p>
          <a:p>
            <a:pPr>
              <a:lnSpc>
                <a:spcPts val="2580"/>
              </a:lnSpc>
              <a:spcBef>
                <a:spcPts val="0"/>
              </a:spcBef>
              <a:spcAft>
                <a:spcPts val="0"/>
              </a:spcAft>
              <a:defRPr sz="1859" b="0">
                <a:solidFill>
                  <a:srgbClr val="18394A"/>
                </a:solidFill>
                <a:latin typeface="Noto Sans"/>
              </a:defRPr>
            </a:pPr>
            <a:r>
              <a:t>el vocabulario del público, el tamaño del catálogo y las tareas más frecuentes. Una</a:t>
            </a:r>
          </a:p>
          <a:p>
            <a:pPr>
              <a:lnSpc>
                <a:spcPts val="2580"/>
              </a:lnSpc>
              <a:spcBef>
                <a:spcPts val="0"/>
              </a:spcBef>
              <a:spcAft>
                <a:spcPts val="0"/>
              </a:spcAft>
              <a:defRPr sz="1859" b="0">
                <a:solidFill>
                  <a:srgbClr val="18394A"/>
                </a:solidFill>
                <a:latin typeface="Noto Sans"/>
              </a:defRPr>
            </a:pPr>
            <a:r>
              <a:t>taxonomía comprensible reduce decisiones innecesarias y ayuda a mantener el catálogo</a:t>
            </a:r>
          </a:p>
          <a:p>
            <a:pPr>
              <a:lnSpc>
                <a:spcPts val="2580"/>
              </a:lnSpc>
              <a:spcBef>
                <a:spcPts val="0"/>
              </a:spcBef>
              <a:spcAft>
                <a:spcPts val="0"/>
              </a:spcAft>
              <a:defRPr sz="1859" b="0">
                <a:solidFill>
                  <a:srgbClr val="18394A"/>
                </a:solidFill>
                <a:latin typeface="Noto Sans"/>
              </a:defRPr>
            </a:pPr>
            <a:r>
              <a:t>cuando crece.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Jerarquía y facetas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jerarquía establece relaciones entre niveles, como alimentos, chocolates y tabletas. Las</a:t>
            </a:r>
          </a:p>
          <a:p>
            <a:pPr>
              <a:lnSpc>
                <a:spcPts val="2580"/>
              </a:lnSpc>
              <a:spcBef>
                <a:spcPts val="0"/>
              </a:spcBef>
              <a:spcAft>
                <a:spcPts val="0"/>
              </a:spcAft>
              <a:defRPr sz="1859" b="0">
                <a:solidFill>
                  <a:srgbClr val="18394A"/>
                </a:solidFill>
                <a:latin typeface="Noto Sans"/>
              </a:defRPr>
            </a:pPr>
            <a:r>
              <a:t>facetas permiten limitar resultados por atributos, como precio, porcentaje de cacao o</a:t>
            </a:r>
          </a:p>
          <a:p>
            <a:pPr>
              <a:lnSpc>
                <a:spcPts val="2580"/>
              </a:lnSpc>
              <a:spcBef>
                <a:spcPts val="0"/>
              </a:spcBef>
              <a:spcAft>
                <a:spcPts val="0"/>
              </a:spcAft>
              <a:defRPr sz="1859" b="0">
                <a:solidFill>
                  <a:srgbClr val="18394A"/>
                </a:solidFill>
                <a:latin typeface="Noto Sans"/>
              </a:defRPr>
            </a:pPr>
            <a:r>
              <a:t>disponibilidad. No conviene convertir cada combinación de atributos en una categoría</a:t>
            </a:r>
          </a:p>
          <a:p>
            <a:pPr>
              <a:lnSpc>
                <a:spcPts val="2580"/>
              </a:lnSpc>
              <a:spcBef>
                <a:spcPts val="0"/>
              </a:spcBef>
              <a:spcAft>
                <a:spcPts val="0"/>
              </a:spcAft>
              <a:defRPr sz="1859" b="0">
                <a:solidFill>
                  <a:srgbClr val="18394A"/>
                </a:solidFill>
                <a:latin typeface="Noto Sans"/>
              </a:defRPr>
            </a:pPr>
            <a:r>
              <a:t>nueva. Un producto puede aparecer en varias rutas de navegación, pero debe conservar</a:t>
            </a:r>
          </a:p>
          <a:p>
            <a:pPr>
              <a:lnSpc>
                <a:spcPts val="2580"/>
              </a:lnSpc>
              <a:spcBef>
                <a:spcPts val="0"/>
              </a:spcBef>
              <a:spcAft>
                <a:spcPts val="0"/>
              </a:spcAft>
              <a:defRPr sz="1859" b="0">
                <a:solidFill>
                  <a:srgbClr val="18394A"/>
                </a:solidFill>
                <a:latin typeface="Noto Sans"/>
              </a:defRPr>
            </a:pPr>
            <a:r>
              <a:t>una identidad y una ficha consistentes para no duplicar inventario ni información.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Investigar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Agrupar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Nombrar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Comprobar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Comienza reuniendo búsquedas y tareas reales. Agrupa productos por semejanzas relevantes y</a:t>
            </a:r>
          </a:p>
          <a:p>
            <a:pPr>
              <a:lnSpc>
                <a:spcPts val="2400"/>
              </a:lnSpc>
              <a:spcBef>
                <a:spcPts val="0"/>
              </a:spcBef>
              <a:spcAft>
                <a:spcPts val="0"/>
              </a:spcAft>
              <a:defRPr sz="1739" b="0">
                <a:solidFill>
                  <a:srgbClr val="536975"/>
                </a:solidFill>
                <a:latin typeface="Noto Sans"/>
              </a:defRPr>
            </a:pPr>
            <a:r>
              <a:t>asigna etiquetas comprensibles. Después comprueba si una persona puede encontrar un artículo</a:t>
            </a:r>
          </a:p>
          <a:p>
            <a:pPr>
              <a:lnSpc>
                <a:spcPts val="2400"/>
              </a:lnSpc>
              <a:spcBef>
                <a:spcPts val="0"/>
              </a:spcBef>
              <a:spcAft>
                <a:spcPts val="0"/>
              </a:spcAft>
              <a:defRPr sz="1739" b="0">
                <a:solidFill>
                  <a:srgbClr val="536975"/>
                </a:solidFill>
                <a:latin typeface="Noto Sans"/>
              </a:defRPr>
            </a:pPr>
            <a:r>
              <a:t>concreto sin recibir instrucciones. Corrige los nombres o la estructura cuando el recorrido</a:t>
            </a:r>
          </a:p>
          <a:p>
            <a:pPr>
              <a:lnSpc>
                <a:spcPts val="2400"/>
              </a:lnSpc>
              <a:spcBef>
                <a:spcPts val="0"/>
              </a:spcBef>
              <a:spcAft>
                <a:spcPts val="0"/>
              </a:spcAft>
              <a:defRPr sz="1739" b="0">
                <a:solidFill>
                  <a:srgbClr val="536975"/>
                </a:solidFill>
                <a:latin typeface="Noto Sans"/>
              </a:defRPr>
            </a:pPr>
            <a:r>
              <a:t>observado contradiga lo que el equipo esperaba.</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Minga Cacao vende tabletas, bombones, cajas para regalo y accesorios. Su menú</a:t>
            </a:r>
          </a:p>
          <a:p>
            <a:pPr>
              <a:lnSpc>
                <a:spcPts val="2400"/>
              </a:lnSpc>
              <a:spcBef>
                <a:spcPts val="0"/>
              </a:spcBef>
              <a:spcAft>
                <a:spcPts val="0"/>
              </a:spcAft>
              <a:defRPr sz="1739" b="0">
                <a:solidFill>
                  <a:srgbClr val="18394A"/>
                </a:solidFill>
                <a:latin typeface="Noto Sans"/>
              </a:defRPr>
            </a:pPr>
            <a:r>
              <a:t>separa premium, varios y línea dos; además, crea una categoría distinta para cada precio. Una</a:t>
            </a:r>
          </a:p>
          <a:p>
            <a:pPr>
              <a:lnSpc>
                <a:spcPts val="2400"/>
              </a:lnSpc>
              <a:spcBef>
                <a:spcPts val="0"/>
              </a:spcBef>
              <a:spcAft>
                <a:spcPts val="0"/>
              </a:spcAft>
              <a:defRPr sz="1739" b="0">
                <a:solidFill>
                  <a:srgbClr val="18394A"/>
                </a:solidFill>
                <a:latin typeface="Noto Sans"/>
              </a:defRPr>
            </a:pPr>
            <a:r>
              <a:t>cliente busca una caja sin azúcar para regalar y debe abrir cuatro secciones. Se propone organizar</a:t>
            </a:r>
          </a:p>
          <a:p>
            <a:pPr>
              <a:lnSpc>
                <a:spcPts val="2400"/>
              </a:lnSpc>
              <a:spcBef>
                <a:spcPts val="0"/>
              </a:spcBef>
              <a:spcAft>
                <a:spcPts val="0"/>
              </a:spcAft>
              <a:defRPr sz="1739" b="0">
                <a:solidFill>
                  <a:srgbClr val="18394A"/>
                </a:solidFill>
                <a:latin typeface="Noto Sans"/>
              </a:defRPr>
            </a:pPr>
            <a:r>
              <a:t>por tipo de producto y usar precio y composición como filtros, siempre con información verificable</a:t>
            </a:r>
          </a:p>
          <a:p>
            <a:pPr>
              <a:lnSpc>
                <a:spcPts val="2400"/>
              </a:lnSpc>
              <a:spcBef>
                <a:spcPts val="0"/>
              </a:spcBef>
              <a:spcAft>
                <a:spcPts val="0"/>
              </a:spcAft>
              <a:defRPr sz="1739" b="0">
                <a:solidFill>
                  <a:srgbClr val="18394A"/>
                </a:solidFill>
                <a:latin typeface="Noto Sans"/>
              </a:defRPr>
            </a:pPr>
            <a:r>
              <a:t>de ingredientes.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¿Cómo separarías las categorías y los filtros sin duplicar el mismo producto?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Validar con personas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ordenamiento de tarjetas ayuda a explorar cómo las personas agruparían productos y</a:t>
            </a:r>
          </a:p>
          <a:p>
            <a:pPr>
              <a:lnSpc>
                <a:spcPts val="2580"/>
              </a:lnSpc>
              <a:spcBef>
                <a:spcPts val="0"/>
              </a:spcBef>
              <a:spcAft>
                <a:spcPts val="0"/>
              </a:spcAft>
              <a:defRPr sz="1859" b="0">
                <a:solidFill>
                  <a:srgbClr val="18394A"/>
                </a:solidFill>
                <a:latin typeface="Noto Sans"/>
              </a:defRPr>
            </a:pPr>
            <a:r>
              <a:t>qué nombres elegirían. Una prueba de árbol comprueba si pueden encontrar un artículo</a:t>
            </a:r>
          </a:p>
          <a:p>
            <a:pPr>
              <a:lnSpc>
                <a:spcPts val="2580"/>
              </a:lnSpc>
              <a:spcBef>
                <a:spcPts val="0"/>
              </a:spcBef>
              <a:spcAft>
                <a:spcPts val="0"/>
              </a:spcAft>
              <a:defRPr sz="1859" b="0">
                <a:solidFill>
                  <a:srgbClr val="18394A"/>
                </a:solidFill>
                <a:latin typeface="Noto Sans"/>
              </a:defRPr>
            </a:pPr>
            <a:r>
              <a:t>dentro de una estructura de etiquetas sin depender del diseño visual. Registra éxito,</a:t>
            </a:r>
          </a:p>
          <a:p>
            <a:pPr>
              <a:lnSpc>
                <a:spcPts val="2580"/>
              </a:lnSpc>
              <a:spcBef>
                <a:spcPts val="0"/>
              </a:spcBef>
              <a:spcAft>
                <a:spcPts val="0"/>
              </a:spcAft>
              <a:defRPr sz="1859" b="0">
                <a:solidFill>
                  <a:srgbClr val="18394A"/>
                </a:solidFill>
                <a:latin typeface="Noto Sans"/>
              </a:defRPr>
            </a:pPr>
            <a:r>
              <a:t>recorrido y dudas. Estas técnicas aportan evidencia sobre comprensión; una muestra</a:t>
            </a:r>
          </a:p>
          <a:p>
            <a:pPr>
              <a:lnSpc>
                <a:spcPts val="2580"/>
              </a:lnSpc>
              <a:spcBef>
                <a:spcPts val="0"/>
              </a:spcBef>
              <a:spcAft>
                <a:spcPts val="0"/>
              </a:spcAft>
              <a:defRPr sz="1859" b="0">
                <a:solidFill>
                  <a:srgbClr val="18394A"/>
                </a:solidFill>
                <a:latin typeface="Noto Sans"/>
              </a:defRPr>
            </a:pPr>
            <a:r>
              <a:t>pequeña sirve para detectar problemas, pero no representa automáticamente a todo el</a:t>
            </a:r>
          </a:p>
          <a:p>
            <a:pPr>
              <a:lnSpc>
                <a:spcPts val="2580"/>
              </a:lnSpc>
              <a:spcBef>
                <a:spcPts val="0"/>
              </a:spcBef>
              <a:spcAft>
                <a:spcPts val="0"/>
              </a:spcAft>
              <a:defRPr sz="1859" b="0">
                <a:solidFill>
                  <a:srgbClr val="18394A"/>
                </a:solidFill>
                <a:latin typeface="Noto Sans"/>
              </a:defRPr>
            </a:pPr>
            <a:r>
              <a:t>mercado.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Gobierno del catálogo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quién puede crear categorías, qué atributos son obligatorios y cómo se corrigen</a:t>
            </a:r>
          </a:p>
          <a:p>
            <a:pPr>
              <a:lnSpc>
                <a:spcPts val="2580"/>
              </a:lnSpc>
              <a:spcBef>
                <a:spcPts val="0"/>
              </a:spcBef>
              <a:spcAft>
                <a:spcPts val="0"/>
              </a:spcAft>
              <a:defRPr sz="1859" b="0">
                <a:solidFill>
                  <a:srgbClr val="18394A"/>
                </a:solidFill>
                <a:latin typeface="Noto Sans"/>
              </a:defRPr>
            </a:pPr>
            <a:r>
              <a:t>sinónimos o productos mal ubicados. Mantén nombres paralelos y evita etiquetas internas</a:t>
            </a:r>
          </a:p>
          <a:p>
            <a:pPr>
              <a:lnSpc>
                <a:spcPts val="2580"/>
              </a:lnSpc>
              <a:spcBef>
                <a:spcPts val="0"/>
              </a:spcBef>
              <a:spcAft>
                <a:spcPts val="0"/>
              </a:spcAft>
              <a:defRPr sz="1859" b="0">
                <a:solidFill>
                  <a:srgbClr val="18394A"/>
                </a:solidFill>
                <a:latin typeface="Noto Sans"/>
              </a:defRPr>
            </a:pPr>
            <a:r>
              <a:t>como varios o grupo B. La búsqueda y las rutas de navegación deben usar información</a:t>
            </a:r>
          </a:p>
          <a:p>
            <a:pPr>
              <a:lnSpc>
                <a:spcPts val="2580"/>
              </a:lnSpc>
              <a:spcBef>
                <a:spcPts val="0"/>
              </a:spcBef>
              <a:spcAft>
                <a:spcPts val="0"/>
              </a:spcAft>
              <a:defRPr sz="1859" b="0">
                <a:solidFill>
                  <a:srgbClr val="18394A"/>
                </a:solidFill>
                <a:latin typeface="Noto Sans"/>
              </a:defRPr>
            </a:pPr>
            <a:r>
              <a:t>coherente. Si cambias una estructura publicada, revisa enlaces y accesos existentes para</a:t>
            </a:r>
          </a:p>
          <a:p>
            <a:pPr>
              <a:lnSpc>
                <a:spcPts val="2580"/>
              </a:lnSpc>
              <a:spcBef>
                <a:spcPts val="0"/>
              </a:spcBef>
              <a:spcAft>
                <a:spcPts val="0"/>
              </a:spcAft>
              <a:defRPr sz="1859" b="0">
                <a:solidFill>
                  <a:srgbClr val="18394A"/>
                </a:solidFill>
                <a:latin typeface="Noto Sans"/>
              </a:defRPr>
            </a:pPr>
            <a:r>
              <a:t>evitar que una mejora de clasificación deje productos difíciles de encontrar.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Clasifica doce productos propuestos por ti y justifica dos niveles de categorías.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tres filtros con valores coherentes y explica por qué no son nuevas categorías.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prueba de árbol con dos tareas y criterios observables de éxito.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responsables y reglas para mantener nombres, atributos y productos sin duplicados.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NE_U1 · Sección 1.2 · División por departamentos y categoría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Clasifica para las tareas del público.</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Separa jerarquías de filtros.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Valida y mantén el catálogo.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Rosenfeld, Morville y Arango (2015), Information</a:t>
            </a:r>
          </a:p>
          <a:p>
            <a:pPr>
              <a:lnSpc>
                <a:spcPts val="1920"/>
              </a:lnSpc>
              <a:spcBef>
                <a:spcPts val="0"/>
              </a:spcBef>
              <a:spcAft>
                <a:spcPts val="0"/>
              </a:spcAft>
              <a:defRPr sz="1380" b="0">
                <a:solidFill>
                  <a:srgbClr val="D6E4E8"/>
                </a:solidFill>
                <a:latin typeface="Noto Sans"/>
              </a:defRPr>
            </a:pPr>
            <a:r>
              <a:t>Architecture: For the Web and Beyond, 4.ª ed. O’Reilly.</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1.3</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Páginas de ventas y servicios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Diseñar una página de venta o servicio que ayude a evaluar la oferta y anticipar las</a:t>
            </a:r>
          </a:p>
          <a:p>
            <a:pPr>
              <a:lnSpc>
                <a:spcPts val="2640"/>
              </a:lnSpc>
              <a:spcBef>
                <a:spcPts val="0"/>
              </a:spcBef>
              <a:spcAft>
                <a:spcPts val="0"/>
              </a:spcAft>
              <a:defRPr sz="1920" b="0">
                <a:solidFill>
                  <a:srgbClr val="D6E4E8"/>
                </a:solidFill>
                <a:latin typeface="Noto Sans"/>
              </a:defRPr>
            </a:pPr>
            <a:r>
              <a:t>condiciones de contratación.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Diseñar una página de venta o servicio que ayude a evaluar la oferta y anticipar</a:t>
            </a:r>
          </a:p>
          <a:p>
            <a:pPr>
              <a:lnSpc>
                <a:spcPts val="2820"/>
              </a:lnSpc>
              <a:spcBef>
                <a:spcPts val="0"/>
              </a:spcBef>
              <a:spcAft>
                <a:spcPts val="0"/>
              </a:spcAft>
              <a:defRPr sz="2039" b="1">
                <a:solidFill>
                  <a:srgbClr val="18394A"/>
                </a:solidFill>
                <a:latin typeface="Noto Sans"/>
              </a:defRPr>
            </a:pPr>
            <a:r>
              <a:t>las condiciones de contratación.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información y qué acción corresponden a cada una de las dos ofertas?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Información para decidir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página de venta explica una oferta concreta y permite valorar su adecuación antes de</a:t>
            </a:r>
          </a:p>
          <a:p>
            <a:pPr>
              <a:lnSpc>
                <a:spcPts val="2580"/>
              </a:lnSpc>
              <a:spcBef>
                <a:spcPts val="0"/>
              </a:spcBef>
              <a:spcAft>
                <a:spcPts val="0"/>
              </a:spcAft>
              <a:defRPr sz="1859" b="0">
                <a:solidFill>
                  <a:srgbClr val="18394A"/>
                </a:solidFill>
                <a:latin typeface="Noto Sans"/>
              </a:defRPr>
            </a:pPr>
            <a:r>
              <a:t>avanzar. Debe identificar el producto o servicio, el beneficio relevante y sus características</a:t>
            </a:r>
          </a:p>
          <a:p>
            <a:pPr>
              <a:lnSpc>
                <a:spcPts val="2580"/>
              </a:lnSpc>
              <a:spcBef>
                <a:spcPts val="0"/>
              </a:spcBef>
              <a:spcAft>
                <a:spcPts val="0"/>
              </a:spcAft>
              <a:defRPr sz="1859" b="0">
                <a:solidFill>
                  <a:srgbClr val="18394A"/>
                </a:solidFill>
                <a:latin typeface="Noto Sans"/>
              </a:defRPr>
            </a:pPr>
            <a:r>
              <a:t>verificables. La imagen acompaña la explicación, pero no sustituye dimensiones, alcance o</a:t>
            </a:r>
          </a:p>
          <a:p>
            <a:pPr>
              <a:lnSpc>
                <a:spcPts val="2580"/>
              </a:lnSpc>
              <a:spcBef>
                <a:spcPts val="0"/>
              </a:spcBef>
              <a:spcAft>
                <a:spcPts val="0"/>
              </a:spcAft>
              <a:defRPr sz="1859" b="0">
                <a:solidFill>
                  <a:srgbClr val="18394A"/>
                </a:solidFill>
                <a:latin typeface="Noto Sans"/>
              </a:defRPr>
            </a:pPr>
            <a:r>
              <a:t>condiciones. Diferencia la información esencial de los detalles complementarios y evita que</a:t>
            </a:r>
          </a:p>
          <a:p>
            <a:pPr>
              <a:lnSpc>
                <a:spcPts val="2580"/>
              </a:lnSpc>
              <a:spcBef>
                <a:spcPts val="0"/>
              </a:spcBef>
              <a:spcAft>
                <a:spcPts val="0"/>
              </a:spcAft>
              <a:defRPr sz="1859" b="0">
                <a:solidFill>
                  <a:srgbClr val="18394A"/>
                </a:solidFill>
                <a:latin typeface="Noto Sans"/>
              </a:defRPr>
            </a:pPr>
            <a:r>
              <a:t>una persona deba adivinar qué incluye el precio anunciado.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Productos y servicios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En un producto resultan importantes las variantes, las medidas, la disponibilidad y las</a:t>
            </a:r>
          </a:p>
          <a:p>
            <a:pPr>
              <a:lnSpc>
                <a:spcPts val="2580"/>
              </a:lnSpc>
              <a:spcBef>
                <a:spcPts val="0"/>
              </a:spcBef>
              <a:spcAft>
                <a:spcPts val="0"/>
              </a:spcAft>
              <a:defRPr sz="1859" b="0">
                <a:solidFill>
                  <a:srgbClr val="18394A"/>
                </a:solidFill>
                <a:latin typeface="Noto Sans"/>
              </a:defRPr>
            </a:pPr>
            <a:r>
              <a:t>condiciones de entrega. En un servicio deben precisarse el alcance, las exclusiones, el</a:t>
            </a:r>
          </a:p>
          <a:p>
            <a:pPr>
              <a:lnSpc>
                <a:spcPts val="2580"/>
              </a:lnSpc>
              <a:spcBef>
                <a:spcPts val="0"/>
              </a:spcBef>
              <a:spcAft>
                <a:spcPts val="0"/>
              </a:spcAft>
              <a:defRPr sz="1859" b="0">
                <a:solidFill>
                  <a:srgbClr val="18394A"/>
                </a:solidFill>
                <a:latin typeface="Noto Sans"/>
              </a:defRPr>
            </a:pPr>
            <a:r>
              <a:t>procedimiento y los resultados que realmente pueden comprometerse. Un resultado</a:t>
            </a:r>
          </a:p>
          <a:p>
            <a:pPr>
              <a:lnSpc>
                <a:spcPts val="2580"/>
              </a:lnSpc>
              <a:spcBef>
                <a:spcPts val="0"/>
              </a:spcBef>
              <a:spcAft>
                <a:spcPts val="0"/>
              </a:spcAft>
              <a:defRPr sz="1859" b="0">
                <a:solidFill>
                  <a:srgbClr val="18394A"/>
                </a:solidFill>
                <a:latin typeface="Noto Sans"/>
              </a:defRPr>
            </a:pPr>
            <a:r>
              <a:t>esperado no equivale a una garantía ilimitada. El siguiente paso también cambia: comprar</a:t>
            </a:r>
          </a:p>
          <a:p>
            <a:pPr>
              <a:lnSpc>
                <a:spcPts val="2580"/>
              </a:lnSpc>
              <a:spcBef>
                <a:spcPts val="0"/>
              </a:spcBef>
              <a:spcAft>
                <a:spcPts val="0"/>
              </a:spcAft>
              <a:defRPr sz="1859" b="0">
                <a:solidFill>
                  <a:srgbClr val="18394A"/>
                </a:solidFill>
                <a:latin typeface="Noto Sans"/>
              </a:defRPr>
            </a:pPr>
            <a:r>
              <a:t>una unidad no requiere la misma información que solicitar una cotización o reservar una</a:t>
            </a:r>
          </a:p>
          <a:p>
            <a:pPr>
              <a:lnSpc>
                <a:spcPts val="2580"/>
              </a:lnSpc>
              <a:spcBef>
                <a:spcPts val="0"/>
              </a:spcBef>
              <a:spcAft>
                <a:spcPts val="0"/>
              </a:spcAft>
              <a:defRPr sz="1859" b="0">
                <a:solidFill>
                  <a:srgbClr val="18394A"/>
                </a:solidFill>
                <a:latin typeface="Noto Sans"/>
              </a:defRPr>
            </a:pPr>
            <a:r>
              <a:t>cita.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Comprender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Elegir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Confirmar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Primero la persona comprende qué se ofrece y qué necesidad atiende. Después compara</a:t>
            </a:r>
          </a:p>
          <a:p>
            <a:pPr>
              <a:lnSpc>
                <a:spcPts val="2400"/>
              </a:lnSpc>
              <a:spcBef>
                <a:spcPts val="0"/>
              </a:spcBef>
              <a:spcAft>
                <a:spcPts val="0"/>
              </a:spcAft>
              <a:defRPr sz="1739" b="0">
                <a:solidFill>
                  <a:srgbClr val="536975"/>
                </a:solidFill>
                <a:latin typeface="Noto Sans"/>
              </a:defRPr>
            </a:pPr>
            <a:r>
              <a:t>características y condiciones, elige una variante o modalidad y confirma el siguiente paso. La página</a:t>
            </a:r>
          </a:p>
          <a:p>
            <a:pPr>
              <a:lnSpc>
                <a:spcPts val="2400"/>
              </a:lnSpc>
              <a:spcBef>
                <a:spcPts val="0"/>
              </a:spcBef>
              <a:spcAft>
                <a:spcPts val="0"/>
              </a:spcAft>
              <a:defRPr sz="1739" b="0">
                <a:solidFill>
                  <a:srgbClr val="536975"/>
                </a:solidFill>
                <a:latin typeface="Noto Sans"/>
              </a:defRPr>
            </a:pPr>
            <a:r>
              <a:t>debe conservar la elección a lo largo del recorrido y comunicar con claridad si se está realizando una</a:t>
            </a:r>
          </a:p>
          <a:p>
            <a:pPr>
              <a:lnSpc>
                <a:spcPts val="2400"/>
              </a:lnSpc>
              <a:spcBef>
                <a:spcPts val="0"/>
              </a:spcBef>
              <a:spcAft>
                <a:spcPts val="0"/>
              </a:spcAft>
              <a:defRPr sz="1739" b="0">
                <a:solidFill>
                  <a:srgbClr val="536975"/>
                </a:solidFill>
                <a:latin typeface="Noto Sans"/>
              </a:defRPr>
            </a:pPr>
            <a:r>
              <a:t>compra, una reserva o una solicitud sin compromiso.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Minga Cacao publica una caja de doce bombones con precio de veinte dólares, pero no</a:t>
            </a:r>
          </a:p>
          <a:p>
            <a:pPr>
              <a:lnSpc>
                <a:spcPts val="2400"/>
              </a:lnSpc>
              <a:spcBef>
                <a:spcPts val="0"/>
              </a:spcBef>
              <a:spcAft>
                <a:spcPts val="0"/>
              </a:spcAft>
              <a:defRPr sz="1739" b="0">
                <a:solidFill>
                  <a:srgbClr val="18394A"/>
                </a:solidFill>
                <a:latin typeface="Noto Sans"/>
              </a:defRPr>
            </a:pPr>
            <a:r>
              <a:t>informa ingredientes ni costo de envío. También ofrece cajas personalizadas para empresas sin</a:t>
            </a:r>
          </a:p>
          <a:p>
            <a:pPr>
              <a:lnSpc>
                <a:spcPts val="2400"/>
              </a:lnSpc>
              <a:spcBef>
                <a:spcPts val="0"/>
              </a:spcBef>
              <a:spcAft>
                <a:spcPts val="0"/>
              </a:spcAft>
              <a:defRPr sz="1739" b="0">
                <a:solidFill>
                  <a:srgbClr val="18394A"/>
                </a:solidFill>
                <a:latin typeface="Noto Sans"/>
              </a:defRPr>
            </a:pPr>
            <a:r>
              <a:t>aclarar cantidades mínimas ni plazos de cotización. Una mejora separa la compra de la caja</a:t>
            </a:r>
          </a:p>
          <a:p>
            <a:pPr>
              <a:lnSpc>
                <a:spcPts val="2400"/>
              </a:lnSpc>
              <a:spcBef>
                <a:spcPts val="0"/>
              </a:spcBef>
              <a:spcAft>
                <a:spcPts val="0"/>
              </a:spcAft>
              <a:defRPr sz="1739" b="0">
                <a:solidFill>
                  <a:srgbClr val="18394A"/>
                </a:solidFill>
                <a:latin typeface="Noto Sans"/>
              </a:defRPr>
            </a:pPr>
            <a:r>
              <a:t>estándar de la solicitud de personalización, informa condiciones verificadas y evita prometer</a:t>
            </a:r>
          </a:p>
          <a:p>
            <a:pPr>
              <a:lnSpc>
                <a:spcPts val="2400"/>
              </a:lnSpc>
              <a:spcBef>
                <a:spcPts val="0"/>
              </a:spcBef>
              <a:spcAft>
                <a:spcPts val="0"/>
              </a:spcAft>
              <a:defRPr sz="1739" b="0">
                <a:solidFill>
                  <a:srgbClr val="18394A"/>
                </a:solidFill>
                <a:latin typeface="Noto Sans"/>
              </a:defRPr>
            </a:pPr>
            <a:r>
              <a:t>tiempos de entrega todavía no confirmados.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información y qué acción corresponden a cada una de las dos ofertas?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Acciones y transparencia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llamada a la acción debe describir qué sucederá, como añadir al carrito, solicitar</a:t>
            </a:r>
          </a:p>
          <a:p>
            <a:pPr>
              <a:lnSpc>
                <a:spcPts val="2580"/>
              </a:lnSpc>
              <a:spcBef>
                <a:spcPts val="0"/>
              </a:spcBef>
              <a:spcAft>
                <a:spcPts val="0"/>
              </a:spcAft>
              <a:defRPr sz="1859" b="0">
                <a:solidFill>
                  <a:srgbClr val="18394A"/>
                </a:solidFill>
                <a:latin typeface="Noto Sans"/>
              </a:defRPr>
            </a:pPr>
            <a:r>
              <a:t>cotización o reservar evaluación. Presenta los costos y las condiciones relevantes antes de</a:t>
            </a:r>
          </a:p>
          <a:p>
            <a:pPr>
              <a:lnSpc>
                <a:spcPts val="2580"/>
              </a:lnSpc>
              <a:spcBef>
                <a:spcPts val="0"/>
              </a:spcBef>
              <a:spcAft>
                <a:spcPts val="0"/>
              </a:spcAft>
              <a:defRPr sz="1859" b="0">
                <a:solidFill>
                  <a:srgbClr val="18394A"/>
                </a:solidFill>
                <a:latin typeface="Noto Sans"/>
              </a:defRPr>
            </a:pPr>
            <a:r>
              <a:t>asumir un compromiso. Evita escasez ficticia, reseñas inventadas o cargos que aparecen</a:t>
            </a:r>
          </a:p>
          <a:p>
            <a:pPr>
              <a:lnSpc>
                <a:spcPts val="2580"/>
              </a:lnSpc>
              <a:spcBef>
                <a:spcPts val="0"/>
              </a:spcBef>
              <a:spcAft>
                <a:spcPts val="0"/>
              </a:spcAft>
              <a:defRPr sz="1859" b="0">
                <a:solidFill>
                  <a:srgbClr val="18394A"/>
                </a:solidFill>
                <a:latin typeface="Noto Sans"/>
              </a:defRPr>
            </a:pPr>
            <a:r>
              <a:t>tarde. Una página persuasiva facilita una elección informada; no necesita presionar con</a:t>
            </a:r>
          </a:p>
          <a:p>
            <a:pPr>
              <a:lnSpc>
                <a:spcPts val="2580"/>
              </a:lnSpc>
              <a:spcBef>
                <a:spcPts val="0"/>
              </a:spcBef>
              <a:spcAft>
                <a:spcPts val="0"/>
              </a:spcAft>
              <a:defRPr sz="1859" b="0">
                <a:solidFill>
                  <a:srgbClr val="18394A"/>
                </a:solidFill>
                <a:latin typeface="Noto Sans"/>
              </a:defRPr>
            </a:pPr>
            <a:r>
              <a:t>afirmaciones que el negocio no puede demostrar.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Comprobación del recorrido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Verifica que la variante elegida conserve su precio y disponibilidad al avanzar. Revisa</a:t>
            </a:r>
          </a:p>
          <a:p>
            <a:pPr>
              <a:lnSpc>
                <a:spcPts val="2580"/>
              </a:lnSpc>
              <a:spcBef>
                <a:spcPts val="0"/>
              </a:spcBef>
              <a:spcAft>
                <a:spcPts val="0"/>
              </a:spcAft>
              <a:defRPr sz="1859" b="0">
                <a:solidFill>
                  <a:srgbClr val="18394A"/>
                </a:solidFill>
                <a:latin typeface="Noto Sans"/>
              </a:defRPr>
            </a:pPr>
            <a:r>
              <a:t>formularios, mensajes de error y confirmaciones. Si alguien solicita una cotización, debe</a:t>
            </a:r>
          </a:p>
          <a:p>
            <a:pPr>
              <a:lnSpc>
                <a:spcPts val="2580"/>
              </a:lnSpc>
              <a:spcBef>
                <a:spcPts val="0"/>
              </a:spcBef>
              <a:spcAft>
                <a:spcPts val="0"/>
              </a:spcAft>
              <a:defRPr sz="1859" b="0">
                <a:solidFill>
                  <a:srgbClr val="18394A"/>
                </a:solidFill>
                <a:latin typeface="Noto Sans"/>
              </a:defRPr>
            </a:pPr>
            <a:r>
              <a:t>saber qué ocurrirá después y qué información recibirá. Para evaluar la página, distingue</a:t>
            </a:r>
          </a:p>
          <a:p>
            <a:pPr>
              <a:lnSpc>
                <a:spcPts val="2580"/>
              </a:lnSpc>
              <a:spcBef>
                <a:spcPts val="0"/>
              </a:spcBef>
              <a:spcAft>
                <a:spcPts val="0"/>
              </a:spcAft>
              <a:defRPr sz="1859" b="0">
                <a:solidFill>
                  <a:srgbClr val="18394A"/>
                </a:solidFill>
                <a:latin typeface="Noto Sans"/>
              </a:defRPr>
            </a:pPr>
            <a:r>
              <a:t>visitas, acciones iniciadas y operaciones completadas; contar clics en comprar no permite</a:t>
            </a:r>
          </a:p>
          <a:p>
            <a:pPr>
              <a:lnSpc>
                <a:spcPts val="2580"/>
              </a:lnSpc>
              <a:spcBef>
                <a:spcPts val="0"/>
              </a:spcBef>
              <a:spcAft>
                <a:spcPts val="0"/>
              </a:spcAft>
              <a:defRPr sz="1859" b="0">
                <a:solidFill>
                  <a:srgbClr val="18394A"/>
                </a:solidFill>
                <a:latin typeface="Noto Sans"/>
              </a:defRPr>
            </a:pPr>
            <a:r>
              <a:t>afirmar cuántas ventas se cobraron efectivamente.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ficha de producto con variantes y condiciones sin inventar certificaciones.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oferta de servicio con alcance, exclusiones y siguiente paso.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mensajes de error y confirmación para una solicitud de cotización.</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dos indicadores del recorrido y explica qué no permiten concluir por sí solos.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NE_U1 · Sección 1.3 · Páginas de ventas y servici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Explica qué incluye la oferta.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Usa una acción acorde con el compromiso.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Comprueba condiciones y continuidad.</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OECD (2016), Consumer Protection in E-commerce: OECD</a:t>
            </a:r>
          </a:p>
          <a:p>
            <a:pPr>
              <a:lnSpc>
                <a:spcPts val="1920"/>
              </a:lnSpc>
              <a:spcBef>
                <a:spcPts val="0"/>
              </a:spcBef>
              <a:spcAft>
                <a:spcPts val="0"/>
              </a:spcAft>
              <a:defRPr sz="1380" b="0">
                <a:solidFill>
                  <a:srgbClr val="D6E4E8"/>
                </a:solidFill>
                <a:latin typeface="Noto Sans"/>
              </a:defRPr>
            </a:pPr>
            <a:r>
              <a:t>Recommendation. https://doi.org/10.1787/9789264255258-en</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1.4</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Aspectos institucionales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información institucional verificable que aporte identidad, transparencia y</a:t>
            </a:r>
          </a:p>
          <a:p>
            <a:pPr>
              <a:lnSpc>
                <a:spcPts val="2640"/>
              </a:lnSpc>
              <a:spcBef>
                <a:spcPts val="0"/>
              </a:spcBef>
              <a:spcAft>
                <a:spcPts val="0"/>
              </a:spcAft>
              <a:defRPr sz="1920" b="0">
                <a:solidFill>
                  <a:srgbClr val="D6E4E8"/>
                </a:solidFill>
                <a:latin typeface="Noto Sans"/>
              </a:defRPr>
            </a:pPr>
            <a:r>
              <a:t>canales de atención al negocio electrónico.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información institucional verificable que aporte identidad, transparencia</a:t>
            </a:r>
          </a:p>
          <a:p>
            <a:pPr>
              <a:lnSpc>
                <a:spcPts val="2820"/>
              </a:lnSpc>
              <a:spcBef>
                <a:spcPts val="0"/>
              </a:spcBef>
              <a:spcAft>
                <a:spcPts val="0"/>
              </a:spcAft>
              <a:defRPr sz="2039" b="1">
                <a:solidFill>
                  <a:srgbClr val="18394A"/>
                </a:solidFill>
                <a:latin typeface="Noto Sans"/>
              </a:defRPr>
            </a:pPr>
            <a:r>
              <a:t>y canales de atención al negocio electrónico.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¿Cuáles son las tres correcciones prioritarias y cómo verificarías que se mantienen</a:t>
            </a:r>
          </a:p>
          <a:p>
            <a:pPr>
              <a:lnSpc>
                <a:spcPts val="2820"/>
              </a:lnSpc>
              <a:spcBef>
                <a:spcPts val="0"/>
              </a:spcBef>
              <a:spcAft>
                <a:spcPts val="0"/>
              </a:spcAft>
              <a:defRPr sz="2039" b="0">
                <a:solidFill>
                  <a:srgbClr val="18394A"/>
                </a:solidFill>
                <a:latin typeface="Noto Sans"/>
              </a:defRPr>
            </a:pPr>
            <a:r>
              <a:t>vigentes?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Identidad y legitimidad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aspectos institucionales permiten reconocer quién está detrás del negocio y cómo</a:t>
            </a:r>
          </a:p>
          <a:p>
            <a:pPr>
              <a:lnSpc>
                <a:spcPts val="2580"/>
              </a:lnSpc>
              <a:spcBef>
                <a:spcPts val="0"/>
              </a:spcBef>
              <a:spcAft>
                <a:spcPts val="0"/>
              </a:spcAft>
              <a:defRPr sz="1859" b="0">
                <a:solidFill>
                  <a:srgbClr val="18394A"/>
                </a:solidFill>
                <a:latin typeface="Noto Sans"/>
              </a:defRPr>
            </a:pPr>
            <a:r>
              <a:t>puede contactarse. Incluyen identidad comercial, propósito, trayectoria comprobable y</a:t>
            </a:r>
          </a:p>
          <a:p>
            <a:pPr>
              <a:lnSpc>
                <a:spcPts val="2580"/>
              </a:lnSpc>
              <a:spcBef>
                <a:spcPts val="0"/>
              </a:spcBef>
              <a:spcAft>
                <a:spcPts val="0"/>
              </a:spcAft>
              <a:defRPr sz="1859" b="0">
                <a:solidFill>
                  <a:srgbClr val="18394A"/>
                </a:solidFill>
                <a:latin typeface="Noto Sans"/>
              </a:defRPr>
            </a:pPr>
            <a:r>
              <a:t>canales de atención. Su función es reducir incertidumbre sobre la organización, sin</a:t>
            </a:r>
          </a:p>
          <a:p>
            <a:pPr>
              <a:lnSpc>
                <a:spcPts val="2580"/>
              </a:lnSpc>
              <a:spcBef>
                <a:spcPts val="0"/>
              </a:spcBef>
              <a:spcAft>
                <a:spcPts val="0"/>
              </a:spcAft>
              <a:defRPr sz="1859" b="0">
                <a:solidFill>
                  <a:srgbClr val="18394A"/>
                </a:solidFill>
                <a:latin typeface="Noto Sans"/>
              </a:defRPr>
            </a:pPr>
            <a:r>
              <a:t>convertir una historia atractiva en prueba de calidad por sí sola. Una empresa debe</a:t>
            </a:r>
          </a:p>
          <a:p>
            <a:pPr>
              <a:lnSpc>
                <a:spcPts val="2580"/>
              </a:lnSpc>
              <a:spcBef>
                <a:spcPts val="0"/>
              </a:spcBef>
              <a:spcAft>
                <a:spcPts val="0"/>
              </a:spcAft>
              <a:defRPr sz="1859" b="0">
                <a:solidFill>
                  <a:srgbClr val="18394A"/>
                </a:solidFill>
                <a:latin typeface="Noto Sans"/>
              </a:defRPr>
            </a:pPr>
            <a:r>
              <a:t>mantener consistencia entre lo que afirma en su sitio y sus prácticas reales.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Políticas comprensibles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Las condiciones de compra, atención, cambios, devoluciones y tratamiento de datos deben</a:t>
            </a:r>
          </a:p>
          <a:p>
            <a:pPr>
              <a:lnSpc>
                <a:spcPts val="2580"/>
              </a:lnSpc>
              <a:spcBef>
                <a:spcPts val="0"/>
              </a:spcBef>
              <a:spcAft>
                <a:spcPts val="0"/>
              </a:spcAft>
              <a:defRPr sz="1859" b="0">
                <a:solidFill>
                  <a:srgbClr val="18394A"/>
                </a:solidFill>
                <a:latin typeface="Noto Sans"/>
              </a:defRPr>
            </a:pPr>
            <a:r>
              <a:t>ser localizables y expresarse con claridad. Una política copiada de otro país o negocio puede</a:t>
            </a:r>
          </a:p>
          <a:p>
            <a:pPr>
              <a:lnSpc>
                <a:spcPts val="2580"/>
              </a:lnSpc>
              <a:spcBef>
                <a:spcPts val="0"/>
              </a:spcBef>
              <a:spcAft>
                <a:spcPts val="0"/>
              </a:spcAft>
              <a:defRPr sz="1859" b="0">
                <a:solidFill>
                  <a:srgbClr val="18394A"/>
                </a:solidFill>
                <a:latin typeface="Noto Sans"/>
              </a:defRPr>
            </a:pPr>
            <a:r>
              <a:t>describir procedimientos que la organización no aplica. La redacción necesita revisión de</a:t>
            </a:r>
          </a:p>
          <a:p>
            <a:pPr>
              <a:lnSpc>
                <a:spcPts val="2580"/>
              </a:lnSpc>
              <a:spcBef>
                <a:spcPts val="0"/>
              </a:spcBef>
              <a:spcAft>
                <a:spcPts val="0"/>
              </a:spcAft>
              <a:defRPr sz="1859" b="0">
                <a:solidFill>
                  <a:srgbClr val="18394A"/>
                </a:solidFill>
                <a:latin typeface="Noto Sans"/>
              </a:defRPr>
            </a:pPr>
            <a:r>
              <a:t>responsables de operación y, cuando corresponda, asesoramiento jurídico competente.</a:t>
            </a:r>
          </a:p>
          <a:p>
            <a:pPr>
              <a:lnSpc>
                <a:spcPts val="2580"/>
              </a:lnSpc>
              <a:spcBef>
                <a:spcPts val="0"/>
              </a:spcBef>
              <a:spcAft>
                <a:spcPts val="0"/>
              </a:spcAft>
              <a:defRPr sz="1859" b="0">
                <a:solidFill>
                  <a:srgbClr val="18394A"/>
                </a:solidFill>
                <a:latin typeface="Noto Sans"/>
              </a:defRPr>
            </a:pPr>
            <a:r>
              <a:t>Este material educativo no determina obligaciones legales concretas para todos los</a:t>
            </a:r>
          </a:p>
          <a:p>
            <a:pPr>
              <a:lnSpc>
                <a:spcPts val="2580"/>
              </a:lnSpc>
              <a:spcBef>
                <a:spcPts val="0"/>
              </a:spcBef>
              <a:spcAft>
                <a:spcPts val="0"/>
              </a:spcAft>
              <a:defRPr sz="1859" b="0">
                <a:solidFill>
                  <a:srgbClr val="18394A"/>
                </a:solidFill>
                <a:latin typeface="Noto Sans"/>
              </a:defRPr>
            </a:pPr>
            <a:r>
              <a:t>negocios.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Identificar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Informar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Atender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Actualizar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La información institucional comienza identificando al responsable del negocio. Después comunica</a:t>
            </a:r>
          </a:p>
          <a:p>
            <a:pPr>
              <a:lnSpc>
                <a:spcPts val="2400"/>
              </a:lnSpc>
              <a:spcBef>
                <a:spcPts val="0"/>
              </a:spcBef>
              <a:spcAft>
                <a:spcPts val="0"/>
              </a:spcAft>
              <a:defRPr sz="1739" b="0">
                <a:solidFill>
                  <a:srgbClr val="536975"/>
                </a:solidFill>
                <a:latin typeface="Noto Sans"/>
              </a:defRPr>
            </a:pPr>
            <a:r>
              <a:t>condiciones de relación y abre canales que realmente atiendan consultas. El ciclo termina revisando</a:t>
            </a:r>
          </a:p>
          <a:p>
            <a:pPr>
              <a:lnSpc>
                <a:spcPts val="2400"/>
              </a:lnSpc>
              <a:spcBef>
                <a:spcPts val="0"/>
              </a:spcBef>
              <a:spcAft>
                <a:spcPts val="0"/>
              </a:spcAft>
              <a:defRPr sz="1739" b="0">
                <a:solidFill>
                  <a:srgbClr val="536975"/>
                </a:solidFill>
                <a:latin typeface="Noto Sans"/>
              </a:defRPr>
            </a:pPr>
            <a:r>
              <a:t>vigencia, responsables y cambios. Conviene comprobar cada enlace de contacto y seguir una</a:t>
            </a:r>
          </a:p>
          <a:p>
            <a:pPr>
              <a:lnSpc>
                <a:spcPts val="2400"/>
              </a:lnSpc>
              <a:spcBef>
                <a:spcPts val="0"/>
              </a:spcBef>
              <a:spcAft>
                <a:spcPts val="0"/>
              </a:spcAft>
              <a:defRPr sz="1739" b="0">
                <a:solidFill>
                  <a:srgbClr val="536975"/>
                </a:solidFill>
                <a:latin typeface="Noto Sans"/>
              </a:defRPr>
            </a:pPr>
            <a:r>
              <a:t>consulta de prueba hasta su respuesta, en lugar de limitarse a verificar que existe un formulario.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Minga Cacao anuncia atención permanente, pero su equipo responde solo en horario</a:t>
            </a:r>
          </a:p>
          <a:p>
            <a:pPr>
              <a:lnSpc>
                <a:spcPts val="2400"/>
              </a:lnSpc>
              <a:spcBef>
                <a:spcPts val="0"/>
              </a:spcBef>
              <a:spcAft>
                <a:spcPts val="0"/>
              </a:spcAft>
              <a:defRPr sz="1739" b="0">
                <a:solidFill>
                  <a:srgbClr val="18394A"/>
                </a:solidFill>
                <a:latin typeface="Noto Sans"/>
              </a:defRPr>
            </a:pPr>
            <a:r>
              <a:t>laboral. Copió una política de devoluciones que menciona otra empresa y publica un sello sin</a:t>
            </a:r>
          </a:p>
          <a:p>
            <a:pPr>
              <a:lnSpc>
                <a:spcPts val="2400"/>
              </a:lnSpc>
              <a:spcBef>
                <a:spcPts val="0"/>
              </a:spcBef>
              <a:spcAft>
                <a:spcPts val="0"/>
              </a:spcAft>
              <a:defRPr sz="1739" b="0">
                <a:solidFill>
                  <a:srgbClr val="18394A"/>
                </a:solidFill>
                <a:latin typeface="Noto Sans"/>
              </a:defRPr>
            </a:pPr>
            <a:r>
              <a:t>respaldo. El rediseño institucional debe corregir las afirmaciones, publicar condiciones que la</a:t>
            </a:r>
          </a:p>
          <a:p>
            <a:pPr>
              <a:lnSpc>
                <a:spcPts val="2400"/>
              </a:lnSpc>
              <a:spcBef>
                <a:spcPts val="0"/>
              </a:spcBef>
              <a:spcAft>
                <a:spcPts val="0"/>
              </a:spcAft>
              <a:defRPr sz="1739" b="0">
                <a:solidFill>
                  <a:srgbClr val="18394A"/>
                </a:solidFill>
                <a:latin typeface="Noto Sans"/>
              </a:defRPr>
            </a:pPr>
            <a:r>
              <a:t>operación pueda cumplir y asignar a una persona responsable de consultas y revisiones. Antes de</a:t>
            </a:r>
          </a:p>
          <a:p>
            <a:pPr>
              <a:lnSpc>
                <a:spcPts val="2400"/>
              </a:lnSpc>
              <a:spcBef>
                <a:spcPts val="0"/>
              </a:spcBef>
              <a:spcAft>
                <a:spcPts val="0"/>
              </a:spcAft>
              <a:defRPr sz="1739" b="0">
                <a:solidFill>
                  <a:srgbClr val="18394A"/>
                </a:solidFill>
                <a:latin typeface="Noto Sans"/>
              </a:defRPr>
            </a:pPr>
            <a:r>
              <a:t>publicar datos personales de empleados debe comprobarse la autorización y necesidad.</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¿Cuáles son las tres correcciones prioritarias y cómo verificarías que se mantienen vigentes?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Confianza con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Muestra certificaciones, alianzas y testimonios solo cuando sean auténticos y exista</a:t>
            </a:r>
          </a:p>
          <a:p>
            <a:pPr>
              <a:lnSpc>
                <a:spcPts val="2580"/>
              </a:lnSpc>
              <a:spcBef>
                <a:spcPts val="0"/>
              </a:spcBef>
              <a:spcAft>
                <a:spcPts val="0"/>
              </a:spcAft>
              <a:defRPr sz="1859" b="0">
                <a:solidFill>
                  <a:srgbClr val="18394A"/>
                </a:solidFill>
                <a:latin typeface="Noto Sans"/>
              </a:defRPr>
            </a:pPr>
            <a:r>
              <a:t>autorización para publicarlos. Una dirección o un formulario no bastan si los mensajes no</a:t>
            </a:r>
          </a:p>
          <a:p>
            <a:pPr>
              <a:lnSpc>
                <a:spcPts val="2580"/>
              </a:lnSpc>
              <a:spcBef>
                <a:spcPts val="0"/>
              </a:spcBef>
              <a:spcAft>
                <a:spcPts val="0"/>
              </a:spcAft>
              <a:defRPr sz="1859" b="0">
                <a:solidFill>
                  <a:srgbClr val="18394A"/>
                </a:solidFill>
                <a:latin typeface="Noto Sans"/>
              </a:defRPr>
            </a:pPr>
            <a:r>
              <a:t>llegan a un responsable. Define tiempos de respuesta que puedan cumplirse y</a:t>
            </a:r>
          </a:p>
          <a:p>
            <a:pPr>
              <a:lnSpc>
                <a:spcPts val="2580"/>
              </a:lnSpc>
              <a:spcBef>
                <a:spcPts val="0"/>
              </a:spcBef>
              <a:spcAft>
                <a:spcPts val="0"/>
              </a:spcAft>
              <a:defRPr sz="1859" b="0">
                <a:solidFill>
                  <a:srgbClr val="18394A"/>
                </a:solidFill>
                <a:latin typeface="Noto Sans"/>
              </a:defRPr>
            </a:pPr>
            <a:r>
              <a:t>procedimientos para escalar reclamos. La información institucional debe ayudar a resolver</a:t>
            </a:r>
          </a:p>
          <a:p>
            <a:pPr>
              <a:lnSpc>
                <a:spcPts val="2580"/>
              </a:lnSpc>
              <a:spcBef>
                <a:spcPts val="0"/>
              </a:spcBef>
              <a:spcAft>
                <a:spcPts val="0"/>
              </a:spcAft>
              <a:defRPr sz="1859" b="0">
                <a:solidFill>
                  <a:srgbClr val="18394A"/>
                </a:solidFill>
                <a:latin typeface="Noto Sans"/>
              </a:defRPr>
            </a:pPr>
            <a:r>
              <a:t>dudas, no limitarse a decorar una sección de quiénes somos.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Datos y mantenimiento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Solicita únicamente los datos necesarios para cada finalidad y explica su uso. Controla</a:t>
            </a:r>
          </a:p>
          <a:p>
            <a:pPr>
              <a:lnSpc>
                <a:spcPts val="2580"/>
              </a:lnSpc>
              <a:spcBef>
                <a:spcPts val="0"/>
              </a:spcBef>
              <a:spcAft>
                <a:spcPts val="0"/>
              </a:spcAft>
              <a:defRPr sz="1859" b="0">
                <a:solidFill>
                  <a:srgbClr val="18394A"/>
                </a:solidFill>
                <a:latin typeface="Noto Sans"/>
              </a:defRPr>
            </a:pPr>
            <a:r>
              <a:t>quién puede acceder a formularios y documentos, y establece revisiones periódicas de</a:t>
            </a:r>
          </a:p>
          <a:p>
            <a:pPr>
              <a:lnSpc>
                <a:spcPts val="2580"/>
              </a:lnSpc>
              <a:spcBef>
                <a:spcPts val="0"/>
              </a:spcBef>
              <a:spcAft>
                <a:spcPts val="0"/>
              </a:spcAft>
              <a:defRPr sz="1859" b="0">
                <a:solidFill>
                  <a:srgbClr val="18394A"/>
                </a:solidFill>
                <a:latin typeface="Noto Sans"/>
              </a:defRPr>
            </a:pPr>
            <a:r>
              <a:t>contactos y políticas. Si cambian las condiciones, registra versiones y fechas pertinentes.</a:t>
            </a:r>
          </a:p>
          <a:p>
            <a:pPr>
              <a:lnSpc>
                <a:spcPts val="2580"/>
              </a:lnSpc>
              <a:spcBef>
                <a:spcPts val="0"/>
              </a:spcBef>
              <a:spcAft>
                <a:spcPts val="0"/>
              </a:spcAft>
              <a:defRPr sz="1859" b="0">
                <a:solidFill>
                  <a:srgbClr val="18394A"/>
                </a:solidFill>
                <a:latin typeface="Noto Sans"/>
              </a:defRPr>
            </a:pPr>
            <a:r>
              <a:t>Una política desactualizada puede generar expectativas equivocadas incluso cuando el sitio</a:t>
            </a:r>
          </a:p>
          <a:p>
            <a:pPr>
              <a:lnSpc>
                <a:spcPts val="2580"/>
              </a:lnSpc>
              <a:spcBef>
                <a:spcPts val="0"/>
              </a:spcBef>
              <a:spcAft>
                <a:spcPts val="0"/>
              </a:spcAft>
              <a:defRPr sz="1859" b="0">
                <a:solidFill>
                  <a:srgbClr val="18394A"/>
                </a:solidFill>
                <a:latin typeface="Noto Sans"/>
              </a:defRPr>
            </a:pPr>
            <a:r>
              <a:t>funciona técnicamente y sus páginas cargan sin errores.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Elabora una ficha institucional con identidad y tres evidencias verificables.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política breve de atención diferenciando propuesta educativa y revisión jurídica.</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Audita las tres afirmaciones del caso y establece qué evidencia exigirías.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una revisión trimestral con responsables, registros y pruebas del contacto.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NE_U1 · Sección 1.4 · Aspectos institucional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La identidad debe poder comprobarse.</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Las políticas deben corresponder a la operación.</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Atender y actualizar también genera confianza.</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OECD (2016), Consumer Protection in E-commerce.</a:t>
            </a:r>
          </a:p>
          <a:p>
            <a:pPr>
              <a:lnSpc>
                <a:spcPts val="1920"/>
              </a:lnSpc>
              <a:spcBef>
                <a:spcPts val="0"/>
              </a:spcBef>
              <a:spcAft>
                <a:spcPts val="0"/>
              </a:spcAft>
              <a:defRPr sz="1380" b="0">
                <a:solidFill>
                  <a:srgbClr val="D6E4E8"/>
                </a:solidFill>
                <a:latin typeface="Noto Sans"/>
              </a:defRPr>
            </a:pPr>
            <a:r>
              <a:t>Complemento contextual: revisar normativa y asesoramiento jurídico aplicables en Ecuador.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1. Estructura del negocio electrónico</dc:title>
  <dc:subject>Negocios Electrónicos · 1.1 Las páginas de inicio · 1.2 División por departamentos y categorías · 1.3 Páginas de ventas y servicios · 1.4 Aspectos institucionales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