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rendimiento financiero de los negocios electrónicos. El propósito es calcular e interpretar indicadores financieros de un negocio electrónico considerando margen, inversión y limitaciones de los supuestos. Este contenido forma parte de negocios electrónicos. Trabajaremos con conceptos y un caso ficticio para tomar decisiones justificadas.</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¿Cómo cambia el punto de equilibrio cuando aumenta el costo variable y qué supuestos debes declarar? Al terminar deberás explicar tu decisión, indicar cómo la comprobarías y reconocer los límites de la evidencia utilizada.</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ingresos no son equivalentes a utilidad ni a efectivo disponible. Distingue ventas, costos variables, costos fijos e inversión inicial. Los costos variables cambian con el volumen bajo los supuestos del análisis; los fijos permanecen dentro de un rango y período definidos. Clasificar adecuadamente permite comprender qué parte de una venta contribuye a cubrir estructura y generar resultado.</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margen de contribución unitario es precio menos costo variable unitario. Si un producto cuesta veinte dólares y su costo variable es doce, contribuye ocho dólares. Con ochocientos dólares de costos fijos mensuales, el equilibrio simple es cien unidades. El cálculo supone precio y costo unitarios constantes y una oferta homogénea; varios productos requieren considerar la mezcla de ventas.</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primero el período y qué ingresos y costos pertenecen a él. Calcula la contribución por unidad y los costos fijos para estimar el equilibrio bajo supuestos explícitos. Después prueba escenarios. Si la inversión cambia la operación, revisa también los flujos y el momento de los cobros y pagos, no solo el total de ventas.</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hipotético: una caja se vende en veinte dólares y tiene doce dólares de costo variable; los costos fijos del mes son ochocientos. La contribución es ocho y el equilibrio es cien cajas. Con ciento cincuenta cajas, el resultado operativo simple es cuatrocientos dólares, antes de partidas no incluidas. Si el costo variable aumenta a catorce, la contribución baja a seis y se requieren al menos ciento treinta y cuatro cajas para no perder.</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inversión puede evaluarse con flujos de caja, horizonte y riesgo. Un retorno simple compara beneficio neto atribuible e inversión, pero puede ocultar cuándo se obtiene el dinero. El valor presente descuenta flujos futuros usando una tasa justificada. No combines utilidad contable con flujo de caja sin explicar ajustes, ni presentes proyecciones como resultados ya obtenidos.</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Prueba cómo cambian los resultados si varían ventas, devoluciones, publicidad o costos logísticos. Identifica los supuestos más sensibles y las fuentes de datos. Un escenario optimista no reemplaza un presupuesto de caja. La evaluación debe reconocer incertidumbre y comparar alternativas consistentes, incluyendo los costos de operación de la solución digital después de su puesta en marcha.</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Clasifica ingresos, costos variables, fijos e inversión en una tienda ficticia. Después, recalcula el equilibrio con costo variable de catorce y explica el redondeo. Justifica tus decisiones con los conceptos de esta explicación y comprueba tus respuestas en la actividad interactiva.</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Separa ventas, resultado y caja. Calcula con supuestos visibles. Decide comparando escenarios y riesgo. El caso y sus datos son ficticios. Revisa las fuentes indicadas en los materiales y continúa con la práctica para transferir estos criterios a otra situación.</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3.2</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Rendimiento financiero de los negocios</a:t>
            </a:r>
          </a:p>
          <a:p>
            <a:pPr>
              <a:lnSpc>
                <a:spcPts val="5280"/>
              </a:lnSpc>
              <a:spcBef>
                <a:spcPts val="0"/>
              </a:spcBef>
              <a:spcAft>
                <a:spcPts val="0"/>
              </a:spcAft>
              <a:defRPr sz="3840" b="1">
                <a:solidFill>
                  <a:srgbClr val="FFFFFF"/>
                </a:solidFill>
                <a:latin typeface="Noto Sans"/>
              </a:defRPr>
            </a:pPr>
            <a:r>
              <a:t>electrónicos</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Calcular e interpretar indicadores financieros de un negocio electrónico considerando</a:t>
            </a:r>
          </a:p>
          <a:p>
            <a:pPr>
              <a:lnSpc>
                <a:spcPts val="2640"/>
              </a:lnSpc>
              <a:spcBef>
                <a:spcPts val="0"/>
              </a:spcBef>
              <a:spcAft>
                <a:spcPts val="0"/>
              </a:spcAft>
              <a:defRPr sz="1920" b="0">
                <a:solidFill>
                  <a:srgbClr val="D6E4E8"/>
                </a:solidFill>
                <a:latin typeface="Noto Sans"/>
              </a:defRPr>
            </a:pPr>
            <a:r>
              <a:t>margen, inversión y limitaciones de los supuestos.</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Calcular e interpretar indicadores financieros de un negocio electrónico</a:t>
            </a:r>
          </a:p>
          <a:p>
            <a:pPr>
              <a:lnSpc>
                <a:spcPts val="2820"/>
              </a:lnSpc>
              <a:spcBef>
                <a:spcPts val="0"/>
              </a:spcBef>
              <a:spcAft>
                <a:spcPts val="0"/>
              </a:spcAft>
              <a:defRPr sz="2039" b="1">
                <a:solidFill>
                  <a:srgbClr val="18394A"/>
                </a:solidFill>
                <a:latin typeface="Noto Sans"/>
              </a:defRPr>
            </a:pPr>
            <a:r>
              <a:t>considerando margen, inversión y limitaciones de los supuestos.</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¿Cómo cambia el punto de equilibrio cuando aumenta el costo variable y qué</a:t>
            </a:r>
          </a:p>
          <a:p>
            <a:pPr>
              <a:lnSpc>
                <a:spcPts val="2820"/>
              </a:lnSpc>
              <a:spcBef>
                <a:spcPts val="0"/>
              </a:spcBef>
              <a:spcAft>
                <a:spcPts val="0"/>
              </a:spcAft>
              <a:defRPr sz="2039" b="0">
                <a:solidFill>
                  <a:srgbClr val="18394A"/>
                </a:solidFill>
                <a:latin typeface="Noto Sans"/>
              </a:defRPr>
            </a:pPr>
            <a:r>
              <a:t>supuestos debes declarar?</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Ingresos y costos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Los ingresos no son equivalentes a utilidad ni a efectivo disponible. Distingue ventas, costos</a:t>
            </a:r>
          </a:p>
          <a:p>
            <a:pPr>
              <a:lnSpc>
                <a:spcPts val="2580"/>
              </a:lnSpc>
              <a:spcBef>
                <a:spcPts val="0"/>
              </a:spcBef>
              <a:spcAft>
                <a:spcPts val="0"/>
              </a:spcAft>
              <a:defRPr sz="1859" b="0">
                <a:solidFill>
                  <a:srgbClr val="18394A"/>
                </a:solidFill>
                <a:latin typeface="Noto Sans"/>
              </a:defRPr>
            </a:pPr>
            <a:r>
              <a:t>variables, costos fijos e inversión inicial. Los costos variables cambian con el volumen bajo</a:t>
            </a:r>
          </a:p>
          <a:p>
            <a:pPr>
              <a:lnSpc>
                <a:spcPts val="2580"/>
              </a:lnSpc>
              <a:spcBef>
                <a:spcPts val="0"/>
              </a:spcBef>
              <a:spcAft>
                <a:spcPts val="0"/>
              </a:spcAft>
              <a:defRPr sz="1859" b="0">
                <a:solidFill>
                  <a:srgbClr val="18394A"/>
                </a:solidFill>
                <a:latin typeface="Noto Sans"/>
              </a:defRPr>
            </a:pPr>
            <a:r>
              <a:t>los supuestos del análisis; los fijos permanecen dentro de un rango y período definidos.</a:t>
            </a:r>
          </a:p>
          <a:p>
            <a:pPr>
              <a:lnSpc>
                <a:spcPts val="2580"/>
              </a:lnSpc>
              <a:spcBef>
                <a:spcPts val="0"/>
              </a:spcBef>
              <a:spcAft>
                <a:spcPts val="0"/>
              </a:spcAft>
              <a:defRPr sz="1859" b="0">
                <a:solidFill>
                  <a:srgbClr val="18394A"/>
                </a:solidFill>
                <a:latin typeface="Noto Sans"/>
              </a:defRPr>
            </a:pPr>
            <a:r>
              <a:t>Clasificar adecuadamente permite comprender qué parte de una venta contribuye a cubrir</a:t>
            </a:r>
          </a:p>
          <a:p>
            <a:pPr>
              <a:lnSpc>
                <a:spcPts val="2580"/>
              </a:lnSpc>
              <a:spcBef>
                <a:spcPts val="0"/>
              </a:spcBef>
              <a:spcAft>
                <a:spcPts val="0"/>
              </a:spcAft>
              <a:defRPr sz="1859" b="0">
                <a:solidFill>
                  <a:srgbClr val="18394A"/>
                </a:solidFill>
                <a:latin typeface="Noto Sans"/>
              </a:defRPr>
            </a:pPr>
            <a:r>
              <a:t>estructura y generar resultado.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Contribución y equilibrio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margen de contribución unitario es precio menos costo variable unitario. Si un producto</a:t>
            </a:r>
          </a:p>
          <a:p>
            <a:pPr>
              <a:lnSpc>
                <a:spcPts val="2580"/>
              </a:lnSpc>
              <a:spcBef>
                <a:spcPts val="0"/>
              </a:spcBef>
              <a:spcAft>
                <a:spcPts val="0"/>
              </a:spcAft>
              <a:defRPr sz="1859" b="0">
                <a:solidFill>
                  <a:srgbClr val="18394A"/>
                </a:solidFill>
                <a:latin typeface="Noto Sans"/>
              </a:defRPr>
            </a:pPr>
            <a:r>
              <a:t>cuesta veinte dólares y su costo variable es doce, contribuye ocho dólares. Con ochocientos</a:t>
            </a:r>
          </a:p>
          <a:p>
            <a:pPr>
              <a:lnSpc>
                <a:spcPts val="2580"/>
              </a:lnSpc>
              <a:spcBef>
                <a:spcPts val="0"/>
              </a:spcBef>
              <a:spcAft>
                <a:spcPts val="0"/>
              </a:spcAft>
              <a:defRPr sz="1859" b="0">
                <a:solidFill>
                  <a:srgbClr val="18394A"/>
                </a:solidFill>
                <a:latin typeface="Noto Sans"/>
              </a:defRPr>
            </a:pPr>
            <a:r>
              <a:t>dólares de costos fijos mensuales, el equilibrio simple es cien unidades. El cálculo supone</a:t>
            </a:r>
          </a:p>
          <a:p>
            <a:pPr>
              <a:lnSpc>
                <a:spcPts val="2580"/>
              </a:lnSpc>
              <a:spcBef>
                <a:spcPts val="0"/>
              </a:spcBef>
              <a:spcAft>
                <a:spcPts val="0"/>
              </a:spcAft>
              <a:defRPr sz="1859" b="0">
                <a:solidFill>
                  <a:srgbClr val="18394A"/>
                </a:solidFill>
                <a:latin typeface="Noto Sans"/>
              </a:defRPr>
            </a:pPr>
            <a:r>
              <a:t>precio y costo unitarios constantes y una oferta homogénea; varios productos requieren</a:t>
            </a:r>
          </a:p>
          <a:p>
            <a:pPr>
              <a:lnSpc>
                <a:spcPts val="2580"/>
              </a:lnSpc>
              <a:spcBef>
                <a:spcPts val="0"/>
              </a:spcBef>
              <a:spcAft>
                <a:spcPts val="0"/>
              </a:spcAft>
              <a:defRPr sz="1859" b="0">
                <a:solidFill>
                  <a:srgbClr val="18394A"/>
                </a:solidFill>
                <a:latin typeface="Noto Sans"/>
              </a:defRPr>
            </a:pPr>
            <a:r>
              <a:t>considerar la mezcla de ventas.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período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Separar costos</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Calcular margen</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Probar escenarios</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Define primero el período y qué ingresos y costos pertenecen a él. Calcula la contribución por</a:t>
            </a:r>
          </a:p>
          <a:p>
            <a:pPr>
              <a:lnSpc>
                <a:spcPts val="2400"/>
              </a:lnSpc>
              <a:spcBef>
                <a:spcPts val="0"/>
              </a:spcBef>
              <a:spcAft>
                <a:spcPts val="0"/>
              </a:spcAft>
              <a:defRPr sz="1739" b="0">
                <a:solidFill>
                  <a:srgbClr val="536975"/>
                </a:solidFill>
                <a:latin typeface="Noto Sans"/>
              </a:defRPr>
            </a:pPr>
            <a:r>
              <a:t>unidad y los costos fijos para estimar el equilibrio bajo supuestos explícitos. Después prueba</a:t>
            </a:r>
          </a:p>
          <a:p>
            <a:pPr>
              <a:lnSpc>
                <a:spcPts val="2400"/>
              </a:lnSpc>
              <a:spcBef>
                <a:spcPts val="0"/>
              </a:spcBef>
              <a:spcAft>
                <a:spcPts val="0"/>
              </a:spcAft>
              <a:defRPr sz="1739" b="0">
                <a:solidFill>
                  <a:srgbClr val="536975"/>
                </a:solidFill>
                <a:latin typeface="Noto Sans"/>
              </a:defRPr>
            </a:pPr>
            <a:r>
              <a:t>escenarios. Si la inversión cambia la operación, revisa también los flujos y el momento de los cobros</a:t>
            </a:r>
          </a:p>
          <a:p>
            <a:pPr>
              <a:lnSpc>
                <a:spcPts val="2400"/>
              </a:lnSpc>
              <a:spcBef>
                <a:spcPts val="0"/>
              </a:spcBef>
              <a:spcAft>
                <a:spcPts val="0"/>
              </a:spcAft>
              <a:defRPr sz="1739" b="0">
                <a:solidFill>
                  <a:srgbClr val="536975"/>
                </a:solidFill>
                <a:latin typeface="Noto Sans"/>
              </a:defRPr>
            </a:pPr>
            <a:r>
              <a:t>y pagos, no solo el total de ventas.</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Ejemplo hipotético: una caja se vende en veinte dólares y tiene doce dólares de costo variable; los</a:t>
            </a:r>
          </a:p>
          <a:p>
            <a:pPr>
              <a:lnSpc>
                <a:spcPts val="2400"/>
              </a:lnSpc>
              <a:spcBef>
                <a:spcPts val="0"/>
              </a:spcBef>
              <a:spcAft>
                <a:spcPts val="0"/>
              </a:spcAft>
              <a:defRPr sz="1739" b="0">
                <a:solidFill>
                  <a:srgbClr val="18394A"/>
                </a:solidFill>
                <a:latin typeface="Noto Sans"/>
              </a:defRPr>
            </a:pPr>
            <a:r>
              <a:t>costos fijos del mes son ochocientos. La contribución es ocho y el equilibrio es cien cajas. Con ciento</a:t>
            </a:r>
          </a:p>
          <a:p>
            <a:pPr>
              <a:lnSpc>
                <a:spcPts val="2400"/>
              </a:lnSpc>
              <a:spcBef>
                <a:spcPts val="0"/>
              </a:spcBef>
              <a:spcAft>
                <a:spcPts val="0"/>
              </a:spcAft>
              <a:defRPr sz="1739" b="0">
                <a:solidFill>
                  <a:srgbClr val="18394A"/>
                </a:solidFill>
                <a:latin typeface="Noto Sans"/>
              </a:defRPr>
            </a:pPr>
            <a:r>
              <a:t>cincuenta cajas, el resultado operativo simple es cuatrocientos dólares, antes de partidas no</a:t>
            </a:r>
          </a:p>
          <a:p>
            <a:pPr>
              <a:lnSpc>
                <a:spcPts val="2400"/>
              </a:lnSpc>
              <a:spcBef>
                <a:spcPts val="0"/>
              </a:spcBef>
              <a:spcAft>
                <a:spcPts val="0"/>
              </a:spcAft>
              <a:defRPr sz="1739" b="0">
                <a:solidFill>
                  <a:srgbClr val="18394A"/>
                </a:solidFill>
                <a:latin typeface="Noto Sans"/>
              </a:defRPr>
            </a:pPr>
            <a:r>
              <a:t>incluidas. Si el costo variable aumenta a catorce, la contribución baja a seis y se requieren al menos</a:t>
            </a:r>
          </a:p>
          <a:p>
            <a:pPr>
              <a:lnSpc>
                <a:spcPts val="2400"/>
              </a:lnSpc>
              <a:spcBef>
                <a:spcPts val="0"/>
              </a:spcBef>
              <a:spcAft>
                <a:spcPts val="0"/>
              </a:spcAft>
              <a:defRPr sz="1739" b="0">
                <a:solidFill>
                  <a:srgbClr val="18394A"/>
                </a:solidFill>
                <a:latin typeface="Noto Sans"/>
              </a:defRPr>
            </a:pPr>
            <a:r>
              <a:t>ciento treinta y cuatro cajas para no perder.</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¿Cómo cambia el punto de equilibrio cuando aumenta el costo variable y qué supuestos debes</a:t>
            </a:r>
          </a:p>
          <a:p>
            <a:pPr>
              <a:lnSpc>
                <a:spcPts val="2220"/>
              </a:lnSpc>
              <a:spcBef>
                <a:spcPts val="0"/>
              </a:spcBef>
              <a:spcAft>
                <a:spcPts val="0"/>
              </a:spcAft>
              <a:defRPr sz="1620" b="1">
                <a:solidFill>
                  <a:srgbClr val="18394A"/>
                </a:solidFill>
                <a:latin typeface="Noto Sans"/>
              </a:defRPr>
            </a:pPr>
            <a:r>
              <a:t>declarar?</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Inversión y retorno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inversión puede evaluarse con flujos de caja, horizonte y riesgo. Un retorno simple</a:t>
            </a:r>
          </a:p>
          <a:p>
            <a:pPr>
              <a:lnSpc>
                <a:spcPts val="2580"/>
              </a:lnSpc>
              <a:spcBef>
                <a:spcPts val="0"/>
              </a:spcBef>
              <a:spcAft>
                <a:spcPts val="0"/>
              </a:spcAft>
              <a:defRPr sz="1859" b="0">
                <a:solidFill>
                  <a:srgbClr val="18394A"/>
                </a:solidFill>
                <a:latin typeface="Noto Sans"/>
              </a:defRPr>
            </a:pPr>
            <a:r>
              <a:t>compara beneficio neto atribuible e inversión, pero puede ocultar cuándo se obtiene el</a:t>
            </a:r>
          </a:p>
          <a:p>
            <a:pPr>
              <a:lnSpc>
                <a:spcPts val="2580"/>
              </a:lnSpc>
              <a:spcBef>
                <a:spcPts val="0"/>
              </a:spcBef>
              <a:spcAft>
                <a:spcPts val="0"/>
              </a:spcAft>
              <a:defRPr sz="1859" b="0">
                <a:solidFill>
                  <a:srgbClr val="18394A"/>
                </a:solidFill>
                <a:latin typeface="Noto Sans"/>
              </a:defRPr>
            </a:pPr>
            <a:r>
              <a:t>dinero. El valor presente descuenta flujos futuros usando una tasa justificada. No combines</a:t>
            </a:r>
          </a:p>
          <a:p>
            <a:pPr>
              <a:lnSpc>
                <a:spcPts val="2580"/>
              </a:lnSpc>
              <a:spcBef>
                <a:spcPts val="0"/>
              </a:spcBef>
              <a:spcAft>
                <a:spcPts val="0"/>
              </a:spcAft>
              <a:defRPr sz="1859" b="0">
                <a:solidFill>
                  <a:srgbClr val="18394A"/>
                </a:solidFill>
                <a:latin typeface="Noto Sans"/>
              </a:defRPr>
            </a:pPr>
            <a:r>
              <a:t>utilidad contable con flujo de caja sin explicar ajustes, ni presentes proyecciones como</a:t>
            </a:r>
          </a:p>
          <a:p>
            <a:pPr>
              <a:lnSpc>
                <a:spcPts val="2580"/>
              </a:lnSpc>
              <a:spcBef>
                <a:spcPts val="0"/>
              </a:spcBef>
              <a:spcAft>
                <a:spcPts val="0"/>
              </a:spcAft>
              <a:defRPr sz="1859" b="0">
                <a:solidFill>
                  <a:srgbClr val="18394A"/>
                </a:solidFill>
                <a:latin typeface="Noto Sans"/>
              </a:defRPr>
            </a:pPr>
            <a:r>
              <a:t>resultados ya obtenidos.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Escenarios y decisiones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Prueba cómo cambian los resultados si varían ventas, devoluciones, publicidad o costos</a:t>
            </a:r>
          </a:p>
          <a:p>
            <a:pPr>
              <a:lnSpc>
                <a:spcPts val="2580"/>
              </a:lnSpc>
              <a:spcBef>
                <a:spcPts val="0"/>
              </a:spcBef>
              <a:spcAft>
                <a:spcPts val="0"/>
              </a:spcAft>
              <a:defRPr sz="1859" b="0">
                <a:solidFill>
                  <a:srgbClr val="18394A"/>
                </a:solidFill>
                <a:latin typeface="Noto Sans"/>
              </a:defRPr>
            </a:pPr>
            <a:r>
              <a:t>logísticos. Identifica los supuestos más sensibles y las fuentes de datos. Un escenario</a:t>
            </a:r>
          </a:p>
          <a:p>
            <a:pPr>
              <a:lnSpc>
                <a:spcPts val="2580"/>
              </a:lnSpc>
              <a:spcBef>
                <a:spcPts val="0"/>
              </a:spcBef>
              <a:spcAft>
                <a:spcPts val="0"/>
              </a:spcAft>
              <a:defRPr sz="1859" b="0">
                <a:solidFill>
                  <a:srgbClr val="18394A"/>
                </a:solidFill>
                <a:latin typeface="Noto Sans"/>
              </a:defRPr>
            </a:pPr>
            <a:r>
              <a:t>optimista no reemplaza un presupuesto de caja. La evaluación debe reconocer</a:t>
            </a:r>
          </a:p>
          <a:p>
            <a:pPr>
              <a:lnSpc>
                <a:spcPts val="2580"/>
              </a:lnSpc>
              <a:spcBef>
                <a:spcPts val="0"/>
              </a:spcBef>
              <a:spcAft>
                <a:spcPts val="0"/>
              </a:spcAft>
              <a:defRPr sz="1859" b="0">
                <a:solidFill>
                  <a:srgbClr val="18394A"/>
                </a:solidFill>
                <a:latin typeface="Noto Sans"/>
              </a:defRPr>
            </a:pPr>
            <a:r>
              <a:t>incertidumbre y comparar alternativas consistentes, incluyendo los costos de operación de</a:t>
            </a:r>
          </a:p>
          <a:p>
            <a:pPr>
              <a:lnSpc>
                <a:spcPts val="2580"/>
              </a:lnSpc>
              <a:spcBef>
                <a:spcPts val="0"/>
              </a:spcBef>
              <a:spcAft>
                <a:spcPts val="0"/>
              </a:spcAft>
              <a:defRPr sz="1859" b="0">
                <a:solidFill>
                  <a:srgbClr val="18394A"/>
                </a:solidFill>
                <a:latin typeface="Noto Sans"/>
              </a:defRPr>
            </a:pPr>
            <a:r>
              <a:t>la solución digital después de su puesta en marcha.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Clasifica ingresos, costos variables, fijos e inversión en una tienda ficticia.</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margen, equilibrio y resultado de 150 cajas con los datos iniciales.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Recalcula el equilibrio con costo variable de catorce y explica el redondeo.</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Construye escenarios y distingue utilidad, flujo de caja y retorno de inversión.</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Separa ventas, resultado y caja.</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Calcula con supuestos visibles.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Decide comparando escenarios y riesgo.</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Brealey, Myers y Allen, Principles of Corporate Finance.</a:t>
            </a:r>
          </a:p>
          <a:p>
            <a:pPr>
              <a:lnSpc>
                <a:spcPts val="1920"/>
              </a:lnSpc>
              <a:spcBef>
                <a:spcPts val="0"/>
              </a:spcBef>
              <a:spcAft>
                <a:spcPts val="0"/>
              </a:spcAft>
              <a:defRPr sz="1380" b="0">
                <a:solidFill>
                  <a:srgbClr val="D6E4E8"/>
                </a:solidFill>
                <a:latin typeface="Noto Sans"/>
              </a:defRPr>
            </a:pPr>
            <a:r>
              <a:t>Conceptos de flujos, inversión y valor temporal del dinero.</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Rendimiento financiero de los negocios electrónicos</dc:title>
  <dc:subject>Sistemas para Mypes y Pymes y valor financiero de los sistemas electrónicos</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