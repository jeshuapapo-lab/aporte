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aspectos institucionales. El propósito es definir información institucional verificable que aporte identidad, transparencia y canales de atención al negocio electrónico. Este contenido forma parte de negocios electrónicos. Trabajaremos con conceptos y un caso ficticio para tomar decisiones justificadas.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¿Cuáles son las tres correcciones prioritarias y cómo verificarías que se mantienen vigentes? Al terminar deberás explicar tu decisión, indicar cómo la comprobarías y reconocer los límites de la evidencia utilizada.</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aspectos institucionales permiten reconocer quién está detrás del negocio y cómo puede contactarse. Incluyen identidad comercial, propósito, trayectoria comprobable y canales de atención. Su función es reducir incertidumbre sobre la organización, sin convertir una historia atractiva en prueba de calidad por sí sola. Una empresa debe mantener consistencia entre lo que afirma en su sitio y sus prácticas reales.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condiciones de compra, atención, cambios, devoluciones y tratamiento de datos deben ser localizables y expresarse con claridad. Una política copiada de otro país o negocio puede describir procedimientos que la organización no aplica. La redacción necesita revisión de responsables de operación y, cuando corresponda, asesoramiento jurídico competente. Este material educativo no determina obligaciones legales concretas para todos los negocios.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información institucional comienza identificando al responsable del negocio. Después comunica condiciones de relación y abre canales que realmente atiendan consultas. El ciclo termina revisando vigencia, responsables y cambios. Conviene comprobar cada enlace de contacto y seguir una consulta de prueba hasta su respuesta, en lugar de limitarse a verificar que existe un formulario.</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Minga Cacao anuncia atención permanente, pero su equipo responde solo en horario laboral. Copió una política de devoluciones que menciona otra empresa y publica un sello sin respaldo. El rediseño institucional debe corregir las afirmaciones, publicar condiciones que la operación pueda cumplir y asignar a una persona responsable de consultas y revisiones. Antes de publicar datos personales de empleados debe comprobarse la autorización y necesidad.</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Muestra certificaciones, alianzas y testimonios solo cuando sean auténticos y exista autorización para publicarlos. Una dirección o un formulario no bastan si los mensajes no llegan a un responsable. Define tiempos de respuesta que puedan cumplirse y procedimientos para escalar reclamos. La información institucional debe ayudar a resolver dudas, no limitarse a decorar una sección de quiénes somos.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Solicita únicamente los datos necesarios para cada finalidad y explica su uso. Controla quién puede acceder a formularios y documentos, y establece revisiones periódicas de contactos y políticas. Si cambian las condiciones, registra versiones y fechas pertinentes. Una política desactualizada puede generar expectativas equivocadas incluso cuando el sitio funciona técnicamente y sus páginas cargan sin errores.</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Elabora una ficha institucional con identidad y tres evidencias verificables. Después, audita las tres afirmaciones del caso y establece qué evidencia exigirías. Justifica tus decisiones con los conceptos de esta explicación y comprueba tus respuestas en la actividad interactiva.</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La identidad debe poder comprobarse. Las políticas deben corresponder a la operación. Atender y actualizar también genera confianza. El caso y sus datos son ficticios. Revisa las fuentes indicadas en los materiales y continúa con la práctica para transferir estos criterios a otra situación.</a:t>
            </a:r>
          </a:p>
          <a:p/>
          <a:p>
            <a:r>
              <a:t>Fuente curricular: Negocios Electrónicos, 1.4, UPS 2026–2027. Referencia: OECD (2016), Consumer Protection in E-commerce. Complemento contextual: revisar normativa y asesoramiento jurídico aplicables en Ecuador.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1.4</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Aspectos institucionales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información institucional verificable que aporte identidad, transparencia y</a:t>
            </a:r>
          </a:p>
          <a:p>
            <a:pPr>
              <a:lnSpc>
                <a:spcPts val="2640"/>
              </a:lnSpc>
              <a:spcBef>
                <a:spcPts val="0"/>
              </a:spcBef>
              <a:spcAft>
                <a:spcPts val="0"/>
              </a:spcAft>
              <a:defRPr sz="1920" b="0">
                <a:solidFill>
                  <a:srgbClr val="D6E4E8"/>
                </a:solidFill>
                <a:latin typeface="Noto Sans"/>
              </a:defRPr>
            </a:pPr>
            <a:r>
              <a:t>canales de atención al negocio electrónico.</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información institucional verificable que aporte identidad, transparencia</a:t>
            </a:r>
          </a:p>
          <a:p>
            <a:pPr>
              <a:lnSpc>
                <a:spcPts val="2820"/>
              </a:lnSpc>
              <a:spcBef>
                <a:spcPts val="0"/>
              </a:spcBef>
              <a:spcAft>
                <a:spcPts val="0"/>
              </a:spcAft>
              <a:defRPr sz="2039" b="1">
                <a:solidFill>
                  <a:srgbClr val="18394A"/>
                </a:solidFill>
                <a:latin typeface="Noto Sans"/>
              </a:defRPr>
            </a:pPr>
            <a:r>
              <a:t>y canales de atención al negocio electrónico.</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¿Cuáles son las tres correcciones prioritarias y cómo verificarías que se mantienen</a:t>
            </a:r>
          </a:p>
          <a:p>
            <a:pPr>
              <a:lnSpc>
                <a:spcPts val="2820"/>
              </a:lnSpc>
              <a:spcBef>
                <a:spcPts val="0"/>
              </a:spcBef>
              <a:spcAft>
                <a:spcPts val="0"/>
              </a:spcAft>
              <a:defRPr sz="2039" b="0">
                <a:solidFill>
                  <a:srgbClr val="18394A"/>
                </a:solidFill>
                <a:latin typeface="Noto Sans"/>
              </a:defRPr>
            </a:pPr>
            <a:r>
              <a:t>vigentes?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Identidad y legitimidad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aspectos institucionales permiten reconocer quién está detrás del negocio y cómo</a:t>
            </a:r>
          </a:p>
          <a:p>
            <a:pPr>
              <a:lnSpc>
                <a:spcPts val="2580"/>
              </a:lnSpc>
              <a:spcBef>
                <a:spcPts val="0"/>
              </a:spcBef>
              <a:spcAft>
                <a:spcPts val="0"/>
              </a:spcAft>
              <a:defRPr sz="1859" b="0">
                <a:solidFill>
                  <a:srgbClr val="18394A"/>
                </a:solidFill>
                <a:latin typeface="Noto Sans"/>
              </a:defRPr>
            </a:pPr>
            <a:r>
              <a:t>puede contactarse. Incluyen identidad comercial, propósito, trayectoria comprobable y</a:t>
            </a:r>
          </a:p>
          <a:p>
            <a:pPr>
              <a:lnSpc>
                <a:spcPts val="2580"/>
              </a:lnSpc>
              <a:spcBef>
                <a:spcPts val="0"/>
              </a:spcBef>
              <a:spcAft>
                <a:spcPts val="0"/>
              </a:spcAft>
              <a:defRPr sz="1859" b="0">
                <a:solidFill>
                  <a:srgbClr val="18394A"/>
                </a:solidFill>
                <a:latin typeface="Noto Sans"/>
              </a:defRPr>
            </a:pPr>
            <a:r>
              <a:t>canales de atención. Su función es reducir incertidumbre sobre la organización, sin</a:t>
            </a:r>
          </a:p>
          <a:p>
            <a:pPr>
              <a:lnSpc>
                <a:spcPts val="2580"/>
              </a:lnSpc>
              <a:spcBef>
                <a:spcPts val="0"/>
              </a:spcBef>
              <a:spcAft>
                <a:spcPts val="0"/>
              </a:spcAft>
              <a:defRPr sz="1859" b="0">
                <a:solidFill>
                  <a:srgbClr val="18394A"/>
                </a:solidFill>
                <a:latin typeface="Noto Sans"/>
              </a:defRPr>
            </a:pPr>
            <a:r>
              <a:t>convertir una historia atractiva en prueba de calidad por sí sola. Una empresa debe</a:t>
            </a:r>
          </a:p>
          <a:p>
            <a:pPr>
              <a:lnSpc>
                <a:spcPts val="2580"/>
              </a:lnSpc>
              <a:spcBef>
                <a:spcPts val="0"/>
              </a:spcBef>
              <a:spcAft>
                <a:spcPts val="0"/>
              </a:spcAft>
              <a:defRPr sz="1859" b="0">
                <a:solidFill>
                  <a:srgbClr val="18394A"/>
                </a:solidFill>
                <a:latin typeface="Noto Sans"/>
              </a:defRPr>
            </a:pPr>
            <a:r>
              <a:t>mantener consistencia entre lo que afirma en su sitio y sus prácticas reales.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Políticas comprensibles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207264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Las condiciones de compra, atención, cambios, devoluciones y tratamiento de datos deben</a:t>
            </a:r>
          </a:p>
          <a:p>
            <a:pPr>
              <a:lnSpc>
                <a:spcPts val="2580"/>
              </a:lnSpc>
              <a:spcBef>
                <a:spcPts val="0"/>
              </a:spcBef>
              <a:spcAft>
                <a:spcPts val="0"/>
              </a:spcAft>
              <a:defRPr sz="1859" b="0">
                <a:solidFill>
                  <a:srgbClr val="18394A"/>
                </a:solidFill>
                <a:latin typeface="Noto Sans"/>
              </a:defRPr>
            </a:pPr>
            <a:r>
              <a:t>ser localizables y expresarse con claridad. Una política copiada de otro país o negocio puede</a:t>
            </a:r>
          </a:p>
          <a:p>
            <a:pPr>
              <a:lnSpc>
                <a:spcPts val="2580"/>
              </a:lnSpc>
              <a:spcBef>
                <a:spcPts val="0"/>
              </a:spcBef>
              <a:spcAft>
                <a:spcPts val="0"/>
              </a:spcAft>
              <a:defRPr sz="1859" b="0">
                <a:solidFill>
                  <a:srgbClr val="18394A"/>
                </a:solidFill>
                <a:latin typeface="Noto Sans"/>
              </a:defRPr>
            </a:pPr>
            <a:r>
              <a:t>describir procedimientos que la organización no aplica. La redacción necesita revisión de</a:t>
            </a:r>
          </a:p>
          <a:p>
            <a:pPr>
              <a:lnSpc>
                <a:spcPts val="2580"/>
              </a:lnSpc>
              <a:spcBef>
                <a:spcPts val="0"/>
              </a:spcBef>
              <a:spcAft>
                <a:spcPts val="0"/>
              </a:spcAft>
              <a:defRPr sz="1859" b="0">
                <a:solidFill>
                  <a:srgbClr val="18394A"/>
                </a:solidFill>
                <a:latin typeface="Noto Sans"/>
              </a:defRPr>
            </a:pPr>
            <a:r>
              <a:t>responsables de operación y, cuando corresponda, asesoramiento jurídico competente.</a:t>
            </a:r>
          </a:p>
          <a:p>
            <a:pPr>
              <a:lnSpc>
                <a:spcPts val="2580"/>
              </a:lnSpc>
              <a:spcBef>
                <a:spcPts val="0"/>
              </a:spcBef>
              <a:spcAft>
                <a:spcPts val="0"/>
              </a:spcAft>
              <a:defRPr sz="1859" b="0">
                <a:solidFill>
                  <a:srgbClr val="18394A"/>
                </a:solidFill>
                <a:latin typeface="Noto Sans"/>
              </a:defRPr>
            </a:pPr>
            <a:r>
              <a:t>Este material educativo no determina obligaciones legales concretas para todos los</a:t>
            </a:r>
          </a:p>
          <a:p>
            <a:pPr>
              <a:lnSpc>
                <a:spcPts val="2580"/>
              </a:lnSpc>
              <a:spcBef>
                <a:spcPts val="0"/>
              </a:spcBef>
              <a:spcAft>
                <a:spcPts val="0"/>
              </a:spcAft>
              <a:defRPr sz="1859" b="0">
                <a:solidFill>
                  <a:srgbClr val="18394A"/>
                </a:solidFill>
                <a:latin typeface="Noto Sans"/>
              </a:defRPr>
            </a:pPr>
            <a:r>
              <a:t>negocios.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Identificar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Informar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Atender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Actualizar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La información institucional comienza identificando al responsable del negocio. Después comunica</a:t>
            </a:r>
          </a:p>
          <a:p>
            <a:pPr>
              <a:lnSpc>
                <a:spcPts val="2400"/>
              </a:lnSpc>
              <a:spcBef>
                <a:spcPts val="0"/>
              </a:spcBef>
              <a:spcAft>
                <a:spcPts val="0"/>
              </a:spcAft>
              <a:defRPr sz="1739" b="0">
                <a:solidFill>
                  <a:srgbClr val="536975"/>
                </a:solidFill>
                <a:latin typeface="Noto Sans"/>
              </a:defRPr>
            </a:pPr>
            <a:r>
              <a:t>condiciones de relación y abre canales que realmente atiendan consultas. El ciclo termina revisando</a:t>
            </a:r>
          </a:p>
          <a:p>
            <a:pPr>
              <a:lnSpc>
                <a:spcPts val="2400"/>
              </a:lnSpc>
              <a:spcBef>
                <a:spcPts val="0"/>
              </a:spcBef>
              <a:spcAft>
                <a:spcPts val="0"/>
              </a:spcAft>
              <a:defRPr sz="1739" b="0">
                <a:solidFill>
                  <a:srgbClr val="536975"/>
                </a:solidFill>
                <a:latin typeface="Noto Sans"/>
              </a:defRPr>
            </a:pPr>
            <a:r>
              <a:t>vigencia, responsables y cambios. Conviene comprobar cada enlace de contacto y seguir una</a:t>
            </a:r>
          </a:p>
          <a:p>
            <a:pPr>
              <a:lnSpc>
                <a:spcPts val="2400"/>
              </a:lnSpc>
              <a:spcBef>
                <a:spcPts val="0"/>
              </a:spcBef>
              <a:spcAft>
                <a:spcPts val="0"/>
              </a:spcAft>
              <a:defRPr sz="1739" b="0">
                <a:solidFill>
                  <a:srgbClr val="536975"/>
                </a:solidFill>
                <a:latin typeface="Noto Sans"/>
              </a:defRPr>
            </a:pPr>
            <a:r>
              <a:t>consulta de prueba hasta su respuesta, en lugar de limitarse a verificar que existe un formulario.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Minga Cacao anuncia atención permanente, pero su equipo responde solo en horario</a:t>
            </a:r>
          </a:p>
          <a:p>
            <a:pPr>
              <a:lnSpc>
                <a:spcPts val="2400"/>
              </a:lnSpc>
              <a:spcBef>
                <a:spcPts val="0"/>
              </a:spcBef>
              <a:spcAft>
                <a:spcPts val="0"/>
              </a:spcAft>
              <a:defRPr sz="1739" b="0">
                <a:solidFill>
                  <a:srgbClr val="18394A"/>
                </a:solidFill>
                <a:latin typeface="Noto Sans"/>
              </a:defRPr>
            </a:pPr>
            <a:r>
              <a:t>laboral. Copió una política de devoluciones que menciona otra empresa y publica un sello sin</a:t>
            </a:r>
          </a:p>
          <a:p>
            <a:pPr>
              <a:lnSpc>
                <a:spcPts val="2400"/>
              </a:lnSpc>
              <a:spcBef>
                <a:spcPts val="0"/>
              </a:spcBef>
              <a:spcAft>
                <a:spcPts val="0"/>
              </a:spcAft>
              <a:defRPr sz="1739" b="0">
                <a:solidFill>
                  <a:srgbClr val="18394A"/>
                </a:solidFill>
                <a:latin typeface="Noto Sans"/>
              </a:defRPr>
            </a:pPr>
            <a:r>
              <a:t>respaldo. El rediseño institucional debe corregir las afirmaciones, publicar condiciones que la</a:t>
            </a:r>
          </a:p>
          <a:p>
            <a:pPr>
              <a:lnSpc>
                <a:spcPts val="2400"/>
              </a:lnSpc>
              <a:spcBef>
                <a:spcPts val="0"/>
              </a:spcBef>
              <a:spcAft>
                <a:spcPts val="0"/>
              </a:spcAft>
              <a:defRPr sz="1739" b="0">
                <a:solidFill>
                  <a:srgbClr val="18394A"/>
                </a:solidFill>
                <a:latin typeface="Noto Sans"/>
              </a:defRPr>
            </a:pPr>
            <a:r>
              <a:t>operación pueda cumplir y asignar a una persona responsable de consultas y revisiones. Antes de</a:t>
            </a:r>
          </a:p>
          <a:p>
            <a:pPr>
              <a:lnSpc>
                <a:spcPts val="2400"/>
              </a:lnSpc>
              <a:spcBef>
                <a:spcPts val="0"/>
              </a:spcBef>
              <a:spcAft>
                <a:spcPts val="0"/>
              </a:spcAft>
              <a:defRPr sz="1739" b="0">
                <a:solidFill>
                  <a:srgbClr val="18394A"/>
                </a:solidFill>
                <a:latin typeface="Noto Sans"/>
              </a:defRPr>
            </a:pPr>
            <a:r>
              <a:t>publicar datos personales de empleados debe comprobarse la autorización y necesidad.</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¿Cuáles son las tres correcciones prioritarias y cómo verificarías que se mantienen vigentes?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Confianza con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Muestra certificaciones, alianzas y testimonios solo cuando sean auténticos y exista</a:t>
            </a:r>
          </a:p>
          <a:p>
            <a:pPr>
              <a:lnSpc>
                <a:spcPts val="2580"/>
              </a:lnSpc>
              <a:spcBef>
                <a:spcPts val="0"/>
              </a:spcBef>
              <a:spcAft>
                <a:spcPts val="0"/>
              </a:spcAft>
              <a:defRPr sz="1859" b="0">
                <a:solidFill>
                  <a:srgbClr val="18394A"/>
                </a:solidFill>
                <a:latin typeface="Noto Sans"/>
              </a:defRPr>
            </a:pPr>
            <a:r>
              <a:t>autorización para publicarlos. Una dirección o un formulario no bastan si los mensajes no</a:t>
            </a:r>
          </a:p>
          <a:p>
            <a:pPr>
              <a:lnSpc>
                <a:spcPts val="2580"/>
              </a:lnSpc>
              <a:spcBef>
                <a:spcPts val="0"/>
              </a:spcBef>
              <a:spcAft>
                <a:spcPts val="0"/>
              </a:spcAft>
              <a:defRPr sz="1859" b="0">
                <a:solidFill>
                  <a:srgbClr val="18394A"/>
                </a:solidFill>
                <a:latin typeface="Noto Sans"/>
              </a:defRPr>
            </a:pPr>
            <a:r>
              <a:t>llegan a un responsable. Define tiempos de respuesta que puedan cumplirse y</a:t>
            </a:r>
          </a:p>
          <a:p>
            <a:pPr>
              <a:lnSpc>
                <a:spcPts val="2580"/>
              </a:lnSpc>
              <a:spcBef>
                <a:spcPts val="0"/>
              </a:spcBef>
              <a:spcAft>
                <a:spcPts val="0"/>
              </a:spcAft>
              <a:defRPr sz="1859" b="0">
                <a:solidFill>
                  <a:srgbClr val="18394A"/>
                </a:solidFill>
                <a:latin typeface="Noto Sans"/>
              </a:defRPr>
            </a:pPr>
            <a:r>
              <a:t>procedimientos para escalar reclamos. La información institucional debe ayudar a resolver</a:t>
            </a:r>
          </a:p>
          <a:p>
            <a:pPr>
              <a:lnSpc>
                <a:spcPts val="2580"/>
              </a:lnSpc>
              <a:spcBef>
                <a:spcPts val="0"/>
              </a:spcBef>
              <a:spcAft>
                <a:spcPts val="0"/>
              </a:spcAft>
              <a:defRPr sz="1859" b="0">
                <a:solidFill>
                  <a:srgbClr val="18394A"/>
                </a:solidFill>
                <a:latin typeface="Noto Sans"/>
              </a:defRPr>
            </a:pPr>
            <a:r>
              <a:t>dudas, no limitarse a decorar una sección de quiénes somos.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Datos y mantenimiento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Solicita únicamente los datos necesarios para cada finalidad y explica su uso. Controla</a:t>
            </a:r>
          </a:p>
          <a:p>
            <a:pPr>
              <a:lnSpc>
                <a:spcPts val="2580"/>
              </a:lnSpc>
              <a:spcBef>
                <a:spcPts val="0"/>
              </a:spcBef>
              <a:spcAft>
                <a:spcPts val="0"/>
              </a:spcAft>
              <a:defRPr sz="1859" b="0">
                <a:solidFill>
                  <a:srgbClr val="18394A"/>
                </a:solidFill>
                <a:latin typeface="Noto Sans"/>
              </a:defRPr>
            </a:pPr>
            <a:r>
              <a:t>quién puede acceder a formularios y documentos, y establece revisiones periódicas de</a:t>
            </a:r>
          </a:p>
          <a:p>
            <a:pPr>
              <a:lnSpc>
                <a:spcPts val="2580"/>
              </a:lnSpc>
              <a:spcBef>
                <a:spcPts val="0"/>
              </a:spcBef>
              <a:spcAft>
                <a:spcPts val="0"/>
              </a:spcAft>
              <a:defRPr sz="1859" b="0">
                <a:solidFill>
                  <a:srgbClr val="18394A"/>
                </a:solidFill>
                <a:latin typeface="Noto Sans"/>
              </a:defRPr>
            </a:pPr>
            <a:r>
              <a:t>contactos y políticas. Si cambian las condiciones, registra versiones y fechas pertinentes.</a:t>
            </a:r>
          </a:p>
          <a:p>
            <a:pPr>
              <a:lnSpc>
                <a:spcPts val="2580"/>
              </a:lnSpc>
              <a:spcBef>
                <a:spcPts val="0"/>
              </a:spcBef>
              <a:spcAft>
                <a:spcPts val="0"/>
              </a:spcAft>
              <a:defRPr sz="1859" b="0">
                <a:solidFill>
                  <a:srgbClr val="18394A"/>
                </a:solidFill>
                <a:latin typeface="Noto Sans"/>
              </a:defRPr>
            </a:pPr>
            <a:r>
              <a:t>Una política desactualizada puede generar expectativas equivocadas incluso cuando el sitio</a:t>
            </a:r>
          </a:p>
          <a:p>
            <a:pPr>
              <a:lnSpc>
                <a:spcPts val="2580"/>
              </a:lnSpc>
              <a:spcBef>
                <a:spcPts val="0"/>
              </a:spcBef>
              <a:spcAft>
                <a:spcPts val="0"/>
              </a:spcAft>
              <a:defRPr sz="1859" b="0">
                <a:solidFill>
                  <a:srgbClr val="18394A"/>
                </a:solidFill>
                <a:latin typeface="Noto Sans"/>
              </a:defRPr>
            </a:pPr>
            <a:r>
              <a:t>funciona técnicamente y sus páginas cargan sin errores.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U1 · 1.4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Elabora una ficha institucional con identidad y tres evidencias verificables.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política breve de atención diferenciando propuesta educativa y revisión jurídica.</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Audita las tres afirmaciones del caso y establece qué evidencia exigirías.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una revisión trimestral con responsables, registros y pruebas del contacto.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U1 · 1.4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La identidad debe poder comprobarse.</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Las políticas deben corresponder a la operación.</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Atender y actualizar también genera confianza.</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OECD (2016), Consumer Protection in E-commerce.</a:t>
            </a:r>
          </a:p>
          <a:p>
            <a:pPr>
              <a:lnSpc>
                <a:spcPts val="1920"/>
              </a:lnSpc>
              <a:spcBef>
                <a:spcPts val="0"/>
              </a:spcBef>
              <a:spcAft>
                <a:spcPts val="0"/>
              </a:spcAft>
              <a:defRPr sz="1380" b="0">
                <a:solidFill>
                  <a:srgbClr val="D6E4E8"/>
                </a:solidFill>
                <a:latin typeface="Noto Sans"/>
              </a:defRPr>
            </a:pPr>
            <a:r>
              <a:t>Complemento contextual: revisar normativa y asesoramiento jurídico aplicables en Ecuador.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Aspectos institucionales</dc:title>
  <dc:subject>Estructura del negocio electrónico</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