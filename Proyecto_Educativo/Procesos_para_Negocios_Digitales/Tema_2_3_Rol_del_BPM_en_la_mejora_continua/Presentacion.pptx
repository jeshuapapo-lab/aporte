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Hoy estudiaremos rol del bpm en la mejora continua. El propósito es aplicar una revisión continua de procesos con hipótesis, pruebas, medidas equilibradas y decisiones de ajuste. Este contenido forma parte de procesos para negocios digitales. Trabajaremos con conceptos y un caso ficticio para tomar decisiones justificadas.</a:t>
            </a:r>
          </a:p>
          <a:p/>
          <a:p>
            <a:r>
              <a:t>Fuente curricular: Procesos para Negocios Digitales, 2.3, UPS 2026–2027. Referencia: Dumas et al. (2018), Fundamentals of Business Process Management. Deming (1986), Out of the Crisis. MIT Press.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Antes de proponer una solución, considera esta pregunta: ¿Qué dos formas de expresar la reducción son correctas y qué medida de equilibrio añadirías? Al terminar deberás explicar tu decisión, indicar cómo la comprobarías y reconocer los límites de la evidencia utilizada.</a:t>
            </a:r>
          </a:p>
          <a:p/>
          <a:p>
            <a:r>
              <a:t>Fuente curricular: Procesos para Negocios Digitales, 2.3, UPS 2026–2027. Referencia: Dumas et al. (2018), Fundamentals of Business Process Management. Deming (1986), Out of the Crisis. MIT Press.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mejora continua consiste en revisar de manera sistemática cómo se realiza el trabajo y qué resultados produce. BPM aporta límites, responsables y visibilidad para que las mejoras no dependan solo de iniciativas aisladas. Una solución necesita seguimiento: los cambios de demanda, personal o reglas pueden hacer que una práctica antes útil deje de responder al propósito.</a:t>
            </a:r>
          </a:p>
          <a:p/>
          <a:p>
            <a:r>
              <a:t>Fuente curricular: Procesos para Negocios Digitales, 2.3, UPS 2026–2027. Referencia: Dumas et al. (2018), Fundamentals of Business Process Management. Deming (1986), Out of the Crisis. MIT Press.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Formula una hipótesis que conecte un cambio con un mecanismo y un resultado esperado. Por ejemplo, validar requisitos al recibir una solicitud podría reducir devoluciones por datos incompletos. Define cómo probarla y qué evidencia la contradiría. Una prueba limitada ayuda a aprender sin comprometer toda la operación; no consiste en confirmar obligatoriamente una idea que ya se decidió imponer.</a:t>
            </a:r>
          </a:p>
          <a:p/>
          <a:p>
            <a:r>
              <a:t>Fuente curricular: Procesos para Negocios Digitales, 2.3, UPS 2026–2027. Referencia: Dumas et al. (2018), Fundamentals of Business Process Management. Deming (1986), Out of the Crisis. MIT Press.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ciclo de planear, hacer, verificar y actuar ayuda a organizar la revisión. Planear define problema, hipótesis y medidas; hacer ejecuta una prueba controlada; verificar contrasta resultados y efectos; actuar decide si estandarizar, ajustar o descartar. Este ciclo se integra con BPM y no reemplaza la necesidad de delimitar proceso y responsabilidades.</a:t>
            </a:r>
          </a:p>
          <a:p/>
          <a:p>
            <a:r>
              <a:t>Fuente curricular: Procesos para Negocios Digitales, 2.3, UPS 2026–2027. Referencia: Dumas et al. (2018), Fundamentals of Business Process Management. Deming (1986), Out of the Crisis. MIT Press.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Caso hipotético: una validación inicial reduce solicitudes devueltas de veinte a diez en grupos de cien casos comparables. La tasa baja de 20 % a 10 %: diez puntos porcentuales y una reducción relativa de 50 %. El equipo también debe comprobar si creció el abandono del formulario o la carga de quien valida, para evitar interpretar una mejora parcial como éxito sin condiciones.</a:t>
            </a:r>
          </a:p>
          <a:p/>
          <a:p>
            <a:r>
              <a:t>Fuente curricular: Procesos para Negocios Digitales, 2.3, UPS 2026–2027. Referencia: Dumas et al. (2018), Fundamentals of Business Process Management. Deming (1986), Out of the Crisis. MIT Press.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Compara línea base y resultados con definiciones consistentes. Acompaña el indicador principal con medidas de calidad, carga o experiencia para detectar efectos secundarios. Si baja el tiempo porque se excluyen casos complejos, la aparente mejora puede ser un cambio de población. Revisa distribución, condiciones y datos faltantes antes de atribuir un resultado al cambio aplicado.</a:t>
            </a:r>
          </a:p>
          <a:p/>
          <a:p>
            <a:r>
              <a:t>Fuente curricular: Procesos para Negocios Digitales, 2.3, UPS 2026–2027. Referencia: Dumas et al. (2018), Fundamentals of Business Process Management. Deming (1986), Out of the Crisis. MIT Press.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Cuando la evidencia justifica el cambio, actualiza reglas, formación y documentación. Asigna responsable y fecha de revisión. Si la prueba no funciona, conserva el aprendizaje y ajusta o abandona la hipótesis. La mejora continua combina estabilidad de lo que sirve con capacidad de adaptación; repetir experimentos sin registrar decisiones impide construir conocimiento sobre el proceso.</a:t>
            </a:r>
          </a:p>
          <a:p/>
          <a:p>
            <a:r>
              <a:t>Fuente curricular: Procesos para Negocios Digitales, 2.3, UPS 2026–2027. Referencia: Dumas et al. (2018), Fundamentals of Business Process Management. Deming (1986), Out of the Crisis. MIT Press.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aplicar lo aprendido, desarrolla la tarea editable. Formula una hipótesis del caso con mecanismo y resultado esperado. Después, diseña una prueba con indicador principal, medida de equilibrio y evidencia que podría refutarla. Justifica tus decisiones con los conceptos de esta explicación y comprueba tus respuestas en la actividad interactiva.</a:t>
            </a:r>
          </a:p>
          <a:p/>
          <a:p>
            <a:r>
              <a:t>Fuente curricular: Procesos para Negocios Digitales, 2.3, UPS 2026–2027. Referencia: Dumas et al. (2018), Fundamentals of Business Process Management. Deming (1986), Out of the Crisis. MIT Press.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Conserva estas ideas. Mejora con hipótesis que puedan contrastarse. Compara con medidas principales y de equilibrio. Registra decisiones y revisa lo estandarizado. El caso y sus datos son ficticios. Revisa las fuentes indicadas en los materiales y continúa con la práctica para transferir estos criterios a otra situación.</a:t>
            </a:r>
          </a:p>
          <a:p/>
          <a:p>
            <a:r>
              <a:t>Fuente curricular: Procesos para Negocios Digitales, 2.3, UPS 2026–2027. Referencia: Dumas et al. (2018), Fundamentals of Business Process Management. Deming (1986), Out of the Crisis. MIT Press.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7AE53"/>
                </a:solidFill>
                <a:latin typeface="Noto Sans"/>
              </a:defRPr>
            </a:pPr>
            <a:r>
              <a:t>PROCESOS PARA NEGOCIOS DIGITALES · U2 · 2.3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203960"/>
            <a:ext cx="10744200" cy="7772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5280"/>
              </a:lnSpc>
              <a:spcBef>
                <a:spcPts val="0"/>
              </a:spcBef>
              <a:spcAft>
                <a:spcPts val="0"/>
              </a:spcAft>
              <a:defRPr sz="3840" b="1">
                <a:solidFill>
                  <a:srgbClr val="FFFFFF"/>
                </a:solidFill>
                <a:latin typeface="Noto Sans"/>
              </a:defRPr>
            </a:pPr>
            <a:r>
              <a:t>Rol del BPM en la mejora continua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7700" y="2080260"/>
            <a:ext cx="9982200" cy="7772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D6E4E8"/>
                </a:solidFill>
                <a:latin typeface="Noto Sans"/>
              </a:defRPr>
            </a:pPr>
            <a:r>
              <a:t>Aplicar una revisión continua de procesos con hipótesis, pruebas, medidas</a:t>
            </a:r>
          </a:p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D6E4E8"/>
                </a:solidFill>
                <a:latin typeface="Noto Sans"/>
              </a:defRPr>
            </a:pPr>
            <a:r>
              <a:t>equilibradas y decisiones de ajuste.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7700" y="4983480"/>
            <a:ext cx="3467100" cy="792480"/>
          </a:xfrm>
          <a:prstGeom prst="roundRect">
            <a:avLst>
              <a:gd name="adj" fmla="val 15384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3440" y="5189220"/>
            <a:ext cx="3048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Comprender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1500" y="4983480"/>
            <a:ext cx="3467100" cy="792480"/>
          </a:xfrm>
          <a:prstGeom prst="roundRect">
            <a:avLst>
              <a:gd name="adj" fmla="val 15384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7240" y="5189220"/>
            <a:ext cx="3048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Aplicar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5300" y="4983480"/>
            <a:ext cx="3467100" cy="792480"/>
          </a:xfrm>
          <a:prstGeom prst="roundRect">
            <a:avLst>
              <a:gd name="adj" fmla="val 15384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5189220"/>
            <a:ext cx="3048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Comprobar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PROCESOS PARA NEGOCIOS DIGITALES · U2 · 2.3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Una decisión que podrás justificar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308860"/>
            <a:ext cx="10896600" cy="1341120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2484120"/>
            <a:ext cx="10439400" cy="8229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820"/>
              </a:lnSpc>
              <a:spcBef>
                <a:spcPts val="0"/>
              </a:spcBef>
              <a:spcAft>
                <a:spcPts val="0"/>
              </a:spcAft>
              <a:defRPr sz="2039" b="1">
                <a:solidFill>
                  <a:srgbClr val="18394A"/>
                </a:solidFill>
                <a:latin typeface="Noto Sans"/>
              </a:defRPr>
            </a:pPr>
            <a:r>
              <a:t>Aplicar una revisión continua de procesos con hipótesis, pruebas, medidas</a:t>
            </a:r>
          </a:p>
          <a:p>
            <a:pPr>
              <a:lnSpc>
                <a:spcPts val="2820"/>
              </a:lnSpc>
              <a:spcBef>
                <a:spcPts val="0"/>
              </a:spcBef>
              <a:spcAft>
                <a:spcPts val="0"/>
              </a:spcAft>
              <a:defRPr sz="2039" b="1">
                <a:solidFill>
                  <a:srgbClr val="18394A"/>
                </a:solidFill>
                <a:latin typeface="Noto Sans"/>
              </a:defRPr>
            </a:pPr>
            <a:r>
              <a:t>equilibradas y decisiones de ajuste.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061460"/>
            <a:ext cx="106680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560" b="1">
                <a:solidFill>
                  <a:srgbClr val="087E8B"/>
                </a:solidFill>
                <a:latin typeface="Noto Sans"/>
              </a:defRPr>
            </a:pPr>
            <a:r>
              <a:t>Pregunta de entrada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488180"/>
            <a:ext cx="10668000" cy="8229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820"/>
              </a:lnSpc>
              <a:spcBef>
                <a:spcPts val="0"/>
              </a:spcBef>
              <a:spcAft>
                <a:spcPts val="0"/>
              </a:spcAft>
              <a:defRPr sz="2039" b="0">
                <a:solidFill>
                  <a:srgbClr val="18394A"/>
                </a:solidFill>
                <a:latin typeface="Noto Sans"/>
              </a:defRPr>
            </a:pPr>
            <a:r>
              <a:t>¿Qué dos formas de expresar la reducción son correctas y qué medida de equilibrio</a:t>
            </a:r>
          </a:p>
          <a:p>
            <a:pPr>
              <a:lnSpc>
                <a:spcPts val="2820"/>
              </a:lnSpc>
              <a:spcBef>
                <a:spcPts val="0"/>
              </a:spcBef>
              <a:spcAft>
                <a:spcPts val="0"/>
              </a:spcAft>
              <a:defRPr sz="2039" b="0">
                <a:solidFill>
                  <a:srgbClr val="18394A"/>
                </a:solidFill>
                <a:latin typeface="Noto Sans"/>
              </a:defRPr>
            </a:pPr>
            <a:r>
              <a:t>añadirías?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PROCESOS PARA NEGOCIOS DIGITALES · U2 · 2.3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Mejora como práctica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1744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La mejora continua consiste en revisar de manera sistemática cómo se realiza el trabajo y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qué resultados produce. BPM aporta límites, responsables y visibilidad para que las mejoras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no dependan solo de iniciativas aisladas. Una solución necesita seguimiento: los cambios de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demanda, personal o reglas pueden hacer que una práctica antes útil deje de responder al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propósito.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PROCESOS PARA NEGOCIOS DIGITALES · U2 · 2.3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Hipótesis y prueba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1744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Formula una hipótesis que conecte un cambio con un mecanismo y un resultado esperado.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Por ejemplo, validar requisitos al recibir una solicitud podría reducir devoluciones por datos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incompletos. Define cómo probarla y qué evidencia la contradiría. Una prueba limitada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ayuda a aprender sin comprometer toda la operación; no consiste en confirmar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obligatoriamente una idea que ya se decidió imponer.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PROCESOS PARA NEGOCIOS DIGITALES · U2 · 2.3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Del concepto a la acción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48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4860" y="2948940"/>
            <a:ext cx="21717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Planear hipótesis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2811780"/>
            <a:ext cx="2286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394A"/>
                </a:solidFill>
                <a:latin typeface="Noto Sans"/>
              </a:defRPr>
            </a:pPr>
            <a: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28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80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8060" y="2948940"/>
            <a:ext cx="21717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Probar cambio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2811780"/>
            <a:ext cx="2286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394A"/>
                </a:solidFill>
                <a:latin typeface="Noto Sans"/>
              </a:defRPr>
            </a:pPr>
            <a: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60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12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1260" y="2948940"/>
            <a:ext cx="21717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Verificar evidencia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811780"/>
            <a:ext cx="2286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394A"/>
                </a:solidFill>
                <a:latin typeface="Noto Sans"/>
              </a:defRPr>
            </a:pPr>
            <a: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392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144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4460" y="2948940"/>
            <a:ext cx="21717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Actuar y revisar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9600" y="3962399"/>
            <a:ext cx="10881360" cy="1744980"/>
          </a:xfrm>
          <a:prstGeom prst="roundRect">
            <a:avLst>
              <a:gd name="adj" fmla="val 786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" y="4175760"/>
            <a:ext cx="10424160" cy="1325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536975"/>
                </a:solidFill>
                <a:latin typeface="Noto Sans"/>
              </a:defRPr>
            </a:pPr>
            <a:r>
              <a:t>El ciclo de planear, hacer, verificar y actuar ayuda a organizar la revisión. Planear define problema,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536975"/>
                </a:solidFill>
                <a:latin typeface="Noto Sans"/>
              </a:defRPr>
            </a:pPr>
            <a:r>
              <a:t>hipótesis y medidas; hacer ejecuta una prueba controlada; verificar contrasta resultados y efectos;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536975"/>
                </a:solidFill>
                <a:latin typeface="Noto Sans"/>
              </a:defRPr>
            </a:pPr>
            <a:r>
              <a:t>actuar decide si estandarizar, ajustar o descartar. Este ciclo se integra con BPM y no reemplaza la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536975"/>
                </a:solidFill>
                <a:latin typeface="Noto Sans"/>
              </a:defRPr>
            </a:pPr>
            <a:r>
              <a:t>necesidad de delimitar proceso y responsabilidades.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PROCESOS PARA NEGOCIOS DIGITALES · U2 · 2.3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Caso aplicado · datos ficticios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70760"/>
            <a:ext cx="10881360" cy="2301240"/>
          </a:xfrm>
          <a:prstGeom prst="roundRect">
            <a:avLst>
              <a:gd name="adj" fmla="val 596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440" y="2484120"/>
            <a:ext cx="10393680" cy="1325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Caso hipotético: una validación inicial reduce solicitudes devueltas de veinte a diez en grupos de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cien casos comparables. La tasa baja de 20 % a 10 %: diez puntos porcentuales y una reducción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relativa de 50 %. El equipo también debe comprobar si creció el abandono del formulario o la carga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de quien valida, para evitar interpretar una mejora parcial como éxito sin condiciones.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4785360"/>
            <a:ext cx="10881360" cy="922020"/>
          </a:xfrm>
          <a:prstGeom prst="roundRect">
            <a:avLst>
              <a:gd name="adj" fmla="val 12396"/>
            </a:avLst>
          </a:prstGeom>
          <a:solidFill>
            <a:srgbClr val="E2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0580" y="4945380"/>
            <a:ext cx="104394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18394A"/>
                </a:solidFill>
                <a:latin typeface="Noto Sans"/>
              </a:defRPr>
            </a:pPr>
            <a:r>
              <a:t>¿Qué dos formas de expresar la reducción son correctas y qué medida de equilibrio añadirías?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PROCESOS PARA NEGOCIOS DIGITALES · U2 · 2.3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Medidas y equilibrio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1744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Compara línea base y resultados con definiciones consistentes. Acompaña el indicador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principal con medidas de calidad, carga o experiencia para detectar efectos secundarios. Si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baja el tiempo porque se excluyen casos complejos, la aparente mejora puede ser un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cambio de población. Revisa distribución, condiciones y datos faltantes antes de atribuir un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resultado al cambio aplicado.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PROCESOS PARA NEGOCIOS DIGITALES · U2 · 2.3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Estandarizar y volver a revisar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1744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Cuando la evidencia justifica el cambio, actualiza reglas, formación y documentación.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Asigna responsable y fecha de revisión. Si la prueba no funciona, conserva el aprendizaje y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ajusta o abandona la hipótesis. La mejora continua combina estabilidad de lo que sirve con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capacidad de adaptación; repetir experimentos sin registrar decisiones impide construir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conocimiento sobre el proceso.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PROCESOS PARA NEGOCIOS DIGITALES · U2 · 2.3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Tu actividad de transferencia</a:t>
            </a:r>
          </a:p>
        </p:txBody>
      </p:sp>
      <p:sp>
        <p:nvSpPr>
          <p:cNvPr id="5" name="Oval 4"/>
          <p:cNvSpPr/>
          <p:nvPr/>
        </p:nvSpPr>
        <p:spPr>
          <a:xfrm>
            <a:off x="609600" y="230124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900" y="235458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200" y="2270760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Formula una hipótesis del caso con mecanismo y resultado esperado.</a:t>
            </a:r>
          </a:p>
        </p:txBody>
      </p:sp>
      <p:sp>
        <p:nvSpPr>
          <p:cNvPr id="8" name="Oval 7"/>
          <p:cNvSpPr/>
          <p:nvPr/>
        </p:nvSpPr>
        <p:spPr>
          <a:xfrm>
            <a:off x="609600" y="315468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3900" y="320802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3124200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Calcula la reducción absoluta en puntos y la reducción relativa.</a:t>
            </a:r>
          </a:p>
        </p:txBody>
      </p:sp>
      <p:sp>
        <p:nvSpPr>
          <p:cNvPr id="11" name="Oval 10"/>
          <p:cNvSpPr/>
          <p:nvPr/>
        </p:nvSpPr>
        <p:spPr>
          <a:xfrm>
            <a:off x="609600" y="400812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900" y="406146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9200" y="3977639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Diseña una prueba con indicador principal, medida de equilibrio y evidencia que podría refutarla.</a:t>
            </a:r>
          </a:p>
        </p:txBody>
      </p:sp>
      <p:sp>
        <p:nvSpPr>
          <p:cNvPr id="14" name="Oval 13"/>
          <p:cNvSpPr/>
          <p:nvPr/>
        </p:nvSpPr>
        <p:spPr>
          <a:xfrm>
            <a:off x="609600" y="486156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3900" y="491490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9200" y="4831080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Propón decisiones de estandarizar, ajustar o descartar y cómo registrar el aprendizaje.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7AE53"/>
                </a:solidFill>
                <a:latin typeface="Noto Sans"/>
              </a:defRPr>
            </a:pPr>
            <a:r>
              <a:t>PROCESOS PARA NEGOCIOS DIGITALES · U2 · 2.3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FFFFFF"/>
                </a:solidFill>
                <a:latin typeface="Noto Sans"/>
              </a:defRPr>
            </a:pPr>
            <a:r>
              <a:t>Síntesis y referencias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" y="2171700"/>
            <a:ext cx="10896600" cy="693420"/>
          </a:xfrm>
          <a:prstGeom prst="roundRect">
            <a:avLst>
              <a:gd name="adj" fmla="val 13186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200" y="2308860"/>
            <a:ext cx="10439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Mejora con hipótesis que puedan contrastarse.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600" y="2964180"/>
            <a:ext cx="10896600" cy="693420"/>
          </a:xfrm>
          <a:prstGeom prst="roundRect">
            <a:avLst>
              <a:gd name="adj" fmla="val 13186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200" y="3101340"/>
            <a:ext cx="10439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Compara con medidas principales y de equilibrio.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600" y="3756660"/>
            <a:ext cx="10896600" cy="693420"/>
          </a:xfrm>
          <a:prstGeom prst="roundRect">
            <a:avLst>
              <a:gd name="adj" fmla="val 13186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200" y="3893820"/>
            <a:ext cx="10439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Registra decisiones y revisa lo estandarizado.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777740"/>
            <a:ext cx="10744200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D6E4E8"/>
                </a:solidFill>
                <a:latin typeface="Noto Sans"/>
              </a:defRPr>
            </a:pPr>
            <a:r>
              <a:t>Base curricular: sílabo UPS adjunto, página 1. Referencia de ampliación: Dumas et al. (2018), Fundamentals of Business Process</a:t>
            </a:r>
          </a:p>
          <a:p>
            <a:pPr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D6E4E8"/>
                </a:solidFill>
                <a:latin typeface="Noto Sans"/>
              </a:defRPr>
            </a:pPr>
            <a:r>
              <a:t>Management. Deming (1986), Out of the Crisis. MIT Press.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Rol del BPM en la mejora continua</dc:title>
  <dc:subject>Estructura del BPM</dc:subject>
  <dc:creator>Proyecto educativo · elaboración asistida por IA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