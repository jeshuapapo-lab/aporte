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6" r:id="rId18"/>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buenas prácticas de modelado. El propósito es aplicar convenciones básicas de BPMN y revisar decisiones, paralelismo y comunicación sin errores de flujo. Este contenido forma parte de procesos para negocios digitales. Trabajaremos con conceptos y un caso ficticio para tomar decisiones justificadas.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¿Por qué puede bloquearse el modelo y qué tipo de pasarela corresponde a la decisión del caso? Al terminar deberás explicar tu decisión, indicar cómo la comprobarías y reconocer los límites de la evidencia utilizada.</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BPMN los eventos se representan con círculos, las actividades con rectángulos de esquinas redondeadas y las pasarelas con rombos. El marcador y el tipo de elemento cambian su significado. Nombra actividades con verbo y objeto, como verificar solicitud. Un rótulo claro comunica trabajo; etiquetas como trámite o gestión resultan demasiado ambiguas para revisar el comportamiento del recorrido.</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pasarela exclusiva selecciona una ruta según condiciones; una paralela abre todas sus salidas y puede sincronizar ramas paralelas al reunirlas. No uses una unión paralela para esperar rutas alternativas de una exclusiva: podría esperar una rama que nunca se activó. Las condiciones deben ser comprensibles y contemplar el caso que no satisface las opciones principales.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un equipo dibuja una decisión completa o incompleta como una apertura paralela y después espera ambas ramas. Las solicitudes correctas quedan detenidas porque nunca recorrieron pedir datos. La corrección requiere representar una elección exclusiva con condiciones y una ruta de subsanación coherente. La revisión debe recorrer tanto una solicitud completa como otra incompleta, incluyendo qué sucede si el cliente no responde.</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pool delimita un participante y los carriles pueden distribuir responsabilidades dentro de él. Los flujos de secuencia conectan elementos de un mismo pool; los flujos de mensaje representan comunicación entre participantes distintos. Cruzar pools con secuencia confunde esos significados. Los carriles expresan organización del trabajo, pero no sustituyen una definición clara de responsabilidades y reglas.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 casos normales, incompletos y excepcionales. Comprueba que cada recorrido pueda empezar, avanzar y terminar según sus reglas, sin tareas inaccesibles ni esperas imposibles. Revisa también cancelaciones y eventos pertinentes al nivel del modelo. Una validación sintáctica en una herramienta detecta algunos errores, pero no garantiza que el modelo describa el negocio correcto ni que todas las condiciones estén bien formuladas.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Modela recibir, verificar y decidir con símbolos y nombres apropiados. Después, representa la comunicación con un cliente como participante externo sin cruzar pools con secuencia. Justifica tus decisiones con los conceptos de esta explicación y comprueba tus respuestas en la actividad interactiva.</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Usa símbolos y nombres con significado. Distingue alternativas de paralelismo. Revisa límites, mensajes y comportamiento. El caso y sus datos son ficticios. Revisa las fuentes indicadas en los materiales y continúa con la práctica para transferir estos criterios a otra situación.</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solicitud se recibe y se verifica. Si está completa, avanza a la preparación de respuesta; si faltan datos, se solicita subsanación y se vuelve a comprobar cuando llega información. Esta decisión es exclusiva, no paralela. El recorrido debe indicar condiciones y evitar que la reunión espere simultáneamente dos alternativas que no se ejecutan juntas.</a:t>
            </a:r>
          </a:p>
          <a:p/>
          <a:p>
            <a:r>
              <a:t>Fuente curricular: Procesos para Negocios Digitales, 3.2, UPS 2026–2027. Referencia: OMG (2014), Business Process Model and Notation, versión 2.0.2: https://www.omg.org/spec/BPMN/2.0.2/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3.2</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Buenas prácticas de modelado</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Aplicar convenciones básicas de BPMN y revisar decisiones, paralelismo y</a:t>
            </a:r>
          </a:p>
          <a:p>
            <a:pPr>
              <a:lnSpc>
                <a:spcPts val="2640"/>
              </a:lnSpc>
              <a:spcBef>
                <a:spcPts val="0"/>
              </a:spcBef>
              <a:spcAft>
                <a:spcPts val="0"/>
              </a:spcAft>
              <a:defRPr sz="1920" b="0">
                <a:solidFill>
                  <a:srgbClr val="D6E4E8"/>
                </a:solidFill>
                <a:latin typeface="Noto Sans"/>
              </a:defRPr>
            </a:pPr>
            <a:r>
              <a:t>comunicación sin errores de flujo.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Aplicar convenciones básicas de BPMN y revisar decisiones, paralelismo y</a:t>
            </a:r>
          </a:p>
          <a:p>
            <a:pPr>
              <a:lnSpc>
                <a:spcPts val="2820"/>
              </a:lnSpc>
              <a:spcBef>
                <a:spcPts val="0"/>
              </a:spcBef>
              <a:spcAft>
                <a:spcPts val="0"/>
              </a:spcAft>
              <a:defRPr sz="2039" b="1">
                <a:solidFill>
                  <a:srgbClr val="18394A"/>
                </a:solidFill>
                <a:latin typeface="Noto Sans"/>
              </a:defRPr>
            </a:pPr>
            <a:r>
              <a:t>comunicación sin errores de flujo.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¿Por qué puede bloquearse el modelo y qué tipo de pasarela corresponde a la decisión</a:t>
            </a:r>
          </a:p>
          <a:p>
            <a:pPr>
              <a:lnSpc>
                <a:spcPts val="2820"/>
              </a:lnSpc>
              <a:spcBef>
                <a:spcPts val="0"/>
              </a:spcBef>
              <a:spcAft>
                <a:spcPts val="0"/>
              </a:spcAft>
              <a:defRPr sz="2039" b="0">
                <a:solidFill>
                  <a:srgbClr val="18394A"/>
                </a:solidFill>
                <a:latin typeface="Noto Sans"/>
              </a:defRPr>
            </a:pPr>
            <a:r>
              <a:t>del caso?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Símbolos con significado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En BPMN los eventos se representan con círculos, las actividades con rectángulos de</a:t>
            </a:r>
          </a:p>
          <a:p>
            <a:pPr>
              <a:lnSpc>
                <a:spcPts val="2580"/>
              </a:lnSpc>
              <a:spcBef>
                <a:spcPts val="0"/>
              </a:spcBef>
              <a:spcAft>
                <a:spcPts val="0"/>
              </a:spcAft>
              <a:defRPr sz="1859" b="0">
                <a:solidFill>
                  <a:srgbClr val="18394A"/>
                </a:solidFill>
                <a:latin typeface="Noto Sans"/>
              </a:defRPr>
            </a:pPr>
            <a:r>
              <a:t>esquinas redondeadas y las pasarelas con rombos. El marcador y el tipo de elemento</a:t>
            </a:r>
          </a:p>
          <a:p>
            <a:pPr>
              <a:lnSpc>
                <a:spcPts val="2580"/>
              </a:lnSpc>
              <a:spcBef>
                <a:spcPts val="0"/>
              </a:spcBef>
              <a:spcAft>
                <a:spcPts val="0"/>
              </a:spcAft>
              <a:defRPr sz="1859" b="0">
                <a:solidFill>
                  <a:srgbClr val="18394A"/>
                </a:solidFill>
                <a:latin typeface="Noto Sans"/>
              </a:defRPr>
            </a:pPr>
            <a:r>
              <a:t>cambian su significado. Nombra actividades con verbo y objeto, como verificar solicitud. Un</a:t>
            </a:r>
          </a:p>
          <a:p>
            <a:pPr>
              <a:lnSpc>
                <a:spcPts val="2580"/>
              </a:lnSpc>
              <a:spcBef>
                <a:spcPts val="0"/>
              </a:spcBef>
              <a:spcAft>
                <a:spcPts val="0"/>
              </a:spcAft>
              <a:defRPr sz="1859" b="0">
                <a:solidFill>
                  <a:srgbClr val="18394A"/>
                </a:solidFill>
                <a:latin typeface="Noto Sans"/>
              </a:defRPr>
            </a:pPr>
            <a:r>
              <a:t>rótulo claro comunica trabajo; etiquetas como trámite o gestión resultan demasiado</a:t>
            </a:r>
          </a:p>
          <a:p>
            <a:pPr>
              <a:lnSpc>
                <a:spcPts val="2580"/>
              </a:lnSpc>
              <a:spcBef>
                <a:spcPts val="0"/>
              </a:spcBef>
              <a:spcAft>
                <a:spcPts val="0"/>
              </a:spcAft>
              <a:defRPr sz="1859" b="0">
                <a:solidFill>
                  <a:srgbClr val="18394A"/>
                </a:solidFill>
                <a:latin typeface="Noto Sans"/>
              </a:defRPr>
            </a:pPr>
            <a:r>
              <a:t>ambiguas para revisar el comportamiento del recorrido.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Decisiones y paralelismo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pasarela exclusiva selecciona una ruta según condiciones; una paralela abre todas sus</a:t>
            </a:r>
          </a:p>
          <a:p>
            <a:pPr>
              <a:lnSpc>
                <a:spcPts val="2580"/>
              </a:lnSpc>
              <a:spcBef>
                <a:spcPts val="0"/>
              </a:spcBef>
              <a:spcAft>
                <a:spcPts val="0"/>
              </a:spcAft>
              <a:defRPr sz="1859" b="0">
                <a:solidFill>
                  <a:srgbClr val="18394A"/>
                </a:solidFill>
                <a:latin typeface="Noto Sans"/>
              </a:defRPr>
            </a:pPr>
            <a:r>
              <a:t>salidas y puede sincronizar ramas paralelas al reunirlas. No uses una unión paralela para</a:t>
            </a:r>
          </a:p>
          <a:p>
            <a:pPr>
              <a:lnSpc>
                <a:spcPts val="2580"/>
              </a:lnSpc>
              <a:spcBef>
                <a:spcPts val="0"/>
              </a:spcBef>
              <a:spcAft>
                <a:spcPts val="0"/>
              </a:spcAft>
              <a:defRPr sz="1859" b="0">
                <a:solidFill>
                  <a:srgbClr val="18394A"/>
                </a:solidFill>
                <a:latin typeface="Noto Sans"/>
              </a:defRPr>
            </a:pPr>
            <a:r>
              <a:t>esperar rutas alternativas de una exclusiva: podría esperar una rama que nunca se activó.</a:t>
            </a:r>
          </a:p>
          <a:p>
            <a:pPr>
              <a:lnSpc>
                <a:spcPts val="2580"/>
              </a:lnSpc>
              <a:spcBef>
                <a:spcPts val="0"/>
              </a:spcBef>
              <a:spcAft>
                <a:spcPts val="0"/>
              </a:spcAft>
              <a:defRPr sz="1859" b="0">
                <a:solidFill>
                  <a:srgbClr val="18394A"/>
                </a:solidFill>
                <a:latin typeface="Noto Sans"/>
              </a:defRPr>
            </a:pPr>
            <a:r>
              <a:t>Las condiciones deben ser comprensibles y contemplar el caso que no satisface las</a:t>
            </a:r>
          </a:p>
          <a:p>
            <a:pPr>
              <a:lnSpc>
                <a:spcPts val="2580"/>
              </a:lnSpc>
              <a:spcBef>
                <a:spcPts val="0"/>
              </a:spcBef>
              <a:spcAft>
                <a:spcPts val="0"/>
              </a:spcAft>
              <a:defRPr sz="1859" b="0">
                <a:solidFill>
                  <a:srgbClr val="18394A"/>
                </a:solidFill>
                <a:latin typeface="Noto Sans"/>
              </a:defRPr>
            </a:pPr>
            <a:r>
              <a:t>opciones principales.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equipo dibuja una decisión completa o incompleta como una apertura paralela y</a:t>
            </a:r>
          </a:p>
          <a:p>
            <a:pPr>
              <a:lnSpc>
                <a:spcPts val="2400"/>
              </a:lnSpc>
              <a:spcBef>
                <a:spcPts val="0"/>
              </a:spcBef>
              <a:spcAft>
                <a:spcPts val="0"/>
              </a:spcAft>
              <a:defRPr sz="1739" b="0">
                <a:solidFill>
                  <a:srgbClr val="18394A"/>
                </a:solidFill>
                <a:latin typeface="Noto Sans"/>
              </a:defRPr>
            </a:pPr>
            <a:r>
              <a:t>después espera ambas ramas. Las solicitudes correctas quedan detenidas porque nunca recorrieron</a:t>
            </a:r>
          </a:p>
          <a:p>
            <a:pPr>
              <a:lnSpc>
                <a:spcPts val="2400"/>
              </a:lnSpc>
              <a:spcBef>
                <a:spcPts val="0"/>
              </a:spcBef>
              <a:spcAft>
                <a:spcPts val="0"/>
              </a:spcAft>
              <a:defRPr sz="1739" b="0">
                <a:solidFill>
                  <a:srgbClr val="18394A"/>
                </a:solidFill>
                <a:latin typeface="Noto Sans"/>
              </a:defRPr>
            </a:pPr>
            <a:r>
              <a:t>pedir datos. La corrección requiere representar una elección exclusiva con condiciones y una ruta</a:t>
            </a:r>
          </a:p>
          <a:p>
            <a:pPr>
              <a:lnSpc>
                <a:spcPts val="2400"/>
              </a:lnSpc>
              <a:spcBef>
                <a:spcPts val="0"/>
              </a:spcBef>
              <a:spcAft>
                <a:spcPts val="0"/>
              </a:spcAft>
              <a:defRPr sz="1739" b="0">
                <a:solidFill>
                  <a:srgbClr val="18394A"/>
                </a:solidFill>
                <a:latin typeface="Noto Sans"/>
              </a:defRPr>
            </a:pPr>
            <a:r>
              <a:t>de subsanación coherente. La revisión debe recorrer tanto una solicitud completa como otra</a:t>
            </a:r>
          </a:p>
          <a:p>
            <a:pPr>
              <a:lnSpc>
                <a:spcPts val="2400"/>
              </a:lnSpc>
              <a:spcBef>
                <a:spcPts val="0"/>
              </a:spcBef>
              <a:spcAft>
                <a:spcPts val="0"/>
              </a:spcAft>
              <a:defRPr sz="1739" b="0">
                <a:solidFill>
                  <a:srgbClr val="18394A"/>
                </a:solidFill>
                <a:latin typeface="Noto Sans"/>
              </a:defRPr>
            </a:pPr>
            <a:r>
              <a:t>incompleta, incluyendo qué sucede si el cliente no responde.</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¿Por qué puede bloquearse el modelo y qué tipo de pasarela corresponde a la decisión del caso?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Participantes y comunicación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pool delimita un participante y los carriles pueden distribuir responsabilidades dentro</a:t>
            </a:r>
          </a:p>
          <a:p>
            <a:pPr>
              <a:lnSpc>
                <a:spcPts val="2580"/>
              </a:lnSpc>
              <a:spcBef>
                <a:spcPts val="0"/>
              </a:spcBef>
              <a:spcAft>
                <a:spcPts val="0"/>
              </a:spcAft>
              <a:defRPr sz="1859" b="0">
                <a:solidFill>
                  <a:srgbClr val="18394A"/>
                </a:solidFill>
                <a:latin typeface="Noto Sans"/>
              </a:defRPr>
            </a:pPr>
            <a:r>
              <a:t>de él. Los flujos de secuencia conectan elementos de un mismo pool; los flujos de mensaje</a:t>
            </a:r>
          </a:p>
          <a:p>
            <a:pPr>
              <a:lnSpc>
                <a:spcPts val="2580"/>
              </a:lnSpc>
              <a:spcBef>
                <a:spcPts val="0"/>
              </a:spcBef>
              <a:spcAft>
                <a:spcPts val="0"/>
              </a:spcAft>
              <a:defRPr sz="1859" b="0">
                <a:solidFill>
                  <a:srgbClr val="18394A"/>
                </a:solidFill>
                <a:latin typeface="Noto Sans"/>
              </a:defRPr>
            </a:pPr>
            <a:r>
              <a:t>representan comunicación entre participantes distintos. Cruzar pools con secuencia</a:t>
            </a:r>
          </a:p>
          <a:p>
            <a:pPr>
              <a:lnSpc>
                <a:spcPts val="2580"/>
              </a:lnSpc>
              <a:spcBef>
                <a:spcPts val="0"/>
              </a:spcBef>
              <a:spcAft>
                <a:spcPts val="0"/>
              </a:spcAft>
              <a:defRPr sz="1859" b="0">
                <a:solidFill>
                  <a:srgbClr val="18394A"/>
                </a:solidFill>
                <a:latin typeface="Noto Sans"/>
              </a:defRPr>
            </a:pPr>
            <a:r>
              <a:t>confunde esos significados. Los carriles expresan organización del trabajo, pero no</a:t>
            </a:r>
          </a:p>
          <a:p>
            <a:pPr>
              <a:lnSpc>
                <a:spcPts val="2580"/>
              </a:lnSpc>
              <a:spcBef>
                <a:spcPts val="0"/>
              </a:spcBef>
              <a:spcAft>
                <a:spcPts val="0"/>
              </a:spcAft>
              <a:defRPr sz="1859" b="0">
                <a:solidFill>
                  <a:srgbClr val="18394A"/>
                </a:solidFill>
                <a:latin typeface="Noto Sans"/>
              </a:defRPr>
            </a:pPr>
            <a:r>
              <a:t>sustituyen una definición clara de responsabilidades y reglas.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Validar comportamiento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Recorre casos normales, incompletos y excepcionales. Comprueba que cada recorrido</a:t>
            </a:r>
          </a:p>
          <a:p>
            <a:pPr>
              <a:lnSpc>
                <a:spcPts val="2580"/>
              </a:lnSpc>
              <a:spcBef>
                <a:spcPts val="0"/>
              </a:spcBef>
              <a:spcAft>
                <a:spcPts val="0"/>
              </a:spcAft>
              <a:defRPr sz="1859" b="0">
                <a:solidFill>
                  <a:srgbClr val="18394A"/>
                </a:solidFill>
                <a:latin typeface="Noto Sans"/>
              </a:defRPr>
            </a:pPr>
            <a:r>
              <a:t>pueda empezar, avanzar y terminar según sus reglas, sin tareas inaccesibles ni esperas</a:t>
            </a:r>
          </a:p>
          <a:p>
            <a:pPr>
              <a:lnSpc>
                <a:spcPts val="2580"/>
              </a:lnSpc>
              <a:spcBef>
                <a:spcPts val="0"/>
              </a:spcBef>
              <a:spcAft>
                <a:spcPts val="0"/>
              </a:spcAft>
              <a:defRPr sz="1859" b="0">
                <a:solidFill>
                  <a:srgbClr val="18394A"/>
                </a:solidFill>
                <a:latin typeface="Noto Sans"/>
              </a:defRPr>
            </a:pPr>
            <a:r>
              <a:t>imposibles. Revisa también cancelaciones y eventos pertinentes al nivel del modelo. Una</a:t>
            </a:r>
          </a:p>
          <a:p>
            <a:pPr>
              <a:lnSpc>
                <a:spcPts val="2580"/>
              </a:lnSpc>
              <a:spcBef>
                <a:spcPts val="0"/>
              </a:spcBef>
              <a:spcAft>
                <a:spcPts val="0"/>
              </a:spcAft>
              <a:defRPr sz="1859" b="0">
                <a:solidFill>
                  <a:srgbClr val="18394A"/>
                </a:solidFill>
                <a:latin typeface="Noto Sans"/>
              </a:defRPr>
            </a:pPr>
            <a:r>
              <a:t>validación sintáctica en una herramienta detecta algunos errores, pero no garantiza que el</a:t>
            </a:r>
          </a:p>
          <a:p>
            <a:pPr>
              <a:lnSpc>
                <a:spcPts val="2580"/>
              </a:lnSpc>
              <a:spcBef>
                <a:spcPts val="0"/>
              </a:spcBef>
              <a:spcAft>
                <a:spcPts val="0"/>
              </a:spcAft>
              <a:defRPr sz="1859" b="0">
                <a:solidFill>
                  <a:srgbClr val="18394A"/>
                </a:solidFill>
                <a:latin typeface="Noto Sans"/>
              </a:defRPr>
            </a:pPr>
            <a:r>
              <a:t>modelo describa el negocio correcto ni que todas las condiciones estén bien formuladas.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Modela recibir, verificar y decidir con símbolos y nombres apropiados.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por qué la decisión es exclusiva y define sus condiciones.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la comunicación con un cliente como participante externo sin cruzar pools con secuencia.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Recorre tres casos e identifica posibles bloqueos, rutas sin salida y excepciones.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Usa símbolos y nombres con significado.</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alternativas de paralelismo.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Revisa límites, mensajes y comportamiento.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OMG (2014), Business Process Model and Notation,</a:t>
            </a:r>
          </a:p>
          <a:p>
            <a:pPr>
              <a:lnSpc>
                <a:spcPts val="1920"/>
              </a:lnSpc>
              <a:spcBef>
                <a:spcPts val="0"/>
              </a:spcBef>
              <a:spcAft>
                <a:spcPts val="0"/>
              </a:spcAft>
              <a:defRPr sz="1380" b="0">
                <a:solidFill>
                  <a:srgbClr val="D6E4E8"/>
                </a:solidFill>
                <a:latin typeface="Noto Sans"/>
              </a:defRPr>
            </a:pPr>
            <a:r>
              <a:t>versión 2.0.2: https://www.omg.org/spec/BPMN/2.0.2/ .</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TextBox 1"/>
          <p:cNvSpPr txBox="1"/>
          <p:nvPr/>
        </p:nvSpPr>
        <p:spPr>
          <a:xfrm>
            <a:off x="609600" y="342900"/>
            <a:ext cx="109728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BPMN · MODELO DE ENSEÑANZA · NO EJECUTABLE</a:t>
            </a:r>
          </a:p>
        </p:txBody>
      </p:sp>
      <p:sp>
        <p:nvSpPr>
          <p:cNvPr id="3" name="TextBox 2"/>
          <p:cNvSpPr txBox="1"/>
          <p:nvPr/>
        </p:nvSpPr>
        <p:spPr>
          <a:xfrm>
            <a:off x="609600" y="815340"/>
            <a:ext cx="10972800" cy="685800"/>
          </a:xfrm>
          <a:prstGeom prst="rect">
            <a:avLst/>
          </a:prstGeom>
          <a:noFill/>
        </p:spPr>
        <p:txBody>
          <a:bodyPr wrap="none" lIns="0" tIns="0" rIns="0" bIns="0" anchor="t">
            <a:spAutoFit/>
          </a:bodyPr>
          <a:lstStyle/>
          <a:p>
            <a:pPr>
              <a:lnSpc>
                <a:spcPts val="4560"/>
              </a:lnSpc>
              <a:spcBef>
                <a:spcPts val="0"/>
              </a:spcBef>
              <a:spcAft>
                <a:spcPts val="0"/>
              </a:spcAft>
              <a:defRPr sz="3300" b="1">
                <a:solidFill>
                  <a:srgbClr val="18394A"/>
                </a:solidFill>
                <a:latin typeface="Noto Sans"/>
              </a:defRPr>
            </a:pPr>
            <a:r>
              <a:t>Propuesta de atención</a:t>
            </a:r>
          </a:p>
        </p:txBody>
      </p:sp>
      <p:sp>
        <p:nvSpPr>
          <p:cNvPr id="4" name="TextBox 3"/>
          <p:cNvSpPr txBox="1"/>
          <p:nvPr/>
        </p:nvSpPr>
        <p:spPr>
          <a:xfrm>
            <a:off x="609600" y="1539240"/>
            <a:ext cx="108966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Asignación explícita y validación temprana. El resultado debe comprobarse en un piloto.</a:t>
            </a:r>
          </a:p>
        </p:txBody>
      </p:sp>
      <p:sp>
        <p:nvSpPr>
          <p:cNvPr id="5" name="Rounded Rectangle 4"/>
          <p:cNvSpPr/>
          <p:nvPr/>
        </p:nvSpPr>
        <p:spPr>
          <a:xfrm>
            <a:off x="609600" y="2484120"/>
            <a:ext cx="10896600" cy="3474720"/>
          </a:xfrm>
          <a:prstGeom prst="roundRect">
            <a:avLst>
              <a:gd name="adj" fmla="val 263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2480" y="2621280"/>
            <a:ext cx="1036320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087E8B"/>
                </a:solidFill>
                <a:latin typeface="Noto Sans"/>
              </a:defRPr>
            </a:pPr>
            <a:r>
              <a:t>EQUIPO DE SOPORTE · UN SOLO PARTICIPANTE</a:t>
            </a:r>
          </a:p>
        </p:txBody>
      </p:sp>
      <p:cxnSp>
        <p:nvCxnSpPr>
          <p:cNvPr id="7" name="Connector 6"/>
          <p:cNvCxnSpPr/>
          <p:nvPr/>
        </p:nvCxnSpPr>
        <p:spPr>
          <a:xfrm>
            <a:off x="1226820" y="3261360"/>
            <a:ext cx="44958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933700" y="3261360"/>
            <a:ext cx="38100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686300" y="3261360"/>
            <a:ext cx="41910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532120" y="3261360"/>
            <a:ext cx="60198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20940" y="3261360"/>
            <a:ext cx="518159"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10700" y="3261360"/>
            <a:ext cx="76200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18760" y="3482340"/>
            <a:ext cx="0" cy="1409700"/>
          </a:xfrm>
          <a:prstGeom prst="line">
            <a:avLst/>
          </a:prstGeom>
          <a:ln>
            <a:solidFill>
              <a:srgbClr val="18394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18760" y="4892040"/>
            <a:ext cx="815340"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20940" y="4892040"/>
            <a:ext cx="518159" cy="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724900" y="5212080"/>
            <a:ext cx="0" cy="411480"/>
          </a:xfrm>
          <a:prstGeom prst="line">
            <a:avLst/>
          </a:prstGeom>
          <a:ln>
            <a:solidFill>
              <a:srgbClr val="1839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000500" y="5623560"/>
            <a:ext cx="4724400" cy="0"/>
          </a:xfrm>
          <a:prstGeom prst="line">
            <a:avLst/>
          </a:prstGeom>
          <a:ln>
            <a:solidFill>
              <a:srgbClr val="18394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000500" y="3581400"/>
            <a:ext cx="0" cy="2042160"/>
          </a:xfrm>
          <a:prstGeom prst="line">
            <a:avLst/>
          </a:prstGeom>
          <a:ln>
            <a:solidFill>
              <a:srgbClr val="1839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52500" y="3124200"/>
            <a:ext cx="274320" cy="27432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7740" y="3139440"/>
            <a:ext cx="243840" cy="243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420" y="2750820"/>
            <a:ext cx="876300" cy="441960"/>
          </a:xfrm>
          <a:prstGeom prst="rect">
            <a:avLst/>
          </a:prstGeom>
          <a:noFill/>
        </p:spPr>
        <p:txBody>
          <a:bodyPr wrap="none" lIns="0" tIns="0" rIns="0" bIns="0" anchor="t">
            <a:spAutoFit/>
          </a:bodyPr>
          <a:lstStyle/>
          <a:p>
            <a:pPr>
              <a:lnSpc>
                <a:spcPts val="1320"/>
              </a:lnSpc>
              <a:spcBef>
                <a:spcPts val="0"/>
              </a:spcBef>
              <a:spcAft>
                <a:spcPts val="0"/>
              </a:spcAft>
              <a:defRPr sz="960" b="1">
                <a:solidFill>
                  <a:srgbClr val="18394A"/>
                </a:solidFill>
                <a:latin typeface="Noto Sans"/>
              </a:defRPr>
            </a:pPr>
            <a:r>
              <a:t>Solicitud</a:t>
            </a:r>
          </a:p>
          <a:p>
            <a:pPr>
              <a:lnSpc>
                <a:spcPts val="1320"/>
              </a:lnSpc>
              <a:spcBef>
                <a:spcPts val="0"/>
              </a:spcBef>
              <a:spcAft>
                <a:spcPts val="0"/>
              </a:spcAft>
              <a:defRPr sz="960" b="1">
                <a:solidFill>
                  <a:srgbClr val="18394A"/>
                </a:solidFill>
                <a:latin typeface="Noto Sans"/>
              </a:defRPr>
            </a:pPr>
            <a:r>
              <a:t>recibida</a:t>
            </a:r>
          </a:p>
        </p:txBody>
      </p:sp>
      <p:sp>
        <p:nvSpPr>
          <p:cNvPr id="22" name="Rounded Rectangle 21"/>
          <p:cNvSpPr/>
          <p:nvPr/>
        </p:nvSpPr>
        <p:spPr>
          <a:xfrm>
            <a:off x="1676400" y="2941320"/>
            <a:ext cx="12573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7840" y="3048000"/>
            <a:ext cx="1074420" cy="50292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Registrar y</a:t>
            </a:r>
          </a:p>
          <a:p>
            <a:pPr>
              <a:lnSpc>
                <a:spcPts val="1560"/>
              </a:lnSpc>
              <a:spcBef>
                <a:spcPts val="0"/>
              </a:spcBef>
              <a:spcAft>
                <a:spcPts val="0"/>
              </a:spcAft>
              <a:defRPr sz="1140" b="1">
                <a:solidFill>
                  <a:srgbClr val="18394A"/>
                </a:solidFill>
                <a:latin typeface="Noto Sans"/>
              </a:defRPr>
            </a:pPr>
            <a:r>
              <a:t>asignar</a:t>
            </a:r>
          </a:p>
        </p:txBody>
      </p:sp>
      <p:sp>
        <p:nvSpPr>
          <p:cNvPr id="24" name="Rounded Rectangle 23"/>
          <p:cNvSpPr/>
          <p:nvPr/>
        </p:nvSpPr>
        <p:spPr>
          <a:xfrm>
            <a:off x="3314700" y="2941320"/>
            <a:ext cx="13716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06140" y="3048000"/>
            <a:ext cx="118872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Validar al recibir</a:t>
            </a:r>
          </a:p>
        </p:txBody>
      </p:sp>
      <p:sp>
        <p:nvSpPr>
          <p:cNvPr id="26" name="Diamond 25"/>
          <p:cNvSpPr/>
          <p:nvPr/>
        </p:nvSpPr>
        <p:spPr>
          <a:xfrm>
            <a:off x="5105400" y="3055620"/>
            <a:ext cx="426720" cy="426720"/>
          </a:xfrm>
          <a:prstGeom prst="diamond">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34940" y="3131820"/>
            <a:ext cx="274320" cy="365760"/>
          </a:xfrm>
          <a:prstGeom prst="rect">
            <a:avLst/>
          </a:prstGeom>
          <a:noFill/>
        </p:spPr>
        <p:txBody>
          <a:bodyPr wrap="none" lIns="0" tIns="0" rIns="0" bIns="0" anchor="t">
            <a:spAutoFit/>
          </a:bodyPr>
          <a:lstStyle/>
          <a:p>
            <a:pPr>
              <a:lnSpc>
                <a:spcPts val="2039"/>
              </a:lnSpc>
              <a:spcBef>
                <a:spcPts val="0"/>
              </a:spcBef>
              <a:spcAft>
                <a:spcPts val="0"/>
              </a:spcAft>
              <a:defRPr sz="1500" b="1">
                <a:solidFill>
                  <a:srgbClr val="18394A"/>
                </a:solidFill>
                <a:latin typeface="Noto Sans"/>
              </a:defRPr>
            </a:pPr>
            <a:r>
              <a:t>X</a:t>
            </a:r>
          </a:p>
        </p:txBody>
      </p:sp>
      <p:sp>
        <p:nvSpPr>
          <p:cNvPr id="28" name="TextBox 27"/>
          <p:cNvSpPr txBox="1"/>
          <p:nvPr/>
        </p:nvSpPr>
        <p:spPr>
          <a:xfrm>
            <a:off x="4914900" y="2727960"/>
            <a:ext cx="990599"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18394A"/>
                </a:solidFill>
                <a:latin typeface="Noto Sans"/>
              </a:defRPr>
            </a:pPr>
            <a:r>
              <a:t>¿Completa?</a:t>
            </a:r>
          </a:p>
        </p:txBody>
      </p:sp>
      <p:sp>
        <p:nvSpPr>
          <p:cNvPr id="29" name="Rounded Rectangle 28"/>
          <p:cNvSpPr/>
          <p:nvPr/>
        </p:nvSpPr>
        <p:spPr>
          <a:xfrm>
            <a:off x="6134100" y="2941320"/>
            <a:ext cx="138684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5540" y="3048000"/>
            <a:ext cx="1203960" cy="50292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Preparar</a:t>
            </a:r>
          </a:p>
          <a:p>
            <a:pPr>
              <a:lnSpc>
                <a:spcPts val="1560"/>
              </a:lnSpc>
              <a:spcBef>
                <a:spcPts val="0"/>
              </a:spcBef>
              <a:spcAft>
                <a:spcPts val="0"/>
              </a:spcAft>
              <a:defRPr sz="1140" b="1">
                <a:solidFill>
                  <a:srgbClr val="18394A"/>
                </a:solidFill>
                <a:latin typeface="Noto Sans"/>
              </a:defRPr>
            </a:pPr>
            <a:r>
              <a:t>respuesta</a:t>
            </a:r>
          </a:p>
        </p:txBody>
      </p:sp>
      <p:sp>
        <p:nvSpPr>
          <p:cNvPr id="31" name="Rounded Rectangle 30"/>
          <p:cNvSpPr/>
          <p:nvPr/>
        </p:nvSpPr>
        <p:spPr>
          <a:xfrm>
            <a:off x="8039099" y="2941320"/>
            <a:ext cx="13716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0540" y="3048000"/>
            <a:ext cx="1188720" cy="50292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Comunicar</a:t>
            </a:r>
          </a:p>
          <a:p>
            <a:pPr>
              <a:lnSpc>
                <a:spcPts val="1560"/>
              </a:lnSpc>
              <a:spcBef>
                <a:spcPts val="0"/>
              </a:spcBef>
              <a:spcAft>
                <a:spcPts val="0"/>
              </a:spcAft>
              <a:defRPr sz="1140" b="1">
                <a:solidFill>
                  <a:srgbClr val="18394A"/>
                </a:solidFill>
                <a:latin typeface="Noto Sans"/>
              </a:defRPr>
            </a:pPr>
            <a:r>
              <a:t>respuesta</a:t>
            </a:r>
          </a:p>
        </p:txBody>
      </p:sp>
      <p:sp>
        <p:nvSpPr>
          <p:cNvPr id="33" name="Oval 32"/>
          <p:cNvSpPr/>
          <p:nvPr/>
        </p:nvSpPr>
        <p:spPr>
          <a:xfrm>
            <a:off x="10172700" y="3124200"/>
            <a:ext cx="274320" cy="27432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26040" y="3177540"/>
            <a:ext cx="167640" cy="167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13620" y="2750820"/>
            <a:ext cx="876300" cy="274320"/>
          </a:xfrm>
          <a:prstGeom prst="rect">
            <a:avLst/>
          </a:prstGeom>
          <a:noFill/>
        </p:spPr>
        <p:txBody>
          <a:bodyPr wrap="none" lIns="0" tIns="0" rIns="0" bIns="0" anchor="t">
            <a:spAutoFit/>
          </a:bodyPr>
          <a:lstStyle/>
          <a:p>
            <a:pPr>
              <a:lnSpc>
                <a:spcPts val="1320"/>
              </a:lnSpc>
              <a:spcBef>
                <a:spcPts val="0"/>
              </a:spcBef>
              <a:spcAft>
                <a:spcPts val="0"/>
              </a:spcAft>
              <a:defRPr sz="960" b="1">
                <a:solidFill>
                  <a:srgbClr val="18394A"/>
                </a:solidFill>
                <a:latin typeface="Noto Sans"/>
              </a:defRPr>
            </a:pPr>
            <a:r>
              <a:t>Respuesta útil</a:t>
            </a:r>
          </a:p>
        </p:txBody>
      </p:sp>
      <p:sp>
        <p:nvSpPr>
          <p:cNvPr id="36" name="Rounded Rectangle 35"/>
          <p:cNvSpPr/>
          <p:nvPr/>
        </p:nvSpPr>
        <p:spPr>
          <a:xfrm>
            <a:off x="6134100" y="4572000"/>
            <a:ext cx="138684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25540" y="4678680"/>
            <a:ext cx="120396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Solicitar datos</a:t>
            </a:r>
          </a:p>
        </p:txBody>
      </p:sp>
      <p:sp>
        <p:nvSpPr>
          <p:cNvPr id="38" name="Rounded Rectangle 37"/>
          <p:cNvSpPr/>
          <p:nvPr/>
        </p:nvSpPr>
        <p:spPr>
          <a:xfrm>
            <a:off x="8039099" y="4572000"/>
            <a:ext cx="1371600" cy="640080"/>
          </a:xfrm>
          <a:prstGeom prst="roundRect">
            <a:avLst>
              <a:gd name="adj" fmla="val 15476"/>
            </a:avLst>
          </a:prstGeom>
          <a:solidFill>
            <a:srgbClr val="E2F0EE"/>
          </a:solidFill>
          <a:ln>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0540" y="4678680"/>
            <a:ext cx="118872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18394A"/>
                </a:solidFill>
                <a:latin typeface="Noto Sans"/>
              </a:defRPr>
            </a:pPr>
            <a:r>
              <a:t>Recibir datos</a:t>
            </a:r>
          </a:p>
        </p:txBody>
      </p:sp>
      <p:sp>
        <p:nvSpPr>
          <p:cNvPr id="40" name="TextBox 39"/>
          <p:cNvSpPr txBox="1"/>
          <p:nvPr/>
        </p:nvSpPr>
        <p:spPr>
          <a:xfrm>
            <a:off x="5654040" y="3032760"/>
            <a:ext cx="45720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087E8B"/>
                </a:solidFill>
                <a:latin typeface="Noto Sans"/>
              </a:defRPr>
            </a:pPr>
            <a:r>
              <a:t>Sí</a:t>
            </a:r>
          </a:p>
        </p:txBody>
      </p:sp>
      <p:sp>
        <p:nvSpPr>
          <p:cNvPr id="41" name="TextBox 40"/>
          <p:cNvSpPr txBox="1"/>
          <p:nvPr/>
        </p:nvSpPr>
        <p:spPr>
          <a:xfrm>
            <a:off x="5425440" y="4076699"/>
            <a:ext cx="45720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087E8B"/>
                </a:solidFill>
                <a:latin typeface="Noto Sans"/>
              </a:defRPr>
            </a:pPr>
            <a:r>
              <a:t>No</a:t>
            </a:r>
          </a:p>
        </p:txBody>
      </p:sp>
      <p:sp>
        <p:nvSpPr>
          <p:cNvPr id="42" name="TextBox 41"/>
          <p:cNvSpPr txBox="1"/>
          <p:nvPr/>
        </p:nvSpPr>
        <p:spPr>
          <a:xfrm>
            <a:off x="609600" y="6248400"/>
            <a:ext cx="109347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536975"/>
                </a:solidFill>
                <a:latin typeface="Noto Sans"/>
              </a:defRPr>
            </a:pPr>
            <a:r>
              <a:t>Ruta exclusiva: una solicitud incompleta vuelve a revisión cuando se reciben datos. El caso sin respuesta requiere una regla adicional según el alcance.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Buenas prácticas de modelado</dc:title>
  <dc:subject>Técnicas de modelado de procesos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