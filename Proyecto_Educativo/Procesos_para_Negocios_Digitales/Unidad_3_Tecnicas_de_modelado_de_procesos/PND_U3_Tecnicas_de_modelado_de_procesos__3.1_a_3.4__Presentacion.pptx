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Unidad 3: Técnicas de modelado de procesos. Se conservan íntegros los contenidos de las secciones del sílabo.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Unidad 3: Técnicas de modelado de procesos. Se conservan íntegros los contenidos de las secciones del sílabo.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3.1: Importancia del modelado en la gestión de procesos</a:t>
            </a:r>
          </a:p>
          <a:p/>
          <a:p>
            <a:r>
              <a:t>Hoy estudiaremos importancia del modelado en la gestión de procesos. El propósito es explicar para qué modelar un proceso y elegir un nivel de detalle que permita comunicar, analizar o preparar su ejecución. Este contenido forma parte de procesos para negocios digitales. Trabajaremos con conceptos y un caso ficticio para tomar decisiones justificadas.</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3.1: Importancia del modelado en la gestión de procesos</a:t>
            </a:r>
          </a:p>
          <a:p/>
          <a:p>
            <a:r>
              <a:t>Antes de proponer una solución, considera esta pregunta: ¿Qué vistas prepararías y cómo evitarías confundir el proceso observado con la propuesta? Al terminar deberás explicar tu decisión, indicar cómo la comprobarías y reconocer los límites de la evidencia utilizada.</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3.1: Importancia del modelado en la gestión de procesos</a:t>
            </a:r>
          </a:p>
          <a:p/>
          <a:p>
            <a:r>
              <a:t>Modelar un proceso representa actividades, decisiones, participantes y resultados para comprender cómo se relacionan. Permite descubrir transferencias y esperas que una lista de tareas puede ocultar. Su valor depende del propósito: una conversación con responsables puede necesitar una vista general; investigar una excepción requiere detalle adicional. Más símbolos no significan automáticamente mejor comprensión.</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3.1: Importancia del modelado en la gestión de procesos</a:t>
            </a:r>
          </a:p>
          <a:p/>
          <a:p>
            <a:r>
              <a:t>Define audiencia, pregunta que se quiere responder y límites antes de dibujar. Separa una vista general de subprocesos detallados cuando sea necesario. Mantén un nivel de abstracción consistente dentro de cada vista. Si mezclas aprobar una solicitud con pulsar un botón y gestionar toda la empresa, el modelo reúne escalas distintas y se vuelve difícil de interpretar.</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3.1: Importancia del modelado en la gestión de procesos</a:t>
            </a:r>
          </a:p>
          <a:p/>
          <a:p>
            <a:r>
              <a:t>Define qué decisión apoyará el modelo. Representa el recorrido con límites y detalle consistentes. Valídalo recorriendo casos concretos con sus participantes y registra desacuerdos o supuestos. Después úsalo para formular preguntas y relacionar evidencia; revisa la representación cuando la operación o el propósito del análisis cambien.</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3.1: Importancia del modelado en la gestión de procesos</a:t>
            </a:r>
          </a:p>
          <a:p/>
          <a:p>
            <a:r>
              <a:t>Caso ficticio: ventas dibuja cotizar como una sola tarea, mientras revisión técnica enumera cuarenta clics. Ambos creen describir el mismo proceso. El equipo acuerda una vista de extremo a extremo desde solicitud hasta respuesta, con un subproceso para revisar requisitos. Marca como propuesta futura la validación inicial que todavía no existe. Esa separación permite discutir responsabilidades sin confundir escalas ni hechos con intenciones.</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3.1: Importancia del modelado en la gestión de procesos</a:t>
            </a:r>
          </a:p>
          <a:p/>
          <a:p>
            <a:r>
              <a:t>El modelo actual describe la operación observada; el futuro representa una propuesta. Rotula versiones y supuestos para no presentar deseos como hechos. Valida el estado actual con participantes y evidencia de casos. El desacuerdo entre áreas puede revelar variantes reales, por lo que debe investigarse antes de imponer una única secuencia que nadie reconoce completamente.</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3.1: Importancia del modelado en la gestión de procesos</a:t>
            </a:r>
          </a:p>
          <a:p/>
          <a:p>
            <a:r>
              <a:t>Un modelo facilita preguntas sobre responsables, condiciones, entradas y salidas, pero no demuestra por sí solo tiempos, causas ni cumplimiento. Conecta el diagrama con datos y reglas documentadas. Revisa si una persona puede recorrer casos normales y excepcionales sin contradicciones. Mantener versión, propósito y responsable convierte el modelo en conocimiento compartido, en lugar de una imagen que pierde vigencia.</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3.1: Importancia del modelado en la gestión de procesos</a:t>
            </a:r>
          </a:p>
          <a:p/>
          <a:p>
            <a:r>
              <a:t>Para aplicar lo aprendido, desarrolla la tarea editable. Define dos preguntas de análisis y la audiencia de cada modelo. Después, identifica qué elementos del caso son observados y cuáles propuestos. Justifica tus decisiones con los conceptos de esta explicación y comprueba tus respuestas en la actividad interactiva.</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3.1: Importancia del modelado en la gestión de procesos</a:t>
            </a:r>
          </a:p>
          <a:p/>
          <a:p>
            <a:r>
              <a:t>Conserva estas ideas. Modela para una pregunta y una audiencia. Mantén escalas y versiones claras. Valida recorridos y conecta datos. El caso y sus datos son ficticios. Revisa las fuentes indicadas en los materiales y continúa con la práctica para transferir estos criterios a otra situación.</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3.2: Buenas prácticas de modelado</a:t>
            </a:r>
          </a:p>
          <a:p/>
          <a:p>
            <a:r>
              <a:t>Hoy estudiaremos buenas prácticas de modelado. El propósito es aplicar convenciones básicas de BPMN y revisar decisiones, paralelismo y comunicación sin errores de flujo. Este contenido forma parte de procesos para negocios digitales. Trabajaremos con conceptos y un caso ficticio para tomar decisiones justificadas.</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3.2: Buenas prácticas de modelado</a:t>
            </a:r>
          </a:p>
          <a:p/>
          <a:p>
            <a:r>
              <a:t>Antes de proponer una solución, considera esta pregunta: ¿Por qué puede bloquearse el modelo y qué tipo de pasarela corresponde a la decisión del caso? Al terminar deberás explicar tu decisión, indicar cómo la comprobarías y reconocer los límites de la evidencia utilizada.</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3.2: Buenas prácticas de modelado</a:t>
            </a:r>
          </a:p>
          <a:p/>
          <a:p>
            <a:r>
              <a:t>En BPMN los eventos se representan con círculos, las actividades con rectángulos de esquinas redondeadas y las pasarelas con rombos. El marcador y el tipo de elemento cambian su significado. Nombra actividades con verbo y objeto, como verificar solicitud. Un rótulo claro comunica trabajo; etiquetas como trámite o gestión resultan demasiado ambiguas para revisar el comportamiento del recorrido.</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3.2: Buenas prácticas de modelado</a:t>
            </a:r>
          </a:p>
          <a:p/>
          <a:p>
            <a:r>
              <a:t>Una pasarela exclusiva selecciona una ruta según condiciones; una paralela abre todas sus salidas y puede sincronizar ramas paralelas al reunirlas. No uses una unión paralela para esperar rutas alternativas de una exclusiva: podría esperar una rama que nunca se activó. Las condiciones deben ser comprensibles y contemplar el caso que no satisface las opciones principales.</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3.2: Buenas prácticas de modelado</a:t>
            </a:r>
          </a:p>
          <a:p/>
          <a:p>
            <a:r>
              <a:t>Una solicitud se recibe y se verifica. Si está completa, avanza a la preparación de respuesta; si faltan datos, se solicita subsanación y se vuelve a comprobar cuando llega información. Esta decisión es exclusiva, no paralela. El recorrido debe indicar condiciones y evitar que la reunión espere simultáneamente dos alternativas que no se ejecutan juntas.</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3.2: Buenas prácticas de modelado</a:t>
            </a:r>
          </a:p>
          <a:p/>
          <a:p>
            <a:r>
              <a:t>Caso ficticio: un equipo dibuja una decisión completa o incompleta como una apertura paralela y después espera ambas ramas. Las solicitudes correctas quedan detenidas porque nunca recorrieron pedir datos. La corrección requiere representar una elección exclusiva con condiciones y una ruta de subsanación coherente. La revisión debe recorrer tanto una solicitud completa como otra incompleta, incluyendo qué sucede si el cliente no responde.</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3.2: Buenas prácticas de modelado</a:t>
            </a:r>
          </a:p>
          <a:p/>
          <a:p>
            <a:r>
              <a:t>Un pool delimita un participante y los carriles pueden distribuir responsabilidades dentro de él. Los flujos de secuencia conectan elementos de un mismo pool; los flujos de mensaje representan comunicación entre participantes distintos. Cruzar pools con secuencia confunde esos significados. Los carriles expresan organización del trabajo, pero no sustituyen una definición clara de responsabilidades y reglas.</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3.2: Buenas prácticas de modelado</a:t>
            </a:r>
          </a:p>
          <a:p/>
          <a:p>
            <a:r>
              <a:t>Recorre casos normales, incompletos y excepcionales. Comprueba que cada recorrido pueda empezar, avanzar y terminar según sus reglas, sin tareas inaccesibles ni esperas imposibles. Revisa también cancelaciones y eventos pertinentes al nivel del modelo. Una validación sintáctica en una herramienta detecta algunos errores, pero no garantiza que el modelo describa el negocio correcto ni que todas las condiciones estén bien formuladas.</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3.2: Buenas prácticas de modelado</a:t>
            </a:r>
          </a:p>
          <a:p/>
          <a:p>
            <a:r>
              <a:t>Para aplicar lo aprendido, desarrolla la tarea editable. Modela recibir, verificar y decidir con símbolos y nombres apropiados. Después, representa la comunicación con un cliente como participante externo sin cruzar pools con secuencia. Justifica tus decisiones con los conceptos de esta explicación y comprueba tus respuestas en la actividad interactiva.</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3.2: Buenas prácticas de modelado</a:t>
            </a:r>
          </a:p>
          <a:p/>
          <a:p>
            <a:r>
              <a:t>Conserva estas ideas. Usa símbolos y nombres con significado. Distingue alternativas de paralelismo. Revisa límites, mensajes y comportamiento. El caso y sus datos son ficticios. Revisa las fuentes indicadas en los materiales y continúa con la práctica para transferir estos criterios a otra situación.</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3.3: Herramientas digitales para modelado de procesos</a:t>
            </a:r>
          </a:p>
          <a:p/>
          <a:p>
            <a:r>
              <a:t>Hoy estudiaremos herramientas digitales para modelado de procesos. El propósito es comparar herramientas de modelado por propósito, interoperabilidad y colaboración, comprobando sus límites con una prueba práctica. Este contenido forma parte de procesos para negocios digitales. Trabajaremos con conceptos y un caso ficticio para tomar decisiones justificadas.</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3.3: Herramientas digitales para modelado de procesos</a:t>
            </a:r>
          </a:p>
          <a:p/>
          <a:p>
            <a:r>
              <a:t>Antes de proponer una solución, considera esta pregunta: ¿Qué prueba distinguiría una entrega visual de una entrega realmente editable e interoperable? Al terminar deberás explicar tu decisión, indicar cómo la comprobarías y reconocer los límites de la evidencia utilizada.</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3.3: Herramientas digitales para modelado de procesos</a:t>
            </a:r>
          </a:p>
          <a:p/>
          <a:p>
            <a:r>
              <a:t>Una herramienta puede ayudar a dibujar, validar, documentar, simular o ejecutar procesos, pero no todas hacen lo mismo. Un editor de diagramas generales puede comunicar una idea sin comprobar semántica BPMN. Un modelador especializado puede validar aspectos formales, mientras un motor necesita una especificación ejecutable. Define primero qué trabajo apoyará la herramienta y quién la utilizará.</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3.3: Herramientas digitales para modelado de procesos</a:t>
            </a:r>
          </a:p>
          <a:p/>
          <a:p>
            <a:r>
              <a:t>Evalúa soporte de notación y versión, facilidad de revisión, colaboración, control de versiones, exportación e importación. Considera también sistema operativo, permisos, almacenamiento y costos del plan real. Los nombres Bizagi Modeler, Camunda Modeler y editores basados en bpmn.io son ejemplos para investigar, no una afirmación de equivalencia ni de gratuidad permanente de todas sus funciones.</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3.3: Herramientas digitales para modelado de procesos</a:t>
            </a:r>
          </a:p>
          <a:p/>
          <a:p>
            <a:r>
              <a:t>Define la tarea que necesita apoyo y qué condiciones son obligatorias. Compara alternativas con los mismos criterios. Después prueba crear, exportar, importar y revisar un modelo de ejemplo. Finalmente acuerda cómo se aprueban y comparten versiones, porque la elección técnica no resuelve por sí sola el trabajo colaborativo ni los permisos.</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3.3: Herramientas digitales para modelado de procesos</a:t>
            </a:r>
          </a:p>
          <a:p/>
          <a:p>
            <a:r>
              <a:t>Caso ficticio: un equipo entrega capturas de pantalla de sus procesos y nadie puede corregirlos sin redibujar. Propone adoptar un modelador que exporte BPMN. La prueba debe verificar que otro integrante importe el archivo, cambie una condición y conserve las relaciones. También debe revisar la compatibilidad con sus equipos y el acceso a funciones de colaboración disponibles en la versión y plan elegidos.</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3.3: Herramientas digitales para modelado de procesos</a:t>
            </a:r>
          </a:p>
          <a:p/>
          <a:p>
            <a:r>
              <a:t>Una imagen permite visualizar, pero no conserva necesariamente elementos editables ni sus relaciones. Un archivo BPMN en XML puede transportar estructura bajo el estándar, aunque extensiones de proveedor o detalles de diagramación pueden cambiar entre herramientas. Prueba exportar e importar un modelo y revisar elementos, condiciones y distribución antes de afirmar que existe interoperabilidad suficiente.</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3.3: Herramientas digitales para modelado de procesos</a:t>
            </a:r>
          </a:p>
          <a:p/>
          <a:p>
            <a:r>
              <a:t>La colaboración necesita acuerdos sobre responsables, versiones, revisión y publicación. Un enlace compartido no impide que varias personas modifiquen reglas contradictorias. Para seleccionar, realiza una prueba con un modelo representativo y un cambio solicitado por otra persona. Registra errores, diferencias de importación y condiciones de acceso; evita cargar datos confidenciales en servicios sin autorización y revisión de condiciones.</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3.3: Herramientas digitales para modelado de procesos</a:t>
            </a:r>
          </a:p>
          <a:p/>
          <a:p>
            <a:r>
              <a:t>Para aplicar lo aprendido, desarrolla la tarea editable. Define seis criterios de selección y separa obligatorios de deseables. Después, diseña una prueba de exportación, importación y modificación de condición. Justifica tus decisiones con los conceptos de esta explicación y comprueba tus respuestas en la actividad interactiva.</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3.3: Herramientas digitales para modelado de procesos</a:t>
            </a:r>
          </a:p>
          <a:p/>
          <a:p>
            <a:r>
              <a:t>Conserva estas ideas. Selecciona por propósito y requisitos. Prueba el intercambio de estructura editable. Acuerda versiones, permisos y revisión. El caso y sus datos son ficticios. Revisa las fuentes indicadas en los materiales y continúa con la práctica para transferir estos criterios a otra situación.</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3.4: Análisis y diagnóstico de procesos existentes y rediseño de procesos</a:t>
            </a:r>
          </a:p>
          <a:p/>
          <a:p>
            <a:r>
              <a:t>Hoy estudiaremos análisis y diagnóstico de procesos existentes y rediseño de procesos. El propósito es analizar un proceso existente, contrastar causas y justificar un rediseño con evidencia y comparación de alternativas. Este contenido forma parte de procesos para negocios digitales. Trabajaremos con conceptos y un caso ficticio para tomar decisiones justificadas.</a:t>
            </a:r>
          </a:p>
          <a:p/>
          <a:p>
            <a:r>
              <a:t>Fuente curricular: Procesos para Negocios Digitales, 3.4, UPS 2026–2027. Referencia: Dumas et al. (2018), Fundamentals of Business Process Management. Van der Aalst (2016), Process Mining: Data Science in Action,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3.4: Análisis y diagnóstico de procesos existentes y rediseño de procesos</a:t>
            </a:r>
          </a:p>
          <a:p/>
          <a:p>
            <a:r>
              <a:t>Antes de proponer una solución, considera esta pregunta: ¿Qué parte del tiempo cambia y por qué el ahorro previsto no equivale a una mejora ya demostrada? Al terminar deberás explicar tu decisión, indicar cómo la comprobarías y reconocer los límites de la evidencia utilizada.</a:t>
            </a:r>
          </a:p>
          <a:p/>
          <a:p>
            <a:r>
              <a:t>Fuente curricular: Procesos para Negocios Digitales, 3.4, UPS 2026–2027. Referencia: Dumas et al. (2018), Fundamentals of Business Process Management. Van der Aalst (2016), Process Mining: Data Science in Action,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3.4: Análisis y diagnóstico de procesos existentes y rediseño de procesos</a:t>
            </a:r>
          </a:p>
          <a:p/>
          <a:p>
            <a:r>
              <a:t>Delimita el proceso, recoge casos y representa su funcionamiento observado. Distingue trabajo, espera, transferencia y repetición. Busca variantes y datos faltantes. Un diagnóstico no consiste en escribir que el proceso es lento: necesita localizar dónde ocurre el problema, a quién afecta y con qué evidencia se conoce su frecuencia o magnitud.</a:t>
            </a:r>
          </a:p>
          <a:p/>
          <a:p>
            <a:r>
              <a:t>Fuente curricular: Procesos para Negocios Digitales, 3.4, UPS 2026–2027. Referencia: Dumas et al. (2018), Fundamentals of Business Process Management. Van der Aalst (2016), Process Mining: Data Science in Action,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3.4: Análisis y diagnóstico de procesos existentes y rediseño de procesos</a:t>
            </a:r>
          </a:p>
          <a:p/>
          <a:p>
            <a:r>
              <a:t>Una demora puede relacionarse con requisitos incompletos, capacidad, reglas, errores o coordinación. Usa preguntas de causa, observación y datos para contrastar hipótesis. Que dos eventos coincidan no demuestra una relación causal. Evita culpar a una persona sin examinar el sistema de trabajo y revisa si el registro representa también casos difíciles, cancelados o no resueltos.</a:t>
            </a:r>
          </a:p>
          <a:p/>
          <a:p>
            <a:r>
              <a:t>Fuente curricular: Procesos para Negocios Digitales, 3.4, UPS 2026–2027. Referencia: Dumas et al. (2018), Fundamentals of Business Process Management. Van der Aalst (2016), Process Mining: Data Science in Action,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3.4: Análisis y diagnóstico de procesos existentes y rediseño de procesos</a:t>
            </a:r>
          </a:p>
          <a:p/>
          <a:p>
            <a:r>
              <a:t>Describe primero el recorrido real y separa sus componentes de tiempo. Investiga causas en lugar de seleccionar una herramienta por anticipado. Diseña una alternativa que explique cómo disminuirá el problema. Finalmente recorre escenarios y mide un piloto, conservando comparabilidad y controles que detecten deterioros de calidad o trabajo desplazado.</a:t>
            </a:r>
          </a:p>
          <a:p/>
          <a:p>
            <a:r>
              <a:t>Fuente curricular: Procesos para Negocios Digitales, 3.4, UPS 2026–2027. Referencia: Dumas et al. (2018), Fundamentals of Business Process Management. Van der Aalst (2016), Process Mining: Data Science in Action,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3.4: Análisis y diagnóstico de procesos existentes y rediseño de procesos</a:t>
            </a:r>
          </a:p>
          <a:p/>
          <a:p>
            <a:r>
              <a:t>Ejemplo hipotético: una solicitud tiene cuatro horas de trabajo y treinta y seis de espera, para un ciclo total de cuarenta. El rediseño mantiene cuatro de trabajo y reduce la espera esperada a veinte, dando veinticuatro horas. La reducción prevista del ciclo es 40 %. Todavía no es un resultado observado: debe probarse con casos comparables y comprobar que no aumenten errores o carga en otra etapa.</a:t>
            </a:r>
          </a:p>
          <a:p/>
          <a:p>
            <a:r>
              <a:t>Fuente curricular: Procesos para Negocios Digitales, 3.4, UPS 2026–2027. Referencia: Dumas et al. (2018), Fundamentals of Business Process Management. Van der Aalst (2016), Process Mining: Data Science in Action,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3.4: Análisis y diagnóstico de procesos existentes y rediseño de procesos</a:t>
            </a:r>
          </a:p>
          <a:p/>
          <a:p>
            <a:r>
              <a:t>Compara cambios como eliminar duplicaciones, validar antes, reducir transferencias o atender tareas en paralelo cuando sea viable. Explica el mecanismo, los riesgos y las condiciones de cada alternativa. Automatizar es una opción, no la definición del rediseño. Mantén trazabilidad entre problema investigado, cambio propuesto y resultado que se espera comprobar.</a:t>
            </a:r>
          </a:p>
          <a:p/>
          <a:p>
            <a:r>
              <a:t>Fuente curricular: Procesos para Negocios Digitales, 3.4, UPS 2026–2027. Referencia: Dumas et al. (2018), Fundamentals of Business Process Management. Van der Aalst (2016), Process Mining: Data Science in Action,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3.4: Análisis y diagnóstico de procesos existentes y rediseño de procesos</a:t>
            </a:r>
          </a:p>
          <a:p/>
          <a:p>
            <a:r>
              <a:t>Revisa el modelo futuro con escenarios y participantes antes de implantar. Define piloto, responsables y medidas de calidad y tiempo. Compara condiciones para evitar atribuir a la propuesta un cambio de volumen o composición de casos. Documenta diferencias entre lo simulado, lo esperado y lo observado, y establece cómo se volverá al análisis si aparecen fallos.</a:t>
            </a:r>
          </a:p>
          <a:p/>
          <a:p>
            <a:r>
              <a:t>Fuente curricular: Procesos para Negocios Digitales, 3.4, UPS 2026–2027. Referencia: Dumas et al. (2018), Fundamentals of Business Process Management. Van der Aalst (2016), Process Mining: Data Science in Action,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3.4: Análisis y diagnóstico de procesos existentes y rediseño de procesos</a:t>
            </a:r>
          </a:p>
          <a:p/>
          <a:p>
            <a:r>
              <a:t>Para aplicar lo aprendido, desarrolla la tarea editable. Representa el estado actual con actividades, esperas y transferencias. Después, diseña dos alternativas y calcula la reducción prevista del ejemplo. Justifica tus decisiones con los conceptos de esta explicación y comprueba tus respuestas en la actividad interactiva.</a:t>
            </a:r>
          </a:p>
          <a:p/>
          <a:p>
            <a:r>
              <a:t>Fuente curricular: Procesos para Negocios Digitales, 3.4, UPS 2026–2027. Referencia: Dumas et al. (2018), Fundamentals of Business Process Management. Van der Aalst (2016), Process Mining: Data Science in Action,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3: Técnicas de modelado de procesos</a:t>
            </a:r>
          </a:p>
          <a:p>
            <a:r>
              <a:t>Sección 3.4: Análisis y diagnóstico de procesos existentes y rediseño de procesos</a:t>
            </a:r>
          </a:p>
          <a:p/>
          <a:p>
            <a:r>
              <a:t>Conserva estas ideas. Diagnostica con casos y límites claros. Contrasta causas y compara alternativas. Distingue previsión, piloto y resultado observado. El caso y sus datos son ficticios. Revisa las fuentes indicadas en los materiales y continúa con la práctica para transferir estos criterios a otra situación.</a:t>
            </a:r>
          </a:p>
          <a:p/>
          <a:p>
            <a:r>
              <a:t>Fuente curricular: Procesos para Negocios Digitales, 3.4, UPS 2026–2027. Referencia: Dumas et al. (2018), Fundamentals of Business Process Management. Van der Aalst (2016), Process Mining: Data Science in Action, 2.ª ed. Springer.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19100"/>
            <a:ext cx="108204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E7AE53"/>
                </a:solidFill>
                <a:latin typeface="Noto Sans"/>
              </a:defRPr>
            </a:pPr>
            <a:r>
              <a:t>PROCESOS PARA NEGOCIOS DIGITALES</a:t>
            </a:r>
          </a:p>
        </p:txBody>
      </p:sp>
      <p:sp>
        <p:nvSpPr>
          <p:cNvPr id="5" name="TextBox 4"/>
          <p:cNvSpPr txBox="1"/>
          <p:nvPr/>
        </p:nvSpPr>
        <p:spPr>
          <a:xfrm>
            <a:off x="609600" y="1371600"/>
            <a:ext cx="10896600" cy="502920"/>
          </a:xfrm>
          <a:prstGeom prst="rect">
            <a:avLst/>
          </a:prstGeom>
          <a:noFill/>
        </p:spPr>
        <p:txBody>
          <a:bodyPr wrap="none" lIns="0" tIns="0" rIns="0" bIns="0" anchor="t">
            <a:spAutoFit/>
          </a:bodyPr>
          <a:lstStyle/>
          <a:p>
            <a:pPr>
              <a:lnSpc>
                <a:spcPts val="3120"/>
              </a:lnSpc>
              <a:spcBef>
                <a:spcPts val="0"/>
              </a:spcBef>
              <a:spcAft>
                <a:spcPts val="0"/>
              </a:spcAft>
              <a:defRPr sz="2280" b="1">
                <a:solidFill>
                  <a:srgbClr val="D6E4E8"/>
                </a:solidFill>
                <a:latin typeface="Noto Sans"/>
              </a:defRPr>
            </a:pPr>
            <a:r>
              <a:t>Unidad 3</a:t>
            </a:r>
          </a:p>
        </p:txBody>
      </p:sp>
      <p:sp>
        <p:nvSpPr>
          <p:cNvPr id="6" name="TextBox 5"/>
          <p:cNvSpPr txBox="1"/>
          <p:nvPr/>
        </p:nvSpPr>
        <p:spPr>
          <a:xfrm>
            <a:off x="609600" y="2019300"/>
            <a:ext cx="10820400" cy="716280"/>
          </a:xfrm>
          <a:prstGeom prst="rect">
            <a:avLst/>
          </a:prstGeom>
          <a:noFill/>
        </p:spPr>
        <p:txBody>
          <a:bodyPr wrap="none" lIns="0" tIns="0" rIns="0" bIns="0" anchor="t">
            <a:spAutoFit/>
          </a:bodyPr>
          <a:lstStyle/>
          <a:p>
            <a:pPr>
              <a:lnSpc>
                <a:spcPts val="4800"/>
              </a:lnSpc>
              <a:spcBef>
                <a:spcPts val="0"/>
              </a:spcBef>
              <a:spcAft>
                <a:spcPts val="0"/>
              </a:spcAft>
              <a:defRPr sz="3479" b="1">
                <a:solidFill>
                  <a:srgbClr val="FFFFFF"/>
                </a:solidFill>
                <a:latin typeface="Noto Sans"/>
              </a:defRPr>
            </a:pPr>
            <a:r>
              <a:t>Técnicas de modelado de procesos</a:t>
            </a:r>
          </a:p>
        </p:txBody>
      </p:sp>
      <p:sp>
        <p:nvSpPr>
          <p:cNvPr id="7" name="TextBox 6"/>
          <p:cNvSpPr txBox="1"/>
          <p:nvPr/>
        </p:nvSpPr>
        <p:spPr>
          <a:xfrm>
            <a:off x="647700" y="4953000"/>
            <a:ext cx="106680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Secciones 3.1 · 3.2 · 3.3 · 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19100"/>
            <a:ext cx="108204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E7AE53"/>
                </a:solidFill>
                <a:latin typeface="Noto Sans"/>
              </a:defRPr>
            </a:pPr>
            <a:r>
              <a:t>PROCESOS PARA NEGOCIOS DIGITALES</a:t>
            </a:r>
          </a:p>
        </p:txBody>
      </p:sp>
      <p:sp>
        <p:nvSpPr>
          <p:cNvPr id="5" name="TextBox 4"/>
          <p:cNvSpPr txBox="1"/>
          <p:nvPr/>
        </p:nvSpPr>
        <p:spPr>
          <a:xfrm>
            <a:off x="609600" y="1257300"/>
            <a:ext cx="10820400" cy="579120"/>
          </a:xfrm>
          <a:prstGeom prst="rect">
            <a:avLst/>
          </a:prstGeom>
          <a:noFill/>
        </p:spPr>
        <p:txBody>
          <a:bodyPr wrap="none" lIns="0" tIns="0" rIns="0" bIns="0" anchor="t">
            <a:spAutoFit/>
          </a:bodyPr>
          <a:lstStyle/>
          <a:p>
            <a:pPr>
              <a:lnSpc>
                <a:spcPts val="3719"/>
              </a:lnSpc>
              <a:spcBef>
                <a:spcPts val="0"/>
              </a:spcBef>
              <a:spcAft>
                <a:spcPts val="0"/>
              </a:spcAft>
              <a:defRPr sz="2700" b="1">
                <a:solidFill>
                  <a:srgbClr val="FFFFFF"/>
                </a:solidFill>
                <a:latin typeface="Noto Sans"/>
              </a:defRPr>
            </a:pPr>
            <a:r>
              <a:t>Secciones y contenidos de la unidad</a:t>
            </a:r>
          </a:p>
        </p:txBody>
      </p:sp>
      <p:sp>
        <p:nvSpPr>
          <p:cNvPr id="6" name="TextBox 5"/>
          <p:cNvSpPr txBox="1"/>
          <p:nvPr/>
        </p:nvSpPr>
        <p:spPr>
          <a:xfrm>
            <a:off x="685800" y="23622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3.1 · Importancia del modelado en la gestión de procesos</a:t>
            </a:r>
          </a:p>
        </p:txBody>
      </p:sp>
      <p:sp>
        <p:nvSpPr>
          <p:cNvPr id="7" name="TextBox 6"/>
          <p:cNvSpPr txBox="1"/>
          <p:nvPr/>
        </p:nvSpPr>
        <p:spPr>
          <a:xfrm>
            <a:off x="685800" y="33147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3.2 · Buenas prácticas de modelado</a:t>
            </a:r>
          </a:p>
        </p:txBody>
      </p:sp>
      <p:sp>
        <p:nvSpPr>
          <p:cNvPr id="8" name="TextBox 7"/>
          <p:cNvSpPr txBox="1"/>
          <p:nvPr/>
        </p:nvSpPr>
        <p:spPr>
          <a:xfrm>
            <a:off x="685800" y="42672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3.3 · Herramientas digitales para modelado de procesos</a:t>
            </a:r>
          </a:p>
        </p:txBody>
      </p:sp>
      <p:sp>
        <p:nvSpPr>
          <p:cNvPr id="9" name="TextBox 8"/>
          <p:cNvSpPr txBox="1"/>
          <p:nvPr/>
        </p:nvSpPr>
        <p:spPr>
          <a:xfrm>
            <a:off x="685800" y="52197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3.4 · Análisis y diagnóstico de procesos existentes y rediseño de procesos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PND_U3 · Sección 3.1 · Importancia del modelado en la gestión de proceso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U3 · 3.1</a:t>
            </a:r>
          </a:p>
        </p:txBody>
      </p:sp>
      <p:sp>
        <p:nvSpPr>
          <p:cNvPr id="5" name="TextBox 4"/>
          <p:cNvSpPr txBox="1"/>
          <p:nvPr/>
        </p:nvSpPr>
        <p:spPr>
          <a:xfrm>
            <a:off x="609600" y="1203960"/>
            <a:ext cx="10744200" cy="144780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Importancia del modelado en la gestión de</a:t>
            </a:r>
          </a:p>
          <a:p>
            <a:pPr>
              <a:lnSpc>
                <a:spcPts val="5280"/>
              </a:lnSpc>
              <a:spcBef>
                <a:spcPts val="0"/>
              </a:spcBef>
              <a:spcAft>
                <a:spcPts val="0"/>
              </a:spcAft>
              <a:defRPr sz="3840" b="1">
                <a:solidFill>
                  <a:srgbClr val="FFFFFF"/>
                </a:solidFill>
                <a:latin typeface="Noto Sans"/>
              </a:defRPr>
            </a:pPr>
            <a:r>
              <a:t>procesos</a:t>
            </a:r>
          </a:p>
        </p:txBody>
      </p:sp>
      <p:sp>
        <p:nvSpPr>
          <p:cNvPr id="6" name="TextBox 5"/>
          <p:cNvSpPr txBox="1"/>
          <p:nvPr/>
        </p:nvSpPr>
        <p:spPr>
          <a:xfrm>
            <a:off x="647700" y="275082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Explicar para qué modelar un proceso y elegir un nivel de detalle que permita</a:t>
            </a:r>
          </a:p>
          <a:p>
            <a:pPr>
              <a:lnSpc>
                <a:spcPts val="2640"/>
              </a:lnSpc>
              <a:spcBef>
                <a:spcPts val="0"/>
              </a:spcBef>
              <a:spcAft>
                <a:spcPts val="0"/>
              </a:spcAft>
              <a:defRPr sz="1920" b="0">
                <a:solidFill>
                  <a:srgbClr val="D6E4E8"/>
                </a:solidFill>
                <a:latin typeface="Noto Sans"/>
              </a:defRPr>
            </a:pPr>
            <a:r>
              <a:t>comunicar, analizar o preparar su ejecución.</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PND_U3 · Sección 3.1 · Importancia del modelado en la gestión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Explicar para qué modelar un proceso y elegir un nivel de detalle que permita</a:t>
            </a:r>
          </a:p>
          <a:p>
            <a:pPr>
              <a:lnSpc>
                <a:spcPts val="2820"/>
              </a:lnSpc>
              <a:spcBef>
                <a:spcPts val="0"/>
              </a:spcBef>
              <a:spcAft>
                <a:spcPts val="0"/>
              </a:spcAft>
              <a:defRPr sz="2039" b="1">
                <a:solidFill>
                  <a:srgbClr val="18394A"/>
                </a:solidFill>
                <a:latin typeface="Noto Sans"/>
              </a:defRPr>
            </a:pPr>
            <a:r>
              <a:t>comunicar, analizar o preparar su ejecución.</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vistas prepararías y cómo evitarías confundir el proceso observado con la</a:t>
            </a:r>
          </a:p>
          <a:p>
            <a:pPr>
              <a:lnSpc>
                <a:spcPts val="2820"/>
              </a:lnSpc>
              <a:spcBef>
                <a:spcPts val="0"/>
              </a:spcBef>
              <a:spcAft>
                <a:spcPts val="0"/>
              </a:spcAft>
              <a:defRPr sz="2039" b="0">
                <a:solidFill>
                  <a:srgbClr val="18394A"/>
                </a:solidFill>
                <a:latin typeface="Noto Sans"/>
              </a:defRPr>
            </a:pPr>
            <a:r>
              <a:t>propuesta?</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PND_U3 · Sección 3.1 · Importancia del modelado en la gestión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Hacer visible el trabajo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Modelar un proceso representa actividades, decisiones, participantes y resultados para</a:t>
            </a:r>
          </a:p>
          <a:p>
            <a:pPr>
              <a:lnSpc>
                <a:spcPts val="2580"/>
              </a:lnSpc>
              <a:spcBef>
                <a:spcPts val="0"/>
              </a:spcBef>
              <a:spcAft>
                <a:spcPts val="0"/>
              </a:spcAft>
              <a:defRPr sz="1859" b="0">
                <a:solidFill>
                  <a:srgbClr val="18394A"/>
                </a:solidFill>
                <a:latin typeface="Noto Sans"/>
              </a:defRPr>
            </a:pPr>
            <a:r>
              <a:t>comprender cómo se relacionan. Permite descubrir transferencias y esperas que una lista</a:t>
            </a:r>
          </a:p>
          <a:p>
            <a:pPr>
              <a:lnSpc>
                <a:spcPts val="2580"/>
              </a:lnSpc>
              <a:spcBef>
                <a:spcPts val="0"/>
              </a:spcBef>
              <a:spcAft>
                <a:spcPts val="0"/>
              </a:spcAft>
              <a:defRPr sz="1859" b="0">
                <a:solidFill>
                  <a:srgbClr val="18394A"/>
                </a:solidFill>
                <a:latin typeface="Noto Sans"/>
              </a:defRPr>
            </a:pPr>
            <a:r>
              <a:t>de tareas puede ocultar. Su valor depende del propósito: una conversación con</a:t>
            </a:r>
          </a:p>
          <a:p>
            <a:pPr>
              <a:lnSpc>
                <a:spcPts val="2580"/>
              </a:lnSpc>
              <a:spcBef>
                <a:spcPts val="0"/>
              </a:spcBef>
              <a:spcAft>
                <a:spcPts val="0"/>
              </a:spcAft>
              <a:defRPr sz="1859" b="0">
                <a:solidFill>
                  <a:srgbClr val="18394A"/>
                </a:solidFill>
                <a:latin typeface="Noto Sans"/>
              </a:defRPr>
            </a:pPr>
            <a:r>
              <a:t>responsables puede necesitar una vista general; investigar una excepción requiere detalle</a:t>
            </a:r>
          </a:p>
          <a:p>
            <a:pPr>
              <a:lnSpc>
                <a:spcPts val="2580"/>
              </a:lnSpc>
              <a:spcBef>
                <a:spcPts val="0"/>
              </a:spcBef>
              <a:spcAft>
                <a:spcPts val="0"/>
              </a:spcAft>
              <a:defRPr sz="1859" b="0">
                <a:solidFill>
                  <a:srgbClr val="18394A"/>
                </a:solidFill>
                <a:latin typeface="Noto Sans"/>
              </a:defRPr>
            </a:pPr>
            <a:r>
              <a:t>adicional. Más símbolos no significan automáticamente mejor comprensión.</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PND_U3 · Sección 3.1 · Importancia del modelado en la gestión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Propósito y nivel de detalle</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Define audiencia, pregunta que se quiere responder y límites antes de dibujar. Separa una</a:t>
            </a:r>
          </a:p>
          <a:p>
            <a:pPr>
              <a:lnSpc>
                <a:spcPts val="2580"/>
              </a:lnSpc>
              <a:spcBef>
                <a:spcPts val="0"/>
              </a:spcBef>
              <a:spcAft>
                <a:spcPts val="0"/>
              </a:spcAft>
              <a:defRPr sz="1859" b="0">
                <a:solidFill>
                  <a:srgbClr val="18394A"/>
                </a:solidFill>
                <a:latin typeface="Noto Sans"/>
              </a:defRPr>
            </a:pPr>
            <a:r>
              <a:t>vista general de subprocesos detallados cuando sea necesario. Mantén un nivel de</a:t>
            </a:r>
          </a:p>
          <a:p>
            <a:pPr>
              <a:lnSpc>
                <a:spcPts val="2580"/>
              </a:lnSpc>
              <a:spcBef>
                <a:spcPts val="0"/>
              </a:spcBef>
              <a:spcAft>
                <a:spcPts val="0"/>
              </a:spcAft>
              <a:defRPr sz="1859" b="0">
                <a:solidFill>
                  <a:srgbClr val="18394A"/>
                </a:solidFill>
                <a:latin typeface="Noto Sans"/>
              </a:defRPr>
            </a:pPr>
            <a:r>
              <a:t>abstracción consistente dentro de cada vista. Si mezclas aprobar una solicitud con pulsar un</a:t>
            </a:r>
          </a:p>
          <a:p>
            <a:pPr>
              <a:lnSpc>
                <a:spcPts val="2580"/>
              </a:lnSpc>
              <a:spcBef>
                <a:spcPts val="0"/>
              </a:spcBef>
              <a:spcAft>
                <a:spcPts val="0"/>
              </a:spcAft>
              <a:defRPr sz="1859" b="0">
                <a:solidFill>
                  <a:srgbClr val="18394A"/>
                </a:solidFill>
                <a:latin typeface="Noto Sans"/>
              </a:defRPr>
            </a:pPr>
            <a:r>
              <a:t>botón y gestionar toda la empresa, el modelo reúne escalas distintas y se vuelve difícil de</a:t>
            </a:r>
          </a:p>
          <a:p>
            <a:pPr>
              <a:lnSpc>
                <a:spcPts val="2580"/>
              </a:lnSpc>
              <a:spcBef>
                <a:spcPts val="0"/>
              </a:spcBef>
              <a:spcAft>
                <a:spcPts val="0"/>
              </a:spcAft>
              <a:defRPr sz="1859" b="0">
                <a:solidFill>
                  <a:srgbClr val="18394A"/>
                </a:solidFill>
                <a:latin typeface="Noto Sans"/>
              </a:defRPr>
            </a:pPr>
            <a:r>
              <a:t>interpretar.</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PND_U3 · Sección 3.1 · Importancia del modelado en la gestión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Definir pregunta</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Representar</a:t>
            </a:r>
          </a:p>
          <a:p>
            <a:pPr>
              <a:lnSpc>
                <a:spcPts val="2220"/>
              </a:lnSpc>
              <a:spcBef>
                <a:spcPts val="0"/>
              </a:spcBef>
              <a:spcAft>
                <a:spcPts val="0"/>
              </a:spcAft>
              <a:defRPr sz="1620" b="1">
                <a:solidFill>
                  <a:srgbClr val="FFFFFF"/>
                </a:solidFill>
                <a:latin typeface="Noto Sans"/>
              </a:defRPr>
            </a:pPr>
            <a:r>
              <a:t>recorrido</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Validar casos</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Usar evidencia</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Define qué decisión apoyará el modelo. Representa el recorrido con límites y detalle consistentes.</a:t>
            </a:r>
          </a:p>
          <a:p>
            <a:pPr>
              <a:lnSpc>
                <a:spcPts val="2400"/>
              </a:lnSpc>
              <a:spcBef>
                <a:spcPts val="0"/>
              </a:spcBef>
              <a:spcAft>
                <a:spcPts val="0"/>
              </a:spcAft>
              <a:defRPr sz="1739" b="0">
                <a:solidFill>
                  <a:srgbClr val="536975"/>
                </a:solidFill>
                <a:latin typeface="Noto Sans"/>
              </a:defRPr>
            </a:pPr>
            <a:r>
              <a:t>Valídalo recorriendo casos concretos con sus participantes y registra desacuerdos o supuestos.</a:t>
            </a:r>
          </a:p>
          <a:p>
            <a:pPr>
              <a:lnSpc>
                <a:spcPts val="2400"/>
              </a:lnSpc>
              <a:spcBef>
                <a:spcPts val="0"/>
              </a:spcBef>
              <a:spcAft>
                <a:spcPts val="0"/>
              </a:spcAft>
              <a:defRPr sz="1739" b="0">
                <a:solidFill>
                  <a:srgbClr val="536975"/>
                </a:solidFill>
                <a:latin typeface="Noto Sans"/>
              </a:defRPr>
            </a:pPr>
            <a:r>
              <a:t>Después úsalo para formular preguntas y relacionar evidencia; revisa la representación cuando la</a:t>
            </a:r>
          </a:p>
          <a:p>
            <a:pPr>
              <a:lnSpc>
                <a:spcPts val="2400"/>
              </a:lnSpc>
              <a:spcBef>
                <a:spcPts val="0"/>
              </a:spcBef>
              <a:spcAft>
                <a:spcPts val="0"/>
              </a:spcAft>
              <a:defRPr sz="1739" b="0">
                <a:solidFill>
                  <a:srgbClr val="536975"/>
                </a:solidFill>
                <a:latin typeface="Noto Sans"/>
              </a:defRPr>
            </a:pPr>
            <a:r>
              <a:t>operación o el propósito del análisis cambien.</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PND_U3 · Sección 3.1 · Importancia del modelado en la gestión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ventas dibuja cotizar como una sola tarea, mientras revisión técnica enumera cuarenta</a:t>
            </a:r>
          </a:p>
          <a:p>
            <a:pPr>
              <a:lnSpc>
                <a:spcPts val="2400"/>
              </a:lnSpc>
              <a:spcBef>
                <a:spcPts val="0"/>
              </a:spcBef>
              <a:spcAft>
                <a:spcPts val="0"/>
              </a:spcAft>
              <a:defRPr sz="1739" b="0">
                <a:solidFill>
                  <a:srgbClr val="18394A"/>
                </a:solidFill>
                <a:latin typeface="Noto Sans"/>
              </a:defRPr>
            </a:pPr>
            <a:r>
              <a:t>clics. Ambos creen describir el mismo proceso. El equipo acuerda una vista de extremo a extremo</a:t>
            </a:r>
          </a:p>
          <a:p>
            <a:pPr>
              <a:lnSpc>
                <a:spcPts val="2400"/>
              </a:lnSpc>
              <a:spcBef>
                <a:spcPts val="0"/>
              </a:spcBef>
              <a:spcAft>
                <a:spcPts val="0"/>
              </a:spcAft>
              <a:defRPr sz="1739" b="0">
                <a:solidFill>
                  <a:srgbClr val="18394A"/>
                </a:solidFill>
                <a:latin typeface="Noto Sans"/>
              </a:defRPr>
            </a:pPr>
            <a:r>
              <a:t>desde solicitud hasta respuesta, con un subproceso para revisar requisitos. Marca como propuesta</a:t>
            </a:r>
          </a:p>
          <a:p>
            <a:pPr>
              <a:lnSpc>
                <a:spcPts val="2400"/>
              </a:lnSpc>
              <a:spcBef>
                <a:spcPts val="0"/>
              </a:spcBef>
              <a:spcAft>
                <a:spcPts val="0"/>
              </a:spcAft>
              <a:defRPr sz="1739" b="0">
                <a:solidFill>
                  <a:srgbClr val="18394A"/>
                </a:solidFill>
                <a:latin typeface="Noto Sans"/>
              </a:defRPr>
            </a:pPr>
            <a:r>
              <a:t>futura la validación inicial que todavía no existe. Esa separación permite discutir responsabilidades</a:t>
            </a:r>
          </a:p>
          <a:p>
            <a:pPr>
              <a:lnSpc>
                <a:spcPts val="2400"/>
              </a:lnSpc>
              <a:spcBef>
                <a:spcPts val="0"/>
              </a:spcBef>
              <a:spcAft>
                <a:spcPts val="0"/>
              </a:spcAft>
              <a:defRPr sz="1739" b="0">
                <a:solidFill>
                  <a:srgbClr val="18394A"/>
                </a:solidFill>
                <a:latin typeface="Noto Sans"/>
              </a:defRPr>
            </a:pPr>
            <a:r>
              <a:t>sin confundir escalas ni hechos con intenciones.</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vistas prepararías y cómo evitarías confundir el proceso observado con la propuesta?</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PND_U3 · Sección 3.1 · Importancia del modelado en la gestión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Estado actual y futuro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modelo actual describe la operación observada; el futuro representa una propuesta.</a:t>
            </a:r>
          </a:p>
          <a:p>
            <a:pPr>
              <a:lnSpc>
                <a:spcPts val="2580"/>
              </a:lnSpc>
              <a:spcBef>
                <a:spcPts val="0"/>
              </a:spcBef>
              <a:spcAft>
                <a:spcPts val="0"/>
              </a:spcAft>
              <a:defRPr sz="1859" b="0">
                <a:solidFill>
                  <a:srgbClr val="18394A"/>
                </a:solidFill>
                <a:latin typeface="Noto Sans"/>
              </a:defRPr>
            </a:pPr>
            <a:r>
              <a:t>Rotula versiones y supuestos para no presentar deseos como hechos. Valida el estado</a:t>
            </a:r>
          </a:p>
          <a:p>
            <a:pPr>
              <a:lnSpc>
                <a:spcPts val="2580"/>
              </a:lnSpc>
              <a:spcBef>
                <a:spcPts val="0"/>
              </a:spcBef>
              <a:spcAft>
                <a:spcPts val="0"/>
              </a:spcAft>
              <a:defRPr sz="1859" b="0">
                <a:solidFill>
                  <a:srgbClr val="18394A"/>
                </a:solidFill>
                <a:latin typeface="Noto Sans"/>
              </a:defRPr>
            </a:pPr>
            <a:r>
              <a:t>actual con participantes y evidencia de casos. El desacuerdo entre áreas puede revelar</a:t>
            </a:r>
          </a:p>
          <a:p>
            <a:pPr>
              <a:lnSpc>
                <a:spcPts val="2580"/>
              </a:lnSpc>
              <a:spcBef>
                <a:spcPts val="0"/>
              </a:spcBef>
              <a:spcAft>
                <a:spcPts val="0"/>
              </a:spcAft>
              <a:defRPr sz="1859" b="0">
                <a:solidFill>
                  <a:srgbClr val="18394A"/>
                </a:solidFill>
                <a:latin typeface="Noto Sans"/>
              </a:defRPr>
            </a:pPr>
            <a:r>
              <a:t>variantes reales, por lo que debe investigarse antes de imponer una única secuencia que</a:t>
            </a:r>
          </a:p>
          <a:p>
            <a:pPr>
              <a:lnSpc>
                <a:spcPts val="2580"/>
              </a:lnSpc>
              <a:spcBef>
                <a:spcPts val="0"/>
              </a:spcBef>
              <a:spcAft>
                <a:spcPts val="0"/>
              </a:spcAft>
              <a:defRPr sz="1859" b="0">
                <a:solidFill>
                  <a:srgbClr val="18394A"/>
                </a:solidFill>
                <a:latin typeface="Noto Sans"/>
              </a:defRPr>
            </a:pPr>
            <a:r>
              <a:t>nadie reconoce completamente.</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PND_U3 · Sección 3.1 · Importancia del modelado en la gestión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Modelo como evidencia revisable</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 modelo facilita preguntas sobre responsables, condiciones, entradas y salidas, pero no</a:t>
            </a:r>
          </a:p>
          <a:p>
            <a:pPr>
              <a:lnSpc>
                <a:spcPts val="2580"/>
              </a:lnSpc>
              <a:spcBef>
                <a:spcPts val="0"/>
              </a:spcBef>
              <a:spcAft>
                <a:spcPts val="0"/>
              </a:spcAft>
              <a:defRPr sz="1859" b="0">
                <a:solidFill>
                  <a:srgbClr val="18394A"/>
                </a:solidFill>
                <a:latin typeface="Noto Sans"/>
              </a:defRPr>
            </a:pPr>
            <a:r>
              <a:t>demuestra por sí solo tiempos, causas ni cumplimiento. Conecta el diagrama con datos y</a:t>
            </a:r>
          </a:p>
          <a:p>
            <a:pPr>
              <a:lnSpc>
                <a:spcPts val="2580"/>
              </a:lnSpc>
              <a:spcBef>
                <a:spcPts val="0"/>
              </a:spcBef>
              <a:spcAft>
                <a:spcPts val="0"/>
              </a:spcAft>
              <a:defRPr sz="1859" b="0">
                <a:solidFill>
                  <a:srgbClr val="18394A"/>
                </a:solidFill>
                <a:latin typeface="Noto Sans"/>
              </a:defRPr>
            </a:pPr>
            <a:r>
              <a:t>reglas documentadas. Revisa si una persona puede recorrer casos normales y</a:t>
            </a:r>
          </a:p>
          <a:p>
            <a:pPr>
              <a:lnSpc>
                <a:spcPts val="2580"/>
              </a:lnSpc>
              <a:spcBef>
                <a:spcPts val="0"/>
              </a:spcBef>
              <a:spcAft>
                <a:spcPts val="0"/>
              </a:spcAft>
              <a:defRPr sz="1859" b="0">
                <a:solidFill>
                  <a:srgbClr val="18394A"/>
                </a:solidFill>
                <a:latin typeface="Noto Sans"/>
              </a:defRPr>
            </a:pPr>
            <a:r>
              <a:t>excepcionales sin contradicciones. Mantener versión, propósito y responsable convierte el</a:t>
            </a:r>
          </a:p>
          <a:p>
            <a:pPr>
              <a:lnSpc>
                <a:spcPts val="2580"/>
              </a:lnSpc>
              <a:spcBef>
                <a:spcPts val="0"/>
              </a:spcBef>
              <a:spcAft>
                <a:spcPts val="0"/>
              </a:spcAft>
              <a:defRPr sz="1859" b="0">
                <a:solidFill>
                  <a:srgbClr val="18394A"/>
                </a:solidFill>
                <a:latin typeface="Noto Sans"/>
              </a:defRPr>
            </a:pPr>
            <a:r>
              <a:t>modelo en conocimiento compartido, en lugar de una imagen que pierde vigencia.</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PND_U3 · Sección 3.1 · Importancia del modelado en la gestión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Define dos preguntas de análisis y la audiencia de cada modelo.</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Construye una vista general y delimita un subproceso con detalle coherente.</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Identifica qué elementos del caso son observados y cuáles propuestos.</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una validación con participantes, casos y registro de discrepancias.</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PND_U3 · Sección 3.1 · Importancia del modelado en la gestión de proceso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U3 · 3.1</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Modela para una pregunta y una audiencia.</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Mantén escalas y versiones claras.</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Valida recorridos y conecta datos.</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Dumas et al. (2018), Fundamentals of Business Process</a:t>
            </a:r>
          </a:p>
          <a:p>
            <a:pPr>
              <a:lnSpc>
                <a:spcPts val="1920"/>
              </a:lnSpc>
              <a:spcBef>
                <a:spcPts val="0"/>
              </a:spcBef>
              <a:spcAft>
                <a:spcPts val="0"/>
              </a:spcAft>
              <a:defRPr sz="1380" b="0">
                <a:solidFill>
                  <a:srgbClr val="D6E4E8"/>
                </a:solidFill>
                <a:latin typeface="Noto Sans"/>
              </a:defRPr>
            </a:pPr>
            <a:r>
              <a:t>Management. OMG, BPMN 2.0.2: https://www.omg.org/spec/BPMN/2.0.2/</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PND_U3 · Sección 3.2 · Buenas prácticas de modelado">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U3 · 3.2</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Buenas prácticas de modelado</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Aplicar convenciones básicas de BPMN y revisar decisiones, paralelismo y</a:t>
            </a:r>
          </a:p>
          <a:p>
            <a:pPr>
              <a:lnSpc>
                <a:spcPts val="2640"/>
              </a:lnSpc>
              <a:spcBef>
                <a:spcPts val="0"/>
              </a:spcBef>
              <a:spcAft>
                <a:spcPts val="0"/>
              </a:spcAft>
              <a:defRPr sz="1920" b="0">
                <a:solidFill>
                  <a:srgbClr val="D6E4E8"/>
                </a:solidFill>
                <a:latin typeface="Noto Sans"/>
              </a:defRPr>
            </a:pPr>
            <a:r>
              <a:t>comunicación sin errores de flujo.</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PND_U3 · Sección 3.2 · Buenas prácticas de modelad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Aplicar convenciones básicas de BPMN y revisar decisiones, paralelismo y</a:t>
            </a:r>
          </a:p>
          <a:p>
            <a:pPr>
              <a:lnSpc>
                <a:spcPts val="2820"/>
              </a:lnSpc>
              <a:spcBef>
                <a:spcPts val="0"/>
              </a:spcBef>
              <a:spcAft>
                <a:spcPts val="0"/>
              </a:spcAft>
              <a:defRPr sz="2039" b="1">
                <a:solidFill>
                  <a:srgbClr val="18394A"/>
                </a:solidFill>
                <a:latin typeface="Noto Sans"/>
              </a:defRPr>
            </a:pPr>
            <a:r>
              <a:t>comunicación sin errores de flujo.</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¿Por qué puede bloquearse el modelo y qué tipo de pasarela corresponde a la decisión</a:t>
            </a:r>
          </a:p>
          <a:p>
            <a:pPr>
              <a:lnSpc>
                <a:spcPts val="2820"/>
              </a:lnSpc>
              <a:spcBef>
                <a:spcPts val="0"/>
              </a:spcBef>
              <a:spcAft>
                <a:spcPts val="0"/>
              </a:spcAft>
              <a:defRPr sz="2039" b="0">
                <a:solidFill>
                  <a:srgbClr val="18394A"/>
                </a:solidFill>
                <a:latin typeface="Noto Sans"/>
              </a:defRPr>
            </a:pPr>
            <a:r>
              <a:t>del caso?</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PND_U3 · Sección 3.2 · Buenas prácticas de modelad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Símbolos con significado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En BPMN los eventos se representan con círculos, las actividades con rectángulos de</a:t>
            </a:r>
          </a:p>
          <a:p>
            <a:pPr>
              <a:lnSpc>
                <a:spcPts val="2580"/>
              </a:lnSpc>
              <a:spcBef>
                <a:spcPts val="0"/>
              </a:spcBef>
              <a:spcAft>
                <a:spcPts val="0"/>
              </a:spcAft>
              <a:defRPr sz="1859" b="0">
                <a:solidFill>
                  <a:srgbClr val="18394A"/>
                </a:solidFill>
                <a:latin typeface="Noto Sans"/>
              </a:defRPr>
            </a:pPr>
            <a:r>
              <a:t>esquinas redondeadas y las pasarelas con rombos. El marcador y el tipo de elemento</a:t>
            </a:r>
          </a:p>
          <a:p>
            <a:pPr>
              <a:lnSpc>
                <a:spcPts val="2580"/>
              </a:lnSpc>
              <a:spcBef>
                <a:spcPts val="0"/>
              </a:spcBef>
              <a:spcAft>
                <a:spcPts val="0"/>
              </a:spcAft>
              <a:defRPr sz="1859" b="0">
                <a:solidFill>
                  <a:srgbClr val="18394A"/>
                </a:solidFill>
                <a:latin typeface="Noto Sans"/>
              </a:defRPr>
            </a:pPr>
            <a:r>
              <a:t>cambian su significado. Nombra actividades con verbo y objeto, como verificar solicitud. Un</a:t>
            </a:r>
          </a:p>
          <a:p>
            <a:pPr>
              <a:lnSpc>
                <a:spcPts val="2580"/>
              </a:lnSpc>
              <a:spcBef>
                <a:spcPts val="0"/>
              </a:spcBef>
              <a:spcAft>
                <a:spcPts val="0"/>
              </a:spcAft>
              <a:defRPr sz="1859" b="0">
                <a:solidFill>
                  <a:srgbClr val="18394A"/>
                </a:solidFill>
                <a:latin typeface="Noto Sans"/>
              </a:defRPr>
            </a:pPr>
            <a:r>
              <a:t>rótulo claro comunica trabajo; etiquetas como trámite o gestión resultan demasiado</a:t>
            </a:r>
          </a:p>
          <a:p>
            <a:pPr>
              <a:lnSpc>
                <a:spcPts val="2580"/>
              </a:lnSpc>
              <a:spcBef>
                <a:spcPts val="0"/>
              </a:spcBef>
              <a:spcAft>
                <a:spcPts val="0"/>
              </a:spcAft>
              <a:defRPr sz="1859" b="0">
                <a:solidFill>
                  <a:srgbClr val="18394A"/>
                </a:solidFill>
                <a:latin typeface="Noto Sans"/>
              </a:defRPr>
            </a:pPr>
            <a:r>
              <a:t>ambiguas para revisar el comportamiento del recorrido.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PND_U3 · Sección 3.2 · Buenas prácticas de modelad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Decisiones y paralelismo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pasarela exclusiva selecciona una ruta según condiciones; una paralela abre todas sus</a:t>
            </a:r>
          </a:p>
          <a:p>
            <a:pPr>
              <a:lnSpc>
                <a:spcPts val="2580"/>
              </a:lnSpc>
              <a:spcBef>
                <a:spcPts val="0"/>
              </a:spcBef>
              <a:spcAft>
                <a:spcPts val="0"/>
              </a:spcAft>
              <a:defRPr sz="1859" b="0">
                <a:solidFill>
                  <a:srgbClr val="18394A"/>
                </a:solidFill>
                <a:latin typeface="Noto Sans"/>
              </a:defRPr>
            </a:pPr>
            <a:r>
              <a:t>salidas y puede sincronizar ramas paralelas al reunirlas. No uses una unión paralela para</a:t>
            </a:r>
          </a:p>
          <a:p>
            <a:pPr>
              <a:lnSpc>
                <a:spcPts val="2580"/>
              </a:lnSpc>
              <a:spcBef>
                <a:spcPts val="0"/>
              </a:spcBef>
              <a:spcAft>
                <a:spcPts val="0"/>
              </a:spcAft>
              <a:defRPr sz="1859" b="0">
                <a:solidFill>
                  <a:srgbClr val="18394A"/>
                </a:solidFill>
                <a:latin typeface="Noto Sans"/>
              </a:defRPr>
            </a:pPr>
            <a:r>
              <a:t>esperar rutas alternativas de una exclusiva: podría esperar una rama que nunca se activó.</a:t>
            </a:r>
          </a:p>
          <a:p>
            <a:pPr>
              <a:lnSpc>
                <a:spcPts val="2580"/>
              </a:lnSpc>
              <a:spcBef>
                <a:spcPts val="0"/>
              </a:spcBef>
              <a:spcAft>
                <a:spcPts val="0"/>
              </a:spcAft>
              <a:defRPr sz="1859" b="0">
                <a:solidFill>
                  <a:srgbClr val="18394A"/>
                </a:solidFill>
                <a:latin typeface="Noto Sans"/>
              </a:defRPr>
            </a:pPr>
            <a:r>
              <a:t>Las condiciones deben ser comprensibles y contemplar el caso que no satisface las</a:t>
            </a:r>
          </a:p>
          <a:p>
            <a:pPr>
              <a:lnSpc>
                <a:spcPts val="2580"/>
              </a:lnSpc>
              <a:spcBef>
                <a:spcPts val="0"/>
              </a:spcBef>
              <a:spcAft>
                <a:spcPts val="0"/>
              </a:spcAft>
              <a:defRPr sz="1859" b="0">
                <a:solidFill>
                  <a:srgbClr val="18394A"/>
                </a:solidFill>
                <a:latin typeface="Noto Sans"/>
              </a:defRPr>
            </a:pPr>
            <a:r>
              <a:t>opciones principales.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PND_U3 · Sección 3.2 · Buenas prácticas de modelado">
    <p:bg>
      <p:bgPr>
        <a:solidFill>
          <a:srgbClr val="F5F2EB"/>
        </a:solidFill>
        <a:effectLst/>
      </p:bgPr>
    </p:bg>
    <p:spTree>
      <p:nvGrpSpPr>
        <p:cNvPr id="1" name=""/>
        <p:cNvGrpSpPr/>
        <p:nvPr/>
      </p:nvGrpSpPr>
      <p:grpSpPr/>
      <p:sp>
        <p:nvSpPr>
          <p:cNvPr id="2" name="TextBox 1"/>
          <p:cNvSpPr txBox="1"/>
          <p:nvPr/>
        </p:nvSpPr>
        <p:spPr>
          <a:xfrm>
            <a:off x="609600" y="342900"/>
            <a:ext cx="109728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BPMN · MODELO DE ENSEÑANZA · NO EJECUTABLE</a:t>
            </a:r>
          </a:p>
        </p:txBody>
      </p:sp>
      <p:sp>
        <p:nvSpPr>
          <p:cNvPr id="3" name="TextBox 2"/>
          <p:cNvSpPr txBox="1"/>
          <p:nvPr/>
        </p:nvSpPr>
        <p:spPr>
          <a:xfrm>
            <a:off x="609600" y="815340"/>
            <a:ext cx="10972800" cy="685800"/>
          </a:xfrm>
          <a:prstGeom prst="rect">
            <a:avLst/>
          </a:prstGeom>
          <a:noFill/>
        </p:spPr>
        <p:txBody>
          <a:bodyPr wrap="none" lIns="0" tIns="0" rIns="0" bIns="0" anchor="t">
            <a:spAutoFit/>
          </a:bodyPr>
          <a:lstStyle/>
          <a:p>
            <a:pPr>
              <a:lnSpc>
                <a:spcPts val="4560"/>
              </a:lnSpc>
              <a:spcBef>
                <a:spcPts val="0"/>
              </a:spcBef>
              <a:spcAft>
                <a:spcPts val="0"/>
              </a:spcAft>
              <a:defRPr sz="3300" b="1">
                <a:solidFill>
                  <a:srgbClr val="18394A"/>
                </a:solidFill>
                <a:latin typeface="Noto Sans"/>
              </a:defRPr>
            </a:pPr>
            <a:r>
              <a:t>Propuesta de atención</a:t>
            </a:r>
          </a:p>
        </p:txBody>
      </p:sp>
      <p:sp>
        <p:nvSpPr>
          <p:cNvPr id="4" name="TextBox 3"/>
          <p:cNvSpPr txBox="1"/>
          <p:nvPr/>
        </p:nvSpPr>
        <p:spPr>
          <a:xfrm>
            <a:off x="609600" y="1539240"/>
            <a:ext cx="108966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Asignación explícita y validación temprana. El resultado debe comprobarse en un piloto.</a:t>
            </a:r>
          </a:p>
        </p:txBody>
      </p:sp>
      <p:sp>
        <p:nvSpPr>
          <p:cNvPr id="5" name="Rounded Rectangle 4"/>
          <p:cNvSpPr/>
          <p:nvPr/>
        </p:nvSpPr>
        <p:spPr>
          <a:xfrm>
            <a:off x="609600" y="2484120"/>
            <a:ext cx="10896600" cy="3474720"/>
          </a:xfrm>
          <a:prstGeom prst="roundRect">
            <a:avLst>
              <a:gd name="adj" fmla="val 263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2480" y="2621280"/>
            <a:ext cx="10363200" cy="297180"/>
          </a:xfrm>
          <a:prstGeom prst="rect">
            <a:avLst/>
          </a:prstGeom>
          <a:noFill/>
        </p:spPr>
        <p:txBody>
          <a:bodyPr wrap="none" lIns="0" tIns="0" rIns="0" bIns="0" anchor="t">
            <a:spAutoFit/>
          </a:bodyPr>
          <a:lstStyle/>
          <a:p>
            <a:pPr>
              <a:lnSpc>
                <a:spcPts val="1500"/>
              </a:lnSpc>
              <a:spcBef>
                <a:spcPts val="0"/>
              </a:spcBef>
              <a:spcAft>
                <a:spcPts val="0"/>
              </a:spcAft>
              <a:defRPr sz="1080" b="1">
                <a:solidFill>
                  <a:srgbClr val="087E8B"/>
                </a:solidFill>
                <a:latin typeface="Noto Sans"/>
              </a:defRPr>
            </a:pPr>
            <a:r>
              <a:t>EQUIPO DE SOPORTE · UN SOLO PARTICIPANTE</a:t>
            </a:r>
          </a:p>
        </p:txBody>
      </p:sp>
      <p:cxnSp>
        <p:nvCxnSpPr>
          <p:cNvPr id="7" name="Connector 6"/>
          <p:cNvCxnSpPr/>
          <p:nvPr/>
        </p:nvCxnSpPr>
        <p:spPr>
          <a:xfrm>
            <a:off x="1226820" y="3261360"/>
            <a:ext cx="449580" cy="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933700" y="3261360"/>
            <a:ext cx="381000" cy="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686300" y="3261360"/>
            <a:ext cx="419100" cy="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532120" y="3261360"/>
            <a:ext cx="601980" cy="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20940" y="3261360"/>
            <a:ext cx="518159" cy="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410700" y="3261360"/>
            <a:ext cx="762000" cy="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318760" y="3482340"/>
            <a:ext cx="0" cy="1409700"/>
          </a:xfrm>
          <a:prstGeom prst="line">
            <a:avLst/>
          </a:prstGeom>
          <a:ln>
            <a:solidFill>
              <a:srgbClr val="18394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18760" y="4892040"/>
            <a:ext cx="815340" cy="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520940" y="4892040"/>
            <a:ext cx="518159" cy="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724900" y="5212080"/>
            <a:ext cx="0" cy="411480"/>
          </a:xfrm>
          <a:prstGeom prst="line">
            <a:avLst/>
          </a:prstGeom>
          <a:ln>
            <a:solidFill>
              <a:srgbClr val="18394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000500" y="5623560"/>
            <a:ext cx="4724400" cy="0"/>
          </a:xfrm>
          <a:prstGeom prst="line">
            <a:avLst/>
          </a:prstGeom>
          <a:ln>
            <a:solidFill>
              <a:srgbClr val="18394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000500" y="3581400"/>
            <a:ext cx="0" cy="204216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52500" y="3124200"/>
            <a:ext cx="274320" cy="27432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67740" y="3139440"/>
            <a:ext cx="243840" cy="2438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3420" y="2750820"/>
            <a:ext cx="876300" cy="441960"/>
          </a:xfrm>
          <a:prstGeom prst="rect">
            <a:avLst/>
          </a:prstGeom>
          <a:noFill/>
        </p:spPr>
        <p:txBody>
          <a:bodyPr wrap="none" lIns="0" tIns="0" rIns="0" bIns="0" anchor="t">
            <a:spAutoFit/>
          </a:bodyPr>
          <a:lstStyle/>
          <a:p>
            <a:pPr>
              <a:lnSpc>
                <a:spcPts val="1320"/>
              </a:lnSpc>
              <a:spcBef>
                <a:spcPts val="0"/>
              </a:spcBef>
              <a:spcAft>
                <a:spcPts val="0"/>
              </a:spcAft>
              <a:defRPr sz="960" b="1">
                <a:solidFill>
                  <a:srgbClr val="18394A"/>
                </a:solidFill>
                <a:latin typeface="Noto Sans"/>
              </a:defRPr>
            </a:pPr>
            <a:r>
              <a:t>Solicitud</a:t>
            </a:r>
          </a:p>
          <a:p>
            <a:pPr>
              <a:lnSpc>
                <a:spcPts val="1320"/>
              </a:lnSpc>
              <a:spcBef>
                <a:spcPts val="0"/>
              </a:spcBef>
              <a:spcAft>
                <a:spcPts val="0"/>
              </a:spcAft>
              <a:defRPr sz="960" b="1">
                <a:solidFill>
                  <a:srgbClr val="18394A"/>
                </a:solidFill>
                <a:latin typeface="Noto Sans"/>
              </a:defRPr>
            </a:pPr>
            <a:r>
              <a:t>recibida</a:t>
            </a:r>
          </a:p>
        </p:txBody>
      </p:sp>
      <p:sp>
        <p:nvSpPr>
          <p:cNvPr id="22" name="Rounded Rectangle 21"/>
          <p:cNvSpPr/>
          <p:nvPr/>
        </p:nvSpPr>
        <p:spPr>
          <a:xfrm>
            <a:off x="1676400" y="2941320"/>
            <a:ext cx="1257300" cy="640080"/>
          </a:xfrm>
          <a:prstGeom prst="roundRect">
            <a:avLst>
              <a:gd name="adj" fmla="val 15476"/>
            </a:avLst>
          </a:prstGeom>
          <a:solidFill>
            <a:srgbClr val="E2F0EE"/>
          </a:solidFill>
          <a:ln>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67840" y="3048000"/>
            <a:ext cx="1074420" cy="502920"/>
          </a:xfrm>
          <a:prstGeom prst="rect">
            <a:avLst/>
          </a:prstGeom>
          <a:noFill/>
        </p:spPr>
        <p:txBody>
          <a:bodyPr wrap="none" lIns="0" tIns="0" rIns="0" bIns="0" anchor="t">
            <a:spAutoFit/>
          </a:bodyPr>
          <a:lstStyle/>
          <a:p>
            <a:pPr>
              <a:lnSpc>
                <a:spcPts val="1560"/>
              </a:lnSpc>
              <a:spcBef>
                <a:spcPts val="0"/>
              </a:spcBef>
              <a:spcAft>
                <a:spcPts val="0"/>
              </a:spcAft>
              <a:defRPr sz="1140" b="1">
                <a:solidFill>
                  <a:srgbClr val="18394A"/>
                </a:solidFill>
                <a:latin typeface="Noto Sans"/>
              </a:defRPr>
            </a:pPr>
            <a:r>
              <a:t>Registrar y</a:t>
            </a:r>
          </a:p>
          <a:p>
            <a:pPr>
              <a:lnSpc>
                <a:spcPts val="1560"/>
              </a:lnSpc>
              <a:spcBef>
                <a:spcPts val="0"/>
              </a:spcBef>
              <a:spcAft>
                <a:spcPts val="0"/>
              </a:spcAft>
              <a:defRPr sz="1140" b="1">
                <a:solidFill>
                  <a:srgbClr val="18394A"/>
                </a:solidFill>
                <a:latin typeface="Noto Sans"/>
              </a:defRPr>
            </a:pPr>
            <a:r>
              <a:t>asignar</a:t>
            </a:r>
          </a:p>
        </p:txBody>
      </p:sp>
      <p:sp>
        <p:nvSpPr>
          <p:cNvPr id="24" name="Rounded Rectangle 23"/>
          <p:cNvSpPr/>
          <p:nvPr/>
        </p:nvSpPr>
        <p:spPr>
          <a:xfrm>
            <a:off x="3314700" y="2941320"/>
            <a:ext cx="1371600" cy="640080"/>
          </a:xfrm>
          <a:prstGeom prst="roundRect">
            <a:avLst>
              <a:gd name="adj" fmla="val 15476"/>
            </a:avLst>
          </a:prstGeom>
          <a:solidFill>
            <a:srgbClr val="E2F0EE"/>
          </a:solidFill>
          <a:ln>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06140" y="3048000"/>
            <a:ext cx="1188720" cy="304800"/>
          </a:xfrm>
          <a:prstGeom prst="rect">
            <a:avLst/>
          </a:prstGeom>
          <a:noFill/>
        </p:spPr>
        <p:txBody>
          <a:bodyPr wrap="none" lIns="0" tIns="0" rIns="0" bIns="0" anchor="t">
            <a:spAutoFit/>
          </a:bodyPr>
          <a:lstStyle/>
          <a:p>
            <a:pPr>
              <a:lnSpc>
                <a:spcPts val="1560"/>
              </a:lnSpc>
              <a:spcBef>
                <a:spcPts val="0"/>
              </a:spcBef>
              <a:spcAft>
                <a:spcPts val="0"/>
              </a:spcAft>
              <a:defRPr sz="1140" b="1">
                <a:solidFill>
                  <a:srgbClr val="18394A"/>
                </a:solidFill>
                <a:latin typeface="Noto Sans"/>
              </a:defRPr>
            </a:pPr>
            <a:r>
              <a:t>Validar al recibir</a:t>
            </a:r>
          </a:p>
        </p:txBody>
      </p:sp>
      <p:sp>
        <p:nvSpPr>
          <p:cNvPr id="26" name="Diamond 25"/>
          <p:cNvSpPr/>
          <p:nvPr/>
        </p:nvSpPr>
        <p:spPr>
          <a:xfrm>
            <a:off x="5105400" y="3055620"/>
            <a:ext cx="426720" cy="426720"/>
          </a:xfrm>
          <a:prstGeom prst="diamond">
            <a:avLst/>
          </a:prstGeom>
          <a:solidFill>
            <a:srgbClr val="E2F0EE"/>
          </a:solidFill>
          <a:ln>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34940" y="3131820"/>
            <a:ext cx="274320" cy="365760"/>
          </a:xfrm>
          <a:prstGeom prst="rect">
            <a:avLst/>
          </a:prstGeom>
          <a:noFill/>
        </p:spPr>
        <p:txBody>
          <a:bodyPr wrap="none" lIns="0" tIns="0" rIns="0" bIns="0" anchor="t">
            <a:spAutoFit/>
          </a:bodyPr>
          <a:lstStyle/>
          <a:p>
            <a:pPr>
              <a:lnSpc>
                <a:spcPts val="2039"/>
              </a:lnSpc>
              <a:spcBef>
                <a:spcPts val="0"/>
              </a:spcBef>
              <a:spcAft>
                <a:spcPts val="0"/>
              </a:spcAft>
              <a:defRPr sz="1500" b="1">
                <a:solidFill>
                  <a:srgbClr val="18394A"/>
                </a:solidFill>
                <a:latin typeface="Noto Sans"/>
              </a:defRPr>
            </a:pPr>
            <a:r>
              <a:t>X</a:t>
            </a:r>
          </a:p>
        </p:txBody>
      </p:sp>
      <p:sp>
        <p:nvSpPr>
          <p:cNvPr id="28" name="TextBox 27"/>
          <p:cNvSpPr txBox="1"/>
          <p:nvPr/>
        </p:nvSpPr>
        <p:spPr>
          <a:xfrm>
            <a:off x="4914900" y="2727960"/>
            <a:ext cx="990599" cy="297180"/>
          </a:xfrm>
          <a:prstGeom prst="rect">
            <a:avLst/>
          </a:prstGeom>
          <a:noFill/>
        </p:spPr>
        <p:txBody>
          <a:bodyPr wrap="none" lIns="0" tIns="0" rIns="0" bIns="0" anchor="t">
            <a:spAutoFit/>
          </a:bodyPr>
          <a:lstStyle/>
          <a:p>
            <a:pPr>
              <a:lnSpc>
                <a:spcPts val="1500"/>
              </a:lnSpc>
              <a:spcBef>
                <a:spcPts val="0"/>
              </a:spcBef>
              <a:spcAft>
                <a:spcPts val="0"/>
              </a:spcAft>
              <a:defRPr sz="1080" b="1">
                <a:solidFill>
                  <a:srgbClr val="18394A"/>
                </a:solidFill>
                <a:latin typeface="Noto Sans"/>
              </a:defRPr>
            </a:pPr>
            <a:r>
              <a:t>¿Completa?</a:t>
            </a:r>
          </a:p>
        </p:txBody>
      </p:sp>
      <p:sp>
        <p:nvSpPr>
          <p:cNvPr id="29" name="Rounded Rectangle 28"/>
          <p:cNvSpPr/>
          <p:nvPr/>
        </p:nvSpPr>
        <p:spPr>
          <a:xfrm>
            <a:off x="6134100" y="2941320"/>
            <a:ext cx="1386840" cy="640080"/>
          </a:xfrm>
          <a:prstGeom prst="roundRect">
            <a:avLst>
              <a:gd name="adj" fmla="val 15476"/>
            </a:avLst>
          </a:prstGeom>
          <a:solidFill>
            <a:srgbClr val="E2F0EE"/>
          </a:solidFill>
          <a:ln>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5540" y="3048000"/>
            <a:ext cx="1203960" cy="502920"/>
          </a:xfrm>
          <a:prstGeom prst="rect">
            <a:avLst/>
          </a:prstGeom>
          <a:noFill/>
        </p:spPr>
        <p:txBody>
          <a:bodyPr wrap="none" lIns="0" tIns="0" rIns="0" bIns="0" anchor="t">
            <a:spAutoFit/>
          </a:bodyPr>
          <a:lstStyle/>
          <a:p>
            <a:pPr>
              <a:lnSpc>
                <a:spcPts val="1560"/>
              </a:lnSpc>
              <a:spcBef>
                <a:spcPts val="0"/>
              </a:spcBef>
              <a:spcAft>
                <a:spcPts val="0"/>
              </a:spcAft>
              <a:defRPr sz="1140" b="1">
                <a:solidFill>
                  <a:srgbClr val="18394A"/>
                </a:solidFill>
                <a:latin typeface="Noto Sans"/>
              </a:defRPr>
            </a:pPr>
            <a:r>
              <a:t>Preparar</a:t>
            </a:r>
          </a:p>
          <a:p>
            <a:pPr>
              <a:lnSpc>
                <a:spcPts val="1560"/>
              </a:lnSpc>
              <a:spcBef>
                <a:spcPts val="0"/>
              </a:spcBef>
              <a:spcAft>
                <a:spcPts val="0"/>
              </a:spcAft>
              <a:defRPr sz="1140" b="1">
                <a:solidFill>
                  <a:srgbClr val="18394A"/>
                </a:solidFill>
                <a:latin typeface="Noto Sans"/>
              </a:defRPr>
            </a:pPr>
            <a:r>
              <a:t>respuesta</a:t>
            </a:r>
          </a:p>
        </p:txBody>
      </p:sp>
      <p:sp>
        <p:nvSpPr>
          <p:cNvPr id="31" name="Rounded Rectangle 30"/>
          <p:cNvSpPr/>
          <p:nvPr/>
        </p:nvSpPr>
        <p:spPr>
          <a:xfrm>
            <a:off x="8039099" y="2941320"/>
            <a:ext cx="1371600" cy="640080"/>
          </a:xfrm>
          <a:prstGeom prst="roundRect">
            <a:avLst>
              <a:gd name="adj" fmla="val 15476"/>
            </a:avLst>
          </a:prstGeom>
          <a:solidFill>
            <a:srgbClr val="E2F0EE"/>
          </a:solidFill>
          <a:ln>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30540" y="3048000"/>
            <a:ext cx="1188720" cy="502920"/>
          </a:xfrm>
          <a:prstGeom prst="rect">
            <a:avLst/>
          </a:prstGeom>
          <a:noFill/>
        </p:spPr>
        <p:txBody>
          <a:bodyPr wrap="none" lIns="0" tIns="0" rIns="0" bIns="0" anchor="t">
            <a:spAutoFit/>
          </a:bodyPr>
          <a:lstStyle/>
          <a:p>
            <a:pPr>
              <a:lnSpc>
                <a:spcPts val="1560"/>
              </a:lnSpc>
              <a:spcBef>
                <a:spcPts val="0"/>
              </a:spcBef>
              <a:spcAft>
                <a:spcPts val="0"/>
              </a:spcAft>
              <a:defRPr sz="1140" b="1">
                <a:solidFill>
                  <a:srgbClr val="18394A"/>
                </a:solidFill>
                <a:latin typeface="Noto Sans"/>
              </a:defRPr>
            </a:pPr>
            <a:r>
              <a:t>Comunicar</a:t>
            </a:r>
          </a:p>
          <a:p>
            <a:pPr>
              <a:lnSpc>
                <a:spcPts val="1560"/>
              </a:lnSpc>
              <a:spcBef>
                <a:spcPts val="0"/>
              </a:spcBef>
              <a:spcAft>
                <a:spcPts val="0"/>
              </a:spcAft>
              <a:defRPr sz="1140" b="1">
                <a:solidFill>
                  <a:srgbClr val="18394A"/>
                </a:solidFill>
                <a:latin typeface="Noto Sans"/>
              </a:defRPr>
            </a:pPr>
            <a:r>
              <a:t>respuesta</a:t>
            </a:r>
          </a:p>
        </p:txBody>
      </p:sp>
      <p:sp>
        <p:nvSpPr>
          <p:cNvPr id="33" name="Oval 32"/>
          <p:cNvSpPr/>
          <p:nvPr/>
        </p:nvSpPr>
        <p:spPr>
          <a:xfrm>
            <a:off x="10172700" y="3124200"/>
            <a:ext cx="274320" cy="27432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226040" y="3177540"/>
            <a:ext cx="167640" cy="167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13620" y="2750820"/>
            <a:ext cx="876300" cy="274320"/>
          </a:xfrm>
          <a:prstGeom prst="rect">
            <a:avLst/>
          </a:prstGeom>
          <a:noFill/>
        </p:spPr>
        <p:txBody>
          <a:bodyPr wrap="none" lIns="0" tIns="0" rIns="0" bIns="0" anchor="t">
            <a:spAutoFit/>
          </a:bodyPr>
          <a:lstStyle/>
          <a:p>
            <a:pPr>
              <a:lnSpc>
                <a:spcPts val="1320"/>
              </a:lnSpc>
              <a:spcBef>
                <a:spcPts val="0"/>
              </a:spcBef>
              <a:spcAft>
                <a:spcPts val="0"/>
              </a:spcAft>
              <a:defRPr sz="960" b="1">
                <a:solidFill>
                  <a:srgbClr val="18394A"/>
                </a:solidFill>
                <a:latin typeface="Noto Sans"/>
              </a:defRPr>
            </a:pPr>
            <a:r>
              <a:t>Respuesta útil</a:t>
            </a:r>
          </a:p>
        </p:txBody>
      </p:sp>
      <p:sp>
        <p:nvSpPr>
          <p:cNvPr id="36" name="Rounded Rectangle 35"/>
          <p:cNvSpPr/>
          <p:nvPr/>
        </p:nvSpPr>
        <p:spPr>
          <a:xfrm>
            <a:off x="6134100" y="4572000"/>
            <a:ext cx="1386840" cy="640080"/>
          </a:xfrm>
          <a:prstGeom prst="roundRect">
            <a:avLst>
              <a:gd name="adj" fmla="val 15476"/>
            </a:avLst>
          </a:prstGeom>
          <a:solidFill>
            <a:srgbClr val="E2F0EE"/>
          </a:solidFill>
          <a:ln>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25540" y="4678680"/>
            <a:ext cx="1203960" cy="304800"/>
          </a:xfrm>
          <a:prstGeom prst="rect">
            <a:avLst/>
          </a:prstGeom>
          <a:noFill/>
        </p:spPr>
        <p:txBody>
          <a:bodyPr wrap="none" lIns="0" tIns="0" rIns="0" bIns="0" anchor="t">
            <a:spAutoFit/>
          </a:bodyPr>
          <a:lstStyle/>
          <a:p>
            <a:pPr>
              <a:lnSpc>
                <a:spcPts val="1560"/>
              </a:lnSpc>
              <a:spcBef>
                <a:spcPts val="0"/>
              </a:spcBef>
              <a:spcAft>
                <a:spcPts val="0"/>
              </a:spcAft>
              <a:defRPr sz="1140" b="1">
                <a:solidFill>
                  <a:srgbClr val="18394A"/>
                </a:solidFill>
                <a:latin typeface="Noto Sans"/>
              </a:defRPr>
            </a:pPr>
            <a:r>
              <a:t>Solicitar datos</a:t>
            </a:r>
          </a:p>
        </p:txBody>
      </p:sp>
      <p:sp>
        <p:nvSpPr>
          <p:cNvPr id="38" name="Rounded Rectangle 37"/>
          <p:cNvSpPr/>
          <p:nvPr/>
        </p:nvSpPr>
        <p:spPr>
          <a:xfrm>
            <a:off x="8039099" y="4572000"/>
            <a:ext cx="1371600" cy="640080"/>
          </a:xfrm>
          <a:prstGeom prst="roundRect">
            <a:avLst>
              <a:gd name="adj" fmla="val 15476"/>
            </a:avLst>
          </a:prstGeom>
          <a:solidFill>
            <a:srgbClr val="E2F0EE"/>
          </a:solidFill>
          <a:ln>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30540" y="4678680"/>
            <a:ext cx="1188720" cy="304800"/>
          </a:xfrm>
          <a:prstGeom prst="rect">
            <a:avLst/>
          </a:prstGeom>
          <a:noFill/>
        </p:spPr>
        <p:txBody>
          <a:bodyPr wrap="none" lIns="0" tIns="0" rIns="0" bIns="0" anchor="t">
            <a:spAutoFit/>
          </a:bodyPr>
          <a:lstStyle/>
          <a:p>
            <a:pPr>
              <a:lnSpc>
                <a:spcPts val="1560"/>
              </a:lnSpc>
              <a:spcBef>
                <a:spcPts val="0"/>
              </a:spcBef>
              <a:spcAft>
                <a:spcPts val="0"/>
              </a:spcAft>
              <a:defRPr sz="1140" b="1">
                <a:solidFill>
                  <a:srgbClr val="18394A"/>
                </a:solidFill>
                <a:latin typeface="Noto Sans"/>
              </a:defRPr>
            </a:pPr>
            <a:r>
              <a:t>Recibir datos</a:t>
            </a:r>
          </a:p>
        </p:txBody>
      </p:sp>
      <p:sp>
        <p:nvSpPr>
          <p:cNvPr id="40" name="TextBox 39"/>
          <p:cNvSpPr txBox="1"/>
          <p:nvPr/>
        </p:nvSpPr>
        <p:spPr>
          <a:xfrm>
            <a:off x="5654040" y="3032760"/>
            <a:ext cx="457200" cy="297180"/>
          </a:xfrm>
          <a:prstGeom prst="rect">
            <a:avLst/>
          </a:prstGeom>
          <a:noFill/>
        </p:spPr>
        <p:txBody>
          <a:bodyPr wrap="none" lIns="0" tIns="0" rIns="0" bIns="0" anchor="t">
            <a:spAutoFit/>
          </a:bodyPr>
          <a:lstStyle/>
          <a:p>
            <a:pPr>
              <a:lnSpc>
                <a:spcPts val="1500"/>
              </a:lnSpc>
              <a:spcBef>
                <a:spcPts val="0"/>
              </a:spcBef>
              <a:spcAft>
                <a:spcPts val="0"/>
              </a:spcAft>
              <a:defRPr sz="1080" b="1">
                <a:solidFill>
                  <a:srgbClr val="087E8B"/>
                </a:solidFill>
                <a:latin typeface="Noto Sans"/>
              </a:defRPr>
            </a:pPr>
            <a:r>
              <a:t>Sí</a:t>
            </a:r>
          </a:p>
        </p:txBody>
      </p:sp>
      <p:sp>
        <p:nvSpPr>
          <p:cNvPr id="41" name="TextBox 40"/>
          <p:cNvSpPr txBox="1"/>
          <p:nvPr/>
        </p:nvSpPr>
        <p:spPr>
          <a:xfrm>
            <a:off x="5425440" y="4076699"/>
            <a:ext cx="457200" cy="297180"/>
          </a:xfrm>
          <a:prstGeom prst="rect">
            <a:avLst/>
          </a:prstGeom>
          <a:noFill/>
        </p:spPr>
        <p:txBody>
          <a:bodyPr wrap="none" lIns="0" tIns="0" rIns="0" bIns="0" anchor="t">
            <a:spAutoFit/>
          </a:bodyPr>
          <a:lstStyle/>
          <a:p>
            <a:pPr>
              <a:lnSpc>
                <a:spcPts val="1500"/>
              </a:lnSpc>
              <a:spcBef>
                <a:spcPts val="0"/>
              </a:spcBef>
              <a:spcAft>
                <a:spcPts val="0"/>
              </a:spcAft>
              <a:defRPr sz="1080" b="1">
                <a:solidFill>
                  <a:srgbClr val="087E8B"/>
                </a:solidFill>
                <a:latin typeface="Noto Sans"/>
              </a:defRPr>
            </a:pPr>
            <a:r>
              <a:t>No</a:t>
            </a:r>
          </a:p>
        </p:txBody>
      </p:sp>
      <p:sp>
        <p:nvSpPr>
          <p:cNvPr id="42" name="TextBox 41"/>
          <p:cNvSpPr txBox="1"/>
          <p:nvPr/>
        </p:nvSpPr>
        <p:spPr>
          <a:xfrm>
            <a:off x="609600" y="6248400"/>
            <a:ext cx="109347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536975"/>
                </a:solidFill>
                <a:latin typeface="Noto Sans"/>
              </a:defRPr>
            </a:pPr>
            <a:r>
              <a:t>Ruta exclusiva: una solicitud incompleta vuelve a revisión cuando se reciben datos. El caso sin respuesta requiere una regla adicional según el alcance.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PND_U3 · Sección 3.2 · Buenas prácticas de modelad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un equipo dibuja una decisión completa o incompleta como una apertura paralela y</a:t>
            </a:r>
          </a:p>
          <a:p>
            <a:pPr>
              <a:lnSpc>
                <a:spcPts val="2400"/>
              </a:lnSpc>
              <a:spcBef>
                <a:spcPts val="0"/>
              </a:spcBef>
              <a:spcAft>
                <a:spcPts val="0"/>
              </a:spcAft>
              <a:defRPr sz="1739" b="0">
                <a:solidFill>
                  <a:srgbClr val="18394A"/>
                </a:solidFill>
                <a:latin typeface="Noto Sans"/>
              </a:defRPr>
            </a:pPr>
            <a:r>
              <a:t>después espera ambas ramas. Las solicitudes correctas quedan detenidas porque nunca recorrieron</a:t>
            </a:r>
          </a:p>
          <a:p>
            <a:pPr>
              <a:lnSpc>
                <a:spcPts val="2400"/>
              </a:lnSpc>
              <a:spcBef>
                <a:spcPts val="0"/>
              </a:spcBef>
              <a:spcAft>
                <a:spcPts val="0"/>
              </a:spcAft>
              <a:defRPr sz="1739" b="0">
                <a:solidFill>
                  <a:srgbClr val="18394A"/>
                </a:solidFill>
                <a:latin typeface="Noto Sans"/>
              </a:defRPr>
            </a:pPr>
            <a:r>
              <a:t>pedir datos. La corrección requiere representar una elección exclusiva con condiciones y una ruta</a:t>
            </a:r>
          </a:p>
          <a:p>
            <a:pPr>
              <a:lnSpc>
                <a:spcPts val="2400"/>
              </a:lnSpc>
              <a:spcBef>
                <a:spcPts val="0"/>
              </a:spcBef>
              <a:spcAft>
                <a:spcPts val="0"/>
              </a:spcAft>
              <a:defRPr sz="1739" b="0">
                <a:solidFill>
                  <a:srgbClr val="18394A"/>
                </a:solidFill>
                <a:latin typeface="Noto Sans"/>
              </a:defRPr>
            </a:pPr>
            <a:r>
              <a:t>de subsanación coherente. La revisión debe recorrer tanto una solicitud completa como otra</a:t>
            </a:r>
          </a:p>
          <a:p>
            <a:pPr>
              <a:lnSpc>
                <a:spcPts val="2400"/>
              </a:lnSpc>
              <a:spcBef>
                <a:spcPts val="0"/>
              </a:spcBef>
              <a:spcAft>
                <a:spcPts val="0"/>
              </a:spcAft>
              <a:defRPr sz="1739" b="0">
                <a:solidFill>
                  <a:srgbClr val="18394A"/>
                </a:solidFill>
                <a:latin typeface="Noto Sans"/>
              </a:defRPr>
            </a:pPr>
            <a:r>
              <a:t>incompleta, incluyendo qué sucede si el cliente no responde.</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¿Por qué puede bloquearse el modelo y qué tipo de pasarela corresponde a la decisión del caso?</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PND_U3 · Sección 3.2 · Buenas prácticas de modelad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Participantes y comunicación</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 pool delimita un participante y los carriles pueden distribuir responsabilidades dentro</a:t>
            </a:r>
          </a:p>
          <a:p>
            <a:pPr>
              <a:lnSpc>
                <a:spcPts val="2580"/>
              </a:lnSpc>
              <a:spcBef>
                <a:spcPts val="0"/>
              </a:spcBef>
              <a:spcAft>
                <a:spcPts val="0"/>
              </a:spcAft>
              <a:defRPr sz="1859" b="0">
                <a:solidFill>
                  <a:srgbClr val="18394A"/>
                </a:solidFill>
                <a:latin typeface="Noto Sans"/>
              </a:defRPr>
            </a:pPr>
            <a:r>
              <a:t>de él. Los flujos de secuencia conectan elementos de un mismo pool; los flujos de mensaje</a:t>
            </a:r>
          </a:p>
          <a:p>
            <a:pPr>
              <a:lnSpc>
                <a:spcPts val="2580"/>
              </a:lnSpc>
              <a:spcBef>
                <a:spcPts val="0"/>
              </a:spcBef>
              <a:spcAft>
                <a:spcPts val="0"/>
              </a:spcAft>
              <a:defRPr sz="1859" b="0">
                <a:solidFill>
                  <a:srgbClr val="18394A"/>
                </a:solidFill>
                <a:latin typeface="Noto Sans"/>
              </a:defRPr>
            </a:pPr>
            <a:r>
              <a:t>representan comunicación entre participantes distintos. Cruzar pools con secuencia</a:t>
            </a:r>
          </a:p>
          <a:p>
            <a:pPr>
              <a:lnSpc>
                <a:spcPts val="2580"/>
              </a:lnSpc>
              <a:spcBef>
                <a:spcPts val="0"/>
              </a:spcBef>
              <a:spcAft>
                <a:spcPts val="0"/>
              </a:spcAft>
              <a:defRPr sz="1859" b="0">
                <a:solidFill>
                  <a:srgbClr val="18394A"/>
                </a:solidFill>
                <a:latin typeface="Noto Sans"/>
              </a:defRPr>
            </a:pPr>
            <a:r>
              <a:t>confunde esos significados. Los carriles expresan organización del trabajo, pero no</a:t>
            </a:r>
          </a:p>
          <a:p>
            <a:pPr>
              <a:lnSpc>
                <a:spcPts val="2580"/>
              </a:lnSpc>
              <a:spcBef>
                <a:spcPts val="0"/>
              </a:spcBef>
              <a:spcAft>
                <a:spcPts val="0"/>
              </a:spcAft>
              <a:defRPr sz="1859" b="0">
                <a:solidFill>
                  <a:srgbClr val="18394A"/>
                </a:solidFill>
                <a:latin typeface="Noto Sans"/>
              </a:defRPr>
            </a:pPr>
            <a:r>
              <a:t>sustituyen una definición clara de responsabilidades y reglas.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PND_U3 · Sección 3.2 · Buenas prácticas de modelad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Validar comportamiento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Recorre casos normales, incompletos y excepcionales. Comprueba que cada recorrido</a:t>
            </a:r>
          </a:p>
          <a:p>
            <a:pPr>
              <a:lnSpc>
                <a:spcPts val="2580"/>
              </a:lnSpc>
              <a:spcBef>
                <a:spcPts val="0"/>
              </a:spcBef>
              <a:spcAft>
                <a:spcPts val="0"/>
              </a:spcAft>
              <a:defRPr sz="1859" b="0">
                <a:solidFill>
                  <a:srgbClr val="18394A"/>
                </a:solidFill>
                <a:latin typeface="Noto Sans"/>
              </a:defRPr>
            </a:pPr>
            <a:r>
              <a:t>pueda empezar, avanzar y terminar según sus reglas, sin tareas inaccesibles ni esperas</a:t>
            </a:r>
          </a:p>
          <a:p>
            <a:pPr>
              <a:lnSpc>
                <a:spcPts val="2580"/>
              </a:lnSpc>
              <a:spcBef>
                <a:spcPts val="0"/>
              </a:spcBef>
              <a:spcAft>
                <a:spcPts val="0"/>
              </a:spcAft>
              <a:defRPr sz="1859" b="0">
                <a:solidFill>
                  <a:srgbClr val="18394A"/>
                </a:solidFill>
                <a:latin typeface="Noto Sans"/>
              </a:defRPr>
            </a:pPr>
            <a:r>
              <a:t>imposibles. Revisa también cancelaciones y eventos pertinentes al nivel del modelo. Una</a:t>
            </a:r>
          </a:p>
          <a:p>
            <a:pPr>
              <a:lnSpc>
                <a:spcPts val="2580"/>
              </a:lnSpc>
              <a:spcBef>
                <a:spcPts val="0"/>
              </a:spcBef>
              <a:spcAft>
                <a:spcPts val="0"/>
              </a:spcAft>
              <a:defRPr sz="1859" b="0">
                <a:solidFill>
                  <a:srgbClr val="18394A"/>
                </a:solidFill>
                <a:latin typeface="Noto Sans"/>
              </a:defRPr>
            </a:pPr>
            <a:r>
              <a:t>validación sintáctica en una herramienta detecta algunos errores, pero no garantiza que el</a:t>
            </a:r>
          </a:p>
          <a:p>
            <a:pPr>
              <a:lnSpc>
                <a:spcPts val="2580"/>
              </a:lnSpc>
              <a:spcBef>
                <a:spcPts val="0"/>
              </a:spcBef>
              <a:spcAft>
                <a:spcPts val="0"/>
              </a:spcAft>
              <a:defRPr sz="1859" b="0">
                <a:solidFill>
                  <a:srgbClr val="18394A"/>
                </a:solidFill>
                <a:latin typeface="Noto Sans"/>
              </a:defRPr>
            </a:pPr>
            <a:r>
              <a:t>modelo describa el negocio correcto ni que todas las condiciones estén bien formuladas.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PND_U3 · Sección 3.2 · Buenas prácticas de modelad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Modela recibir, verificar y decidir con símbolos y nombres apropiados.</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Explica por qué la decisión es exclusiva y define sus condiciones.</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Representa la comunicación con un cliente como participante externo sin cruzar pools con secuencia.</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Recorre tres casos e identifica posibles bloqueos, rutas sin salida y excepciones.</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PND_U3 · Sección 3.2 · Buenas prácticas de modelado">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U3 · 3.2</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Usa símbolos y nombres con significado.</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Distingue alternativas de paralelismo.</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Revisa límites, mensajes y comportamiento.</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OMG (2014), Business Process Model and Notation,</a:t>
            </a:r>
          </a:p>
          <a:p>
            <a:pPr>
              <a:lnSpc>
                <a:spcPts val="1920"/>
              </a:lnSpc>
              <a:spcBef>
                <a:spcPts val="0"/>
              </a:spcBef>
              <a:spcAft>
                <a:spcPts val="0"/>
              </a:spcAft>
              <a:defRPr sz="1380" b="0">
                <a:solidFill>
                  <a:srgbClr val="D6E4E8"/>
                </a:solidFill>
                <a:latin typeface="Noto Sans"/>
              </a:defRPr>
            </a:pPr>
            <a:r>
              <a:t>versión 2.0.2: https://www.omg.org/spec/BPMN/2.0.2/ .</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PND_U3 · Sección 3.3 · Herramientas digitales para modelado de proceso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U3 · 3.3</a:t>
            </a:r>
          </a:p>
        </p:txBody>
      </p:sp>
      <p:sp>
        <p:nvSpPr>
          <p:cNvPr id="5" name="TextBox 4"/>
          <p:cNvSpPr txBox="1"/>
          <p:nvPr/>
        </p:nvSpPr>
        <p:spPr>
          <a:xfrm>
            <a:off x="609600" y="1203960"/>
            <a:ext cx="10744200" cy="144780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Herramientas digitales para modelado de</a:t>
            </a:r>
          </a:p>
          <a:p>
            <a:pPr>
              <a:lnSpc>
                <a:spcPts val="5280"/>
              </a:lnSpc>
              <a:spcBef>
                <a:spcPts val="0"/>
              </a:spcBef>
              <a:spcAft>
                <a:spcPts val="0"/>
              </a:spcAft>
              <a:defRPr sz="3840" b="1">
                <a:solidFill>
                  <a:srgbClr val="FFFFFF"/>
                </a:solidFill>
                <a:latin typeface="Noto Sans"/>
              </a:defRPr>
            </a:pPr>
            <a:r>
              <a:t>procesos</a:t>
            </a:r>
          </a:p>
        </p:txBody>
      </p:sp>
      <p:sp>
        <p:nvSpPr>
          <p:cNvPr id="6" name="TextBox 5"/>
          <p:cNvSpPr txBox="1"/>
          <p:nvPr/>
        </p:nvSpPr>
        <p:spPr>
          <a:xfrm>
            <a:off x="647700" y="275082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Comparar herramientas de modelado por propósito, interoperabilidad y colaboración,</a:t>
            </a:r>
          </a:p>
          <a:p>
            <a:pPr>
              <a:lnSpc>
                <a:spcPts val="2640"/>
              </a:lnSpc>
              <a:spcBef>
                <a:spcPts val="0"/>
              </a:spcBef>
              <a:spcAft>
                <a:spcPts val="0"/>
              </a:spcAft>
              <a:defRPr sz="1920" b="0">
                <a:solidFill>
                  <a:srgbClr val="D6E4E8"/>
                </a:solidFill>
                <a:latin typeface="Noto Sans"/>
              </a:defRPr>
            </a:pPr>
            <a:r>
              <a:t>comprobando sus límites con una prueba práctica.</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PND_U3 · Sección 3.3 · Herramientas digitales para modelado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Comparar herramientas de modelado por propósito, interoperabilidad y</a:t>
            </a:r>
          </a:p>
          <a:p>
            <a:pPr>
              <a:lnSpc>
                <a:spcPts val="2820"/>
              </a:lnSpc>
              <a:spcBef>
                <a:spcPts val="0"/>
              </a:spcBef>
              <a:spcAft>
                <a:spcPts val="0"/>
              </a:spcAft>
              <a:defRPr sz="2039" b="1">
                <a:solidFill>
                  <a:srgbClr val="18394A"/>
                </a:solidFill>
                <a:latin typeface="Noto Sans"/>
              </a:defRPr>
            </a:pPr>
            <a:r>
              <a:t>colaboración, comprobando sus límites con una prueba práctica.</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prueba distinguiría una entrega visual de una entrega realmente editable e</a:t>
            </a:r>
          </a:p>
          <a:p>
            <a:pPr>
              <a:lnSpc>
                <a:spcPts val="2820"/>
              </a:lnSpc>
              <a:spcBef>
                <a:spcPts val="0"/>
              </a:spcBef>
              <a:spcAft>
                <a:spcPts val="0"/>
              </a:spcAft>
              <a:defRPr sz="2039" b="0">
                <a:solidFill>
                  <a:srgbClr val="18394A"/>
                </a:solidFill>
                <a:latin typeface="Noto Sans"/>
              </a:defRPr>
            </a:pPr>
            <a:r>
              <a:t>interoperable?</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PND_U3 · Sección 3.3 · Herramientas digitales para modelado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Propósito de la herramienta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herramienta puede ayudar a dibujar, validar, documentar, simular o ejecutar procesos,</a:t>
            </a:r>
          </a:p>
          <a:p>
            <a:pPr>
              <a:lnSpc>
                <a:spcPts val="2580"/>
              </a:lnSpc>
              <a:spcBef>
                <a:spcPts val="0"/>
              </a:spcBef>
              <a:spcAft>
                <a:spcPts val="0"/>
              </a:spcAft>
              <a:defRPr sz="1859" b="0">
                <a:solidFill>
                  <a:srgbClr val="18394A"/>
                </a:solidFill>
                <a:latin typeface="Noto Sans"/>
              </a:defRPr>
            </a:pPr>
            <a:r>
              <a:t>pero no todas hacen lo mismo. Un editor de diagramas generales puede comunicar una</a:t>
            </a:r>
          </a:p>
          <a:p>
            <a:pPr>
              <a:lnSpc>
                <a:spcPts val="2580"/>
              </a:lnSpc>
              <a:spcBef>
                <a:spcPts val="0"/>
              </a:spcBef>
              <a:spcAft>
                <a:spcPts val="0"/>
              </a:spcAft>
              <a:defRPr sz="1859" b="0">
                <a:solidFill>
                  <a:srgbClr val="18394A"/>
                </a:solidFill>
                <a:latin typeface="Noto Sans"/>
              </a:defRPr>
            </a:pPr>
            <a:r>
              <a:t>idea sin comprobar semántica BPMN. Un modelador especializado puede validar aspectos</a:t>
            </a:r>
          </a:p>
          <a:p>
            <a:pPr>
              <a:lnSpc>
                <a:spcPts val="2580"/>
              </a:lnSpc>
              <a:spcBef>
                <a:spcPts val="0"/>
              </a:spcBef>
              <a:spcAft>
                <a:spcPts val="0"/>
              </a:spcAft>
              <a:defRPr sz="1859" b="0">
                <a:solidFill>
                  <a:srgbClr val="18394A"/>
                </a:solidFill>
                <a:latin typeface="Noto Sans"/>
              </a:defRPr>
            </a:pPr>
            <a:r>
              <a:t>formales, mientras un motor necesita una especificación ejecutable. Define primero qué</a:t>
            </a:r>
          </a:p>
          <a:p>
            <a:pPr>
              <a:lnSpc>
                <a:spcPts val="2580"/>
              </a:lnSpc>
              <a:spcBef>
                <a:spcPts val="0"/>
              </a:spcBef>
              <a:spcAft>
                <a:spcPts val="0"/>
              </a:spcAft>
              <a:defRPr sz="1859" b="0">
                <a:solidFill>
                  <a:srgbClr val="18394A"/>
                </a:solidFill>
                <a:latin typeface="Noto Sans"/>
              </a:defRPr>
            </a:pPr>
            <a:r>
              <a:t>trabajo apoyará la herramienta y quién la utilizará.</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PND_U3 · Sección 3.3 · Herramientas digitales para modelado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Criterios de comparación</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Evalúa soporte de notación y versión, facilidad de revisión, colaboración, control de</a:t>
            </a:r>
          </a:p>
          <a:p>
            <a:pPr>
              <a:lnSpc>
                <a:spcPts val="2580"/>
              </a:lnSpc>
              <a:spcBef>
                <a:spcPts val="0"/>
              </a:spcBef>
              <a:spcAft>
                <a:spcPts val="0"/>
              </a:spcAft>
              <a:defRPr sz="1859" b="0">
                <a:solidFill>
                  <a:srgbClr val="18394A"/>
                </a:solidFill>
                <a:latin typeface="Noto Sans"/>
              </a:defRPr>
            </a:pPr>
            <a:r>
              <a:t>versiones, exportación e importación. Considera también sistema operativo, permisos,</a:t>
            </a:r>
          </a:p>
          <a:p>
            <a:pPr>
              <a:lnSpc>
                <a:spcPts val="2580"/>
              </a:lnSpc>
              <a:spcBef>
                <a:spcPts val="0"/>
              </a:spcBef>
              <a:spcAft>
                <a:spcPts val="0"/>
              </a:spcAft>
              <a:defRPr sz="1859" b="0">
                <a:solidFill>
                  <a:srgbClr val="18394A"/>
                </a:solidFill>
                <a:latin typeface="Noto Sans"/>
              </a:defRPr>
            </a:pPr>
            <a:r>
              <a:t>almacenamiento y costos del plan real. Los nombres Bizagi Modeler, Camunda Modeler y</a:t>
            </a:r>
          </a:p>
          <a:p>
            <a:pPr>
              <a:lnSpc>
                <a:spcPts val="2580"/>
              </a:lnSpc>
              <a:spcBef>
                <a:spcPts val="0"/>
              </a:spcBef>
              <a:spcAft>
                <a:spcPts val="0"/>
              </a:spcAft>
              <a:defRPr sz="1859" b="0">
                <a:solidFill>
                  <a:srgbClr val="18394A"/>
                </a:solidFill>
                <a:latin typeface="Noto Sans"/>
              </a:defRPr>
            </a:pPr>
            <a:r>
              <a:t>editores basados en bpmn.io son ejemplos para investigar, no una afirmación de</a:t>
            </a:r>
          </a:p>
          <a:p>
            <a:pPr>
              <a:lnSpc>
                <a:spcPts val="2580"/>
              </a:lnSpc>
              <a:spcBef>
                <a:spcPts val="0"/>
              </a:spcBef>
              <a:spcAft>
                <a:spcPts val="0"/>
              </a:spcAft>
              <a:defRPr sz="1859" b="0">
                <a:solidFill>
                  <a:srgbClr val="18394A"/>
                </a:solidFill>
                <a:latin typeface="Noto Sans"/>
              </a:defRPr>
            </a:pPr>
            <a:r>
              <a:t>equivalencia ni de gratuidad permanente de todas sus funciones.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name="PND_U3 · Sección 3.3 · Herramientas digitales para modelado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Definir uso</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Comparar requisitos</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Probar intercambio</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Acordar</a:t>
            </a:r>
          </a:p>
          <a:p>
            <a:pPr>
              <a:lnSpc>
                <a:spcPts val="2220"/>
              </a:lnSpc>
              <a:spcBef>
                <a:spcPts val="0"/>
              </a:spcBef>
              <a:spcAft>
                <a:spcPts val="0"/>
              </a:spcAft>
              <a:defRPr sz="1620" b="1">
                <a:solidFill>
                  <a:srgbClr val="FFFFFF"/>
                </a:solidFill>
                <a:latin typeface="Noto Sans"/>
              </a:defRPr>
            </a:pPr>
            <a:r>
              <a:t>colaboración</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Define la tarea que necesita apoyo y qué condiciones son obligatorias. Compara alternativas con los</a:t>
            </a:r>
          </a:p>
          <a:p>
            <a:pPr>
              <a:lnSpc>
                <a:spcPts val="2400"/>
              </a:lnSpc>
              <a:spcBef>
                <a:spcPts val="0"/>
              </a:spcBef>
              <a:spcAft>
                <a:spcPts val="0"/>
              </a:spcAft>
              <a:defRPr sz="1739" b="0">
                <a:solidFill>
                  <a:srgbClr val="536975"/>
                </a:solidFill>
                <a:latin typeface="Noto Sans"/>
              </a:defRPr>
            </a:pPr>
            <a:r>
              <a:t>mismos criterios. Después prueba crear, exportar, importar y revisar un modelo de ejemplo.</a:t>
            </a:r>
          </a:p>
          <a:p>
            <a:pPr>
              <a:lnSpc>
                <a:spcPts val="2400"/>
              </a:lnSpc>
              <a:spcBef>
                <a:spcPts val="0"/>
              </a:spcBef>
              <a:spcAft>
                <a:spcPts val="0"/>
              </a:spcAft>
              <a:defRPr sz="1739" b="0">
                <a:solidFill>
                  <a:srgbClr val="536975"/>
                </a:solidFill>
                <a:latin typeface="Noto Sans"/>
              </a:defRPr>
            </a:pPr>
            <a:r>
              <a:t>Finalmente acuerda cómo se aprueban y comparten versiones, porque la elección técnica no</a:t>
            </a:r>
          </a:p>
          <a:p>
            <a:pPr>
              <a:lnSpc>
                <a:spcPts val="2400"/>
              </a:lnSpc>
              <a:spcBef>
                <a:spcPts val="0"/>
              </a:spcBef>
              <a:spcAft>
                <a:spcPts val="0"/>
              </a:spcAft>
              <a:defRPr sz="1739" b="0">
                <a:solidFill>
                  <a:srgbClr val="536975"/>
                </a:solidFill>
                <a:latin typeface="Noto Sans"/>
              </a:defRPr>
            </a:pPr>
            <a:r>
              <a:t>resuelve por sí sola el trabajo colaborativo ni los permisos.</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PND_U3 · Sección 3.3 · Herramientas digitales para modelado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un equipo entrega capturas de pantalla de sus procesos y nadie puede corregirlos sin</a:t>
            </a:r>
          </a:p>
          <a:p>
            <a:pPr>
              <a:lnSpc>
                <a:spcPts val="2400"/>
              </a:lnSpc>
              <a:spcBef>
                <a:spcPts val="0"/>
              </a:spcBef>
              <a:spcAft>
                <a:spcPts val="0"/>
              </a:spcAft>
              <a:defRPr sz="1739" b="0">
                <a:solidFill>
                  <a:srgbClr val="18394A"/>
                </a:solidFill>
                <a:latin typeface="Noto Sans"/>
              </a:defRPr>
            </a:pPr>
            <a:r>
              <a:t>redibujar. Propone adoptar un modelador que exporte BPMN. La prueba debe verificar que otro</a:t>
            </a:r>
          </a:p>
          <a:p>
            <a:pPr>
              <a:lnSpc>
                <a:spcPts val="2400"/>
              </a:lnSpc>
              <a:spcBef>
                <a:spcPts val="0"/>
              </a:spcBef>
              <a:spcAft>
                <a:spcPts val="0"/>
              </a:spcAft>
              <a:defRPr sz="1739" b="0">
                <a:solidFill>
                  <a:srgbClr val="18394A"/>
                </a:solidFill>
                <a:latin typeface="Noto Sans"/>
              </a:defRPr>
            </a:pPr>
            <a:r>
              <a:t>integrante importe el archivo, cambie una condición y conserve las relaciones. También debe revisar</a:t>
            </a:r>
          </a:p>
          <a:p>
            <a:pPr>
              <a:lnSpc>
                <a:spcPts val="2400"/>
              </a:lnSpc>
              <a:spcBef>
                <a:spcPts val="0"/>
              </a:spcBef>
              <a:spcAft>
                <a:spcPts val="0"/>
              </a:spcAft>
              <a:defRPr sz="1739" b="0">
                <a:solidFill>
                  <a:srgbClr val="18394A"/>
                </a:solidFill>
                <a:latin typeface="Noto Sans"/>
              </a:defRPr>
            </a:pPr>
            <a:r>
              <a:t>la compatibilidad con sus equipos y el acceso a funciones de colaboración disponibles en la versión</a:t>
            </a:r>
          </a:p>
          <a:p>
            <a:pPr>
              <a:lnSpc>
                <a:spcPts val="2400"/>
              </a:lnSpc>
              <a:spcBef>
                <a:spcPts val="0"/>
              </a:spcBef>
              <a:spcAft>
                <a:spcPts val="0"/>
              </a:spcAft>
              <a:defRPr sz="1739" b="0">
                <a:solidFill>
                  <a:srgbClr val="18394A"/>
                </a:solidFill>
                <a:latin typeface="Noto Sans"/>
              </a:defRPr>
            </a:pPr>
            <a:r>
              <a:t>y plan elegidos.</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prueba distinguiría una entrega visual de una entrega realmente editable e interoperable?</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name="PND_U3 · Sección 3.3 · Herramientas digitales para modelado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Interoperabilidad y archivos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imagen permite visualizar, pero no conserva necesariamente elementos editables ni</a:t>
            </a:r>
          </a:p>
          <a:p>
            <a:pPr>
              <a:lnSpc>
                <a:spcPts val="2580"/>
              </a:lnSpc>
              <a:spcBef>
                <a:spcPts val="0"/>
              </a:spcBef>
              <a:spcAft>
                <a:spcPts val="0"/>
              </a:spcAft>
              <a:defRPr sz="1859" b="0">
                <a:solidFill>
                  <a:srgbClr val="18394A"/>
                </a:solidFill>
                <a:latin typeface="Noto Sans"/>
              </a:defRPr>
            </a:pPr>
            <a:r>
              <a:t>sus relaciones. Un archivo BPMN en XML puede transportar estructura bajo el estándar,</a:t>
            </a:r>
          </a:p>
          <a:p>
            <a:pPr>
              <a:lnSpc>
                <a:spcPts val="2580"/>
              </a:lnSpc>
              <a:spcBef>
                <a:spcPts val="0"/>
              </a:spcBef>
              <a:spcAft>
                <a:spcPts val="0"/>
              </a:spcAft>
              <a:defRPr sz="1859" b="0">
                <a:solidFill>
                  <a:srgbClr val="18394A"/>
                </a:solidFill>
                <a:latin typeface="Noto Sans"/>
              </a:defRPr>
            </a:pPr>
            <a:r>
              <a:t>aunque extensiones de proveedor o detalles de diagramación pueden cambiar entre</a:t>
            </a:r>
          </a:p>
          <a:p>
            <a:pPr>
              <a:lnSpc>
                <a:spcPts val="2580"/>
              </a:lnSpc>
              <a:spcBef>
                <a:spcPts val="0"/>
              </a:spcBef>
              <a:spcAft>
                <a:spcPts val="0"/>
              </a:spcAft>
              <a:defRPr sz="1859" b="0">
                <a:solidFill>
                  <a:srgbClr val="18394A"/>
                </a:solidFill>
                <a:latin typeface="Noto Sans"/>
              </a:defRPr>
            </a:pPr>
            <a:r>
              <a:t>herramientas. Prueba exportar e importar un modelo y revisar elementos, condiciones y</a:t>
            </a:r>
          </a:p>
          <a:p>
            <a:pPr>
              <a:lnSpc>
                <a:spcPts val="2580"/>
              </a:lnSpc>
              <a:spcBef>
                <a:spcPts val="0"/>
              </a:spcBef>
              <a:spcAft>
                <a:spcPts val="0"/>
              </a:spcAft>
              <a:defRPr sz="1859" b="0">
                <a:solidFill>
                  <a:srgbClr val="18394A"/>
                </a:solidFill>
                <a:latin typeface="Noto Sans"/>
              </a:defRPr>
            </a:pPr>
            <a:r>
              <a:t>distribución antes de afirmar que existe interoperabilidad suficiente.</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name="PND_U3 · Sección 3.3 · Herramientas digitales para modelado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Colaboración y evidencia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La colaboración necesita acuerdos sobre responsables, versiones, revisión y publicación. Un</a:t>
            </a:r>
          </a:p>
          <a:p>
            <a:pPr>
              <a:lnSpc>
                <a:spcPts val="2580"/>
              </a:lnSpc>
              <a:spcBef>
                <a:spcPts val="0"/>
              </a:spcBef>
              <a:spcAft>
                <a:spcPts val="0"/>
              </a:spcAft>
              <a:defRPr sz="1859" b="0">
                <a:solidFill>
                  <a:srgbClr val="18394A"/>
                </a:solidFill>
                <a:latin typeface="Noto Sans"/>
              </a:defRPr>
            </a:pPr>
            <a:r>
              <a:t>enlace compartido no impide que varias personas modifiquen reglas contradictorias. Para</a:t>
            </a:r>
          </a:p>
          <a:p>
            <a:pPr>
              <a:lnSpc>
                <a:spcPts val="2580"/>
              </a:lnSpc>
              <a:spcBef>
                <a:spcPts val="0"/>
              </a:spcBef>
              <a:spcAft>
                <a:spcPts val="0"/>
              </a:spcAft>
              <a:defRPr sz="1859" b="0">
                <a:solidFill>
                  <a:srgbClr val="18394A"/>
                </a:solidFill>
                <a:latin typeface="Noto Sans"/>
              </a:defRPr>
            </a:pPr>
            <a:r>
              <a:t>seleccionar, realiza una prueba con un modelo representativo y un cambio solicitado por</a:t>
            </a:r>
          </a:p>
          <a:p>
            <a:pPr>
              <a:lnSpc>
                <a:spcPts val="2580"/>
              </a:lnSpc>
              <a:spcBef>
                <a:spcPts val="0"/>
              </a:spcBef>
              <a:spcAft>
                <a:spcPts val="0"/>
              </a:spcAft>
              <a:defRPr sz="1859" b="0">
                <a:solidFill>
                  <a:srgbClr val="18394A"/>
                </a:solidFill>
                <a:latin typeface="Noto Sans"/>
              </a:defRPr>
            </a:pPr>
            <a:r>
              <a:t>otra persona. Registra errores, diferencias de importación y condiciones de acceso; evita</a:t>
            </a:r>
          </a:p>
          <a:p>
            <a:pPr>
              <a:lnSpc>
                <a:spcPts val="2580"/>
              </a:lnSpc>
              <a:spcBef>
                <a:spcPts val="0"/>
              </a:spcBef>
              <a:spcAft>
                <a:spcPts val="0"/>
              </a:spcAft>
              <a:defRPr sz="1859" b="0">
                <a:solidFill>
                  <a:srgbClr val="18394A"/>
                </a:solidFill>
                <a:latin typeface="Noto Sans"/>
              </a:defRPr>
            </a:pPr>
            <a:r>
              <a:t>cargar datos confidenciales en servicios sin autorización y revisión de condiciones.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name="PND_U3 · Sección 3.3 · Herramientas digitales para modelado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Define seis criterios de selección y separa obligatorios de deseables.</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Compara dos herramientas investigables sin suponer funciones no verificadas.</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una prueba de exportación, importación y modificación de condición.</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Propón reglas de revisión, permisos y publicación de versiones del modelo.</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name="PND_U3 · Sección 3.3 · Herramientas digitales para modelado de proceso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U3 · 3.3</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Selecciona por propósito y requisitos.</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Prueba el intercambio de estructura editable.</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Acuerda versiones, permisos y revisión.</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OMG, BPMN 2.0.2. Fuentes de herramientas para verificar</a:t>
            </a:r>
          </a:p>
          <a:p>
            <a:pPr>
              <a:lnSpc>
                <a:spcPts val="1920"/>
              </a:lnSpc>
              <a:spcBef>
                <a:spcPts val="0"/>
              </a:spcBef>
              <a:spcAft>
                <a:spcPts val="0"/>
              </a:spcAft>
              <a:defRPr sz="1380" b="0">
                <a:solidFill>
                  <a:srgbClr val="D6E4E8"/>
                </a:solidFill>
                <a:latin typeface="Noto Sans"/>
              </a:defRPr>
            </a:pPr>
            <a:r>
              <a:t>versiones: https://www.bizagi.com/ · https://camunda.com/ · https://bpmn.io/ .</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name="PND_U3 · Sección 3.4 · Análisis y diagnóstico de procesos existentes y rediseño de proceso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U3 · 3.4</a:t>
            </a:r>
          </a:p>
        </p:txBody>
      </p:sp>
      <p:sp>
        <p:nvSpPr>
          <p:cNvPr id="5" name="TextBox 4"/>
          <p:cNvSpPr txBox="1"/>
          <p:nvPr/>
        </p:nvSpPr>
        <p:spPr>
          <a:xfrm>
            <a:off x="609600" y="1203960"/>
            <a:ext cx="10744200" cy="144780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Análisis y diagnóstico de procesos</a:t>
            </a:r>
          </a:p>
          <a:p>
            <a:pPr>
              <a:lnSpc>
                <a:spcPts val="5280"/>
              </a:lnSpc>
              <a:spcBef>
                <a:spcPts val="0"/>
              </a:spcBef>
              <a:spcAft>
                <a:spcPts val="0"/>
              </a:spcAft>
              <a:defRPr sz="3840" b="1">
                <a:solidFill>
                  <a:srgbClr val="FFFFFF"/>
                </a:solidFill>
                <a:latin typeface="Noto Sans"/>
              </a:defRPr>
            </a:pPr>
            <a:r>
              <a:t>existentes y rediseño de procesos</a:t>
            </a:r>
          </a:p>
        </p:txBody>
      </p:sp>
      <p:sp>
        <p:nvSpPr>
          <p:cNvPr id="6" name="TextBox 5"/>
          <p:cNvSpPr txBox="1"/>
          <p:nvPr/>
        </p:nvSpPr>
        <p:spPr>
          <a:xfrm>
            <a:off x="647700" y="275082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Analizar un proceso existente, contrastar causas y justificar un rediseño con evidencia y</a:t>
            </a:r>
          </a:p>
          <a:p>
            <a:pPr>
              <a:lnSpc>
                <a:spcPts val="2640"/>
              </a:lnSpc>
              <a:spcBef>
                <a:spcPts val="0"/>
              </a:spcBef>
              <a:spcAft>
                <a:spcPts val="0"/>
              </a:spcAft>
              <a:defRPr sz="1920" b="0">
                <a:solidFill>
                  <a:srgbClr val="D6E4E8"/>
                </a:solidFill>
                <a:latin typeface="Noto Sans"/>
              </a:defRPr>
            </a:pPr>
            <a:r>
              <a:t>comparación de alternativas.</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name="PND_U3 · Sección 3.4 · Análisis y diagnóstico de procesos existentes y rediseño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Analizar un proceso existente, contrastar causas y justificar un rediseño con</a:t>
            </a:r>
          </a:p>
          <a:p>
            <a:pPr>
              <a:lnSpc>
                <a:spcPts val="2820"/>
              </a:lnSpc>
              <a:spcBef>
                <a:spcPts val="0"/>
              </a:spcBef>
              <a:spcAft>
                <a:spcPts val="0"/>
              </a:spcAft>
              <a:defRPr sz="2039" b="1">
                <a:solidFill>
                  <a:srgbClr val="18394A"/>
                </a:solidFill>
                <a:latin typeface="Noto Sans"/>
              </a:defRPr>
            </a:pPr>
            <a:r>
              <a:t>evidencia y comparación de alternativas.</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parte del tiempo cambia y por qué el ahorro previsto no equivale a una mejora ya</a:t>
            </a:r>
          </a:p>
          <a:p>
            <a:pPr>
              <a:lnSpc>
                <a:spcPts val="2820"/>
              </a:lnSpc>
              <a:spcBef>
                <a:spcPts val="0"/>
              </a:spcBef>
              <a:spcAft>
                <a:spcPts val="0"/>
              </a:spcAft>
              <a:defRPr sz="2039" b="0">
                <a:solidFill>
                  <a:srgbClr val="18394A"/>
                </a:solidFill>
                <a:latin typeface="Noto Sans"/>
              </a:defRPr>
            </a:pPr>
            <a:r>
              <a:t>demostrada?</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name="PND_U3 · Sección 3.4 · Análisis y diagnóstico de procesos existentes y rediseño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Diagnóstico del estado actual</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41732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Delimita el proceso, recoge casos y representa su funcionamiento observado. Distingue</a:t>
            </a:r>
          </a:p>
          <a:p>
            <a:pPr>
              <a:lnSpc>
                <a:spcPts val="2580"/>
              </a:lnSpc>
              <a:spcBef>
                <a:spcPts val="0"/>
              </a:spcBef>
              <a:spcAft>
                <a:spcPts val="0"/>
              </a:spcAft>
              <a:defRPr sz="1859" b="0">
                <a:solidFill>
                  <a:srgbClr val="18394A"/>
                </a:solidFill>
                <a:latin typeface="Noto Sans"/>
              </a:defRPr>
            </a:pPr>
            <a:r>
              <a:t>trabajo, espera, transferencia y repetición. Busca variantes y datos faltantes. Un diagnóstico</a:t>
            </a:r>
          </a:p>
          <a:p>
            <a:pPr>
              <a:lnSpc>
                <a:spcPts val="2580"/>
              </a:lnSpc>
              <a:spcBef>
                <a:spcPts val="0"/>
              </a:spcBef>
              <a:spcAft>
                <a:spcPts val="0"/>
              </a:spcAft>
              <a:defRPr sz="1859" b="0">
                <a:solidFill>
                  <a:srgbClr val="18394A"/>
                </a:solidFill>
                <a:latin typeface="Noto Sans"/>
              </a:defRPr>
            </a:pPr>
            <a:r>
              <a:t>no consiste en escribir que el proceso es lento: necesita localizar dónde ocurre el problema,</a:t>
            </a:r>
          </a:p>
          <a:p>
            <a:pPr>
              <a:lnSpc>
                <a:spcPts val="2580"/>
              </a:lnSpc>
              <a:spcBef>
                <a:spcPts val="0"/>
              </a:spcBef>
              <a:spcAft>
                <a:spcPts val="0"/>
              </a:spcAft>
              <a:defRPr sz="1859" b="0">
                <a:solidFill>
                  <a:srgbClr val="18394A"/>
                </a:solidFill>
                <a:latin typeface="Noto Sans"/>
              </a:defRPr>
            </a:pPr>
            <a:r>
              <a:t>a quién afecta y con qué evidencia se conoce su frecuencia o magnitud.</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name="PND_U3 · Sección 3.4 · Análisis y diagnóstico de procesos existentes y rediseño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Causas e hipótesis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demora puede relacionarse con requisitos incompletos, capacidad, reglas, errores o</a:t>
            </a:r>
          </a:p>
          <a:p>
            <a:pPr>
              <a:lnSpc>
                <a:spcPts val="2580"/>
              </a:lnSpc>
              <a:spcBef>
                <a:spcPts val="0"/>
              </a:spcBef>
              <a:spcAft>
                <a:spcPts val="0"/>
              </a:spcAft>
              <a:defRPr sz="1859" b="0">
                <a:solidFill>
                  <a:srgbClr val="18394A"/>
                </a:solidFill>
                <a:latin typeface="Noto Sans"/>
              </a:defRPr>
            </a:pPr>
            <a:r>
              <a:t>coordinación. Usa preguntas de causa, observación y datos para contrastar hipótesis. Que</a:t>
            </a:r>
          </a:p>
          <a:p>
            <a:pPr>
              <a:lnSpc>
                <a:spcPts val="2580"/>
              </a:lnSpc>
              <a:spcBef>
                <a:spcPts val="0"/>
              </a:spcBef>
              <a:spcAft>
                <a:spcPts val="0"/>
              </a:spcAft>
              <a:defRPr sz="1859" b="0">
                <a:solidFill>
                  <a:srgbClr val="18394A"/>
                </a:solidFill>
                <a:latin typeface="Noto Sans"/>
              </a:defRPr>
            </a:pPr>
            <a:r>
              <a:t>dos eventos coincidan no demuestra una relación causal. Evita culpar a una persona sin</a:t>
            </a:r>
          </a:p>
          <a:p>
            <a:pPr>
              <a:lnSpc>
                <a:spcPts val="2580"/>
              </a:lnSpc>
              <a:spcBef>
                <a:spcPts val="0"/>
              </a:spcBef>
              <a:spcAft>
                <a:spcPts val="0"/>
              </a:spcAft>
              <a:defRPr sz="1859" b="0">
                <a:solidFill>
                  <a:srgbClr val="18394A"/>
                </a:solidFill>
                <a:latin typeface="Noto Sans"/>
              </a:defRPr>
            </a:pPr>
            <a:r>
              <a:t>examinar el sistema de trabajo y revisa si el registro representa también casos difíciles,</a:t>
            </a:r>
          </a:p>
          <a:p>
            <a:pPr>
              <a:lnSpc>
                <a:spcPts val="2580"/>
              </a:lnSpc>
              <a:spcBef>
                <a:spcPts val="0"/>
              </a:spcBef>
              <a:spcAft>
                <a:spcPts val="0"/>
              </a:spcAft>
              <a:defRPr sz="1859" b="0">
                <a:solidFill>
                  <a:srgbClr val="18394A"/>
                </a:solidFill>
                <a:latin typeface="Noto Sans"/>
              </a:defRPr>
            </a:pPr>
            <a:r>
              <a:t>cancelados o no resueltos.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name="PND_U3 · Sección 3.4 · Análisis y diagnóstico de procesos existentes y rediseño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Descubrir estado</a:t>
            </a:r>
          </a:p>
          <a:p>
            <a:pPr>
              <a:lnSpc>
                <a:spcPts val="2220"/>
              </a:lnSpc>
              <a:spcBef>
                <a:spcPts val="0"/>
              </a:spcBef>
              <a:spcAft>
                <a:spcPts val="0"/>
              </a:spcAft>
              <a:defRPr sz="1620" b="1">
                <a:solidFill>
                  <a:srgbClr val="FFFFFF"/>
                </a:solidFill>
                <a:latin typeface="Noto Sans"/>
              </a:defRPr>
            </a:pPr>
            <a:r>
              <a:t>actual</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Contrastar causas</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Diseñar alternativa</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Comprobar</a:t>
            </a:r>
          </a:p>
          <a:p>
            <a:pPr>
              <a:lnSpc>
                <a:spcPts val="2220"/>
              </a:lnSpc>
              <a:spcBef>
                <a:spcPts val="0"/>
              </a:spcBef>
              <a:spcAft>
                <a:spcPts val="0"/>
              </a:spcAft>
              <a:defRPr sz="1620" b="1">
                <a:solidFill>
                  <a:srgbClr val="FFFFFF"/>
                </a:solidFill>
                <a:latin typeface="Noto Sans"/>
              </a:defRPr>
            </a:pPr>
            <a:r>
              <a:t>resultado</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Describe primero el recorrido real y separa sus componentes de tiempo. Investiga causas en lugar</a:t>
            </a:r>
          </a:p>
          <a:p>
            <a:pPr>
              <a:lnSpc>
                <a:spcPts val="2400"/>
              </a:lnSpc>
              <a:spcBef>
                <a:spcPts val="0"/>
              </a:spcBef>
              <a:spcAft>
                <a:spcPts val="0"/>
              </a:spcAft>
              <a:defRPr sz="1739" b="0">
                <a:solidFill>
                  <a:srgbClr val="536975"/>
                </a:solidFill>
                <a:latin typeface="Noto Sans"/>
              </a:defRPr>
            </a:pPr>
            <a:r>
              <a:t>de seleccionar una herramienta por anticipado. Diseña una alternativa que explique cómo</a:t>
            </a:r>
          </a:p>
          <a:p>
            <a:pPr>
              <a:lnSpc>
                <a:spcPts val="2400"/>
              </a:lnSpc>
              <a:spcBef>
                <a:spcPts val="0"/>
              </a:spcBef>
              <a:spcAft>
                <a:spcPts val="0"/>
              </a:spcAft>
              <a:defRPr sz="1739" b="0">
                <a:solidFill>
                  <a:srgbClr val="536975"/>
                </a:solidFill>
                <a:latin typeface="Noto Sans"/>
              </a:defRPr>
            </a:pPr>
            <a:r>
              <a:t>disminuirá el problema. Finalmente recorre escenarios y mide un piloto, conservando</a:t>
            </a:r>
          </a:p>
          <a:p>
            <a:pPr>
              <a:lnSpc>
                <a:spcPts val="2400"/>
              </a:lnSpc>
              <a:spcBef>
                <a:spcPts val="0"/>
              </a:spcBef>
              <a:spcAft>
                <a:spcPts val="0"/>
              </a:spcAft>
              <a:defRPr sz="1739" b="0">
                <a:solidFill>
                  <a:srgbClr val="536975"/>
                </a:solidFill>
                <a:latin typeface="Noto Sans"/>
              </a:defRPr>
            </a:pPr>
            <a:r>
              <a:t>comparabilidad y controles que detecten deterioros de calidad o trabajo desplazado.</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name="PND_U3 · Sección 3.4 · Análisis y diagnóstico de procesos existentes y rediseño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Ejemplo hipotético: una solicitud tiene cuatro horas de trabajo y treinta y seis de espera, para un</a:t>
            </a:r>
          </a:p>
          <a:p>
            <a:pPr>
              <a:lnSpc>
                <a:spcPts val="2400"/>
              </a:lnSpc>
              <a:spcBef>
                <a:spcPts val="0"/>
              </a:spcBef>
              <a:spcAft>
                <a:spcPts val="0"/>
              </a:spcAft>
              <a:defRPr sz="1739" b="0">
                <a:solidFill>
                  <a:srgbClr val="18394A"/>
                </a:solidFill>
                <a:latin typeface="Noto Sans"/>
              </a:defRPr>
            </a:pPr>
            <a:r>
              <a:t>ciclo total de cuarenta. El rediseño mantiene cuatro de trabajo y reduce la espera esperada a veinte,</a:t>
            </a:r>
          </a:p>
          <a:p>
            <a:pPr>
              <a:lnSpc>
                <a:spcPts val="2400"/>
              </a:lnSpc>
              <a:spcBef>
                <a:spcPts val="0"/>
              </a:spcBef>
              <a:spcAft>
                <a:spcPts val="0"/>
              </a:spcAft>
              <a:defRPr sz="1739" b="0">
                <a:solidFill>
                  <a:srgbClr val="18394A"/>
                </a:solidFill>
                <a:latin typeface="Noto Sans"/>
              </a:defRPr>
            </a:pPr>
            <a:r>
              <a:t>dando veinticuatro horas. La reducción prevista del ciclo es 40 %. Todavía no es un resultado</a:t>
            </a:r>
          </a:p>
          <a:p>
            <a:pPr>
              <a:lnSpc>
                <a:spcPts val="2400"/>
              </a:lnSpc>
              <a:spcBef>
                <a:spcPts val="0"/>
              </a:spcBef>
              <a:spcAft>
                <a:spcPts val="0"/>
              </a:spcAft>
              <a:defRPr sz="1739" b="0">
                <a:solidFill>
                  <a:srgbClr val="18394A"/>
                </a:solidFill>
                <a:latin typeface="Noto Sans"/>
              </a:defRPr>
            </a:pPr>
            <a:r>
              <a:t>observado: debe probarse con casos comparables y comprobar que no aumenten errores o carga</a:t>
            </a:r>
          </a:p>
          <a:p>
            <a:pPr>
              <a:lnSpc>
                <a:spcPts val="2400"/>
              </a:lnSpc>
              <a:spcBef>
                <a:spcPts val="0"/>
              </a:spcBef>
              <a:spcAft>
                <a:spcPts val="0"/>
              </a:spcAft>
              <a:defRPr sz="1739" b="0">
                <a:solidFill>
                  <a:srgbClr val="18394A"/>
                </a:solidFill>
                <a:latin typeface="Noto Sans"/>
              </a:defRPr>
            </a:pPr>
            <a:r>
              <a:t>en otra etapa.</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parte del tiempo cambia y por qué el ahorro previsto no equivale a una mejora ya demostrada?</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PND_U3 · Sección 3.4 · Análisis y diagnóstico de procesos existentes y rediseño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Diseño del estado futuro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Compara cambios como eliminar duplicaciones, validar antes, reducir transferencias o</a:t>
            </a:r>
          </a:p>
          <a:p>
            <a:pPr>
              <a:lnSpc>
                <a:spcPts val="2580"/>
              </a:lnSpc>
              <a:spcBef>
                <a:spcPts val="0"/>
              </a:spcBef>
              <a:spcAft>
                <a:spcPts val="0"/>
              </a:spcAft>
              <a:defRPr sz="1859" b="0">
                <a:solidFill>
                  <a:srgbClr val="18394A"/>
                </a:solidFill>
                <a:latin typeface="Noto Sans"/>
              </a:defRPr>
            </a:pPr>
            <a:r>
              <a:t>atender tareas en paralelo cuando sea viable. Explica el mecanismo, los riesgos y las</a:t>
            </a:r>
          </a:p>
          <a:p>
            <a:pPr>
              <a:lnSpc>
                <a:spcPts val="2580"/>
              </a:lnSpc>
              <a:spcBef>
                <a:spcPts val="0"/>
              </a:spcBef>
              <a:spcAft>
                <a:spcPts val="0"/>
              </a:spcAft>
              <a:defRPr sz="1859" b="0">
                <a:solidFill>
                  <a:srgbClr val="18394A"/>
                </a:solidFill>
                <a:latin typeface="Noto Sans"/>
              </a:defRPr>
            </a:pPr>
            <a:r>
              <a:t>condiciones de cada alternativa. Automatizar es una opción, no la definición del rediseño.</a:t>
            </a:r>
          </a:p>
          <a:p>
            <a:pPr>
              <a:lnSpc>
                <a:spcPts val="2580"/>
              </a:lnSpc>
              <a:spcBef>
                <a:spcPts val="0"/>
              </a:spcBef>
              <a:spcAft>
                <a:spcPts val="0"/>
              </a:spcAft>
              <a:defRPr sz="1859" b="0">
                <a:solidFill>
                  <a:srgbClr val="18394A"/>
                </a:solidFill>
                <a:latin typeface="Noto Sans"/>
              </a:defRPr>
            </a:pPr>
            <a:r>
              <a:t>Mantén trazabilidad entre problema investigado, cambio propuesto y resultado que se</a:t>
            </a:r>
          </a:p>
          <a:p>
            <a:pPr>
              <a:lnSpc>
                <a:spcPts val="2580"/>
              </a:lnSpc>
              <a:spcBef>
                <a:spcPts val="0"/>
              </a:spcBef>
              <a:spcAft>
                <a:spcPts val="0"/>
              </a:spcAft>
              <a:defRPr sz="1859" b="0">
                <a:solidFill>
                  <a:srgbClr val="18394A"/>
                </a:solidFill>
                <a:latin typeface="Noto Sans"/>
              </a:defRPr>
            </a:pPr>
            <a:r>
              <a:t>espera comprobar.</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PND_U3 · Sección 3.4 · Análisis y diagnóstico de procesos existentes y rediseño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Evaluación y transición</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Revisa el modelo futuro con escenarios y participantes antes de implantar. Define piloto,</a:t>
            </a:r>
          </a:p>
          <a:p>
            <a:pPr>
              <a:lnSpc>
                <a:spcPts val="2580"/>
              </a:lnSpc>
              <a:spcBef>
                <a:spcPts val="0"/>
              </a:spcBef>
              <a:spcAft>
                <a:spcPts val="0"/>
              </a:spcAft>
              <a:defRPr sz="1859" b="0">
                <a:solidFill>
                  <a:srgbClr val="18394A"/>
                </a:solidFill>
                <a:latin typeface="Noto Sans"/>
              </a:defRPr>
            </a:pPr>
            <a:r>
              <a:t>responsables y medidas de calidad y tiempo. Compara condiciones para evitar atribuir a la</a:t>
            </a:r>
          </a:p>
          <a:p>
            <a:pPr>
              <a:lnSpc>
                <a:spcPts val="2580"/>
              </a:lnSpc>
              <a:spcBef>
                <a:spcPts val="0"/>
              </a:spcBef>
              <a:spcAft>
                <a:spcPts val="0"/>
              </a:spcAft>
              <a:defRPr sz="1859" b="0">
                <a:solidFill>
                  <a:srgbClr val="18394A"/>
                </a:solidFill>
                <a:latin typeface="Noto Sans"/>
              </a:defRPr>
            </a:pPr>
            <a:r>
              <a:t>propuesta un cambio de volumen o composición de casos. Documenta diferencias entre lo</a:t>
            </a:r>
          </a:p>
          <a:p>
            <a:pPr>
              <a:lnSpc>
                <a:spcPts val="2580"/>
              </a:lnSpc>
              <a:spcBef>
                <a:spcPts val="0"/>
              </a:spcBef>
              <a:spcAft>
                <a:spcPts val="0"/>
              </a:spcAft>
              <a:defRPr sz="1859" b="0">
                <a:solidFill>
                  <a:srgbClr val="18394A"/>
                </a:solidFill>
                <a:latin typeface="Noto Sans"/>
              </a:defRPr>
            </a:pPr>
            <a:r>
              <a:t>simulado, lo esperado y lo observado, y establece cómo se volverá al análisis si aparecen</a:t>
            </a:r>
          </a:p>
          <a:p>
            <a:pPr>
              <a:lnSpc>
                <a:spcPts val="2580"/>
              </a:lnSpc>
              <a:spcBef>
                <a:spcPts val="0"/>
              </a:spcBef>
              <a:spcAft>
                <a:spcPts val="0"/>
              </a:spcAft>
              <a:defRPr sz="1859" b="0">
                <a:solidFill>
                  <a:srgbClr val="18394A"/>
                </a:solidFill>
                <a:latin typeface="Noto Sans"/>
              </a:defRPr>
            </a:pPr>
            <a:r>
              <a:t>fallos.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name="PND_U3 · Sección 3.4 · Análisis y diagnóstico de procesos existentes y rediseño de proces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Representa el estado actual con actividades, esperas y transferencias.</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Formula dos hipótesis de causa y evidencia que permitiría contrastarlas.</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dos alternativas y calcula la reducción prevista del ejemplo.</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Define un piloto con comparabilidad, calidad y criterio para aceptar o revisar la propuesta.</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name="PND_U3 · Sección 3.4 · Análisis y diagnóstico de procesos existentes y rediseño de proceso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U3 · 3.4</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Diagnostica con casos y límites claros.</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Contrasta causas y compara alternativas.</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Distingue previsión, piloto y resultado observado.</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Dumas et al. (2018), Fundamentals of Business Process</a:t>
            </a:r>
          </a:p>
          <a:p>
            <a:pPr>
              <a:lnSpc>
                <a:spcPts val="1920"/>
              </a:lnSpc>
              <a:spcBef>
                <a:spcPts val="0"/>
              </a:spcBef>
              <a:spcAft>
                <a:spcPts val="0"/>
              </a:spcAft>
              <a:defRPr sz="1380" b="0">
                <a:solidFill>
                  <a:srgbClr val="D6E4E8"/>
                </a:solidFill>
                <a:latin typeface="Noto Sans"/>
              </a:defRPr>
            </a:pPr>
            <a:r>
              <a:t>Management. Van der Aalst (2016), Process Mining: Data Science in Action, 2.ª ed. Springer.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3. Técnicas de modelado de procesos</dc:title>
  <dc:subject>Procesos para Negocios Digitales · 3.1 Importancia del modelado en la gestión de procesos · 3.2 Buenas prácticas de modelado · 3.3 Herramientas digitales para modelado de procesos · 3.4 Análisis y diagnóstico de procesos existentes y rediseño de procesos</dc:subject>
  <dc:creator>Proyecto educativo · elaboración asistida por 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