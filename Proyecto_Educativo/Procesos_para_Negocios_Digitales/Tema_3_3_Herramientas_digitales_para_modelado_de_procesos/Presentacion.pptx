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herramientas digitales para modelado de procesos. El propósito es comparar herramientas de modelado por propósito, interoperabilidad y colaboración, comprobando sus límites con una prueba práctica. Este contenido forma parte de procesos para negocios digitales. Trabajaremos con conceptos y un caso ficticio para tomar decisiones justificadas.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¿Qué prueba distinguiría una entrega visual de una entrega realmente editable e interoperable? Al terminar deberás explicar tu decisión, indicar cómo la comprobarías y reconocer los límites de la evidencia utilizada.</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herramienta puede ayudar a dibujar, validar, documentar, simular o ejecutar procesos, pero no todas hacen lo mismo. Un editor de diagramas generales puede comunicar una idea sin comprobar semántica BPMN. Un modelador especializado puede validar aspectos formales, mientras un motor necesita una especificación ejecutable. Define primero qué trabajo apoyará la herramienta y quién la utilizará.</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Evalúa soporte de notación y versión, facilidad de revisión, colaboración, control de versiones, exportación e importación. Considera también sistema operativo, permisos, almacenamiento y costos del plan real. Los nombres Bizagi Modeler, Camunda Modeler y editores basados en bpmn.io son ejemplos para investigar, no una afirmación de equivalencia ni de gratuidad permanente de todas sus funciones.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la tarea que necesita apoyo y qué condiciones son obligatorias. Compara alternativas con los mismos criterios. Después prueba crear, exportar, importar y revisar un modelo de ejemplo. Finalmente acuerda cómo se aprueban y comparten versiones, porque la elección técnica no resuelve por sí sola el trabajo colaborativo ni los permisos.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un equipo entrega capturas de pantalla de sus procesos y nadie puede corregirlos sin redibujar. Propone adoptar un modelador que exporte BPMN. La prueba debe verificar que otro integrante importe el archivo, cambie una condición y conserve las relaciones. También debe revisar la compatibilidad con sus equipos y el acceso a funciones de colaboración disponibles en la versión y plan elegidos.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imagen permite visualizar, pero no conserva necesariamente elementos editables ni sus relaciones. Un archivo BPMN en XML puede transportar estructura bajo el estándar, aunque extensiones de proveedor o detalles de diagramación pueden cambiar entre herramientas. Prueba exportar e importar un modelo y revisar elementos, condiciones y distribución antes de afirmar que existe interoperabilidad suficiente.</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colaboración necesita acuerdos sobre responsables, versiones, revisión y publicación. Un enlace compartido no impide que varias personas modifiquen reglas contradictorias. Para seleccionar, realiza una prueba con un modelo representativo y un cambio solicitado por otra persona. Registra errores, diferencias de importación y condiciones de acceso; evita cargar datos confidenciales en servicios sin autorización y revisión de condiciones.</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Define seis criterios de selección y separa obligatorios de deseables. Después, diseña una prueba de exportación, importación y modificación de condición. Justifica tus decisiones con los conceptos de esta explicación y comprueba tus respuestas en la actividad interactiva.</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Selecciona por propósito y requisitos. Prueba el intercambio de estructura editable. Acuerda versiones, permisos y revisión. El caso y sus datos son ficticios. Revisa las fuentes indicadas en los materiales y continúa con la práctica para transferir estos criterios a otra situación.</a:t>
            </a:r>
          </a:p>
          <a:p/>
          <a:p>
            <a:r>
              <a:t>Fuente curricular: Procesos para Negocios Digitales, 3.3, UPS 2026–2027. Referencia: OMG, BPMN 2.0.2. Fuentes de herramientas para verificar versiones: https://www.bizagi.com/ · https://camunda.com/ · https://bpmn.io/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3.3</a:t>
            </a:r>
          </a:p>
        </p:txBody>
      </p:sp>
      <p:sp>
        <p:nvSpPr>
          <p:cNvPr id="5" name="TextBox 4"/>
          <p:cNvSpPr txBox="1"/>
          <p:nvPr/>
        </p:nvSpPr>
        <p:spPr>
          <a:xfrm>
            <a:off x="609600" y="1203960"/>
            <a:ext cx="10744200" cy="144780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Herramientas digitales para modelado de</a:t>
            </a:r>
          </a:p>
          <a:p>
            <a:pPr>
              <a:lnSpc>
                <a:spcPts val="5280"/>
              </a:lnSpc>
              <a:spcBef>
                <a:spcPts val="0"/>
              </a:spcBef>
              <a:spcAft>
                <a:spcPts val="0"/>
              </a:spcAft>
              <a:defRPr sz="3840" b="1">
                <a:solidFill>
                  <a:srgbClr val="FFFFFF"/>
                </a:solidFill>
                <a:latin typeface="Noto Sans"/>
              </a:defRPr>
            </a:pPr>
            <a:r>
              <a:t>procesos</a:t>
            </a:r>
          </a:p>
        </p:txBody>
      </p:sp>
      <p:sp>
        <p:nvSpPr>
          <p:cNvPr id="6" name="TextBox 5"/>
          <p:cNvSpPr txBox="1"/>
          <p:nvPr/>
        </p:nvSpPr>
        <p:spPr>
          <a:xfrm>
            <a:off x="647700" y="275082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Comparar herramientas de modelado por propósito, interoperabilidad y colaboración,</a:t>
            </a:r>
          </a:p>
          <a:p>
            <a:pPr>
              <a:lnSpc>
                <a:spcPts val="2640"/>
              </a:lnSpc>
              <a:spcBef>
                <a:spcPts val="0"/>
              </a:spcBef>
              <a:spcAft>
                <a:spcPts val="0"/>
              </a:spcAft>
              <a:defRPr sz="1920" b="0">
                <a:solidFill>
                  <a:srgbClr val="D6E4E8"/>
                </a:solidFill>
                <a:latin typeface="Noto Sans"/>
              </a:defRPr>
            </a:pPr>
            <a:r>
              <a:t>comprobando sus límites con una prueba práctica.</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Comparar herramientas de modelado por propósito, interoperabilidad y</a:t>
            </a:r>
          </a:p>
          <a:p>
            <a:pPr>
              <a:lnSpc>
                <a:spcPts val="2820"/>
              </a:lnSpc>
              <a:spcBef>
                <a:spcPts val="0"/>
              </a:spcBef>
              <a:spcAft>
                <a:spcPts val="0"/>
              </a:spcAft>
              <a:defRPr sz="2039" b="1">
                <a:solidFill>
                  <a:srgbClr val="18394A"/>
                </a:solidFill>
                <a:latin typeface="Noto Sans"/>
              </a:defRPr>
            </a:pPr>
            <a:r>
              <a:t>colaboración, comprobando sus límites con una prueba práctica.</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prueba distinguiría una entrega visual de una entrega realmente editable e</a:t>
            </a:r>
          </a:p>
          <a:p>
            <a:pPr>
              <a:lnSpc>
                <a:spcPts val="2820"/>
              </a:lnSpc>
              <a:spcBef>
                <a:spcPts val="0"/>
              </a:spcBef>
              <a:spcAft>
                <a:spcPts val="0"/>
              </a:spcAft>
              <a:defRPr sz="2039" b="0">
                <a:solidFill>
                  <a:srgbClr val="18394A"/>
                </a:solidFill>
                <a:latin typeface="Noto Sans"/>
              </a:defRPr>
            </a:pPr>
            <a:r>
              <a:t>interoperable?</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Propósito de la herramienta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herramienta puede ayudar a dibujar, validar, documentar, simular o ejecutar procesos,</a:t>
            </a:r>
          </a:p>
          <a:p>
            <a:pPr>
              <a:lnSpc>
                <a:spcPts val="2580"/>
              </a:lnSpc>
              <a:spcBef>
                <a:spcPts val="0"/>
              </a:spcBef>
              <a:spcAft>
                <a:spcPts val="0"/>
              </a:spcAft>
              <a:defRPr sz="1859" b="0">
                <a:solidFill>
                  <a:srgbClr val="18394A"/>
                </a:solidFill>
                <a:latin typeface="Noto Sans"/>
              </a:defRPr>
            </a:pPr>
            <a:r>
              <a:t>pero no todas hacen lo mismo. Un editor de diagramas generales puede comunicar una</a:t>
            </a:r>
          </a:p>
          <a:p>
            <a:pPr>
              <a:lnSpc>
                <a:spcPts val="2580"/>
              </a:lnSpc>
              <a:spcBef>
                <a:spcPts val="0"/>
              </a:spcBef>
              <a:spcAft>
                <a:spcPts val="0"/>
              </a:spcAft>
              <a:defRPr sz="1859" b="0">
                <a:solidFill>
                  <a:srgbClr val="18394A"/>
                </a:solidFill>
                <a:latin typeface="Noto Sans"/>
              </a:defRPr>
            </a:pPr>
            <a:r>
              <a:t>idea sin comprobar semántica BPMN. Un modelador especializado puede validar aspectos</a:t>
            </a:r>
          </a:p>
          <a:p>
            <a:pPr>
              <a:lnSpc>
                <a:spcPts val="2580"/>
              </a:lnSpc>
              <a:spcBef>
                <a:spcPts val="0"/>
              </a:spcBef>
              <a:spcAft>
                <a:spcPts val="0"/>
              </a:spcAft>
              <a:defRPr sz="1859" b="0">
                <a:solidFill>
                  <a:srgbClr val="18394A"/>
                </a:solidFill>
                <a:latin typeface="Noto Sans"/>
              </a:defRPr>
            </a:pPr>
            <a:r>
              <a:t>formales, mientras un motor necesita una especificación ejecutable. Define primero qué</a:t>
            </a:r>
          </a:p>
          <a:p>
            <a:pPr>
              <a:lnSpc>
                <a:spcPts val="2580"/>
              </a:lnSpc>
              <a:spcBef>
                <a:spcPts val="0"/>
              </a:spcBef>
              <a:spcAft>
                <a:spcPts val="0"/>
              </a:spcAft>
              <a:defRPr sz="1859" b="0">
                <a:solidFill>
                  <a:srgbClr val="18394A"/>
                </a:solidFill>
                <a:latin typeface="Noto Sans"/>
              </a:defRPr>
            </a:pPr>
            <a:r>
              <a:t>trabajo apoyará la herramienta y quién la utilizará.</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Criterios de comparación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Evalúa soporte de notación y versión, facilidad de revisión, colaboración, control de</a:t>
            </a:r>
          </a:p>
          <a:p>
            <a:pPr>
              <a:lnSpc>
                <a:spcPts val="2580"/>
              </a:lnSpc>
              <a:spcBef>
                <a:spcPts val="0"/>
              </a:spcBef>
              <a:spcAft>
                <a:spcPts val="0"/>
              </a:spcAft>
              <a:defRPr sz="1859" b="0">
                <a:solidFill>
                  <a:srgbClr val="18394A"/>
                </a:solidFill>
                <a:latin typeface="Noto Sans"/>
              </a:defRPr>
            </a:pPr>
            <a:r>
              <a:t>versiones, exportación e importación. Considera también sistema operativo, permisos,</a:t>
            </a:r>
          </a:p>
          <a:p>
            <a:pPr>
              <a:lnSpc>
                <a:spcPts val="2580"/>
              </a:lnSpc>
              <a:spcBef>
                <a:spcPts val="0"/>
              </a:spcBef>
              <a:spcAft>
                <a:spcPts val="0"/>
              </a:spcAft>
              <a:defRPr sz="1859" b="0">
                <a:solidFill>
                  <a:srgbClr val="18394A"/>
                </a:solidFill>
                <a:latin typeface="Noto Sans"/>
              </a:defRPr>
            </a:pPr>
            <a:r>
              <a:t>almacenamiento y costos del plan real. Los nombres Bizagi Modeler, Camunda Modeler y</a:t>
            </a:r>
          </a:p>
          <a:p>
            <a:pPr>
              <a:lnSpc>
                <a:spcPts val="2580"/>
              </a:lnSpc>
              <a:spcBef>
                <a:spcPts val="0"/>
              </a:spcBef>
              <a:spcAft>
                <a:spcPts val="0"/>
              </a:spcAft>
              <a:defRPr sz="1859" b="0">
                <a:solidFill>
                  <a:srgbClr val="18394A"/>
                </a:solidFill>
                <a:latin typeface="Noto Sans"/>
              </a:defRPr>
            </a:pPr>
            <a:r>
              <a:t>editores basados en bpmn.io son ejemplos para investigar, no una afirmación de</a:t>
            </a:r>
          </a:p>
          <a:p>
            <a:pPr>
              <a:lnSpc>
                <a:spcPts val="2580"/>
              </a:lnSpc>
              <a:spcBef>
                <a:spcPts val="0"/>
              </a:spcBef>
              <a:spcAft>
                <a:spcPts val="0"/>
              </a:spcAft>
              <a:defRPr sz="1859" b="0">
                <a:solidFill>
                  <a:srgbClr val="18394A"/>
                </a:solidFill>
                <a:latin typeface="Noto Sans"/>
              </a:defRPr>
            </a:pPr>
            <a:r>
              <a:t>equivalencia ni de gratuidad permanente de todas sus funciones.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Definir uso</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Comparar requisitos</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Probar intercambio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Acordar</a:t>
            </a:r>
          </a:p>
          <a:p>
            <a:pPr>
              <a:lnSpc>
                <a:spcPts val="2220"/>
              </a:lnSpc>
              <a:spcBef>
                <a:spcPts val="0"/>
              </a:spcBef>
              <a:spcAft>
                <a:spcPts val="0"/>
              </a:spcAft>
              <a:defRPr sz="1620" b="1">
                <a:solidFill>
                  <a:srgbClr val="FFFFFF"/>
                </a:solidFill>
                <a:latin typeface="Noto Sans"/>
              </a:defRPr>
            </a:pPr>
            <a:r>
              <a:t>colaboración</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Define la tarea que necesita apoyo y qué condiciones son obligatorias. Compara alternativas con los</a:t>
            </a:r>
          </a:p>
          <a:p>
            <a:pPr>
              <a:lnSpc>
                <a:spcPts val="2400"/>
              </a:lnSpc>
              <a:spcBef>
                <a:spcPts val="0"/>
              </a:spcBef>
              <a:spcAft>
                <a:spcPts val="0"/>
              </a:spcAft>
              <a:defRPr sz="1739" b="0">
                <a:solidFill>
                  <a:srgbClr val="536975"/>
                </a:solidFill>
                <a:latin typeface="Noto Sans"/>
              </a:defRPr>
            </a:pPr>
            <a:r>
              <a:t>mismos criterios. Después prueba crear, exportar, importar y revisar un modelo de ejemplo.</a:t>
            </a:r>
          </a:p>
          <a:p>
            <a:pPr>
              <a:lnSpc>
                <a:spcPts val="2400"/>
              </a:lnSpc>
              <a:spcBef>
                <a:spcPts val="0"/>
              </a:spcBef>
              <a:spcAft>
                <a:spcPts val="0"/>
              </a:spcAft>
              <a:defRPr sz="1739" b="0">
                <a:solidFill>
                  <a:srgbClr val="536975"/>
                </a:solidFill>
                <a:latin typeface="Noto Sans"/>
              </a:defRPr>
            </a:pPr>
            <a:r>
              <a:t>Finalmente acuerda cómo se aprueban y comparten versiones, porque la elección técnica no</a:t>
            </a:r>
          </a:p>
          <a:p>
            <a:pPr>
              <a:lnSpc>
                <a:spcPts val="2400"/>
              </a:lnSpc>
              <a:spcBef>
                <a:spcPts val="0"/>
              </a:spcBef>
              <a:spcAft>
                <a:spcPts val="0"/>
              </a:spcAft>
              <a:defRPr sz="1739" b="0">
                <a:solidFill>
                  <a:srgbClr val="536975"/>
                </a:solidFill>
                <a:latin typeface="Noto Sans"/>
              </a:defRPr>
            </a:pPr>
            <a:r>
              <a:t>resuelve por sí sola el trabajo colaborativo ni los permisos.</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equipo entrega capturas de pantalla de sus procesos y nadie puede corregirlos sin</a:t>
            </a:r>
          </a:p>
          <a:p>
            <a:pPr>
              <a:lnSpc>
                <a:spcPts val="2400"/>
              </a:lnSpc>
              <a:spcBef>
                <a:spcPts val="0"/>
              </a:spcBef>
              <a:spcAft>
                <a:spcPts val="0"/>
              </a:spcAft>
              <a:defRPr sz="1739" b="0">
                <a:solidFill>
                  <a:srgbClr val="18394A"/>
                </a:solidFill>
                <a:latin typeface="Noto Sans"/>
              </a:defRPr>
            </a:pPr>
            <a:r>
              <a:t>redibujar. Propone adoptar un modelador que exporte BPMN. La prueba debe verificar que otro</a:t>
            </a:r>
          </a:p>
          <a:p>
            <a:pPr>
              <a:lnSpc>
                <a:spcPts val="2400"/>
              </a:lnSpc>
              <a:spcBef>
                <a:spcPts val="0"/>
              </a:spcBef>
              <a:spcAft>
                <a:spcPts val="0"/>
              </a:spcAft>
              <a:defRPr sz="1739" b="0">
                <a:solidFill>
                  <a:srgbClr val="18394A"/>
                </a:solidFill>
                <a:latin typeface="Noto Sans"/>
              </a:defRPr>
            </a:pPr>
            <a:r>
              <a:t>integrante importe el archivo, cambie una condición y conserve las relaciones. También debe revisar</a:t>
            </a:r>
          </a:p>
          <a:p>
            <a:pPr>
              <a:lnSpc>
                <a:spcPts val="2400"/>
              </a:lnSpc>
              <a:spcBef>
                <a:spcPts val="0"/>
              </a:spcBef>
              <a:spcAft>
                <a:spcPts val="0"/>
              </a:spcAft>
              <a:defRPr sz="1739" b="0">
                <a:solidFill>
                  <a:srgbClr val="18394A"/>
                </a:solidFill>
                <a:latin typeface="Noto Sans"/>
              </a:defRPr>
            </a:pPr>
            <a:r>
              <a:t>la compatibilidad con sus equipos y el acceso a funciones de colaboración disponibles en la versión</a:t>
            </a:r>
          </a:p>
          <a:p>
            <a:pPr>
              <a:lnSpc>
                <a:spcPts val="2400"/>
              </a:lnSpc>
              <a:spcBef>
                <a:spcPts val="0"/>
              </a:spcBef>
              <a:spcAft>
                <a:spcPts val="0"/>
              </a:spcAft>
              <a:defRPr sz="1739" b="0">
                <a:solidFill>
                  <a:srgbClr val="18394A"/>
                </a:solidFill>
                <a:latin typeface="Noto Sans"/>
              </a:defRPr>
            </a:pPr>
            <a:r>
              <a:t>y plan elegidos.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prueba distinguiría una entrega visual de una entrega realmente editable e interoperable?</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Interoperabilidad y archivos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imagen permite visualizar, pero no conserva necesariamente elementos editables ni</a:t>
            </a:r>
          </a:p>
          <a:p>
            <a:pPr>
              <a:lnSpc>
                <a:spcPts val="2580"/>
              </a:lnSpc>
              <a:spcBef>
                <a:spcPts val="0"/>
              </a:spcBef>
              <a:spcAft>
                <a:spcPts val="0"/>
              </a:spcAft>
              <a:defRPr sz="1859" b="0">
                <a:solidFill>
                  <a:srgbClr val="18394A"/>
                </a:solidFill>
                <a:latin typeface="Noto Sans"/>
              </a:defRPr>
            </a:pPr>
            <a:r>
              <a:t>sus relaciones. Un archivo BPMN en XML puede transportar estructura bajo el estándar,</a:t>
            </a:r>
          </a:p>
          <a:p>
            <a:pPr>
              <a:lnSpc>
                <a:spcPts val="2580"/>
              </a:lnSpc>
              <a:spcBef>
                <a:spcPts val="0"/>
              </a:spcBef>
              <a:spcAft>
                <a:spcPts val="0"/>
              </a:spcAft>
              <a:defRPr sz="1859" b="0">
                <a:solidFill>
                  <a:srgbClr val="18394A"/>
                </a:solidFill>
                <a:latin typeface="Noto Sans"/>
              </a:defRPr>
            </a:pPr>
            <a:r>
              <a:t>aunque extensiones de proveedor o detalles de diagramación pueden cambiar entre</a:t>
            </a:r>
          </a:p>
          <a:p>
            <a:pPr>
              <a:lnSpc>
                <a:spcPts val="2580"/>
              </a:lnSpc>
              <a:spcBef>
                <a:spcPts val="0"/>
              </a:spcBef>
              <a:spcAft>
                <a:spcPts val="0"/>
              </a:spcAft>
              <a:defRPr sz="1859" b="0">
                <a:solidFill>
                  <a:srgbClr val="18394A"/>
                </a:solidFill>
                <a:latin typeface="Noto Sans"/>
              </a:defRPr>
            </a:pPr>
            <a:r>
              <a:t>herramientas. Prueba exportar e importar un modelo y revisar elementos, condiciones y</a:t>
            </a:r>
          </a:p>
          <a:p>
            <a:pPr>
              <a:lnSpc>
                <a:spcPts val="2580"/>
              </a:lnSpc>
              <a:spcBef>
                <a:spcPts val="0"/>
              </a:spcBef>
              <a:spcAft>
                <a:spcPts val="0"/>
              </a:spcAft>
              <a:defRPr sz="1859" b="0">
                <a:solidFill>
                  <a:srgbClr val="18394A"/>
                </a:solidFill>
                <a:latin typeface="Noto Sans"/>
              </a:defRPr>
            </a:pPr>
            <a:r>
              <a:t>distribución antes de afirmar que existe interoperabilidad suficiente.</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Colaboración y evidencia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La colaboración necesita acuerdos sobre responsables, versiones, revisión y publicación. Un</a:t>
            </a:r>
          </a:p>
          <a:p>
            <a:pPr>
              <a:lnSpc>
                <a:spcPts val="2580"/>
              </a:lnSpc>
              <a:spcBef>
                <a:spcPts val="0"/>
              </a:spcBef>
              <a:spcAft>
                <a:spcPts val="0"/>
              </a:spcAft>
              <a:defRPr sz="1859" b="0">
                <a:solidFill>
                  <a:srgbClr val="18394A"/>
                </a:solidFill>
                <a:latin typeface="Noto Sans"/>
              </a:defRPr>
            </a:pPr>
            <a:r>
              <a:t>enlace compartido no impide que varias personas modifiquen reglas contradictorias. Para</a:t>
            </a:r>
          </a:p>
          <a:p>
            <a:pPr>
              <a:lnSpc>
                <a:spcPts val="2580"/>
              </a:lnSpc>
              <a:spcBef>
                <a:spcPts val="0"/>
              </a:spcBef>
              <a:spcAft>
                <a:spcPts val="0"/>
              </a:spcAft>
              <a:defRPr sz="1859" b="0">
                <a:solidFill>
                  <a:srgbClr val="18394A"/>
                </a:solidFill>
                <a:latin typeface="Noto Sans"/>
              </a:defRPr>
            </a:pPr>
            <a:r>
              <a:t>seleccionar, realiza una prueba con un modelo representativo y un cambio solicitado por</a:t>
            </a:r>
          </a:p>
          <a:p>
            <a:pPr>
              <a:lnSpc>
                <a:spcPts val="2580"/>
              </a:lnSpc>
              <a:spcBef>
                <a:spcPts val="0"/>
              </a:spcBef>
              <a:spcAft>
                <a:spcPts val="0"/>
              </a:spcAft>
              <a:defRPr sz="1859" b="0">
                <a:solidFill>
                  <a:srgbClr val="18394A"/>
                </a:solidFill>
                <a:latin typeface="Noto Sans"/>
              </a:defRPr>
            </a:pPr>
            <a:r>
              <a:t>otra persona. Registra errores, diferencias de importación y condiciones de acceso; evita</a:t>
            </a:r>
          </a:p>
          <a:p>
            <a:pPr>
              <a:lnSpc>
                <a:spcPts val="2580"/>
              </a:lnSpc>
              <a:spcBef>
                <a:spcPts val="0"/>
              </a:spcBef>
              <a:spcAft>
                <a:spcPts val="0"/>
              </a:spcAft>
              <a:defRPr sz="1859" b="0">
                <a:solidFill>
                  <a:srgbClr val="18394A"/>
                </a:solidFill>
                <a:latin typeface="Noto Sans"/>
              </a:defRPr>
            </a:pPr>
            <a:r>
              <a:t>cargar datos confidenciales en servicios sin autorización y revisión de condiciones.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U3 · 3.3</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seis criterios de selección y separa obligatorios de deseables.</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Compara dos herramientas investigables sin suponer funciones no verificadas.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una prueba de exportación, importación y modificación de condición.</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Propón reglas de revisión, permisos y publicación de versiones del modelo.</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U3 · 3.3</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Selecciona por propósito y requisitos.</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Prueba el intercambio de estructura editable.</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Acuerda versiones, permisos y revisión.</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OMG, BPMN 2.0.2. Fuentes de herramientas para verificar</a:t>
            </a:r>
          </a:p>
          <a:p>
            <a:pPr>
              <a:lnSpc>
                <a:spcPts val="1920"/>
              </a:lnSpc>
              <a:spcBef>
                <a:spcPts val="0"/>
              </a:spcBef>
              <a:spcAft>
                <a:spcPts val="0"/>
              </a:spcAft>
              <a:defRPr sz="1380" b="0">
                <a:solidFill>
                  <a:srgbClr val="D6E4E8"/>
                </a:solidFill>
                <a:latin typeface="Noto Sans"/>
              </a:defRPr>
            </a:pPr>
            <a:r>
              <a:t>versiones: https://www.bizagi.com/ · https://camunda.com/ · https://bpmn.io/ .</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Herramientas digitales para modelado de procesos</dc:title>
  <dc:subject>Técnicas de modelado de procesos</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