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Hoy estudiaremos indicadores para evaluar la implementación. El propósito es definir KPI de implementación con fórmulas, poblaciones y acciones de revisión que permitan interpretar el desempeño. Este contenido forma parte de procesos para negocios digitales. Trabajaremos con conceptos y un caso ficticio para tomar decisiones justificadas.</a:t>
            </a:r>
          </a:p>
          <a:p/>
          <a:p>
            <a:r>
              <a:t>Fuente curricular: Procesos para Negocios Digitales, 4.2, UPS 2026–2027. Referencia: Dumas et al. (2018), Fundamentals of Business Process Management.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proponer una solución, considera esta pregunta: ¿Qué fórmulas corresponden a los dos indicadores y cómo tratarías los casos todavía no evaluables? Al terminar deberás explicar tu decisión, indicar cómo la comprobarías y reconocer los límites de la evidencia utilizada.</a:t>
            </a:r>
          </a:p>
          <a:p/>
          <a:p>
            <a:r>
              <a:t>Fuente curricular: Procesos para Negocios Digitales, 4.2, UPS 2026–2027. Referencia: Dumas et al. (2018), Fundamentals of Business Process Management.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indicador expresa una medida definida; un KPI se selecciona por su relación con un objetivo relevante. No toda cifra disponible es un indicador clave. Define qué decisión apoyará y qué resultado representa. Medir cantidad de sesiones de capacitación puede informar una actividad de implementación, pero no demuestra por sí solo que mejoró el tiempo o la calidad del proceso.</a:t>
            </a:r>
          </a:p>
          <a:p/>
          <a:p>
            <a:r>
              <a:t>Fuente curricular: Procesos para Negocios Digitales, 4.2, UPS 2026–2027. Referencia: Dumas et al. (2018), Fundamentals of Business Process Management.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Documenta nombre, propósito, fórmula, unidad, población, período, fuente, responsable y frecuencia. Si mides tiempo, especifica eventos de inicio y fin y el calendario utilizado. Si mides una tasa, aclara numerador, denominador y exclusiones. Definiciones estables permiten comparar períodos y evitan que dos equipos reporten cifras distintas usando el mismo nombre de indicador.</a:t>
            </a:r>
          </a:p>
          <a:p/>
          <a:p>
            <a:r>
              <a:t>Fuente curricular: Procesos para Negocios Digitales, 4.2, UPS 2026–2027. Referencia: Dumas et al. (2018), Fundamentals of Business Process Management.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objetivo orienta qué resultado debe medirse. La ficha convierte la intención en una fórmula reproducible. La revisión de datos comprueba que los casos están correctamente incluidos. Finalmente, el resultado se interpreta con su contexto y genera una decisión; un tablero sin responsables ni respuesta ante desviaciones no completa la función de gestión.</a:t>
            </a:r>
          </a:p>
          <a:p/>
          <a:p>
            <a:r>
              <a:t>Fuente curricular: Procesos para Negocios Digitales, 4.2, UPS 2026–2027. Referencia: Dumas et al. (2018), Fundamentals of Business Process Management.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Ejemplo hipotético: de veinte solicitudes cuyo plazo de respuesta ya es evaluable, dieciocho recibieron respuesta útil dentro de cuarenta y ocho horas. El cumplimiento es 90 %. Otras dos solicitudes recién abiertas aún no tienen el plazo vencido y no deben mezclarse sin una regla explícita. En otro grupo de cincuenta casos completados, cuatro requieren corrección: la tasa de corrección es 8 %, una dimensión distinta de calidad.</a:t>
            </a:r>
          </a:p>
          <a:p/>
          <a:p>
            <a:r>
              <a:t>Fuente curricular: Procesos para Negocios Digitales, 4.2, UPS 2026–2027. Referencia: Dumas et al. (2018), Fundamentals of Business Process Management.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Comprueba integridad, duplicados y casos abiertos antes de calcular. Distingue promedio de distribución y acompaña la velocidad con calidad, carga o satisfacción cuando corresponda. Un indicador puede incentivar comportamientos no deseados si se premia solo su número. Por ejemplo, cerrar solicitudes sin resolverlas reduce una medida aparente de tiempo, pero deteriora el servicio y aumenta reaperturas.</a:t>
            </a:r>
          </a:p>
          <a:p/>
          <a:p>
            <a:r>
              <a:t>Fuente curricular: Procesos para Negocios Digitales, 4.2, UPS 2026–2027. Referencia: Dumas et al. (2018), Fundamentals of Business Process Management.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Relaciona resultados con meta, línea base y condiciones observadas. Define umbrales y qué acción se tomará ante desviaciones. No inventes metas universales: deben responder al contexto y compromisos de la organización. La mejora temporal de una cifra no demuestra causalidad por sí sola; conserva evidencia sobre cambios de demanda, mezcla de casos y modificaciones en la forma de registrar.</a:t>
            </a:r>
          </a:p>
          <a:p/>
          <a:p>
            <a:r>
              <a:t>Fuente curricular: Procesos para Negocios Digitales, 4.2, UPS 2026–2027. Referencia: Dumas et al. (2018), Fundamentals of Business Process Management.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aplicar lo aprendido, desarrolla la tarea editable. Elabora fichas de un KPI de tiempo y otro de calidad con todos sus campos. Después, define reglas para casos abiertos, duplicados y eventos faltantes. Justifica tus decisiones con los conceptos de esta explicación y comprueba tus respuestas en la actividad interactiva.</a:t>
            </a:r>
          </a:p>
          <a:p/>
          <a:p>
            <a:r>
              <a:t>Fuente curricular: Procesos para Negocios Digitales, 4.2, UPS 2026–2027. Referencia: Dumas et al. (2018), Fundamentals of Business Process Management.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 estas ideas. Selecciona indicadores ligados a decisiones. Define fórmulas, cohortes y calidad de datos. Interpreta y actúa con medidas equilibradas. El caso y sus datos son ficticios. Revisa las fuentes indicadas en los materiales y continúa con la práctica para transferir estos criterios a otra situación.</a:t>
            </a:r>
          </a:p>
          <a:p/>
          <a:p>
            <a:r>
              <a:t>Fuente curricular: Procesos para Negocios Digitales, 4.2, UPS 2026–2027. Referencia: Dumas et al. (2018), Fundamentals of Business Process Management.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U4 · 4.2</a:t>
            </a:r>
          </a:p>
        </p:txBody>
      </p:sp>
      <p:sp>
        <p:nvSpPr>
          <p:cNvPr id="5" name="TextBox 4"/>
          <p:cNvSpPr txBox="1"/>
          <p:nvPr/>
        </p:nvSpPr>
        <p:spPr>
          <a:xfrm>
            <a:off x="609600" y="1203960"/>
            <a:ext cx="10744200" cy="144780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Indicadores para evaluar la</a:t>
            </a:r>
          </a:p>
          <a:p>
            <a:pPr>
              <a:lnSpc>
                <a:spcPts val="5280"/>
              </a:lnSpc>
              <a:spcBef>
                <a:spcPts val="0"/>
              </a:spcBef>
              <a:spcAft>
                <a:spcPts val="0"/>
              </a:spcAft>
              <a:defRPr sz="3840" b="1">
                <a:solidFill>
                  <a:srgbClr val="FFFFFF"/>
                </a:solidFill>
                <a:latin typeface="Noto Sans"/>
              </a:defRPr>
            </a:pPr>
            <a:r>
              <a:t>implementación</a:t>
            </a:r>
          </a:p>
        </p:txBody>
      </p:sp>
      <p:sp>
        <p:nvSpPr>
          <p:cNvPr id="6" name="TextBox 5"/>
          <p:cNvSpPr txBox="1"/>
          <p:nvPr/>
        </p:nvSpPr>
        <p:spPr>
          <a:xfrm>
            <a:off x="647700" y="275082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Definir KPI de implementación con fórmulas, poblaciones y acciones de revisión que</a:t>
            </a:r>
          </a:p>
          <a:p>
            <a:pPr>
              <a:lnSpc>
                <a:spcPts val="2640"/>
              </a:lnSpc>
              <a:spcBef>
                <a:spcPts val="0"/>
              </a:spcBef>
              <a:spcAft>
                <a:spcPts val="0"/>
              </a:spcAft>
              <a:defRPr sz="1920" b="0">
                <a:solidFill>
                  <a:srgbClr val="D6E4E8"/>
                </a:solidFill>
                <a:latin typeface="Noto Sans"/>
              </a:defRPr>
            </a:pPr>
            <a:r>
              <a:t>permitan interpretar el desempeño.</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Definir KPI de implementación con fórmulas, poblaciones y acciones de revisión</a:t>
            </a:r>
          </a:p>
          <a:p>
            <a:pPr>
              <a:lnSpc>
                <a:spcPts val="2820"/>
              </a:lnSpc>
              <a:spcBef>
                <a:spcPts val="0"/>
              </a:spcBef>
              <a:spcAft>
                <a:spcPts val="0"/>
              </a:spcAft>
              <a:defRPr sz="2039" b="1">
                <a:solidFill>
                  <a:srgbClr val="18394A"/>
                </a:solidFill>
                <a:latin typeface="Noto Sans"/>
              </a:defRPr>
            </a:pPr>
            <a:r>
              <a:t>que permitan interpretar el desempeño.</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¿Qué fórmulas corresponden a los dos indicadores y cómo tratarías los casos todavía</a:t>
            </a:r>
          </a:p>
          <a:p>
            <a:pPr>
              <a:lnSpc>
                <a:spcPts val="2820"/>
              </a:lnSpc>
              <a:spcBef>
                <a:spcPts val="0"/>
              </a:spcBef>
              <a:spcAft>
                <a:spcPts val="0"/>
              </a:spcAft>
              <a:defRPr sz="2039" b="0">
                <a:solidFill>
                  <a:srgbClr val="18394A"/>
                </a:solidFill>
                <a:latin typeface="Noto Sans"/>
              </a:defRPr>
            </a:pPr>
            <a:r>
              <a:t>no evaluables?</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Indicador y objetivo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 indicador expresa una medida definida; un KPI se selecciona por su relación con un</a:t>
            </a:r>
          </a:p>
          <a:p>
            <a:pPr>
              <a:lnSpc>
                <a:spcPts val="2580"/>
              </a:lnSpc>
              <a:spcBef>
                <a:spcPts val="0"/>
              </a:spcBef>
              <a:spcAft>
                <a:spcPts val="0"/>
              </a:spcAft>
              <a:defRPr sz="1859" b="0">
                <a:solidFill>
                  <a:srgbClr val="18394A"/>
                </a:solidFill>
                <a:latin typeface="Noto Sans"/>
              </a:defRPr>
            </a:pPr>
            <a:r>
              <a:t>objetivo relevante. No toda cifra disponible es un indicador clave. Define qué decisión</a:t>
            </a:r>
          </a:p>
          <a:p>
            <a:pPr>
              <a:lnSpc>
                <a:spcPts val="2580"/>
              </a:lnSpc>
              <a:spcBef>
                <a:spcPts val="0"/>
              </a:spcBef>
              <a:spcAft>
                <a:spcPts val="0"/>
              </a:spcAft>
              <a:defRPr sz="1859" b="0">
                <a:solidFill>
                  <a:srgbClr val="18394A"/>
                </a:solidFill>
                <a:latin typeface="Noto Sans"/>
              </a:defRPr>
            </a:pPr>
            <a:r>
              <a:t>apoyará y qué resultado representa. Medir cantidad de sesiones de capacitación puede</a:t>
            </a:r>
          </a:p>
          <a:p>
            <a:pPr>
              <a:lnSpc>
                <a:spcPts val="2580"/>
              </a:lnSpc>
              <a:spcBef>
                <a:spcPts val="0"/>
              </a:spcBef>
              <a:spcAft>
                <a:spcPts val="0"/>
              </a:spcAft>
              <a:defRPr sz="1859" b="0">
                <a:solidFill>
                  <a:srgbClr val="18394A"/>
                </a:solidFill>
                <a:latin typeface="Noto Sans"/>
              </a:defRPr>
            </a:pPr>
            <a:r>
              <a:t>informar una actividad de implementación, pero no demuestra por sí solo que mejoró el</a:t>
            </a:r>
          </a:p>
          <a:p>
            <a:pPr>
              <a:lnSpc>
                <a:spcPts val="2580"/>
              </a:lnSpc>
              <a:spcBef>
                <a:spcPts val="0"/>
              </a:spcBef>
              <a:spcAft>
                <a:spcPts val="0"/>
              </a:spcAft>
              <a:defRPr sz="1859" b="0">
                <a:solidFill>
                  <a:srgbClr val="18394A"/>
                </a:solidFill>
                <a:latin typeface="Noto Sans"/>
              </a:defRPr>
            </a:pPr>
            <a:r>
              <a:t>tiempo o la calidad del proceso.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Ficha de definición</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Documenta nombre, propósito, fórmula, unidad, población, período, fuente, responsable y</a:t>
            </a:r>
          </a:p>
          <a:p>
            <a:pPr>
              <a:lnSpc>
                <a:spcPts val="2580"/>
              </a:lnSpc>
              <a:spcBef>
                <a:spcPts val="0"/>
              </a:spcBef>
              <a:spcAft>
                <a:spcPts val="0"/>
              </a:spcAft>
              <a:defRPr sz="1859" b="0">
                <a:solidFill>
                  <a:srgbClr val="18394A"/>
                </a:solidFill>
                <a:latin typeface="Noto Sans"/>
              </a:defRPr>
            </a:pPr>
            <a:r>
              <a:t>frecuencia. Si mides tiempo, especifica eventos de inicio y fin y el calendario utilizado. Si</a:t>
            </a:r>
          </a:p>
          <a:p>
            <a:pPr>
              <a:lnSpc>
                <a:spcPts val="2580"/>
              </a:lnSpc>
              <a:spcBef>
                <a:spcPts val="0"/>
              </a:spcBef>
              <a:spcAft>
                <a:spcPts val="0"/>
              </a:spcAft>
              <a:defRPr sz="1859" b="0">
                <a:solidFill>
                  <a:srgbClr val="18394A"/>
                </a:solidFill>
                <a:latin typeface="Noto Sans"/>
              </a:defRPr>
            </a:pPr>
            <a:r>
              <a:t>mides una tasa, aclara numerador, denominador y exclusiones. Definiciones estables</a:t>
            </a:r>
          </a:p>
          <a:p>
            <a:pPr>
              <a:lnSpc>
                <a:spcPts val="2580"/>
              </a:lnSpc>
              <a:spcBef>
                <a:spcPts val="0"/>
              </a:spcBef>
              <a:spcAft>
                <a:spcPts val="0"/>
              </a:spcAft>
              <a:defRPr sz="1859" b="0">
                <a:solidFill>
                  <a:srgbClr val="18394A"/>
                </a:solidFill>
                <a:latin typeface="Noto Sans"/>
              </a:defRPr>
            </a:pPr>
            <a:r>
              <a:t>permiten comparar períodos y evitan que dos equipos reporten cifras distintas usando el</a:t>
            </a:r>
          </a:p>
          <a:p>
            <a:pPr>
              <a:lnSpc>
                <a:spcPts val="2580"/>
              </a:lnSpc>
              <a:spcBef>
                <a:spcPts val="0"/>
              </a:spcBef>
              <a:spcAft>
                <a:spcPts val="0"/>
              </a:spcAft>
              <a:defRPr sz="1859" b="0">
                <a:solidFill>
                  <a:srgbClr val="18394A"/>
                </a:solidFill>
                <a:latin typeface="Noto Sans"/>
              </a:defRPr>
            </a:pPr>
            <a:r>
              <a:t>mismo nombre de indicador.</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Elegir objetivo</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Definir fórmula</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Validar datos</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Decidir acción</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El objetivo orienta qué resultado debe medirse. La ficha convierte la intención en una fórmula</a:t>
            </a:r>
          </a:p>
          <a:p>
            <a:pPr>
              <a:lnSpc>
                <a:spcPts val="2400"/>
              </a:lnSpc>
              <a:spcBef>
                <a:spcPts val="0"/>
              </a:spcBef>
              <a:spcAft>
                <a:spcPts val="0"/>
              </a:spcAft>
              <a:defRPr sz="1739" b="0">
                <a:solidFill>
                  <a:srgbClr val="536975"/>
                </a:solidFill>
                <a:latin typeface="Noto Sans"/>
              </a:defRPr>
            </a:pPr>
            <a:r>
              <a:t>reproducible. La revisión de datos comprueba que los casos están correctamente incluidos.</a:t>
            </a:r>
          </a:p>
          <a:p>
            <a:pPr>
              <a:lnSpc>
                <a:spcPts val="2400"/>
              </a:lnSpc>
              <a:spcBef>
                <a:spcPts val="0"/>
              </a:spcBef>
              <a:spcAft>
                <a:spcPts val="0"/>
              </a:spcAft>
              <a:defRPr sz="1739" b="0">
                <a:solidFill>
                  <a:srgbClr val="536975"/>
                </a:solidFill>
                <a:latin typeface="Noto Sans"/>
              </a:defRPr>
            </a:pPr>
            <a:r>
              <a:t>Finalmente, el resultado se interpreta con su contexto y genera una decisión; un tablero sin</a:t>
            </a:r>
          </a:p>
          <a:p>
            <a:pPr>
              <a:lnSpc>
                <a:spcPts val="2400"/>
              </a:lnSpc>
              <a:spcBef>
                <a:spcPts val="0"/>
              </a:spcBef>
              <a:spcAft>
                <a:spcPts val="0"/>
              </a:spcAft>
              <a:defRPr sz="1739" b="0">
                <a:solidFill>
                  <a:srgbClr val="536975"/>
                </a:solidFill>
                <a:latin typeface="Noto Sans"/>
              </a:defRPr>
            </a:pPr>
            <a:r>
              <a:t>responsables ni respuesta ante desviaciones no completa la función de gestión.</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Ejemplo hipotético: de veinte solicitudes cuyo plazo de respuesta ya es evaluable, dieciocho</a:t>
            </a:r>
          </a:p>
          <a:p>
            <a:pPr>
              <a:lnSpc>
                <a:spcPts val="2400"/>
              </a:lnSpc>
              <a:spcBef>
                <a:spcPts val="0"/>
              </a:spcBef>
              <a:spcAft>
                <a:spcPts val="0"/>
              </a:spcAft>
              <a:defRPr sz="1739" b="0">
                <a:solidFill>
                  <a:srgbClr val="18394A"/>
                </a:solidFill>
                <a:latin typeface="Noto Sans"/>
              </a:defRPr>
            </a:pPr>
            <a:r>
              <a:t>recibieron respuesta útil dentro de cuarenta y ocho horas. El cumplimiento es 90 %. Otras dos</a:t>
            </a:r>
          </a:p>
          <a:p>
            <a:pPr>
              <a:lnSpc>
                <a:spcPts val="2400"/>
              </a:lnSpc>
              <a:spcBef>
                <a:spcPts val="0"/>
              </a:spcBef>
              <a:spcAft>
                <a:spcPts val="0"/>
              </a:spcAft>
              <a:defRPr sz="1739" b="0">
                <a:solidFill>
                  <a:srgbClr val="18394A"/>
                </a:solidFill>
                <a:latin typeface="Noto Sans"/>
              </a:defRPr>
            </a:pPr>
            <a:r>
              <a:t>solicitudes recién abiertas aún no tienen el plazo vencido y no deben mezclarse sin una regla</a:t>
            </a:r>
          </a:p>
          <a:p>
            <a:pPr>
              <a:lnSpc>
                <a:spcPts val="2400"/>
              </a:lnSpc>
              <a:spcBef>
                <a:spcPts val="0"/>
              </a:spcBef>
              <a:spcAft>
                <a:spcPts val="0"/>
              </a:spcAft>
              <a:defRPr sz="1739" b="0">
                <a:solidFill>
                  <a:srgbClr val="18394A"/>
                </a:solidFill>
                <a:latin typeface="Noto Sans"/>
              </a:defRPr>
            </a:pPr>
            <a:r>
              <a:t>explícita. En otro grupo de cincuenta casos completados, cuatro requieren corrección: la tasa de</a:t>
            </a:r>
          </a:p>
          <a:p>
            <a:pPr>
              <a:lnSpc>
                <a:spcPts val="2400"/>
              </a:lnSpc>
              <a:spcBef>
                <a:spcPts val="0"/>
              </a:spcBef>
              <a:spcAft>
                <a:spcPts val="0"/>
              </a:spcAft>
              <a:defRPr sz="1739" b="0">
                <a:solidFill>
                  <a:srgbClr val="18394A"/>
                </a:solidFill>
                <a:latin typeface="Noto Sans"/>
              </a:defRPr>
            </a:pPr>
            <a:r>
              <a:t>corrección es 8 %, una dimensión distinta de calidad.</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¿Qué fórmulas corresponden a los dos indicadores y cómo tratarías los casos todavía no evaluables?</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Calidad y equilibrio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Comprueba integridad, duplicados y casos abiertos antes de calcular. Distingue promedio</a:t>
            </a:r>
          </a:p>
          <a:p>
            <a:pPr>
              <a:lnSpc>
                <a:spcPts val="2580"/>
              </a:lnSpc>
              <a:spcBef>
                <a:spcPts val="0"/>
              </a:spcBef>
              <a:spcAft>
                <a:spcPts val="0"/>
              </a:spcAft>
              <a:defRPr sz="1859" b="0">
                <a:solidFill>
                  <a:srgbClr val="18394A"/>
                </a:solidFill>
                <a:latin typeface="Noto Sans"/>
              </a:defRPr>
            </a:pPr>
            <a:r>
              <a:t>de distribución y acompaña la velocidad con calidad, carga o satisfacción cuando</a:t>
            </a:r>
          </a:p>
          <a:p>
            <a:pPr>
              <a:lnSpc>
                <a:spcPts val="2580"/>
              </a:lnSpc>
              <a:spcBef>
                <a:spcPts val="0"/>
              </a:spcBef>
              <a:spcAft>
                <a:spcPts val="0"/>
              </a:spcAft>
              <a:defRPr sz="1859" b="0">
                <a:solidFill>
                  <a:srgbClr val="18394A"/>
                </a:solidFill>
                <a:latin typeface="Noto Sans"/>
              </a:defRPr>
            </a:pPr>
            <a:r>
              <a:t>corresponda. Un indicador puede incentivar comportamientos no deseados si se premia</a:t>
            </a:r>
          </a:p>
          <a:p>
            <a:pPr>
              <a:lnSpc>
                <a:spcPts val="2580"/>
              </a:lnSpc>
              <a:spcBef>
                <a:spcPts val="0"/>
              </a:spcBef>
              <a:spcAft>
                <a:spcPts val="0"/>
              </a:spcAft>
              <a:defRPr sz="1859" b="0">
                <a:solidFill>
                  <a:srgbClr val="18394A"/>
                </a:solidFill>
                <a:latin typeface="Noto Sans"/>
              </a:defRPr>
            </a:pPr>
            <a:r>
              <a:t>solo su número. Por ejemplo, cerrar solicitudes sin resolverlas reduce una medida aparente</a:t>
            </a:r>
          </a:p>
          <a:p>
            <a:pPr>
              <a:lnSpc>
                <a:spcPts val="2580"/>
              </a:lnSpc>
              <a:spcBef>
                <a:spcPts val="0"/>
              </a:spcBef>
              <a:spcAft>
                <a:spcPts val="0"/>
              </a:spcAft>
              <a:defRPr sz="1859" b="0">
                <a:solidFill>
                  <a:srgbClr val="18394A"/>
                </a:solidFill>
                <a:latin typeface="Noto Sans"/>
              </a:defRPr>
            </a:pPr>
            <a:r>
              <a:t>de tiempo, pero deteriora el servicio y aumenta reaperturas.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Interpretación y respuesta</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Relaciona resultados con meta, línea base y condiciones observadas. Define umbrales y qué</a:t>
            </a:r>
          </a:p>
          <a:p>
            <a:pPr>
              <a:lnSpc>
                <a:spcPts val="2580"/>
              </a:lnSpc>
              <a:spcBef>
                <a:spcPts val="0"/>
              </a:spcBef>
              <a:spcAft>
                <a:spcPts val="0"/>
              </a:spcAft>
              <a:defRPr sz="1859" b="0">
                <a:solidFill>
                  <a:srgbClr val="18394A"/>
                </a:solidFill>
                <a:latin typeface="Noto Sans"/>
              </a:defRPr>
            </a:pPr>
            <a:r>
              <a:t>acción se tomará ante desviaciones. No inventes metas universales: deben responder al</a:t>
            </a:r>
          </a:p>
          <a:p>
            <a:pPr>
              <a:lnSpc>
                <a:spcPts val="2580"/>
              </a:lnSpc>
              <a:spcBef>
                <a:spcPts val="0"/>
              </a:spcBef>
              <a:spcAft>
                <a:spcPts val="0"/>
              </a:spcAft>
              <a:defRPr sz="1859" b="0">
                <a:solidFill>
                  <a:srgbClr val="18394A"/>
                </a:solidFill>
                <a:latin typeface="Noto Sans"/>
              </a:defRPr>
            </a:pPr>
            <a:r>
              <a:t>contexto y compromisos de la organización. La mejora temporal de una cifra no demuestra</a:t>
            </a:r>
          </a:p>
          <a:p>
            <a:pPr>
              <a:lnSpc>
                <a:spcPts val="2580"/>
              </a:lnSpc>
              <a:spcBef>
                <a:spcPts val="0"/>
              </a:spcBef>
              <a:spcAft>
                <a:spcPts val="0"/>
              </a:spcAft>
              <a:defRPr sz="1859" b="0">
                <a:solidFill>
                  <a:srgbClr val="18394A"/>
                </a:solidFill>
                <a:latin typeface="Noto Sans"/>
              </a:defRPr>
            </a:pPr>
            <a:r>
              <a:t>causalidad por sí sola; conserva evidencia sobre cambios de demanda, mezcla de casos y</a:t>
            </a:r>
          </a:p>
          <a:p>
            <a:pPr>
              <a:lnSpc>
                <a:spcPts val="2580"/>
              </a:lnSpc>
              <a:spcBef>
                <a:spcPts val="0"/>
              </a:spcBef>
              <a:spcAft>
                <a:spcPts val="0"/>
              </a:spcAft>
              <a:defRPr sz="1859" b="0">
                <a:solidFill>
                  <a:srgbClr val="18394A"/>
                </a:solidFill>
                <a:latin typeface="Noto Sans"/>
              </a:defRPr>
            </a:pPr>
            <a:r>
              <a:t>modificaciones en la forma de registrar.</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Elabora fichas de un KPI de tiempo y otro de calidad con todos sus campos.</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Calcula cumplimiento y corrección con los denominadores del ejemplo.</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Define reglas para casos abiertos, duplicados y eventos faltantes.</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Propón meta contextual, frecuencia, responsable y respuesta ante desviación.</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U4 · 4.2</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Selecciona indicadores ligados a decisiones.</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Define fórmulas, cohortes y calidad de datos.</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Interpreta y actúa con medidas equilibradas.</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Dumas et al. (2018), Fundamentals of Business Process</a:t>
            </a:r>
          </a:p>
          <a:p>
            <a:pPr>
              <a:lnSpc>
                <a:spcPts val="1920"/>
              </a:lnSpc>
              <a:spcBef>
                <a:spcPts val="0"/>
              </a:spcBef>
              <a:spcAft>
                <a:spcPts val="0"/>
              </a:spcAft>
              <a:defRPr sz="1380" b="0">
                <a:solidFill>
                  <a:srgbClr val="D6E4E8"/>
                </a:solidFill>
                <a:latin typeface="Noto Sans"/>
              </a:defRPr>
            </a:pPr>
            <a:r>
              <a:t>Management. Weske (2012), Business Process Management: Concepts, Languages, Architectures.</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Indicadores para evaluar la implementación</dc:title>
  <dc:subject>Implementación del BPM</dc:subject>
  <dc:creator>Proyecto educativo · elaboración asistida por IA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