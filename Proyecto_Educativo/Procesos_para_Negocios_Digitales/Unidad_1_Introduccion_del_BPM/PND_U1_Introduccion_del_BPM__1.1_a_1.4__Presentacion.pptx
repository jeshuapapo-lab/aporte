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Unidad 1: Introducción del BPM. Se conservan íntegros los contenidos de las secciones del sílabo.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Unidad 1: Introducción del BPM. Se conservan íntegros los contenidos de las secciones del sílabo.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1: Introducción del BPM</a:t>
            </a:r>
          </a:p>
          <a:p>
            <a:r>
              <a:t>Sección 1.1: Generalidades del BPM</a:t>
            </a:r>
          </a:p>
          <a:p/>
          <a:p>
            <a:r>
              <a:t>Hoy estudiaremos generalidades del bpm. El propósito es reconocer proceso, actividad, evento y flujo, y distinguir gestión por procesos, notación y software. Este contenido forma parte de procesos para negocios digitales. Trabajaremos con conceptos y un caso ficticio para tomar decisiones justificadas.</a:t>
            </a:r>
          </a:p>
          <a:p/>
          <a:p>
            <a:r>
              <a:t>Fuente curricular: Procesos para Negocios Digitales, 1.1, UPS 2026–2027. Referencia: Dumas, La Rosa, Mendling y Reijers (2018), Fundamentals of Business Process Management, 2.ª ed. Springer.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1: Introducción del BPM</a:t>
            </a:r>
          </a:p>
          <a:p>
            <a:r>
              <a:t>Sección 1.1: Generalidades del BPM</a:t>
            </a:r>
          </a:p>
          <a:p/>
          <a:p>
            <a:r>
              <a:t>Antes de proponer una solución, considera esta pregunta: ¿Cuál es el proceso completo y por qué sumar las horas de trabajo no explica los tres días? Al terminar deberás explicar tu decisión, indicar cómo la comprobarías y reconocer los límites de la evidencia utilizada.</a:t>
            </a:r>
          </a:p>
          <a:p/>
          <a:p>
            <a:r>
              <a:t>Fuente curricular: Procesos para Negocios Digitales, 1.1, UPS 2026–2027. Referencia: Dumas, La Rosa, Mendling y Reijers (2018), Fundamentals of Business Process Management, 2.ª ed. Springer.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1: Introducción del BPM</a:t>
            </a:r>
          </a:p>
          <a:p>
            <a:r>
              <a:t>Sección 1.1: Generalidades del BPM</a:t>
            </a:r>
          </a:p>
          <a:p/>
          <a:p>
            <a:r>
              <a:t>Un proceso es un conjunto relacionado de actividades que transforma entradas en resultados para un destinatario. Tiene un propósito, un desencadenante y límites que permiten distinguirlo de otras operaciones. Puede atravesar varios departamentos. Analizar solo las tareas de un área deja fuera esperas y transferencias que influyen en el resultado que recibe el cliente.</a:t>
            </a:r>
          </a:p>
          <a:p/>
          <a:p>
            <a:r>
              <a:t>Fuente curricular: Procesos para Negocios Digitales, 1.1, UPS 2026–2027. Referencia: Dumas, La Rosa, Mendling y Reijers (2018), Fundamentals of Business Process Management, 2.ª ed. Springer.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1: Introducción del BPM</a:t>
            </a:r>
          </a:p>
          <a:p>
            <a:r>
              <a:t>Sección 1.1: Generalidades del BPM</a:t>
            </a:r>
          </a:p>
          <a:p/>
          <a:p>
            <a:r>
              <a:t>Una actividad representa trabajo realizado; una tarea es una unidad de trabajo dentro del nivel de detalle elegido. Un evento indica algo que ocurre y afecta el recorrido, como recibir una solicitud. El flujo expresa el orden o la relación entre elementos. Distinguir estos conceptos evita mezclar acciones, condiciones y resultados cuando se describe cómo funciona una organización.</a:t>
            </a:r>
          </a:p>
          <a:p/>
          <a:p>
            <a:r>
              <a:t>Fuente curricular: Procesos para Negocios Digitales, 1.1, UPS 2026–2027. Referencia: Dumas, La Rosa, Mendling y Reijers (2018), Fundamentals of Business Process Management, 2.ª ed. Springer.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1: Introducción del BPM</a:t>
            </a:r>
          </a:p>
          <a:p>
            <a:r>
              <a:t>Sección 1.1: Generalidades del BPM</a:t>
            </a:r>
          </a:p>
          <a:p/>
          <a:p>
            <a:r>
              <a:t>Describe qué inicia el proceso, qué trabajo transforma la entrada y qué resultado recibe el destinatario. Después pregunta si ese resultado satisface el propósito y cómo lo comprobarías. Si el recorrido atraviesa áreas, conserva una visión completa: el tiempo de cada tarea no explica por sí solo todas las esperas de una solicitud.</a:t>
            </a:r>
          </a:p>
          <a:p/>
          <a:p>
            <a:r>
              <a:t>Fuente curricular: Procesos para Negocios Digitales, 1.1, UPS 2026–2027. Referencia: Dumas, La Rosa, Mendling y Reijers (2018), Fundamentals of Business Process Management, 2.ª ed. Springer.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1: Introducción del BPM</a:t>
            </a:r>
          </a:p>
          <a:p>
            <a:r>
              <a:t>Sección 1.1: Generalidades del BPM</a:t>
            </a:r>
          </a:p>
          <a:p/>
          <a:p>
            <a:r>
              <a:t>Caso ficticio: una empresa recibe una solicitud de cotización, verifica requisitos, prepara una propuesta y la comunica al cliente. Ventas tarda una hora y revisión técnica otra, pero la respuesta llega tres días después por esperas entre áreas. El proceso no es solo redactar la propuesta. Para gestionarlo, necesita un responsable del recorrido, estados compartidos y una medida de tiempo desde la recepción hasta la respuesta.</a:t>
            </a:r>
          </a:p>
          <a:p/>
          <a:p>
            <a:r>
              <a:t>Fuente curricular: Procesos para Negocios Digitales, 1.1, UPS 2026–2027. Referencia: Dumas, La Rosa, Mendling y Reijers (2018), Fundamentals of Business Process Management, 2.ª ed. Springer.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1: Introducción del BPM</a:t>
            </a:r>
          </a:p>
          <a:p>
            <a:r>
              <a:t>Sección 1.1: Generalidades del BPM</a:t>
            </a:r>
          </a:p>
          <a:p/>
          <a:p>
            <a:r>
              <a:t>BPM es una disciplina de gestión orientada a comprender, ejecutar, medir y mejorar procesos de manera continua. Requiere responsables, acuerdos y evidencia sobre desempeño. Un diagrama puede apoyar esa disciplina, pero no reemplaza la gestión. Si nadie revisa el resultado ni decide mejoras, dibujar un proceso no basta para afirmar que se está gestionando por procesos.</a:t>
            </a:r>
          </a:p>
          <a:p/>
          <a:p>
            <a:r>
              <a:t>Fuente curricular: Procesos para Negocios Digitales, 1.1, UPS 2026–2027. Referencia: Dumas, La Rosa, Mendling y Reijers (2018), Fundamentals of Business Process Management, 2.ª ed. Springer.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1: Introducción del BPM</a:t>
            </a:r>
          </a:p>
          <a:p>
            <a:r>
              <a:t>Sección 1.1: Generalidades del BPM</a:t>
            </a:r>
          </a:p>
          <a:p/>
          <a:p>
            <a:r>
              <a:t>BPM es el enfoque de gestión; BPMN es una notación para representar procesos; una plataforma informática puede apoyar modelado, ejecución o seguimiento. No son sinónimos. Una organización puede empezar a mejorar un proceso con herramientas sencillas, siempre que defina propósito, responsabilidades y comprobaciones. Automatizar tareas sin entender el recorrido puede conservar o amplificar un problema existente.</a:t>
            </a:r>
          </a:p>
          <a:p/>
          <a:p>
            <a:r>
              <a:t>Fuente curricular: Procesos para Negocios Digitales, 1.1, UPS 2026–2027. Referencia: Dumas, La Rosa, Mendling y Reijers (2018), Fundamentals of Business Process Management, 2.ª ed. Springer.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1: Introducción del BPM</a:t>
            </a:r>
          </a:p>
          <a:p>
            <a:r>
              <a:t>Sección 1.1: Generalidades del BPM</a:t>
            </a:r>
          </a:p>
          <a:p/>
          <a:p>
            <a:r>
              <a:t>Para aplicar lo aprendido, desarrolla la tarea editable. Delimita el proceso con entrada, evento inicial, destinatario y resultado. Después, representa el recorrido entre áreas y distingue trabajo de espera. Justifica tus decisiones con los conceptos de esta explicación y comprueba tus respuestas en la actividad interactiva.</a:t>
            </a:r>
          </a:p>
          <a:p/>
          <a:p>
            <a:r>
              <a:t>Fuente curricular: Procesos para Negocios Digitales, 1.1, UPS 2026–2027. Referencia: Dumas, La Rosa, Mendling y Reijers (2018), Fundamentals of Business Process Management, 2.ª ed. Springer.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1: Introducción del BPM</a:t>
            </a:r>
          </a:p>
          <a:p>
            <a:r>
              <a:t>Sección 1.1: Generalidades del BPM</a:t>
            </a:r>
          </a:p>
          <a:p/>
          <a:p>
            <a:r>
              <a:t>Conserva estas ideas. Un proceso entrega un resultado a alguien. Distingue trabajo, eventos y flujo. BPM, BPMN y software cumplen funciones distintas. El caso y sus datos son ficticios. Revisa las fuentes indicadas en los materiales y continúa con la práctica para transferir estos criterios a otra situación.</a:t>
            </a:r>
          </a:p>
          <a:p/>
          <a:p>
            <a:r>
              <a:t>Fuente curricular: Procesos para Negocios Digitales, 1.1, UPS 2026–2027. Referencia: Dumas, La Rosa, Mendling y Reijers (2018), Fundamentals of Business Process Management, 2.ª ed. Springer.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1: Introducción del BPM</a:t>
            </a:r>
          </a:p>
          <a:p>
            <a:r>
              <a:t>Sección 1.2: Beneficios del BPM en los negocios digitales</a:t>
            </a:r>
          </a:p>
          <a:p/>
          <a:p>
            <a:r>
              <a:t>Hoy estudiaremos beneficios del bpm en los negocios digitales. El propósito es evaluar beneficios esperados de BPM en un negocio digital con indicadores, condiciones y efectos sobre las personas. Este contenido forma parte de procesos para negocios digitales. Trabajaremos con conceptos y un caso ficticio para tomar decisiones justificadas.</a:t>
            </a:r>
          </a:p>
          <a:p/>
          <a:p>
            <a:r>
              <a:t>Fuente curricular: Procesos para Negocios Digitales, 1.2, UPS 2026–2027. Referencia: Dumas et al. (2018), Fundamentals of Business Process Management. Jeston y Nelis (2014), Business Process Management: Practical Guidelines to Successful Implementations.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1: Introducción del BPM</a:t>
            </a:r>
          </a:p>
          <a:p>
            <a:r>
              <a:t>Sección 1.2: Beneficios del BPM en los negocios digitales</a:t>
            </a:r>
          </a:p>
          <a:p/>
          <a:p>
            <a:r>
              <a:t>Antes de proponer una solución, considera esta pregunta: ¿Qué beneficio se observa y por qué todavía no basta para declarar éxito global? Al terminar deberás explicar tu decisión, indicar cómo la comprobarías y reconocer los límites de la evidencia utilizada.</a:t>
            </a:r>
          </a:p>
          <a:p/>
          <a:p>
            <a:r>
              <a:t>Fuente curricular: Procesos para Negocios Digitales, 1.2, UPS 2026–2027. Referencia: Dumas et al. (2018), Fundamentals of Business Process Management. Jeston y Nelis (2014), Business Process Management: Practical Guidelines to Successful Implementations.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1: Introducción del BPM</a:t>
            </a:r>
          </a:p>
          <a:p>
            <a:r>
              <a:t>Sección 1.2: Beneficios del BPM en los negocios digitales</a:t>
            </a:r>
          </a:p>
          <a:p/>
          <a:p>
            <a:r>
              <a:t>BPM puede mejorar coordinación, calidad, tiempos y capacidad de adaptación al hacer visibles recorridos y responsabilidades. El beneficio depende del problema y de la intervención; no aparece por nombrar un proyecto como BPM. Define qué dificultad vive el cliente o la operación y por qué una mejora del proceso puede cambiar ese resultado de forma relevante.</a:t>
            </a:r>
          </a:p>
          <a:p/>
          <a:p>
            <a:r>
              <a:t>Fuente curricular: Procesos para Negocios Digitales, 1.2, UPS 2026–2027. Referencia: Dumas et al. (2018), Fundamentals of Business Process Management. Jeston y Nelis (2014), Business Process Management: Practical Guidelines to Successful Implementations.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1: Introducción del BPM</a:t>
            </a:r>
          </a:p>
          <a:p>
            <a:r>
              <a:t>Sección 1.2: Beneficios del BPM en los negocios digitales</a:t>
            </a:r>
          </a:p>
          <a:p/>
          <a:p>
            <a:r>
              <a:t>En un negocio digital, una solicitud puede pasar por formularios, sistemas y personas distintas. La visibilidad permite conocer estado, responsable y causas de espera. Estandarizar criterios reduce variaciones evitables, pero no exige eliminar toda flexibilidad. Los casos excepcionales necesitan rutas y decisiones explícitas para que la coordinación no se transforme en una secuencia rígida que nadie pueda resolver.</a:t>
            </a:r>
          </a:p>
          <a:p/>
          <a:p>
            <a:r>
              <a:t>Fuente curricular: Procesos para Negocios Digitales, 1.2, UPS 2026–2027. Referencia: Dumas et al. (2018), Fundamentals of Business Process Management. Jeston y Nelis (2014), Business Process Management: Practical Guidelines to Successful Implementations.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1: Introducción del BPM</a:t>
            </a:r>
          </a:p>
          <a:p>
            <a:r>
              <a:t>Sección 1.2: Beneficios del BPM en los negocios digitales</a:t>
            </a:r>
          </a:p>
          <a:p/>
          <a:p>
            <a:r>
              <a:t>Relaciona el beneficio esperado con una necesidad concreta. Mide la situación inicial y explica qué cambiará en el proceso. Después compara resultados usando las mismas definiciones, revisando tanto mejoras como consecuencias. Incluye la perspectiva de quienes ejecutan el trabajo y de quienes reciben el servicio, porque ambas pueden revelar costos que el indicador principal oculta.</a:t>
            </a:r>
          </a:p>
          <a:p/>
          <a:p>
            <a:r>
              <a:t>Fuente curricular: Procesos para Negocios Digitales, 1.2, UPS 2026–2027. Referencia: Dumas et al. (2018), Fundamentals of Business Process Management. Jeston y Nelis (2014), Business Process Management: Practical Guidelines to Successful Implementations.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1: Introducción del BPM</a:t>
            </a:r>
          </a:p>
          <a:p>
            <a:r>
              <a:t>Sección 1.2: Beneficios del BPM en los negocios digitales</a:t>
            </a:r>
          </a:p>
          <a:p/>
          <a:p>
            <a:r>
              <a:t>Caso hipotético: una tienda digital reduce el tiempo promedio de respuesta de cuarenta y ocho a treinta y seis horas tras reorganizar consultas. La reducción relativa es 25 %. Sin embargo, la tasa de respuestas que deben corregirse sube de 4 % a 9 %. Hay una mejora de velocidad, pero el beneficio global no puede declararse sin investigar calidad, casos pendientes y efectos en los clientes.</a:t>
            </a:r>
          </a:p>
          <a:p/>
          <a:p>
            <a:r>
              <a:t>Fuente curricular: Procesos para Negocios Digitales, 1.2, UPS 2026–2027. Referencia: Dumas et al. (2018), Fundamentals of Business Process Management. Jeston y Nelis (2014), Business Process Management: Practical Guidelines to Successful Implementations.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1: Introducción del BPM</a:t>
            </a:r>
          </a:p>
          <a:p>
            <a:r>
              <a:t>Sección 1.2: Beneficios del BPM en los negocios digitales</a:t>
            </a:r>
          </a:p>
          <a:p/>
          <a:p>
            <a:r>
              <a:t>Combina medidas de tiempo, calidad, costo y experiencia según el propósito. Reducir el tiempo promedio puede ser valioso, pero también ocultar casos muy lentos. Observa distribución, errores y reclamos. Registra una línea base y compara períodos o grupos con condiciones conocidas, reconociendo que una coincidencia temporal no demuestra por sí sola que BPM causó el resultado.</a:t>
            </a:r>
          </a:p>
          <a:p/>
          <a:p>
            <a:r>
              <a:t>Fuente curricular: Procesos para Negocios Digitales, 1.2, UPS 2026–2027. Referencia: Dumas et al. (2018), Fundamentals of Business Process Management. Jeston y Nelis (2014), Business Process Management: Practical Guidelines to Successful Implementations.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1: Introducción del BPM</a:t>
            </a:r>
          </a:p>
          <a:p>
            <a:r>
              <a:t>Sección 1.2: Beneficios del BPM en los negocios digitales</a:t>
            </a:r>
          </a:p>
          <a:p/>
          <a:p>
            <a:r>
              <a:t>Los beneficios requieren participación, responsables, datos confiables y revisión continua. Las personas que ejecutan el proceso conocen excepciones y trabajo no registrado. Incluirlas mejora el diagnóstico y la adopción. Si el cambio solo desplaza trabajo a otra área o exige atajos para cumplir indicadores, revisa incentivos y capacidad antes de declarar que la organización mejoró.</a:t>
            </a:r>
          </a:p>
          <a:p/>
          <a:p>
            <a:r>
              <a:t>Fuente curricular: Procesos para Negocios Digitales, 1.2, UPS 2026–2027. Referencia: Dumas et al. (2018), Fundamentals of Business Process Management. Jeston y Nelis (2014), Business Process Management: Practical Guidelines to Successful Implementations.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1: Introducción del BPM</a:t>
            </a:r>
          </a:p>
          <a:p>
            <a:r>
              <a:t>Sección 1.2: Beneficios del BPM en los negocios digitales</a:t>
            </a:r>
          </a:p>
          <a:p/>
          <a:p>
            <a:r>
              <a:t>Para aplicar lo aprendido, desarrolla la tarea editable. Identifica dos beneficios potenciales vinculados al problema del caso. Después, diseña un tablero con tiempo, calidad y experiencia, definiendo población y período. Justifica tus decisiones con los conceptos de esta explicación y comprueba tus respuestas en la actividad interactiva.</a:t>
            </a:r>
          </a:p>
          <a:p/>
          <a:p>
            <a:r>
              <a:t>Fuente curricular: Procesos para Negocios Digitales, 1.2, UPS 2026–2027. Referencia: Dumas et al. (2018), Fundamentals of Business Process Management. Jeston y Nelis (2014), Business Process Management: Practical Guidelines to Successful Implementations.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1: Introducción del BPM</a:t>
            </a:r>
          </a:p>
          <a:p>
            <a:r>
              <a:t>Sección 1.2: Beneficios del BPM en los negocios digitales</a:t>
            </a:r>
          </a:p>
          <a:p/>
          <a:p>
            <a:r>
              <a:t>Conserva estas ideas. Vincula beneficios con necesidades medibles. Equilibra velocidad, calidad y experiencia. Incluye a las personas y revisa efectos globales. El caso y sus datos son ficticios. Revisa las fuentes indicadas en los materiales y continúa con la práctica para transferir estos criterios a otra situación.</a:t>
            </a:r>
          </a:p>
          <a:p/>
          <a:p>
            <a:r>
              <a:t>Fuente curricular: Procesos para Negocios Digitales, 1.2, UPS 2026–2027. Referencia: Dumas et al. (2018), Fundamentals of Business Process Management. Jeston y Nelis (2014), Business Process Management: Practical Guidelines to Successful Implementations.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1: Introducción del BPM</a:t>
            </a:r>
          </a:p>
          <a:p>
            <a:r>
              <a:t>Sección 1.3: Certificaciones</a:t>
            </a:r>
          </a:p>
          <a:p/>
          <a:p>
            <a:r>
              <a:t>Hoy estudiaremos certificaciones. El propósito es distinguir certificaciones de personas, acreditaciones formativas y certificaciones organizacionales relacionadas con gestión por procesos. Este contenido forma parte de procesos para negocios digitales. Trabajaremos con conceptos y un caso ficticio para tomar decisiones justificadas.</a:t>
            </a:r>
          </a:p>
          <a:p/>
          <a:p>
            <a:r>
              <a:t>Fuente curricular: Procesos para Negocios Digitales, 1.3, UPS 2026–2027. Referencia: ABPMP International, información oficial de certificación: https://www.abpmp.org/ . Los requisitos deben consultarse en su versión vigente; no se atribuye equivalencia universal entre credenciales.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1: Introducción del BPM</a:t>
            </a:r>
          </a:p>
          <a:p>
            <a:r>
              <a:t>Sección 1.3: Certificaciones</a:t>
            </a:r>
          </a:p>
          <a:p/>
          <a:p>
            <a:r>
              <a:t>Antes de proponer una solución, considera esta pregunta: ¿Qué afirmación sería verificable y qué información falta para hablar de certificación profesional? Al terminar deberás explicar tu decisión, indicar cómo la comprobarías y reconocer los límites de la evidencia utilizada.</a:t>
            </a:r>
          </a:p>
          <a:p/>
          <a:p>
            <a:r>
              <a:t>Fuente curricular: Procesos para Negocios Digitales, 1.3, UPS 2026–2027. Referencia: ABPMP International, información oficial de certificación: https://www.abpmp.org/ . Los requisitos deben consultarse en su versión vigente; no se atribuye equivalencia universal entre credenciales.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1: Introducción del BPM</a:t>
            </a:r>
          </a:p>
          <a:p>
            <a:r>
              <a:t>Sección 1.3: Certificaciones</a:t>
            </a:r>
          </a:p>
          <a:p/>
          <a:p>
            <a:r>
              <a:t>Una certificación declara que una persona, producto, sistema u organización cumple criterios de un esquema definido. En BPM importa identificar quién emite la credencial, qué competencias evalúa y a quién corresponde. Un certificado de asistencia demuestra participación bajo sus condiciones, pero no equivale automáticamente a una certificación profesional basada en evaluación de competencias.</a:t>
            </a:r>
          </a:p>
          <a:p/>
          <a:p>
            <a:r>
              <a:t>Fuente curricular: Procesos para Negocios Digitales, 1.3, UPS 2026–2027. Referencia: ABPMP International, información oficial de certificación: https://www.abpmp.org/ . Los requisitos deben consultarse en su versión vigente; no se atribuye equivalencia universal entre credenciales.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1: Introducción del BPM</a:t>
            </a:r>
          </a:p>
          <a:p>
            <a:r>
              <a:t>Sección 1.3: Certificaciones</a:t>
            </a:r>
          </a:p>
          <a:p/>
          <a:p>
            <a:r>
              <a:t>ABPMP publica certificaciones profesionales relacionadas con BPM, como CBPA, CBPP y CBPL, con alcances y requisitos propios. Los requisitos, disponibilidad y condiciones deben comprobarse en su fuente vigente. También existen credenciales de proveedores sobre herramientas específicas. Dominio de una plataforma no demuestra por sí solo competencia integral en análisis, cambio y gestión de procesos.</a:t>
            </a:r>
          </a:p>
          <a:p/>
          <a:p>
            <a:r>
              <a:t>Fuente curricular: Procesos para Negocios Digitales, 1.3, UPS 2026–2027. Referencia: ABPMP International, información oficial de certificación: https://www.abpmp.org/ . Los requisitos deben consultarse en su versión vigente; no se atribuye equivalencia universal entre credenciales.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1: Introducción del BPM</a:t>
            </a:r>
          </a:p>
          <a:p>
            <a:r>
              <a:t>Sección 1.3: Certificaciones</a:t>
            </a:r>
          </a:p>
          <a:p/>
          <a:p>
            <a:r>
              <a:t>Define primero qué competencia o reconocimiento necesitas. Revisa el esquema en la fuente oficial y distingue formación previa, evaluación y requisitos de experiencia. Verifica que la credencial emitida pueda comprobarse y que la afirmación que haces respete su alcance. Después considera las condiciones de mantenimiento y actualización, sin asumir que una credencial es indefinida.</a:t>
            </a:r>
          </a:p>
          <a:p/>
          <a:p>
            <a:r>
              <a:t>Fuente curricular: Procesos para Negocios Digitales, 1.3, UPS 2026–2027. Referencia: ABPMP International, información oficial de certificación: https://www.abpmp.org/ . Los requisitos deben consultarse en su versión vigente; no se atribuye equivalencia universal entre credenciales.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1: Introducción del BPM</a:t>
            </a:r>
          </a:p>
          <a:p>
            <a:r>
              <a:t>Sección 1.3: Certificaciones</a:t>
            </a:r>
          </a:p>
          <a:p/>
          <a:p>
            <a:r>
              <a:t>Caso ficticio: una analista termina un curso de ocho horas y recibe un certificado de participación. Su empresa quiere anunciar que está certificada internacionalmente en BPM. Antes de publicar, debe distinguir la formación de la analista de una certificación profesional y de una certificación organizacional. Si decide preparar una credencial profesional, necesita revisar requisitos actuales y un plan realista de aprendizaje y evidencia.</a:t>
            </a:r>
          </a:p>
          <a:p/>
          <a:p>
            <a:r>
              <a:t>Fuente curricular: Procesos para Negocios Digitales, 1.3, UPS 2026–2027. Referencia: ABPMP International, información oficial de certificación: https://www.abpmp.org/ . Los requisitos deben consultarse en su versión vigente; no se atribuye equivalencia universal entre credenciales.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1: Introducción del BPM</a:t>
            </a:r>
          </a:p>
          <a:p>
            <a:r>
              <a:t>Sección 1.3: Certificaciones</a:t>
            </a:r>
          </a:p>
          <a:p/>
          <a:p>
            <a:r>
              <a:t>Una certificación profesional pertenece a la persona que cumple su esquema. Una certificación organizacional, como la de un sistema de gestión bajo un estándar aplicable, tiene otro objeto y alcance. No debe presentarse una credencial de un empleado como certificación de toda la empresa, ni confundir una formación en BPM con una autorización legal para cualquier servicio profesional.</a:t>
            </a:r>
          </a:p>
          <a:p/>
          <a:p>
            <a:r>
              <a:t>Fuente curricular: Procesos para Negocios Digitales, 1.3, UPS 2026–2027. Referencia: ABPMP International, información oficial de certificación: https://www.abpmp.org/ . Los requisitos deben consultarse en su versión vigente; no se atribuye equivalencia universal entre credenciales.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1: Introducción del BPM</a:t>
            </a:r>
          </a:p>
          <a:p>
            <a:r>
              <a:t>Sección 1.3: Certificaciones</a:t>
            </a:r>
          </a:p>
          <a:p/>
          <a:p>
            <a:r>
              <a:t>Relaciona la credencial con un objetivo y revisa entidad emisora, requisitos, examen, experiencia requerida, vigencia, renovación y costos en la información oficial actual. Comprueba autenticidad y alcance antes de usar un logotipo o afirmación comercial. La certificación puede apoyar desarrollo profesional, pero no garantiza empleo ni resultados de proyectos sin práctica, ética y actualización continua.</a:t>
            </a:r>
          </a:p>
          <a:p/>
          <a:p>
            <a:r>
              <a:t>Fuente curricular: Procesos para Negocios Digitales, 1.3, UPS 2026–2027. Referencia: ABPMP International, información oficial de certificación: https://www.abpmp.org/ . Los requisitos deben consultarse en su versión vigente; no se atribuye equivalencia universal entre credenciales.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1: Introducción del BPM</a:t>
            </a:r>
          </a:p>
          <a:p>
            <a:r>
              <a:t>Sección 1.3: Certificaciones</a:t>
            </a:r>
          </a:p>
          <a:p/>
          <a:p>
            <a:r>
              <a:t>Para aplicar lo aprendido, desarrolla la tarea editable. Clasifica tres evidencias ficticias: asistencia, credencial profesional y certificación organizacional. Después, corrige el anuncio del caso para que respete la evidencia disponible. Justifica tus decisiones con los conceptos de esta explicación y comprueba tus respuestas en la actividad interactiva.</a:t>
            </a:r>
          </a:p>
          <a:p/>
          <a:p>
            <a:r>
              <a:t>Fuente curricular: Procesos para Negocios Digitales, 1.3, UPS 2026–2027. Referencia: ABPMP International, información oficial de certificación: https://www.abpmp.org/ . Los requisitos deben consultarse en su versión vigente; no se atribuye equivalencia universal entre credenciales.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1: Introducción del BPM</a:t>
            </a:r>
          </a:p>
          <a:p>
            <a:r>
              <a:t>Sección 1.3: Certificaciones</a:t>
            </a:r>
          </a:p>
          <a:p/>
          <a:p>
            <a:r>
              <a:t>Conserva estas ideas. Distingue asistencia, competencia y organización. Comprueba emisor, alcance y requisitos vigentes. Comunica solo lo que la evidencia acredita. El caso y sus datos son ficticios. Revisa las fuentes indicadas en los materiales y continúa con la práctica para transferir estos criterios a otra situación.</a:t>
            </a:r>
          </a:p>
          <a:p/>
          <a:p>
            <a:r>
              <a:t>Fuente curricular: Procesos para Negocios Digitales, 1.3, UPS 2026–2027. Referencia: ABPMP International, información oficial de certificación: https://www.abpmp.org/ . Los requisitos deben consultarse en su versión vigente; no se atribuye equivalencia universal entre credenciales.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1: Introducción del BPM</a:t>
            </a:r>
          </a:p>
          <a:p>
            <a:r>
              <a:t>Sección 1.4: Ciclo de vida general del BPM</a:t>
            </a:r>
          </a:p>
          <a:p/>
          <a:p>
            <a:r>
              <a:t>Hoy estudiaremos ciclo de vida general del bpm. El propósito es explicar el ciclo general de BPM y la relación iterativa entre comprender, cambiar y controlar un proceso. Este contenido forma parte de procesos para negocios digitales. Trabajaremos con conceptos y un caso ficticio para tomar decisiones justificadas.</a:t>
            </a:r>
          </a:p>
          <a:p/>
          <a:p>
            <a:r>
              <a:t>Fuente curricular: Procesos para Negocios Digitales, 1.4, UPS 2026–2027. Referencia: Dumas et al. (2018), Fundamentals of Business Process Management, 2.ª ed. Weske (2012), Business Process Management: Concepts, Languages, Architectures.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1: Introducción del BPM</a:t>
            </a:r>
          </a:p>
          <a:p>
            <a:r>
              <a:t>Sección 1.4: Ciclo de vida general del BPM</a:t>
            </a:r>
          </a:p>
          <a:p/>
          <a:p>
            <a:r>
              <a:t>Antes de proponer una solución, considera esta pregunta: ¿Qué evidencia produce cada fase y cuándo sería necesario volver al análisis? Al terminar deberás explicar tu decisión, indicar cómo la comprobarías y reconocer los límites de la evidencia utilizada.</a:t>
            </a:r>
          </a:p>
          <a:p/>
          <a:p>
            <a:r>
              <a:t>Fuente curricular: Procesos para Negocios Digitales, 1.4, UPS 2026–2027. Referencia: Dumas et al. (2018), Fundamentals of Business Process Management, 2.ª ed. Weske (2012), Business Process Management: Concepts, Languages, Architectures.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1: Introducción del BPM</a:t>
            </a:r>
          </a:p>
          <a:p>
            <a:r>
              <a:t>Sección 1.4: Ciclo de vida general del BPM</a:t>
            </a:r>
          </a:p>
          <a:p/>
          <a:p>
            <a:r>
              <a:t>El ciclo comienza seleccionando procesos según propósito, impacto y problemas observados. Define límites, destinatarios, responsable y relación con otros procesos. No todas las oportunidades tienen la misma prioridad ni madurez. Un alcance claro permite saber qué se investigará y evita que el proyecto intente transformar toda la organización antes de comprender una necesidad concreta.</a:t>
            </a:r>
          </a:p>
          <a:p/>
          <a:p>
            <a:r>
              <a:t>Fuente curricular: Procesos para Negocios Digitales, 1.4, UPS 2026–2027. Referencia: Dumas et al. (2018), Fundamentals of Business Process Management, 2.ª ed. Weske (2012), Business Process Management: Concepts, Languages, Architectures.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1: Introducción del BPM</a:t>
            </a:r>
          </a:p>
          <a:p>
            <a:r>
              <a:t>Sección 1.4: Ciclo de vida general del BPM</a:t>
            </a:r>
          </a:p>
          <a:p/>
          <a:p>
            <a:r>
              <a:t>El descubrimiento documenta cómo funciona realmente el proceso usando entrevistas, observación y registros pertinentes. El análisis identifica problemas, tiempos, variaciones y causas que deben contrastarse. El modelo actual no debe confundirse con el procedimiento ideal del manual. Recoger varias perspectivas ayuda a encontrar trabajo oculto y diferencias entre lo previsto y lo que las personas hacen.</a:t>
            </a:r>
          </a:p>
          <a:p/>
          <a:p>
            <a:r>
              <a:t>Fuente curricular: Procesos para Negocios Digitales, 1.4, UPS 2026–2027. Referencia: Dumas et al. (2018), Fundamentals of Business Process Management, 2.ª ed. Weske (2012), Business Process Management: Concepts, Languages, Architectures.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1: Introducción del BPM</a:t>
            </a:r>
          </a:p>
          <a:p>
            <a:r>
              <a:t>Sección 1.4: Ciclo de vida general del BPM</a:t>
            </a:r>
          </a:p>
          <a:p/>
          <a:p>
            <a:r>
              <a:t>El recorrido une identificación, descubrimiento, análisis, rediseño, implementación y monitoreo. Agruparlos en cuatro bloques facilita recordar el ciclo, pero no elimina sus actividades. La evidencia de monitoreo puede devolver al equipo al análisis o incluso a la delimitación. Lo importante es conservar trazabilidad entre problema, propuesta y resultado observado.</a:t>
            </a:r>
          </a:p>
          <a:p/>
          <a:p>
            <a:r>
              <a:t>Fuente curricular: Procesos para Negocios Digitales, 1.4, UPS 2026–2027. Referencia: Dumas et al. (2018), Fundamentals of Business Process Management, 2.ª ed. Weske (2012), Business Process Management: Concepts, Languages, Architectures.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1: Introducción del BPM</a:t>
            </a:r>
          </a:p>
          <a:p>
            <a:r>
              <a:t>Sección 1.4: Ciclo de vida general del BPM</a:t>
            </a:r>
          </a:p>
          <a:p/>
          <a:p>
            <a:r>
              <a:t>Caso ficticio: un negocio detecta solicitudes de soporte respondidas tarde. Primero limita el proceso desde recepción hasta primera respuesta útil. Observa casos y descubre reasignaciones sin responsable. Propone una regla de asignación, forma al equipo y la prueba en un piloto. Después revisa tiempo, calidad y solicitudes olvidadas. Si la mejora solo funciona para casos simples, vuelve al análisis de excepciones.</a:t>
            </a:r>
          </a:p>
          <a:p/>
          <a:p>
            <a:r>
              <a:t>Fuente curricular: Procesos para Negocios Digitales, 1.4, UPS 2026–2027. Referencia: Dumas et al. (2018), Fundamentals of Business Process Management, 2.ª ed. Weske (2012), Business Process Management: Concepts, Languages, Architectures.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1: Introducción del BPM</a:t>
            </a:r>
          </a:p>
          <a:p>
            <a:r>
              <a:t>Sección 1.4: Ciclo de vida general del BPM</a:t>
            </a:r>
          </a:p>
          <a:p/>
          <a:p>
            <a:r>
              <a:t>El rediseño propone un estado futuro coherente con objetivos y restricciones. Compara alternativas, revisa excepciones y anticipa cómo cambiarán tareas, roles y sistemas. Implementar incluye acuerdos operativos, capacitación y controles, no solo instalar tecnología. Una transición gradual y con criterios de aceptación permite comprobar que el nuevo recorrido puede ejecutarse y que su resultado satisface el propósito.</a:t>
            </a:r>
          </a:p>
          <a:p/>
          <a:p>
            <a:r>
              <a:t>Fuente curricular: Procesos para Negocios Digitales, 1.4, UPS 2026–2027. Referencia: Dumas et al. (2018), Fundamentals of Business Process Management, 2.ª ed. Weske (2012), Business Process Management: Concepts, Languages, Architectures.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1: Introducción del BPM</a:t>
            </a:r>
          </a:p>
          <a:p>
            <a:r>
              <a:t>Sección 1.4: Ciclo de vida general del BPM</a:t>
            </a:r>
          </a:p>
          <a:p/>
          <a:p>
            <a:r>
              <a:t>El seguimiento compara el desempeño con objetivos y detecta desviaciones. Usa definiciones de indicador, datos confiables y responsables de revisión. Los resultados pueden exigir ajustar reglas, redescubrir el proceso o revisar el alcance. El ciclo es iterativo: no termina al publicar un diagrama, y sus fases pueden solaparse cuando aparece nueva evidencia sobre la operación.</a:t>
            </a:r>
          </a:p>
          <a:p/>
          <a:p>
            <a:r>
              <a:t>Fuente curricular: Procesos para Negocios Digitales, 1.4, UPS 2026–2027. Referencia: Dumas et al. (2018), Fundamentals of Business Process Management, 2.ª ed. Weske (2012), Business Process Management: Concepts, Languages, Architectures.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1: Introducción del BPM</a:t>
            </a:r>
          </a:p>
          <a:p>
            <a:r>
              <a:t>Sección 1.4: Ciclo de vida general del BPM</a:t>
            </a:r>
          </a:p>
          <a:p/>
          <a:p>
            <a:r>
              <a:t>Para aplicar lo aprendido, desarrolla la tarea editable. Describe el alcance del proceso y el criterio para seleccionarlo. Después, diseña un piloto con roles, capacitación y aceptación del cambio. Justifica tus decisiones con los conceptos de esta explicación y comprueba tus respuestas en la actividad interactiva.</a:t>
            </a:r>
          </a:p>
          <a:p/>
          <a:p>
            <a:r>
              <a:t>Fuente curricular: Procesos para Negocios Digitales, 1.4, UPS 2026–2027. Referencia: Dumas et al. (2018), Fundamentals of Business Process Management, 2.ª ed. Weske (2012), Business Process Management: Concepts, Languages, Architectures.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1: Introducción del BPM</a:t>
            </a:r>
          </a:p>
          <a:p>
            <a:r>
              <a:t>Sección 1.4: Ciclo de vida general del BPM</a:t>
            </a:r>
          </a:p>
          <a:p/>
          <a:p>
            <a:r>
              <a:t>Conserva estas ideas. Delimita antes de intervenir. Conecta diagnóstico, propuesta e implementación. Usa resultados para reiniciar el aprendizaje. El caso y sus datos son ficticios. Revisa las fuentes indicadas en los materiales y continúa con la práctica para transferir estos criterios a otra situación.</a:t>
            </a:r>
          </a:p>
          <a:p/>
          <a:p>
            <a:r>
              <a:t>Fuente curricular: Procesos para Negocios Digitales, 1.4, UPS 2026–2027. Referencia: Dumas et al. (2018), Fundamentals of Business Process Management, 2.ª ed. Weske (2012), Business Process Management: Concepts, Languages, Architectures.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419100"/>
            <a:ext cx="10820400" cy="381000"/>
          </a:xfrm>
          <a:prstGeom prst="rect">
            <a:avLst/>
          </a:prstGeom>
          <a:noFill/>
        </p:spPr>
        <p:txBody>
          <a:bodyPr wrap="none" lIns="0" tIns="0" rIns="0" bIns="0" anchor="t">
            <a:spAutoFit/>
          </a:bodyPr>
          <a:lstStyle/>
          <a:p>
            <a:pPr>
              <a:lnSpc>
                <a:spcPts val="2160"/>
              </a:lnSpc>
              <a:spcBef>
                <a:spcPts val="0"/>
              </a:spcBef>
              <a:spcAft>
                <a:spcPts val="0"/>
              </a:spcAft>
              <a:defRPr sz="1560" b="1">
                <a:solidFill>
                  <a:srgbClr val="E7AE53"/>
                </a:solidFill>
                <a:latin typeface="Noto Sans"/>
              </a:defRPr>
            </a:pPr>
            <a:r>
              <a:t>PROCESOS PARA NEGOCIOS DIGITALES</a:t>
            </a:r>
          </a:p>
        </p:txBody>
      </p:sp>
      <p:sp>
        <p:nvSpPr>
          <p:cNvPr id="5" name="TextBox 4"/>
          <p:cNvSpPr txBox="1"/>
          <p:nvPr/>
        </p:nvSpPr>
        <p:spPr>
          <a:xfrm>
            <a:off x="609600" y="1371600"/>
            <a:ext cx="10896600" cy="502920"/>
          </a:xfrm>
          <a:prstGeom prst="rect">
            <a:avLst/>
          </a:prstGeom>
          <a:noFill/>
        </p:spPr>
        <p:txBody>
          <a:bodyPr wrap="none" lIns="0" tIns="0" rIns="0" bIns="0" anchor="t">
            <a:spAutoFit/>
          </a:bodyPr>
          <a:lstStyle/>
          <a:p>
            <a:pPr>
              <a:lnSpc>
                <a:spcPts val="3120"/>
              </a:lnSpc>
              <a:spcBef>
                <a:spcPts val="0"/>
              </a:spcBef>
              <a:spcAft>
                <a:spcPts val="0"/>
              </a:spcAft>
              <a:defRPr sz="2280" b="1">
                <a:solidFill>
                  <a:srgbClr val="D6E4E8"/>
                </a:solidFill>
                <a:latin typeface="Noto Sans"/>
              </a:defRPr>
            </a:pPr>
            <a:r>
              <a:t>Unidad 1</a:t>
            </a:r>
          </a:p>
        </p:txBody>
      </p:sp>
      <p:sp>
        <p:nvSpPr>
          <p:cNvPr id="6" name="TextBox 5"/>
          <p:cNvSpPr txBox="1"/>
          <p:nvPr/>
        </p:nvSpPr>
        <p:spPr>
          <a:xfrm>
            <a:off x="609600" y="2019300"/>
            <a:ext cx="10820400" cy="716280"/>
          </a:xfrm>
          <a:prstGeom prst="rect">
            <a:avLst/>
          </a:prstGeom>
          <a:noFill/>
        </p:spPr>
        <p:txBody>
          <a:bodyPr wrap="none" lIns="0" tIns="0" rIns="0" bIns="0" anchor="t">
            <a:spAutoFit/>
          </a:bodyPr>
          <a:lstStyle/>
          <a:p>
            <a:pPr>
              <a:lnSpc>
                <a:spcPts val="4800"/>
              </a:lnSpc>
              <a:spcBef>
                <a:spcPts val="0"/>
              </a:spcBef>
              <a:spcAft>
                <a:spcPts val="0"/>
              </a:spcAft>
              <a:defRPr sz="3479" b="1">
                <a:solidFill>
                  <a:srgbClr val="FFFFFF"/>
                </a:solidFill>
                <a:latin typeface="Noto Sans"/>
              </a:defRPr>
            </a:pPr>
            <a:r>
              <a:t>Introducción del BPM</a:t>
            </a:r>
          </a:p>
        </p:txBody>
      </p:sp>
      <p:sp>
        <p:nvSpPr>
          <p:cNvPr id="7" name="TextBox 6"/>
          <p:cNvSpPr txBox="1"/>
          <p:nvPr/>
        </p:nvSpPr>
        <p:spPr>
          <a:xfrm>
            <a:off x="647700" y="4953000"/>
            <a:ext cx="10668000" cy="441960"/>
          </a:xfrm>
          <a:prstGeom prst="rect">
            <a:avLst/>
          </a:prstGeom>
          <a:noFill/>
        </p:spPr>
        <p:txBody>
          <a:bodyPr wrap="none" lIns="0" tIns="0" rIns="0" bIns="0" anchor="t">
            <a:spAutoFit/>
          </a:bodyPr>
          <a:lstStyle/>
          <a:p>
            <a:pPr>
              <a:lnSpc>
                <a:spcPts val="2640"/>
              </a:lnSpc>
              <a:spcBef>
                <a:spcPts val="0"/>
              </a:spcBef>
              <a:spcAft>
                <a:spcPts val="0"/>
              </a:spcAft>
              <a:defRPr sz="1920" b="0">
                <a:solidFill>
                  <a:srgbClr val="D6E4E8"/>
                </a:solidFill>
                <a:latin typeface="Noto Sans"/>
              </a:defRPr>
            </a:pPr>
            <a:r>
              <a:t>Secciones 1.1 · 1.2 · 1.3 · 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419100"/>
            <a:ext cx="10820400" cy="381000"/>
          </a:xfrm>
          <a:prstGeom prst="rect">
            <a:avLst/>
          </a:prstGeom>
          <a:noFill/>
        </p:spPr>
        <p:txBody>
          <a:bodyPr wrap="none" lIns="0" tIns="0" rIns="0" bIns="0" anchor="t">
            <a:spAutoFit/>
          </a:bodyPr>
          <a:lstStyle/>
          <a:p>
            <a:pPr>
              <a:lnSpc>
                <a:spcPts val="2160"/>
              </a:lnSpc>
              <a:spcBef>
                <a:spcPts val="0"/>
              </a:spcBef>
              <a:spcAft>
                <a:spcPts val="0"/>
              </a:spcAft>
              <a:defRPr sz="1560" b="1">
                <a:solidFill>
                  <a:srgbClr val="E7AE53"/>
                </a:solidFill>
                <a:latin typeface="Noto Sans"/>
              </a:defRPr>
            </a:pPr>
            <a:r>
              <a:t>PROCESOS PARA NEGOCIOS DIGITALES</a:t>
            </a:r>
          </a:p>
        </p:txBody>
      </p:sp>
      <p:sp>
        <p:nvSpPr>
          <p:cNvPr id="5" name="TextBox 4"/>
          <p:cNvSpPr txBox="1"/>
          <p:nvPr/>
        </p:nvSpPr>
        <p:spPr>
          <a:xfrm>
            <a:off x="609600" y="1257300"/>
            <a:ext cx="10820400" cy="579120"/>
          </a:xfrm>
          <a:prstGeom prst="rect">
            <a:avLst/>
          </a:prstGeom>
          <a:noFill/>
        </p:spPr>
        <p:txBody>
          <a:bodyPr wrap="none" lIns="0" tIns="0" rIns="0" bIns="0" anchor="t">
            <a:spAutoFit/>
          </a:bodyPr>
          <a:lstStyle/>
          <a:p>
            <a:pPr>
              <a:lnSpc>
                <a:spcPts val="3719"/>
              </a:lnSpc>
              <a:spcBef>
                <a:spcPts val="0"/>
              </a:spcBef>
              <a:spcAft>
                <a:spcPts val="0"/>
              </a:spcAft>
              <a:defRPr sz="2700" b="1">
                <a:solidFill>
                  <a:srgbClr val="FFFFFF"/>
                </a:solidFill>
                <a:latin typeface="Noto Sans"/>
              </a:defRPr>
            </a:pPr>
            <a:r>
              <a:t>Secciones y contenidos de la unidad</a:t>
            </a:r>
          </a:p>
        </p:txBody>
      </p:sp>
      <p:sp>
        <p:nvSpPr>
          <p:cNvPr id="6" name="TextBox 5"/>
          <p:cNvSpPr txBox="1"/>
          <p:nvPr/>
        </p:nvSpPr>
        <p:spPr>
          <a:xfrm>
            <a:off x="685800" y="2362200"/>
            <a:ext cx="10744200" cy="441960"/>
          </a:xfrm>
          <a:prstGeom prst="rect">
            <a:avLst/>
          </a:prstGeom>
          <a:noFill/>
        </p:spPr>
        <p:txBody>
          <a:bodyPr wrap="none" lIns="0" tIns="0" rIns="0" bIns="0" anchor="t">
            <a:spAutoFit/>
          </a:bodyPr>
          <a:lstStyle/>
          <a:p>
            <a:pPr>
              <a:lnSpc>
                <a:spcPts val="2640"/>
              </a:lnSpc>
              <a:spcBef>
                <a:spcPts val="0"/>
              </a:spcBef>
              <a:spcAft>
                <a:spcPts val="0"/>
              </a:spcAft>
              <a:defRPr sz="1920" b="0">
                <a:solidFill>
                  <a:srgbClr val="FFFFFF"/>
                </a:solidFill>
                <a:latin typeface="Noto Sans"/>
              </a:defRPr>
            </a:pPr>
            <a:r>
              <a:t>1.1 · Generalidades del BPM</a:t>
            </a:r>
          </a:p>
        </p:txBody>
      </p:sp>
      <p:sp>
        <p:nvSpPr>
          <p:cNvPr id="7" name="TextBox 6"/>
          <p:cNvSpPr txBox="1"/>
          <p:nvPr/>
        </p:nvSpPr>
        <p:spPr>
          <a:xfrm>
            <a:off x="685800" y="3314700"/>
            <a:ext cx="10744200" cy="441960"/>
          </a:xfrm>
          <a:prstGeom prst="rect">
            <a:avLst/>
          </a:prstGeom>
          <a:noFill/>
        </p:spPr>
        <p:txBody>
          <a:bodyPr wrap="none" lIns="0" tIns="0" rIns="0" bIns="0" anchor="t">
            <a:spAutoFit/>
          </a:bodyPr>
          <a:lstStyle/>
          <a:p>
            <a:pPr>
              <a:lnSpc>
                <a:spcPts val="2640"/>
              </a:lnSpc>
              <a:spcBef>
                <a:spcPts val="0"/>
              </a:spcBef>
              <a:spcAft>
                <a:spcPts val="0"/>
              </a:spcAft>
              <a:defRPr sz="1920" b="0">
                <a:solidFill>
                  <a:srgbClr val="FFFFFF"/>
                </a:solidFill>
                <a:latin typeface="Noto Sans"/>
              </a:defRPr>
            </a:pPr>
            <a:r>
              <a:t>1.2 · Beneficios del BPM en los negocios digitales</a:t>
            </a:r>
          </a:p>
        </p:txBody>
      </p:sp>
      <p:sp>
        <p:nvSpPr>
          <p:cNvPr id="8" name="TextBox 7"/>
          <p:cNvSpPr txBox="1"/>
          <p:nvPr/>
        </p:nvSpPr>
        <p:spPr>
          <a:xfrm>
            <a:off x="685800" y="4267200"/>
            <a:ext cx="10744200" cy="441960"/>
          </a:xfrm>
          <a:prstGeom prst="rect">
            <a:avLst/>
          </a:prstGeom>
          <a:noFill/>
        </p:spPr>
        <p:txBody>
          <a:bodyPr wrap="none" lIns="0" tIns="0" rIns="0" bIns="0" anchor="t">
            <a:spAutoFit/>
          </a:bodyPr>
          <a:lstStyle/>
          <a:p>
            <a:pPr>
              <a:lnSpc>
                <a:spcPts val="2640"/>
              </a:lnSpc>
              <a:spcBef>
                <a:spcPts val="0"/>
              </a:spcBef>
              <a:spcAft>
                <a:spcPts val="0"/>
              </a:spcAft>
              <a:defRPr sz="1920" b="0">
                <a:solidFill>
                  <a:srgbClr val="FFFFFF"/>
                </a:solidFill>
                <a:latin typeface="Noto Sans"/>
              </a:defRPr>
            </a:pPr>
            <a:r>
              <a:t>1.3 · Certificaciones</a:t>
            </a:r>
          </a:p>
        </p:txBody>
      </p:sp>
      <p:sp>
        <p:nvSpPr>
          <p:cNvPr id="9" name="TextBox 8"/>
          <p:cNvSpPr txBox="1"/>
          <p:nvPr/>
        </p:nvSpPr>
        <p:spPr>
          <a:xfrm>
            <a:off x="685800" y="5219700"/>
            <a:ext cx="10744200" cy="441960"/>
          </a:xfrm>
          <a:prstGeom prst="rect">
            <a:avLst/>
          </a:prstGeom>
          <a:noFill/>
        </p:spPr>
        <p:txBody>
          <a:bodyPr wrap="none" lIns="0" tIns="0" rIns="0" bIns="0" anchor="t">
            <a:spAutoFit/>
          </a:bodyPr>
          <a:lstStyle/>
          <a:p>
            <a:pPr>
              <a:lnSpc>
                <a:spcPts val="2640"/>
              </a:lnSpc>
              <a:spcBef>
                <a:spcPts val="0"/>
              </a:spcBef>
              <a:spcAft>
                <a:spcPts val="0"/>
              </a:spcAft>
              <a:defRPr sz="1920" b="0">
                <a:solidFill>
                  <a:srgbClr val="FFFFFF"/>
                </a:solidFill>
                <a:latin typeface="Noto Sans"/>
              </a:defRPr>
            </a:pPr>
            <a:r>
              <a:t>1.4 · Ciclo de vida general del BPM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name="PND_U1 · Sección 1.1 · Generalidades del BPM">
    <p:bg>
      <p:bgPr>
        <a:solidFill>
          <a:srgbClr val="F5F2EB"/>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E7AE53"/>
                </a:solidFill>
                <a:latin typeface="Noto Sans"/>
              </a:defRPr>
            </a:pPr>
            <a:r>
              <a:t>PROCESOS PARA NEGOCIOS DIGITALES · U1 · 1.1</a:t>
            </a:r>
          </a:p>
        </p:txBody>
      </p:sp>
      <p:sp>
        <p:nvSpPr>
          <p:cNvPr id="5" name="TextBox 4"/>
          <p:cNvSpPr txBox="1"/>
          <p:nvPr/>
        </p:nvSpPr>
        <p:spPr>
          <a:xfrm>
            <a:off x="609600" y="1203960"/>
            <a:ext cx="10744200" cy="777240"/>
          </a:xfrm>
          <a:prstGeom prst="rect">
            <a:avLst/>
          </a:prstGeom>
          <a:noFill/>
        </p:spPr>
        <p:txBody>
          <a:bodyPr wrap="none" lIns="0" tIns="0" rIns="0" bIns="0" anchor="t">
            <a:spAutoFit/>
          </a:bodyPr>
          <a:lstStyle/>
          <a:p>
            <a:pPr>
              <a:lnSpc>
                <a:spcPts val="5280"/>
              </a:lnSpc>
              <a:spcBef>
                <a:spcPts val="0"/>
              </a:spcBef>
              <a:spcAft>
                <a:spcPts val="0"/>
              </a:spcAft>
              <a:defRPr sz="3840" b="1">
                <a:solidFill>
                  <a:srgbClr val="FFFFFF"/>
                </a:solidFill>
                <a:latin typeface="Noto Sans"/>
              </a:defRPr>
            </a:pPr>
            <a:r>
              <a:t>Generalidades del BPM</a:t>
            </a:r>
          </a:p>
        </p:txBody>
      </p:sp>
      <p:sp>
        <p:nvSpPr>
          <p:cNvPr id="6" name="TextBox 5"/>
          <p:cNvSpPr txBox="1"/>
          <p:nvPr/>
        </p:nvSpPr>
        <p:spPr>
          <a:xfrm>
            <a:off x="647700" y="2080260"/>
            <a:ext cx="9982200" cy="777240"/>
          </a:xfrm>
          <a:prstGeom prst="rect">
            <a:avLst/>
          </a:prstGeom>
          <a:noFill/>
        </p:spPr>
        <p:txBody>
          <a:bodyPr wrap="none" lIns="0" tIns="0" rIns="0" bIns="0" anchor="t">
            <a:spAutoFit/>
          </a:bodyPr>
          <a:lstStyle/>
          <a:p>
            <a:pPr>
              <a:lnSpc>
                <a:spcPts val="2640"/>
              </a:lnSpc>
              <a:spcBef>
                <a:spcPts val="0"/>
              </a:spcBef>
              <a:spcAft>
                <a:spcPts val="0"/>
              </a:spcAft>
              <a:defRPr sz="1920" b="0">
                <a:solidFill>
                  <a:srgbClr val="D6E4E8"/>
                </a:solidFill>
                <a:latin typeface="Noto Sans"/>
              </a:defRPr>
            </a:pPr>
            <a:r>
              <a:t>Reconocer proceso, actividad, evento y flujo, y distinguir gestión por procesos,</a:t>
            </a:r>
          </a:p>
          <a:p>
            <a:pPr>
              <a:lnSpc>
                <a:spcPts val="2640"/>
              </a:lnSpc>
              <a:spcBef>
                <a:spcPts val="0"/>
              </a:spcBef>
              <a:spcAft>
                <a:spcPts val="0"/>
              </a:spcAft>
              <a:defRPr sz="1920" b="0">
                <a:solidFill>
                  <a:srgbClr val="D6E4E8"/>
                </a:solidFill>
                <a:latin typeface="Noto Sans"/>
              </a:defRPr>
            </a:pPr>
            <a:r>
              <a:t>notación y software.</a:t>
            </a:r>
          </a:p>
        </p:txBody>
      </p:sp>
      <p:sp>
        <p:nvSpPr>
          <p:cNvPr id="7" name="Rounded Rectangle 6"/>
          <p:cNvSpPr/>
          <p:nvPr/>
        </p:nvSpPr>
        <p:spPr>
          <a:xfrm>
            <a:off x="6477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34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Comprender</a:t>
            </a:r>
          </a:p>
        </p:txBody>
      </p:sp>
      <p:sp>
        <p:nvSpPr>
          <p:cNvPr id="9" name="Rounded Rectangle 8"/>
          <p:cNvSpPr/>
          <p:nvPr/>
        </p:nvSpPr>
        <p:spPr>
          <a:xfrm>
            <a:off x="43815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872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Aplicar</a:t>
            </a:r>
          </a:p>
        </p:txBody>
      </p:sp>
      <p:sp>
        <p:nvSpPr>
          <p:cNvPr id="11" name="Rounded Rectangle 10"/>
          <p:cNvSpPr/>
          <p:nvPr/>
        </p:nvSpPr>
        <p:spPr>
          <a:xfrm>
            <a:off x="81153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Comprobar</a:t>
            </a:r>
          </a:p>
        </p:txBody>
      </p:sp>
      <p:sp>
        <p:nvSpPr>
          <p:cNvPr id="13" name="TextBox 12"/>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Material didáctico de elaboración original · Caso y datos ficticios</a:t>
            </a:r>
          </a:p>
        </p:txBody>
      </p:sp>
      <p:sp>
        <p:nvSpPr>
          <p:cNvPr id="14" name="TextBox 13"/>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01 /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name="PND_U1 · Sección 1.1 · Generalidades del BPM">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U1 · 1.1</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Una decisión que podrás justificar</a:t>
            </a:r>
          </a:p>
        </p:txBody>
      </p:sp>
      <p:sp>
        <p:nvSpPr>
          <p:cNvPr id="5" name="Rounded Rectangle 4"/>
          <p:cNvSpPr/>
          <p:nvPr/>
        </p:nvSpPr>
        <p:spPr>
          <a:xfrm>
            <a:off x="609600" y="2308860"/>
            <a:ext cx="10896600" cy="1341120"/>
          </a:xfrm>
          <a:prstGeom prst="roundRect">
            <a:avLst>
              <a:gd name="adj" fmla="val 10227"/>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200" y="2484120"/>
            <a:ext cx="10439400" cy="822960"/>
          </a:xfrm>
          <a:prstGeom prst="rect">
            <a:avLst/>
          </a:prstGeom>
          <a:noFill/>
        </p:spPr>
        <p:txBody>
          <a:bodyPr wrap="none" lIns="0" tIns="0" rIns="0" bIns="0" anchor="t">
            <a:spAutoFit/>
          </a:bodyPr>
          <a:lstStyle/>
          <a:p>
            <a:pPr>
              <a:lnSpc>
                <a:spcPts val="2820"/>
              </a:lnSpc>
              <a:spcBef>
                <a:spcPts val="0"/>
              </a:spcBef>
              <a:spcAft>
                <a:spcPts val="0"/>
              </a:spcAft>
              <a:defRPr sz="2039" b="1">
                <a:solidFill>
                  <a:srgbClr val="18394A"/>
                </a:solidFill>
                <a:latin typeface="Noto Sans"/>
              </a:defRPr>
            </a:pPr>
            <a:r>
              <a:t>Reconocer proceso, actividad, evento y flujo, y distinguir gestión por procesos,</a:t>
            </a:r>
          </a:p>
          <a:p>
            <a:pPr>
              <a:lnSpc>
                <a:spcPts val="2820"/>
              </a:lnSpc>
              <a:spcBef>
                <a:spcPts val="0"/>
              </a:spcBef>
              <a:spcAft>
                <a:spcPts val="0"/>
              </a:spcAft>
              <a:defRPr sz="2039" b="1">
                <a:solidFill>
                  <a:srgbClr val="18394A"/>
                </a:solidFill>
                <a:latin typeface="Noto Sans"/>
              </a:defRPr>
            </a:pPr>
            <a:r>
              <a:t>notación y software.</a:t>
            </a:r>
          </a:p>
        </p:txBody>
      </p:sp>
      <p:sp>
        <p:nvSpPr>
          <p:cNvPr id="7" name="TextBox 6"/>
          <p:cNvSpPr txBox="1"/>
          <p:nvPr/>
        </p:nvSpPr>
        <p:spPr>
          <a:xfrm>
            <a:off x="685800" y="4061460"/>
            <a:ext cx="10668000" cy="381000"/>
          </a:xfrm>
          <a:prstGeom prst="rect">
            <a:avLst/>
          </a:prstGeom>
          <a:noFill/>
        </p:spPr>
        <p:txBody>
          <a:bodyPr wrap="none" lIns="0" tIns="0" rIns="0" bIns="0" anchor="t">
            <a:spAutoFit/>
          </a:bodyPr>
          <a:lstStyle/>
          <a:p>
            <a:pPr>
              <a:lnSpc>
                <a:spcPts val="2160"/>
              </a:lnSpc>
              <a:spcBef>
                <a:spcPts val="0"/>
              </a:spcBef>
              <a:spcAft>
                <a:spcPts val="0"/>
              </a:spcAft>
              <a:defRPr sz="1560" b="1">
                <a:solidFill>
                  <a:srgbClr val="087E8B"/>
                </a:solidFill>
                <a:latin typeface="Noto Sans"/>
              </a:defRPr>
            </a:pPr>
            <a:r>
              <a:t>Pregunta de entrada</a:t>
            </a:r>
          </a:p>
        </p:txBody>
      </p:sp>
      <p:sp>
        <p:nvSpPr>
          <p:cNvPr id="8" name="TextBox 7"/>
          <p:cNvSpPr txBox="1"/>
          <p:nvPr/>
        </p:nvSpPr>
        <p:spPr>
          <a:xfrm>
            <a:off x="685800" y="4488180"/>
            <a:ext cx="10668000" cy="822960"/>
          </a:xfrm>
          <a:prstGeom prst="rect">
            <a:avLst/>
          </a:prstGeom>
          <a:noFill/>
        </p:spPr>
        <p:txBody>
          <a:bodyPr wrap="none" lIns="0" tIns="0" rIns="0" bIns="0" anchor="t">
            <a:spAutoFit/>
          </a:bodyPr>
          <a:lstStyle/>
          <a:p>
            <a:pPr>
              <a:lnSpc>
                <a:spcPts val="2820"/>
              </a:lnSpc>
              <a:spcBef>
                <a:spcPts val="0"/>
              </a:spcBef>
              <a:spcAft>
                <a:spcPts val="0"/>
              </a:spcAft>
              <a:defRPr sz="2039" b="0">
                <a:solidFill>
                  <a:srgbClr val="18394A"/>
                </a:solidFill>
                <a:latin typeface="Noto Sans"/>
              </a:defRPr>
            </a:pPr>
            <a:r>
              <a:t>¿Cuál es el proceso completo y por qué sumar las horas de trabajo no explica los tres</a:t>
            </a:r>
          </a:p>
          <a:p>
            <a:pPr>
              <a:lnSpc>
                <a:spcPts val="2820"/>
              </a:lnSpc>
              <a:spcBef>
                <a:spcPts val="0"/>
              </a:spcBef>
              <a:spcAft>
                <a:spcPts val="0"/>
              </a:spcAft>
              <a:defRPr sz="2039" b="0">
                <a:solidFill>
                  <a:srgbClr val="18394A"/>
                </a:solidFill>
                <a:latin typeface="Noto Sans"/>
              </a:defRPr>
            </a:pPr>
            <a:r>
              <a:t>días?</a:t>
            </a:r>
          </a:p>
        </p:txBody>
      </p:sp>
      <p:sp>
        <p:nvSpPr>
          <p:cNvPr id="9" name="TextBox 8"/>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0" name="TextBox 9"/>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02 /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name="PND_U1 · Sección 1.1 · Generalidades del BPM">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U1 · 1.1</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Qué es un proceso</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Un proceso es un conjunto relacionado de actividades que transforma entradas en</a:t>
            </a:r>
          </a:p>
          <a:p>
            <a:pPr>
              <a:lnSpc>
                <a:spcPts val="2580"/>
              </a:lnSpc>
              <a:spcBef>
                <a:spcPts val="0"/>
              </a:spcBef>
              <a:spcAft>
                <a:spcPts val="0"/>
              </a:spcAft>
              <a:defRPr sz="1859" b="0">
                <a:solidFill>
                  <a:srgbClr val="18394A"/>
                </a:solidFill>
                <a:latin typeface="Noto Sans"/>
              </a:defRPr>
            </a:pPr>
            <a:r>
              <a:t>resultados para un destinatario. Tiene un propósito, un desencadenante y límites que</a:t>
            </a:r>
          </a:p>
          <a:p>
            <a:pPr>
              <a:lnSpc>
                <a:spcPts val="2580"/>
              </a:lnSpc>
              <a:spcBef>
                <a:spcPts val="0"/>
              </a:spcBef>
              <a:spcAft>
                <a:spcPts val="0"/>
              </a:spcAft>
              <a:defRPr sz="1859" b="0">
                <a:solidFill>
                  <a:srgbClr val="18394A"/>
                </a:solidFill>
                <a:latin typeface="Noto Sans"/>
              </a:defRPr>
            </a:pPr>
            <a:r>
              <a:t>permiten distinguirlo de otras operaciones. Puede atravesar varios departamentos. Analizar</a:t>
            </a:r>
          </a:p>
          <a:p>
            <a:pPr>
              <a:lnSpc>
                <a:spcPts val="2580"/>
              </a:lnSpc>
              <a:spcBef>
                <a:spcPts val="0"/>
              </a:spcBef>
              <a:spcAft>
                <a:spcPts val="0"/>
              </a:spcAft>
              <a:defRPr sz="1859" b="0">
                <a:solidFill>
                  <a:srgbClr val="18394A"/>
                </a:solidFill>
                <a:latin typeface="Noto Sans"/>
              </a:defRPr>
            </a:pPr>
            <a:r>
              <a:t>solo las tareas de un área deja fuera esperas y transferencias que influyen en el resultado</a:t>
            </a:r>
          </a:p>
          <a:p>
            <a:pPr>
              <a:lnSpc>
                <a:spcPts val="2580"/>
              </a:lnSpc>
              <a:spcBef>
                <a:spcPts val="0"/>
              </a:spcBef>
              <a:spcAft>
                <a:spcPts val="0"/>
              </a:spcAft>
              <a:defRPr sz="1859" b="0">
                <a:solidFill>
                  <a:srgbClr val="18394A"/>
                </a:solidFill>
                <a:latin typeface="Noto Sans"/>
              </a:defRPr>
            </a:pPr>
            <a:r>
              <a:t>que recibe el cliente.</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03 /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name="PND_U1 · Sección 1.1 · Generalidades del BPM">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U1 · 1.1</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Vocabulario fundamental</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Una actividad representa trabajo realizado; una tarea es una unidad de trabajo dentro del</a:t>
            </a:r>
          </a:p>
          <a:p>
            <a:pPr>
              <a:lnSpc>
                <a:spcPts val="2580"/>
              </a:lnSpc>
              <a:spcBef>
                <a:spcPts val="0"/>
              </a:spcBef>
              <a:spcAft>
                <a:spcPts val="0"/>
              </a:spcAft>
              <a:defRPr sz="1859" b="0">
                <a:solidFill>
                  <a:srgbClr val="18394A"/>
                </a:solidFill>
                <a:latin typeface="Noto Sans"/>
              </a:defRPr>
            </a:pPr>
            <a:r>
              <a:t>nivel de detalle elegido. Un evento indica algo que ocurre y afecta el recorrido, como recibir</a:t>
            </a:r>
          </a:p>
          <a:p>
            <a:pPr>
              <a:lnSpc>
                <a:spcPts val="2580"/>
              </a:lnSpc>
              <a:spcBef>
                <a:spcPts val="0"/>
              </a:spcBef>
              <a:spcAft>
                <a:spcPts val="0"/>
              </a:spcAft>
              <a:defRPr sz="1859" b="0">
                <a:solidFill>
                  <a:srgbClr val="18394A"/>
                </a:solidFill>
                <a:latin typeface="Noto Sans"/>
              </a:defRPr>
            </a:pPr>
            <a:r>
              <a:t>una solicitud. El flujo expresa el orden o la relación entre elementos. Distinguir estos</a:t>
            </a:r>
          </a:p>
          <a:p>
            <a:pPr>
              <a:lnSpc>
                <a:spcPts val="2580"/>
              </a:lnSpc>
              <a:spcBef>
                <a:spcPts val="0"/>
              </a:spcBef>
              <a:spcAft>
                <a:spcPts val="0"/>
              </a:spcAft>
              <a:defRPr sz="1859" b="0">
                <a:solidFill>
                  <a:srgbClr val="18394A"/>
                </a:solidFill>
                <a:latin typeface="Noto Sans"/>
              </a:defRPr>
            </a:pPr>
            <a:r>
              <a:t>conceptos evita mezclar acciones, condiciones y resultados cuando se describe cómo</a:t>
            </a:r>
          </a:p>
          <a:p>
            <a:pPr>
              <a:lnSpc>
                <a:spcPts val="2580"/>
              </a:lnSpc>
              <a:spcBef>
                <a:spcPts val="0"/>
              </a:spcBef>
              <a:spcAft>
                <a:spcPts val="0"/>
              </a:spcAft>
              <a:defRPr sz="1859" b="0">
                <a:solidFill>
                  <a:srgbClr val="18394A"/>
                </a:solidFill>
                <a:latin typeface="Noto Sans"/>
              </a:defRPr>
            </a:pPr>
            <a:r>
              <a:t>funciona una organización.</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04 /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name="PND_U1 · Sección 1.1 · Generalidades del BPM">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U1 · 1.1</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Del concepto a la acción</a:t>
            </a:r>
          </a:p>
        </p:txBody>
      </p:sp>
      <p:sp>
        <p:nvSpPr>
          <p:cNvPr id="5" name="Rounded Rectangle 4"/>
          <p:cNvSpPr/>
          <p:nvPr/>
        </p:nvSpPr>
        <p:spPr>
          <a:xfrm>
            <a:off x="6096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48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01</a:t>
            </a:r>
          </a:p>
        </p:txBody>
      </p:sp>
      <p:sp>
        <p:nvSpPr>
          <p:cNvPr id="7" name="TextBox 6"/>
          <p:cNvSpPr txBox="1"/>
          <p:nvPr/>
        </p:nvSpPr>
        <p:spPr>
          <a:xfrm>
            <a:off x="7848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Recibir entrada</a:t>
            </a:r>
          </a:p>
        </p:txBody>
      </p:sp>
      <p:sp>
        <p:nvSpPr>
          <p:cNvPr id="8" name="TextBox 7"/>
          <p:cNvSpPr txBox="1"/>
          <p:nvPr/>
        </p:nvSpPr>
        <p:spPr>
          <a:xfrm>
            <a:off x="31546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9" name="Rounded Rectangle 8"/>
          <p:cNvSpPr/>
          <p:nvPr/>
        </p:nvSpPr>
        <p:spPr>
          <a:xfrm>
            <a:off x="33528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280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02</a:t>
            </a:r>
          </a:p>
        </p:txBody>
      </p:sp>
      <p:sp>
        <p:nvSpPr>
          <p:cNvPr id="11" name="TextBox 10"/>
          <p:cNvSpPr txBox="1"/>
          <p:nvPr/>
        </p:nvSpPr>
        <p:spPr>
          <a:xfrm>
            <a:off x="35280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Realizar trabajo</a:t>
            </a:r>
          </a:p>
        </p:txBody>
      </p:sp>
      <p:sp>
        <p:nvSpPr>
          <p:cNvPr id="12" name="TextBox 11"/>
          <p:cNvSpPr txBox="1"/>
          <p:nvPr/>
        </p:nvSpPr>
        <p:spPr>
          <a:xfrm>
            <a:off x="58978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13" name="Rounded Rectangle 12"/>
          <p:cNvSpPr/>
          <p:nvPr/>
        </p:nvSpPr>
        <p:spPr>
          <a:xfrm>
            <a:off x="60960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712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03</a:t>
            </a:r>
          </a:p>
        </p:txBody>
      </p:sp>
      <p:sp>
        <p:nvSpPr>
          <p:cNvPr id="15" name="TextBox 14"/>
          <p:cNvSpPr txBox="1"/>
          <p:nvPr/>
        </p:nvSpPr>
        <p:spPr>
          <a:xfrm>
            <a:off x="62712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Entregar resultado</a:t>
            </a:r>
          </a:p>
        </p:txBody>
      </p:sp>
      <p:sp>
        <p:nvSpPr>
          <p:cNvPr id="16" name="TextBox 15"/>
          <p:cNvSpPr txBox="1"/>
          <p:nvPr/>
        </p:nvSpPr>
        <p:spPr>
          <a:xfrm>
            <a:off x="86410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17" name="Rounded Rectangle 16"/>
          <p:cNvSpPr/>
          <p:nvPr/>
        </p:nvSpPr>
        <p:spPr>
          <a:xfrm>
            <a:off x="88392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144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04</a:t>
            </a:r>
          </a:p>
        </p:txBody>
      </p:sp>
      <p:sp>
        <p:nvSpPr>
          <p:cNvPr id="19" name="TextBox 18"/>
          <p:cNvSpPr txBox="1"/>
          <p:nvPr/>
        </p:nvSpPr>
        <p:spPr>
          <a:xfrm>
            <a:off x="90144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Evaluar propósito</a:t>
            </a:r>
          </a:p>
        </p:txBody>
      </p:sp>
      <p:sp>
        <p:nvSpPr>
          <p:cNvPr id="20" name="Rounded Rectangle 19"/>
          <p:cNvSpPr/>
          <p:nvPr/>
        </p:nvSpPr>
        <p:spPr>
          <a:xfrm>
            <a:off x="609600" y="3962399"/>
            <a:ext cx="10881360" cy="1744980"/>
          </a:xfrm>
          <a:prstGeom prst="roundRect">
            <a:avLst>
              <a:gd name="adj" fmla="val 786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8200" y="4175760"/>
            <a:ext cx="10424160" cy="1325880"/>
          </a:xfrm>
          <a:prstGeom prst="rect">
            <a:avLst/>
          </a:prstGeom>
          <a:noFill/>
        </p:spPr>
        <p:txBody>
          <a:bodyPr wrap="none" lIns="0" tIns="0" rIns="0" bIns="0" anchor="t">
            <a:spAutoFit/>
          </a:bodyPr>
          <a:lstStyle/>
          <a:p>
            <a:pPr>
              <a:lnSpc>
                <a:spcPts val="2400"/>
              </a:lnSpc>
              <a:spcBef>
                <a:spcPts val="0"/>
              </a:spcBef>
              <a:spcAft>
                <a:spcPts val="0"/>
              </a:spcAft>
              <a:defRPr sz="1739" b="0">
                <a:solidFill>
                  <a:srgbClr val="536975"/>
                </a:solidFill>
                <a:latin typeface="Noto Sans"/>
              </a:defRPr>
            </a:pPr>
            <a:r>
              <a:t>Describe qué inicia el proceso, qué trabajo transforma la entrada y qué resultado recibe el</a:t>
            </a:r>
          </a:p>
          <a:p>
            <a:pPr>
              <a:lnSpc>
                <a:spcPts val="2400"/>
              </a:lnSpc>
              <a:spcBef>
                <a:spcPts val="0"/>
              </a:spcBef>
              <a:spcAft>
                <a:spcPts val="0"/>
              </a:spcAft>
              <a:defRPr sz="1739" b="0">
                <a:solidFill>
                  <a:srgbClr val="536975"/>
                </a:solidFill>
                <a:latin typeface="Noto Sans"/>
              </a:defRPr>
            </a:pPr>
            <a:r>
              <a:t>destinatario. Después pregunta si ese resultado satisface el propósito y cómo lo comprobarías. Si el</a:t>
            </a:r>
          </a:p>
          <a:p>
            <a:pPr>
              <a:lnSpc>
                <a:spcPts val="2400"/>
              </a:lnSpc>
              <a:spcBef>
                <a:spcPts val="0"/>
              </a:spcBef>
              <a:spcAft>
                <a:spcPts val="0"/>
              </a:spcAft>
              <a:defRPr sz="1739" b="0">
                <a:solidFill>
                  <a:srgbClr val="536975"/>
                </a:solidFill>
                <a:latin typeface="Noto Sans"/>
              </a:defRPr>
            </a:pPr>
            <a:r>
              <a:t>recorrido atraviesa áreas, conserva una visión completa: el tiempo de cada tarea no explica por sí</a:t>
            </a:r>
          </a:p>
          <a:p>
            <a:pPr>
              <a:lnSpc>
                <a:spcPts val="2400"/>
              </a:lnSpc>
              <a:spcBef>
                <a:spcPts val="0"/>
              </a:spcBef>
              <a:spcAft>
                <a:spcPts val="0"/>
              </a:spcAft>
              <a:defRPr sz="1739" b="0">
                <a:solidFill>
                  <a:srgbClr val="536975"/>
                </a:solidFill>
                <a:latin typeface="Noto Sans"/>
              </a:defRPr>
            </a:pPr>
            <a:r>
              <a:t>solo todas las esperas de una solicitud.</a:t>
            </a:r>
          </a:p>
        </p:txBody>
      </p:sp>
      <p:sp>
        <p:nvSpPr>
          <p:cNvPr id="22" name="TextBox 21"/>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23" name="TextBox 22"/>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05 / 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name="PND_U1 · Sección 1.1 · Generalidades del BPM">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U1 · 1.1</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Caso aplicado · datos ficticios</a:t>
            </a:r>
          </a:p>
        </p:txBody>
      </p:sp>
      <p:sp>
        <p:nvSpPr>
          <p:cNvPr id="5" name="Rounded Rectangle 4"/>
          <p:cNvSpPr/>
          <p:nvPr/>
        </p:nvSpPr>
        <p:spPr>
          <a:xfrm>
            <a:off x="609600" y="2270760"/>
            <a:ext cx="10881360" cy="2301240"/>
          </a:xfrm>
          <a:prstGeom prst="roundRect">
            <a:avLst>
              <a:gd name="adj" fmla="val 596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3440" y="2484120"/>
            <a:ext cx="10393680" cy="1630680"/>
          </a:xfrm>
          <a:prstGeom prst="rect">
            <a:avLst/>
          </a:prstGeom>
          <a:noFill/>
        </p:spPr>
        <p:txBody>
          <a:bodyPr wrap="none" lIns="0" tIns="0" rIns="0" bIns="0" anchor="t">
            <a:spAutoFit/>
          </a:bodyPr>
          <a:lstStyle/>
          <a:p>
            <a:pPr>
              <a:lnSpc>
                <a:spcPts val="2400"/>
              </a:lnSpc>
              <a:spcBef>
                <a:spcPts val="0"/>
              </a:spcBef>
              <a:spcAft>
                <a:spcPts val="0"/>
              </a:spcAft>
              <a:defRPr sz="1739" b="0">
                <a:solidFill>
                  <a:srgbClr val="18394A"/>
                </a:solidFill>
                <a:latin typeface="Noto Sans"/>
              </a:defRPr>
            </a:pPr>
            <a:r>
              <a:t>Caso ficticio: una empresa recibe una solicitud de cotización, verifica requisitos, prepara una</a:t>
            </a:r>
          </a:p>
          <a:p>
            <a:pPr>
              <a:lnSpc>
                <a:spcPts val="2400"/>
              </a:lnSpc>
              <a:spcBef>
                <a:spcPts val="0"/>
              </a:spcBef>
              <a:spcAft>
                <a:spcPts val="0"/>
              </a:spcAft>
              <a:defRPr sz="1739" b="0">
                <a:solidFill>
                  <a:srgbClr val="18394A"/>
                </a:solidFill>
                <a:latin typeface="Noto Sans"/>
              </a:defRPr>
            </a:pPr>
            <a:r>
              <a:t>propuesta y la comunica al cliente. Ventas tarda una hora y revisión técnica otra, pero la respuesta</a:t>
            </a:r>
          </a:p>
          <a:p>
            <a:pPr>
              <a:lnSpc>
                <a:spcPts val="2400"/>
              </a:lnSpc>
              <a:spcBef>
                <a:spcPts val="0"/>
              </a:spcBef>
              <a:spcAft>
                <a:spcPts val="0"/>
              </a:spcAft>
              <a:defRPr sz="1739" b="0">
                <a:solidFill>
                  <a:srgbClr val="18394A"/>
                </a:solidFill>
                <a:latin typeface="Noto Sans"/>
              </a:defRPr>
            </a:pPr>
            <a:r>
              <a:t>llega tres días después por esperas entre áreas. El proceso no es solo redactar la propuesta. Para</a:t>
            </a:r>
          </a:p>
          <a:p>
            <a:pPr>
              <a:lnSpc>
                <a:spcPts val="2400"/>
              </a:lnSpc>
              <a:spcBef>
                <a:spcPts val="0"/>
              </a:spcBef>
              <a:spcAft>
                <a:spcPts val="0"/>
              </a:spcAft>
              <a:defRPr sz="1739" b="0">
                <a:solidFill>
                  <a:srgbClr val="18394A"/>
                </a:solidFill>
                <a:latin typeface="Noto Sans"/>
              </a:defRPr>
            </a:pPr>
            <a:r>
              <a:t>gestionarlo, necesita un responsable del recorrido, estados compartidos y una medida de tiempo</a:t>
            </a:r>
          </a:p>
          <a:p>
            <a:pPr>
              <a:lnSpc>
                <a:spcPts val="2400"/>
              </a:lnSpc>
              <a:spcBef>
                <a:spcPts val="0"/>
              </a:spcBef>
              <a:spcAft>
                <a:spcPts val="0"/>
              </a:spcAft>
              <a:defRPr sz="1739" b="0">
                <a:solidFill>
                  <a:srgbClr val="18394A"/>
                </a:solidFill>
                <a:latin typeface="Noto Sans"/>
              </a:defRPr>
            </a:pPr>
            <a:r>
              <a:t>desde la recepción hasta la respuesta.</a:t>
            </a:r>
          </a:p>
        </p:txBody>
      </p:sp>
      <p:sp>
        <p:nvSpPr>
          <p:cNvPr id="7" name="Rounded Rectangle 6"/>
          <p:cNvSpPr/>
          <p:nvPr/>
        </p:nvSpPr>
        <p:spPr>
          <a:xfrm>
            <a:off x="609600" y="4785360"/>
            <a:ext cx="10881360" cy="922020"/>
          </a:xfrm>
          <a:prstGeom prst="roundRect">
            <a:avLst>
              <a:gd name="adj" fmla="val 12396"/>
            </a:avLst>
          </a:prstGeom>
          <a:solidFill>
            <a:srgbClr val="E2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0580" y="4945380"/>
            <a:ext cx="104394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18394A"/>
                </a:solidFill>
                <a:latin typeface="Noto Sans"/>
              </a:defRPr>
            </a:pPr>
            <a:r>
              <a:t>¿Cuál es el proceso completo y por qué sumar las horas de trabajo no explica los tres días?</a:t>
            </a:r>
          </a:p>
        </p:txBody>
      </p:sp>
      <p:sp>
        <p:nvSpPr>
          <p:cNvPr id="9" name="TextBox 8"/>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0" name="TextBox 9"/>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06 /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name="PND_U1 · Sección 1.1 · Generalidades del BPM">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U1 · 1.1</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Gestión por procesos</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BPM es una disciplina de gestión orientada a comprender, ejecutar, medir y mejorar</a:t>
            </a:r>
          </a:p>
          <a:p>
            <a:pPr>
              <a:lnSpc>
                <a:spcPts val="2580"/>
              </a:lnSpc>
              <a:spcBef>
                <a:spcPts val="0"/>
              </a:spcBef>
              <a:spcAft>
                <a:spcPts val="0"/>
              </a:spcAft>
              <a:defRPr sz="1859" b="0">
                <a:solidFill>
                  <a:srgbClr val="18394A"/>
                </a:solidFill>
                <a:latin typeface="Noto Sans"/>
              </a:defRPr>
            </a:pPr>
            <a:r>
              <a:t>procesos de manera continua. Requiere responsables, acuerdos y evidencia sobre</a:t>
            </a:r>
          </a:p>
          <a:p>
            <a:pPr>
              <a:lnSpc>
                <a:spcPts val="2580"/>
              </a:lnSpc>
              <a:spcBef>
                <a:spcPts val="0"/>
              </a:spcBef>
              <a:spcAft>
                <a:spcPts val="0"/>
              </a:spcAft>
              <a:defRPr sz="1859" b="0">
                <a:solidFill>
                  <a:srgbClr val="18394A"/>
                </a:solidFill>
                <a:latin typeface="Noto Sans"/>
              </a:defRPr>
            </a:pPr>
            <a:r>
              <a:t>desempeño. Un diagrama puede apoyar esa disciplina, pero no reemplaza la gestión. Si</a:t>
            </a:r>
          </a:p>
          <a:p>
            <a:pPr>
              <a:lnSpc>
                <a:spcPts val="2580"/>
              </a:lnSpc>
              <a:spcBef>
                <a:spcPts val="0"/>
              </a:spcBef>
              <a:spcAft>
                <a:spcPts val="0"/>
              </a:spcAft>
              <a:defRPr sz="1859" b="0">
                <a:solidFill>
                  <a:srgbClr val="18394A"/>
                </a:solidFill>
                <a:latin typeface="Noto Sans"/>
              </a:defRPr>
            </a:pPr>
            <a:r>
              <a:t>nadie revisa el resultado ni decide mejoras, dibujar un proceso no basta para afirmar que se</a:t>
            </a:r>
          </a:p>
          <a:p>
            <a:pPr>
              <a:lnSpc>
                <a:spcPts val="2580"/>
              </a:lnSpc>
              <a:spcBef>
                <a:spcPts val="0"/>
              </a:spcBef>
              <a:spcAft>
                <a:spcPts val="0"/>
              </a:spcAft>
              <a:defRPr sz="1859" b="0">
                <a:solidFill>
                  <a:srgbClr val="18394A"/>
                </a:solidFill>
                <a:latin typeface="Noto Sans"/>
              </a:defRPr>
            </a:pPr>
            <a:r>
              <a:t>está gestionando por procesos.</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07 /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name="PND_U1 · Sección 1.1 · Generalidades del BPM">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U1 · 1.1</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Disciplina, notación y herramienta</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BPM es el enfoque de gestión; BPMN es una notación para representar procesos; una</a:t>
            </a:r>
          </a:p>
          <a:p>
            <a:pPr>
              <a:lnSpc>
                <a:spcPts val="2580"/>
              </a:lnSpc>
              <a:spcBef>
                <a:spcPts val="0"/>
              </a:spcBef>
              <a:spcAft>
                <a:spcPts val="0"/>
              </a:spcAft>
              <a:defRPr sz="1859" b="0">
                <a:solidFill>
                  <a:srgbClr val="18394A"/>
                </a:solidFill>
                <a:latin typeface="Noto Sans"/>
              </a:defRPr>
            </a:pPr>
            <a:r>
              <a:t>plataforma informática puede apoyar modelado, ejecución o seguimiento. No son</a:t>
            </a:r>
          </a:p>
          <a:p>
            <a:pPr>
              <a:lnSpc>
                <a:spcPts val="2580"/>
              </a:lnSpc>
              <a:spcBef>
                <a:spcPts val="0"/>
              </a:spcBef>
              <a:spcAft>
                <a:spcPts val="0"/>
              </a:spcAft>
              <a:defRPr sz="1859" b="0">
                <a:solidFill>
                  <a:srgbClr val="18394A"/>
                </a:solidFill>
                <a:latin typeface="Noto Sans"/>
              </a:defRPr>
            </a:pPr>
            <a:r>
              <a:t>sinónimos. Una organización puede empezar a mejorar un proceso con herramientas</a:t>
            </a:r>
          </a:p>
          <a:p>
            <a:pPr>
              <a:lnSpc>
                <a:spcPts val="2580"/>
              </a:lnSpc>
              <a:spcBef>
                <a:spcPts val="0"/>
              </a:spcBef>
              <a:spcAft>
                <a:spcPts val="0"/>
              </a:spcAft>
              <a:defRPr sz="1859" b="0">
                <a:solidFill>
                  <a:srgbClr val="18394A"/>
                </a:solidFill>
                <a:latin typeface="Noto Sans"/>
              </a:defRPr>
            </a:pPr>
            <a:r>
              <a:t>sencillas, siempre que defina propósito, responsabilidades y comprobaciones. Automatizar</a:t>
            </a:r>
          </a:p>
          <a:p>
            <a:pPr>
              <a:lnSpc>
                <a:spcPts val="2580"/>
              </a:lnSpc>
              <a:spcBef>
                <a:spcPts val="0"/>
              </a:spcBef>
              <a:spcAft>
                <a:spcPts val="0"/>
              </a:spcAft>
              <a:defRPr sz="1859" b="0">
                <a:solidFill>
                  <a:srgbClr val="18394A"/>
                </a:solidFill>
                <a:latin typeface="Noto Sans"/>
              </a:defRPr>
            </a:pPr>
            <a:r>
              <a:t>tareas sin entender el recorrido puede conservar o amplificar un problema existente.</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08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name="PND_U1 · Sección 1.1 · Generalidades del BPM">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U1 · 1.1</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Tu actividad de transferencia</a:t>
            </a:r>
          </a:p>
        </p:txBody>
      </p:sp>
      <p:sp>
        <p:nvSpPr>
          <p:cNvPr id="5" name="Oval 4"/>
          <p:cNvSpPr/>
          <p:nvPr/>
        </p:nvSpPr>
        <p:spPr>
          <a:xfrm>
            <a:off x="609600" y="230124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3900" y="235458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1</a:t>
            </a:r>
          </a:p>
        </p:txBody>
      </p:sp>
      <p:sp>
        <p:nvSpPr>
          <p:cNvPr id="7" name="TextBox 6"/>
          <p:cNvSpPr txBox="1"/>
          <p:nvPr/>
        </p:nvSpPr>
        <p:spPr>
          <a:xfrm>
            <a:off x="1219200" y="227076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Delimita el proceso con entrada, evento inicial, destinatario y resultado.</a:t>
            </a:r>
          </a:p>
        </p:txBody>
      </p:sp>
      <p:sp>
        <p:nvSpPr>
          <p:cNvPr id="8" name="Oval 7"/>
          <p:cNvSpPr/>
          <p:nvPr/>
        </p:nvSpPr>
        <p:spPr>
          <a:xfrm>
            <a:off x="609600" y="315468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3900" y="320802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2</a:t>
            </a:r>
          </a:p>
        </p:txBody>
      </p:sp>
      <p:sp>
        <p:nvSpPr>
          <p:cNvPr id="10" name="TextBox 9"/>
          <p:cNvSpPr txBox="1"/>
          <p:nvPr/>
        </p:nvSpPr>
        <p:spPr>
          <a:xfrm>
            <a:off x="1219200" y="312420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Identifica dos actividades, un evento y una relación de flujo del caso.</a:t>
            </a:r>
          </a:p>
        </p:txBody>
      </p:sp>
      <p:sp>
        <p:nvSpPr>
          <p:cNvPr id="11" name="Oval 10"/>
          <p:cNvSpPr/>
          <p:nvPr/>
        </p:nvSpPr>
        <p:spPr>
          <a:xfrm>
            <a:off x="609600" y="400812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900" y="406146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3</a:t>
            </a:r>
          </a:p>
        </p:txBody>
      </p:sp>
      <p:sp>
        <p:nvSpPr>
          <p:cNvPr id="13" name="TextBox 12"/>
          <p:cNvSpPr txBox="1"/>
          <p:nvPr/>
        </p:nvSpPr>
        <p:spPr>
          <a:xfrm>
            <a:off x="1219200" y="3977639"/>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Representa el recorrido entre áreas y distingue trabajo de espera.</a:t>
            </a:r>
          </a:p>
        </p:txBody>
      </p:sp>
      <p:sp>
        <p:nvSpPr>
          <p:cNvPr id="14" name="Oval 13"/>
          <p:cNvSpPr/>
          <p:nvPr/>
        </p:nvSpPr>
        <p:spPr>
          <a:xfrm>
            <a:off x="609600" y="486156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3900" y="491490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4</a:t>
            </a:r>
          </a:p>
        </p:txBody>
      </p:sp>
      <p:sp>
        <p:nvSpPr>
          <p:cNvPr id="16" name="TextBox 15"/>
          <p:cNvSpPr txBox="1"/>
          <p:nvPr/>
        </p:nvSpPr>
        <p:spPr>
          <a:xfrm>
            <a:off x="1219200" y="483108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Explica qué decisiones pertenecen a BPM, qué representa BPMN y qué podría apoyar una herramienta.</a:t>
            </a:r>
          </a:p>
        </p:txBody>
      </p:sp>
      <p:sp>
        <p:nvSpPr>
          <p:cNvPr id="17" name="TextBox 16"/>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8" name="TextBox 17"/>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09 / 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name="PND_U1 · Sección 1.1 · Generalidades del BPM">
    <p:bg>
      <p:bgPr>
        <a:solidFill>
          <a:srgbClr val="F5F2EB"/>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E7AE53"/>
                </a:solidFill>
                <a:latin typeface="Noto Sans"/>
              </a:defRPr>
            </a:pPr>
            <a:r>
              <a:t>PROCESOS PARA NEGOCIOS DIGITALES · U1 · 1.1</a:t>
            </a:r>
          </a:p>
        </p:txBody>
      </p:sp>
      <p:sp>
        <p:nvSpPr>
          <p:cNvPr id="5" name="TextBox 4"/>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FFFFFF"/>
                </a:solidFill>
                <a:latin typeface="Noto Sans"/>
              </a:defRPr>
            </a:pPr>
            <a:r>
              <a:t>Síntesis y referencias</a:t>
            </a:r>
          </a:p>
        </p:txBody>
      </p:sp>
      <p:sp>
        <p:nvSpPr>
          <p:cNvPr id="6" name="Rounded Rectangle 5"/>
          <p:cNvSpPr/>
          <p:nvPr/>
        </p:nvSpPr>
        <p:spPr>
          <a:xfrm>
            <a:off x="609600" y="217170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8200" y="230886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Un proceso entrega un resultado a alguien.</a:t>
            </a:r>
          </a:p>
        </p:txBody>
      </p:sp>
      <p:sp>
        <p:nvSpPr>
          <p:cNvPr id="8" name="Rounded Rectangle 7"/>
          <p:cNvSpPr/>
          <p:nvPr/>
        </p:nvSpPr>
        <p:spPr>
          <a:xfrm>
            <a:off x="609600" y="296418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8200" y="310134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Distingue trabajo, eventos y flujo.</a:t>
            </a:r>
          </a:p>
        </p:txBody>
      </p:sp>
      <p:sp>
        <p:nvSpPr>
          <p:cNvPr id="10" name="Rounded Rectangle 9"/>
          <p:cNvSpPr/>
          <p:nvPr/>
        </p:nvSpPr>
        <p:spPr>
          <a:xfrm>
            <a:off x="609600" y="375666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8200" y="389382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BPM, BPMN y software cumplen funciones distintas.</a:t>
            </a:r>
          </a:p>
        </p:txBody>
      </p:sp>
      <p:sp>
        <p:nvSpPr>
          <p:cNvPr id="12" name="TextBox 11"/>
          <p:cNvSpPr txBox="1"/>
          <p:nvPr/>
        </p:nvSpPr>
        <p:spPr>
          <a:xfrm>
            <a:off x="685800" y="4777740"/>
            <a:ext cx="10744200" cy="594360"/>
          </a:xfrm>
          <a:prstGeom prst="rect">
            <a:avLst/>
          </a:prstGeom>
          <a:noFill/>
        </p:spPr>
        <p:txBody>
          <a:bodyPr wrap="none" lIns="0" tIns="0" rIns="0" bIns="0" anchor="t">
            <a:spAutoFit/>
          </a:bodyPr>
          <a:lstStyle/>
          <a:p>
            <a:pPr>
              <a:lnSpc>
                <a:spcPts val="1920"/>
              </a:lnSpc>
              <a:spcBef>
                <a:spcPts val="0"/>
              </a:spcBef>
              <a:spcAft>
                <a:spcPts val="0"/>
              </a:spcAft>
              <a:defRPr sz="1380" b="0">
                <a:solidFill>
                  <a:srgbClr val="D6E4E8"/>
                </a:solidFill>
                <a:latin typeface="Noto Sans"/>
              </a:defRPr>
            </a:pPr>
            <a:r>
              <a:t>Base curricular: sílabo UPS adjunto, página 1. Referencia de ampliación: Dumas, La Rosa, Mendling y Reijers (2018), Fundamentals</a:t>
            </a:r>
          </a:p>
          <a:p>
            <a:pPr>
              <a:lnSpc>
                <a:spcPts val="1920"/>
              </a:lnSpc>
              <a:spcBef>
                <a:spcPts val="0"/>
              </a:spcBef>
              <a:spcAft>
                <a:spcPts val="0"/>
              </a:spcAft>
              <a:defRPr sz="1380" b="0">
                <a:solidFill>
                  <a:srgbClr val="D6E4E8"/>
                </a:solidFill>
                <a:latin typeface="Noto Sans"/>
              </a:defRPr>
            </a:pPr>
            <a:r>
              <a:t>of Business Process Management, 2.ª ed. Springer.</a:t>
            </a:r>
          </a:p>
        </p:txBody>
      </p:sp>
      <p:sp>
        <p:nvSpPr>
          <p:cNvPr id="13" name="TextBox 12"/>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Material didáctico de elaboración original · Caso y datos ficticios</a:t>
            </a:r>
          </a:p>
        </p:txBody>
      </p:sp>
      <p:sp>
        <p:nvSpPr>
          <p:cNvPr id="14" name="TextBox 13"/>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10 / 10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name="PND_U1 · Sección 1.2 · Beneficios del BPM en los negocios digitales">
    <p:bg>
      <p:bgPr>
        <a:solidFill>
          <a:srgbClr val="F5F2EB"/>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E7AE53"/>
                </a:solidFill>
                <a:latin typeface="Noto Sans"/>
              </a:defRPr>
            </a:pPr>
            <a:r>
              <a:t>PROCESOS PARA NEGOCIOS DIGITALES · U1 · 1.2</a:t>
            </a:r>
          </a:p>
        </p:txBody>
      </p:sp>
      <p:sp>
        <p:nvSpPr>
          <p:cNvPr id="5" name="TextBox 4"/>
          <p:cNvSpPr txBox="1"/>
          <p:nvPr/>
        </p:nvSpPr>
        <p:spPr>
          <a:xfrm>
            <a:off x="609600" y="1203960"/>
            <a:ext cx="10744200" cy="777240"/>
          </a:xfrm>
          <a:prstGeom prst="rect">
            <a:avLst/>
          </a:prstGeom>
          <a:noFill/>
        </p:spPr>
        <p:txBody>
          <a:bodyPr wrap="none" lIns="0" tIns="0" rIns="0" bIns="0" anchor="t">
            <a:spAutoFit/>
          </a:bodyPr>
          <a:lstStyle/>
          <a:p>
            <a:pPr>
              <a:lnSpc>
                <a:spcPts val="5280"/>
              </a:lnSpc>
              <a:spcBef>
                <a:spcPts val="0"/>
              </a:spcBef>
              <a:spcAft>
                <a:spcPts val="0"/>
              </a:spcAft>
              <a:defRPr sz="3840" b="1">
                <a:solidFill>
                  <a:srgbClr val="FFFFFF"/>
                </a:solidFill>
                <a:latin typeface="Noto Sans"/>
              </a:defRPr>
            </a:pPr>
            <a:r>
              <a:t>Beneficios del BPM en los negocios digitales</a:t>
            </a:r>
          </a:p>
        </p:txBody>
      </p:sp>
      <p:sp>
        <p:nvSpPr>
          <p:cNvPr id="6" name="TextBox 5"/>
          <p:cNvSpPr txBox="1"/>
          <p:nvPr/>
        </p:nvSpPr>
        <p:spPr>
          <a:xfrm>
            <a:off x="647700" y="2080260"/>
            <a:ext cx="9982200" cy="777240"/>
          </a:xfrm>
          <a:prstGeom prst="rect">
            <a:avLst/>
          </a:prstGeom>
          <a:noFill/>
        </p:spPr>
        <p:txBody>
          <a:bodyPr wrap="none" lIns="0" tIns="0" rIns="0" bIns="0" anchor="t">
            <a:spAutoFit/>
          </a:bodyPr>
          <a:lstStyle/>
          <a:p>
            <a:pPr>
              <a:lnSpc>
                <a:spcPts val="2640"/>
              </a:lnSpc>
              <a:spcBef>
                <a:spcPts val="0"/>
              </a:spcBef>
              <a:spcAft>
                <a:spcPts val="0"/>
              </a:spcAft>
              <a:defRPr sz="1920" b="0">
                <a:solidFill>
                  <a:srgbClr val="D6E4E8"/>
                </a:solidFill>
                <a:latin typeface="Noto Sans"/>
              </a:defRPr>
            </a:pPr>
            <a:r>
              <a:t>Evaluar beneficios esperados de BPM en un negocio digital con indicadores,</a:t>
            </a:r>
          </a:p>
          <a:p>
            <a:pPr>
              <a:lnSpc>
                <a:spcPts val="2640"/>
              </a:lnSpc>
              <a:spcBef>
                <a:spcPts val="0"/>
              </a:spcBef>
              <a:spcAft>
                <a:spcPts val="0"/>
              </a:spcAft>
              <a:defRPr sz="1920" b="0">
                <a:solidFill>
                  <a:srgbClr val="D6E4E8"/>
                </a:solidFill>
                <a:latin typeface="Noto Sans"/>
              </a:defRPr>
            </a:pPr>
            <a:r>
              <a:t>condiciones y efectos sobre las personas.</a:t>
            </a:r>
          </a:p>
        </p:txBody>
      </p:sp>
      <p:sp>
        <p:nvSpPr>
          <p:cNvPr id="7" name="Rounded Rectangle 6"/>
          <p:cNvSpPr/>
          <p:nvPr/>
        </p:nvSpPr>
        <p:spPr>
          <a:xfrm>
            <a:off x="6477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34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Comprender</a:t>
            </a:r>
          </a:p>
        </p:txBody>
      </p:sp>
      <p:sp>
        <p:nvSpPr>
          <p:cNvPr id="9" name="Rounded Rectangle 8"/>
          <p:cNvSpPr/>
          <p:nvPr/>
        </p:nvSpPr>
        <p:spPr>
          <a:xfrm>
            <a:off x="43815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872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Aplicar</a:t>
            </a:r>
          </a:p>
        </p:txBody>
      </p:sp>
      <p:sp>
        <p:nvSpPr>
          <p:cNvPr id="11" name="Rounded Rectangle 10"/>
          <p:cNvSpPr/>
          <p:nvPr/>
        </p:nvSpPr>
        <p:spPr>
          <a:xfrm>
            <a:off x="81153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Comprobar</a:t>
            </a:r>
          </a:p>
        </p:txBody>
      </p:sp>
      <p:sp>
        <p:nvSpPr>
          <p:cNvPr id="13" name="TextBox 12"/>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Material didáctico de elaboración original · Caso y datos ficticios</a:t>
            </a:r>
          </a:p>
        </p:txBody>
      </p:sp>
      <p:sp>
        <p:nvSpPr>
          <p:cNvPr id="14" name="TextBox 13"/>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01 / 10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name="PND_U1 · Sección 1.2 · Beneficios del BPM en los negocios digitale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U1 · 1.2</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Una decisión que podrás justificar</a:t>
            </a:r>
          </a:p>
        </p:txBody>
      </p:sp>
      <p:sp>
        <p:nvSpPr>
          <p:cNvPr id="5" name="Rounded Rectangle 4"/>
          <p:cNvSpPr/>
          <p:nvPr/>
        </p:nvSpPr>
        <p:spPr>
          <a:xfrm>
            <a:off x="609600" y="2308860"/>
            <a:ext cx="10896600" cy="1341120"/>
          </a:xfrm>
          <a:prstGeom prst="roundRect">
            <a:avLst>
              <a:gd name="adj" fmla="val 10227"/>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200" y="2484120"/>
            <a:ext cx="10439400" cy="822960"/>
          </a:xfrm>
          <a:prstGeom prst="rect">
            <a:avLst/>
          </a:prstGeom>
          <a:noFill/>
        </p:spPr>
        <p:txBody>
          <a:bodyPr wrap="none" lIns="0" tIns="0" rIns="0" bIns="0" anchor="t">
            <a:spAutoFit/>
          </a:bodyPr>
          <a:lstStyle/>
          <a:p>
            <a:pPr>
              <a:lnSpc>
                <a:spcPts val="2820"/>
              </a:lnSpc>
              <a:spcBef>
                <a:spcPts val="0"/>
              </a:spcBef>
              <a:spcAft>
                <a:spcPts val="0"/>
              </a:spcAft>
              <a:defRPr sz="2039" b="1">
                <a:solidFill>
                  <a:srgbClr val="18394A"/>
                </a:solidFill>
                <a:latin typeface="Noto Sans"/>
              </a:defRPr>
            </a:pPr>
            <a:r>
              <a:t>Evaluar beneficios esperados de BPM en un negocio digital con indicadores,</a:t>
            </a:r>
          </a:p>
          <a:p>
            <a:pPr>
              <a:lnSpc>
                <a:spcPts val="2820"/>
              </a:lnSpc>
              <a:spcBef>
                <a:spcPts val="0"/>
              </a:spcBef>
              <a:spcAft>
                <a:spcPts val="0"/>
              </a:spcAft>
              <a:defRPr sz="2039" b="1">
                <a:solidFill>
                  <a:srgbClr val="18394A"/>
                </a:solidFill>
                <a:latin typeface="Noto Sans"/>
              </a:defRPr>
            </a:pPr>
            <a:r>
              <a:t>condiciones y efectos sobre las personas.</a:t>
            </a:r>
          </a:p>
        </p:txBody>
      </p:sp>
      <p:sp>
        <p:nvSpPr>
          <p:cNvPr id="7" name="TextBox 6"/>
          <p:cNvSpPr txBox="1"/>
          <p:nvPr/>
        </p:nvSpPr>
        <p:spPr>
          <a:xfrm>
            <a:off x="685800" y="4061460"/>
            <a:ext cx="10668000" cy="381000"/>
          </a:xfrm>
          <a:prstGeom prst="rect">
            <a:avLst/>
          </a:prstGeom>
          <a:noFill/>
        </p:spPr>
        <p:txBody>
          <a:bodyPr wrap="none" lIns="0" tIns="0" rIns="0" bIns="0" anchor="t">
            <a:spAutoFit/>
          </a:bodyPr>
          <a:lstStyle/>
          <a:p>
            <a:pPr>
              <a:lnSpc>
                <a:spcPts val="2160"/>
              </a:lnSpc>
              <a:spcBef>
                <a:spcPts val="0"/>
              </a:spcBef>
              <a:spcAft>
                <a:spcPts val="0"/>
              </a:spcAft>
              <a:defRPr sz="1560" b="1">
                <a:solidFill>
                  <a:srgbClr val="087E8B"/>
                </a:solidFill>
                <a:latin typeface="Noto Sans"/>
              </a:defRPr>
            </a:pPr>
            <a:r>
              <a:t>Pregunta de entrada</a:t>
            </a:r>
          </a:p>
        </p:txBody>
      </p:sp>
      <p:sp>
        <p:nvSpPr>
          <p:cNvPr id="8" name="TextBox 7"/>
          <p:cNvSpPr txBox="1"/>
          <p:nvPr/>
        </p:nvSpPr>
        <p:spPr>
          <a:xfrm>
            <a:off x="685800" y="4488180"/>
            <a:ext cx="10668000" cy="464820"/>
          </a:xfrm>
          <a:prstGeom prst="rect">
            <a:avLst/>
          </a:prstGeom>
          <a:noFill/>
        </p:spPr>
        <p:txBody>
          <a:bodyPr wrap="none" lIns="0" tIns="0" rIns="0" bIns="0" anchor="t">
            <a:spAutoFit/>
          </a:bodyPr>
          <a:lstStyle/>
          <a:p>
            <a:pPr>
              <a:lnSpc>
                <a:spcPts val="2820"/>
              </a:lnSpc>
              <a:spcBef>
                <a:spcPts val="0"/>
              </a:spcBef>
              <a:spcAft>
                <a:spcPts val="0"/>
              </a:spcAft>
              <a:defRPr sz="2039" b="0">
                <a:solidFill>
                  <a:srgbClr val="18394A"/>
                </a:solidFill>
                <a:latin typeface="Noto Sans"/>
              </a:defRPr>
            </a:pPr>
            <a:r>
              <a:t>¿Qué beneficio se observa y por qué todavía no basta para declarar éxito global?</a:t>
            </a:r>
          </a:p>
        </p:txBody>
      </p:sp>
      <p:sp>
        <p:nvSpPr>
          <p:cNvPr id="9" name="TextBox 8"/>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0" name="TextBox 9"/>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02 / 10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name="PND_U1 · Sección 1.2 · Beneficios del BPM en los negocios digitale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U1 · 1.2</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Beneficios con propósito</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BPM puede mejorar coordinación, calidad, tiempos y capacidad de adaptación al hacer</a:t>
            </a:r>
          </a:p>
          <a:p>
            <a:pPr>
              <a:lnSpc>
                <a:spcPts val="2580"/>
              </a:lnSpc>
              <a:spcBef>
                <a:spcPts val="0"/>
              </a:spcBef>
              <a:spcAft>
                <a:spcPts val="0"/>
              </a:spcAft>
              <a:defRPr sz="1859" b="0">
                <a:solidFill>
                  <a:srgbClr val="18394A"/>
                </a:solidFill>
                <a:latin typeface="Noto Sans"/>
              </a:defRPr>
            </a:pPr>
            <a:r>
              <a:t>visibles recorridos y responsabilidades. El beneficio depende del problema y de la</a:t>
            </a:r>
          </a:p>
          <a:p>
            <a:pPr>
              <a:lnSpc>
                <a:spcPts val="2580"/>
              </a:lnSpc>
              <a:spcBef>
                <a:spcPts val="0"/>
              </a:spcBef>
              <a:spcAft>
                <a:spcPts val="0"/>
              </a:spcAft>
              <a:defRPr sz="1859" b="0">
                <a:solidFill>
                  <a:srgbClr val="18394A"/>
                </a:solidFill>
                <a:latin typeface="Noto Sans"/>
              </a:defRPr>
            </a:pPr>
            <a:r>
              <a:t>intervención; no aparece por nombrar un proyecto como BPM. Define qué dificultad vive el</a:t>
            </a:r>
          </a:p>
          <a:p>
            <a:pPr>
              <a:lnSpc>
                <a:spcPts val="2580"/>
              </a:lnSpc>
              <a:spcBef>
                <a:spcPts val="0"/>
              </a:spcBef>
              <a:spcAft>
                <a:spcPts val="0"/>
              </a:spcAft>
              <a:defRPr sz="1859" b="0">
                <a:solidFill>
                  <a:srgbClr val="18394A"/>
                </a:solidFill>
                <a:latin typeface="Noto Sans"/>
              </a:defRPr>
            </a:pPr>
            <a:r>
              <a:t>cliente o la operación y por qué una mejora del proceso puede cambiar ese resultado de</a:t>
            </a:r>
          </a:p>
          <a:p>
            <a:pPr>
              <a:lnSpc>
                <a:spcPts val="2580"/>
              </a:lnSpc>
              <a:spcBef>
                <a:spcPts val="0"/>
              </a:spcBef>
              <a:spcAft>
                <a:spcPts val="0"/>
              </a:spcAft>
              <a:defRPr sz="1859" b="0">
                <a:solidFill>
                  <a:srgbClr val="18394A"/>
                </a:solidFill>
                <a:latin typeface="Noto Sans"/>
              </a:defRPr>
            </a:pPr>
            <a:r>
              <a:t>forma relevante.</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03 / 10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name="PND_U1 · Sección 1.2 · Beneficios del BPM en los negocios digitale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U1 · 1.2</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Visibilidad y coordinación</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En un negocio digital, una solicitud puede pasar por formularios, sistemas y personas</a:t>
            </a:r>
          </a:p>
          <a:p>
            <a:pPr>
              <a:lnSpc>
                <a:spcPts val="2580"/>
              </a:lnSpc>
              <a:spcBef>
                <a:spcPts val="0"/>
              </a:spcBef>
              <a:spcAft>
                <a:spcPts val="0"/>
              </a:spcAft>
              <a:defRPr sz="1859" b="0">
                <a:solidFill>
                  <a:srgbClr val="18394A"/>
                </a:solidFill>
                <a:latin typeface="Noto Sans"/>
              </a:defRPr>
            </a:pPr>
            <a:r>
              <a:t>distintas. La visibilidad permite conocer estado, responsable y causas de espera.</a:t>
            </a:r>
          </a:p>
          <a:p>
            <a:pPr>
              <a:lnSpc>
                <a:spcPts val="2580"/>
              </a:lnSpc>
              <a:spcBef>
                <a:spcPts val="0"/>
              </a:spcBef>
              <a:spcAft>
                <a:spcPts val="0"/>
              </a:spcAft>
              <a:defRPr sz="1859" b="0">
                <a:solidFill>
                  <a:srgbClr val="18394A"/>
                </a:solidFill>
                <a:latin typeface="Noto Sans"/>
              </a:defRPr>
            </a:pPr>
            <a:r>
              <a:t>Estandarizar criterios reduce variaciones evitables, pero no exige eliminar toda flexibilidad.</a:t>
            </a:r>
          </a:p>
          <a:p>
            <a:pPr>
              <a:lnSpc>
                <a:spcPts val="2580"/>
              </a:lnSpc>
              <a:spcBef>
                <a:spcPts val="0"/>
              </a:spcBef>
              <a:spcAft>
                <a:spcPts val="0"/>
              </a:spcAft>
              <a:defRPr sz="1859" b="0">
                <a:solidFill>
                  <a:srgbClr val="18394A"/>
                </a:solidFill>
                <a:latin typeface="Noto Sans"/>
              </a:defRPr>
            </a:pPr>
            <a:r>
              <a:t>Los casos excepcionales necesitan rutas y decisiones explícitas para que la coordinación no</a:t>
            </a:r>
          </a:p>
          <a:p>
            <a:pPr>
              <a:lnSpc>
                <a:spcPts val="2580"/>
              </a:lnSpc>
              <a:spcBef>
                <a:spcPts val="0"/>
              </a:spcBef>
              <a:spcAft>
                <a:spcPts val="0"/>
              </a:spcAft>
              <a:defRPr sz="1859" b="0">
                <a:solidFill>
                  <a:srgbClr val="18394A"/>
                </a:solidFill>
                <a:latin typeface="Noto Sans"/>
              </a:defRPr>
            </a:pPr>
            <a:r>
              <a:t>se transforme en una secuencia rígida que nadie pueda resolver.</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04 / 10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name="PND_U1 · Sección 1.2 · Beneficios del BPM en los negocios digitale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U1 · 1.2</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Del concepto a la acción</a:t>
            </a:r>
          </a:p>
        </p:txBody>
      </p:sp>
      <p:sp>
        <p:nvSpPr>
          <p:cNvPr id="5" name="Rounded Rectangle 4"/>
          <p:cNvSpPr/>
          <p:nvPr/>
        </p:nvSpPr>
        <p:spPr>
          <a:xfrm>
            <a:off x="6096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48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01</a:t>
            </a:r>
          </a:p>
        </p:txBody>
      </p:sp>
      <p:sp>
        <p:nvSpPr>
          <p:cNvPr id="7" name="TextBox 6"/>
          <p:cNvSpPr txBox="1"/>
          <p:nvPr/>
        </p:nvSpPr>
        <p:spPr>
          <a:xfrm>
            <a:off x="7848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Definir beneficio</a:t>
            </a:r>
          </a:p>
        </p:txBody>
      </p:sp>
      <p:sp>
        <p:nvSpPr>
          <p:cNvPr id="8" name="TextBox 7"/>
          <p:cNvSpPr txBox="1"/>
          <p:nvPr/>
        </p:nvSpPr>
        <p:spPr>
          <a:xfrm>
            <a:off x="31546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9" name="Rounded Rectangle 8"/>
          <p:cNvSpPr/>
          <p:nvPr/>
        </p:nvSpPr>
        <p:spPr>
          <a:xfrm>
            <a:off x="33528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280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02</a:t>
            </a:r>
          </a:p>
        </p:txBody>
      </p:sp>
      <p:sp>
        <p:nvSpPr>
          <p:cNvPr id="11" name="TextBox 10"/>
          <p:cNvSpPr txBox="1"/>
          <p:nvPr/>
        </p:nvSpPr>
        <p:spPr>
          <a:xfrm>
            <a:off x="35280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Medir línea base</a:t>
            </a:r>
          </a:p>
        </p:txBody>
      </p:sp>
      <p:sp>
        <p:nvSpPr>
          <p:cNvPr id="12" name="TextBox 11"/>
          <p:cNvSpPr txBox="1"/>
          <p:nvPr/>
        </p:nvSpPr>
        <p:spPr>
          <a:xfrm>
            <a:off x="58978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13" name="Rounded Rectangle 12"/>
          <p:cNvSpPr/>
          <p:nvPr/>
        </p:nvSpPr>
        <p:spPr>
          <a:xfrm>
            <a:off x="60960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712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03</a:t>
            </a:r>
          </a:p>
        </p:txBody>
      </p:sp>
      <p:sp>
        <p:nvSpPr>
          <p:cNvPr id="15" name="TextBox 14"/>
          <p:cNvSpPr txBox="1"/>
          <p:nvPr/>
        </p:nvSpPr>
        <p:spPr>
          <a:xfrm>
            <a:off x="62712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Cambiar proceso</a:t>
            </a:r>
          </a:p>
        </p:txBody>
      </p:sp>
      <p:sp>
        <p:nvSpPr>
          <p:cNvPr id="16" name="TextBox 15"/>
          <p:cNvSpPr txBox="1"/>
          <p:nvPr/>
        </p:nvSpPr>
        <p:spPr>
          <a:xfrm>
            <a:off x="86410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17" name="Rounded Rectangle 16"/>
          <p:cNvSpPr/>
          <p:nvPr/>
        </p:nvSpPr>
        <p:spPr>
          <a:xfrm>
            <a:off x="88392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144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04</a:t>
            </a:r>
          </a:p>
        </p:txBody>
      </p:sp>
      <p:sp>
        <p:nvSpPr>
          <p:cNvPr id="19" name="TextBox 18"/>
          <p:cNvSpPr txBox="1"/>
          <p:nvPr/>
        </p:nvSpPr>
        <p:spPr>
          <a:xfrm>
            <a:off x="90144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Revisar equilibrio</a:t>
            </a:r>
          </a:p>
        </p:txBody>
      </p:sp>
      <p:sp>
        <p:nvSpPr>
          <p:cNvPr id="20" name="Rounded Rectangle 19"/>
          <p:cNvSpPr/>
          <p:nvPr/>
        </p:nvSpPr>
        <p:spPr>
          <a:xfrm>
            <a:off x="609600" y="3962399"/>
            <a:ext cx="10881360" cy="1744980"/>
          </a:xfrm>
          <a:prstGeom prst="roundRect">
            <a:avLst>
              <a:gd name="adj" fmla="val 786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8200" y="4175760"/>
            <a:ext cx="10424160" cy="1325880"/>
          </a:xfrm>
          <a:prstGeom prst="rect">
            <a:avLst/>
          </a:prstGeom>
          <a:noFill/>
        </p:spPr>
        <p:txBody>
          <a:bodyPr wrap="none" lIns="0" tIns="0" rIns="0" bIns="0" anchor="t">
            <a:spAutoFit/>
          </a:bodyPr>
          <a:lstStyle/>
          <a:p>
            <a:pPr>
              <a:lnSpc>
                <a:spcPts val="2400"/>
              </a:lnSpc>
              <a:spcBef>
                <a:spcPts val="0"/>
              </a:spcBef>
              <a:spcAft>
                <a:spcPts val="0"/>
              </a:spcAft>
              <a:defRPr sz="1739" b="0">
                <a:solidFill>
                  <a:srgbClr val="536975"/>
                </a:solidFill>
                <a:latin typeface="Noto Sans"/>
              </a:defRPr>
            </a:pPr>
            <a:r>
              <a:t>Relaciona el beneficio esperado con una necesidad concreta. Mide la situación inicial y explica qué</a:t>
            </a:r>
          </a:p>
          <a:p>
            <a:pPr>
              <a:lnSpc>
                <a:spcPts val="2400"/>
              </a:lnSpc>
              <a:spcBef>
                <a:spcPts val="0"/>
              </a:spcBef>
              <a:spcAft>
                <a:spcPts val="0"/>
              </a:spcAft>
              <a:defRPr sz="1739" b="0">
                <a:solidFill>
                  <a:srgbClr val="536975"/>
                </a:solidFill>
                <a:latin typeface="Noto Sans"/>
              </a:defRPr>
            </a:pPr>
            <a:r>
              <a:t>cambiará en el proceso. Después compara resultados usando las mismas definiciones, revisando</a:t>
            </a:r>
          </a:p>
          <a:p>
            <a:pPr>
              <a:lnSpc>
                <a:spcPts val="2400"/>
              </a:lnSpc>
              <a:spcBef>
                <a:spcPts val="0"/>
              </a:spcBef>
              <a:spcAft>
                <a:spcPts val="0"/>
              </a:spcAft>
              <a:defRPr sz="1739" b="0">
                <a:solidFill>
                  <a:srgbClr val="536975"/>
                </a:solidFill>
                <a:latin typeface="Noto Sans"/>
              </a:defRPr>
            </a:pPr>
            <a:r>
              <a:t>tanto mejoras como consecuencias. Incluye la perspectiva de quienes ejecutan el trabajo y de</a:t>
            </a:r>
          </a:p>
          <a:p>
            <a:pPr>
              <a:lnSpc>
                <a:spcPts val="2400"/>
              </a:lnSpc>
              <a:spcBef>
                <a:spcPts val="0"/>
              </a:spcBef>
              <a:spcAft>
                <a:spcPts val="0"/>
              </a:spcAft>
              <a:defRPr sz="1739" b="0">
                <a:solidFill>
                  <a:srgbClr val="536975"/>
                </a:solidFill>
                <a:latin typeface="Noto Sans"/>
              </a:defRPr>
            </a:pPr>
            <a:r>
              <a:t>quienes reciben el servicio, porque ambas pueden revelar costos que el indicador principal oculta.</a:t>
            </a:r>
          </a:p>
        </p:txBody>
      </p:sp>
      <p:sp>
        <p:nvSpPr>
          <p:cNvPr id="22" name="TextBox 21"/>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23" name="TextBox 22"/>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05 / 10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name="PND_U1 · Sección 1.2 · Beneficios del BPM en los negocios digitale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U1 · 1.2</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Caso aplicado · datos ficticios</a:t>
            </a:r>
          </a:p>
        </p:txBody>
      </p:sp>
      <p:sp>
        <p:nvSpPr>
          <p:cNvPr id="5" name="Rounded Rectangle 4"/>
          <p:cNvSpPr/>
          <p:nvPr/>
        </p:nvSpPr>
        <p:spPr>
          <a:xfrm>
            <a:off x="609600" y="2270760"/>
            <a:ext cx="10881360" cy="2301240"/>
          </a:xfrm>
          <a:prstGeom prst="roundRect">
            <a:avLst>
              <a:gd name="adj" fmla="val 596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3440" y="2484120"/>
            <a:ext cx="10393680" cy="1325880"/>
          </a:xfrm>
          <a:prstGeom prst="rect">
            <a:avLst/>
          </a:prstGeom>
          <a:noFill/>
        </p:spPr>
        <p:txBody>
          <a:bodyPr wrap="none" lIns="0" tIns="0" rIns="0" bIns="0" anchor="t">
            <a:spAutoFit/>
          </a:bodyPr>
          <a:lstStyle/>
          <a:p>
            <a:pPr>
              <a:lnSpc>
                <a:spcPts val="2400"/>
              </a:lnSpc>
              <a:spcBef>
                <a:spcPts val="0"/>
              </a:spcBef>
              <a:spcAft>
                <a:spcPts val="0"/>
              </a:spcAft>
              <a:defRPr sz="1739" b="0">
                <a:solidFill>
                  <a:srgbClr val="18394A"/>
                </a:solidFill>
                <a:latin typeface="Noto Sans"/>
              </a:defRPr>
            </a:pPr>
            <a:r>
              <a:t>Caso hipotético: una tienda digital reduce el tiempo promedio de respuesta de cuarenta y ocho a</a:t>
            </a:r>
          </a:p>
          <a:p>
            <a:pPr>
              <a:lnSpc>
                <a:spcPts val="2400"/>
              </a:lnSpc>
              <a:spcBef>
                <a:spcPts val="0"/>
              </a:spcBef>
              <a:spcAft>
                <a:spcPts val="0"/>
              </a:spcAft>
              <a:defRPr sz="1739" b="0">
                <a:solidFill>
                  <a:srgbClr val="18394A"/>
                </a:solidFill>
                <a:latin typeface="Noto Sans"/>
              </a:defRPr>
            </a:pPr>
            <a:r>
              <a:t>treinta y seis horas tras reorganizar consultas. La reducción relativa es 25 %. Sin embargo, la tasa de</a:t>
            </a:r>
          </a:p>
          <a:p>
            <a:pPr>
              <a:lnSpc>
                <a:spcPts val="2400"/>
              </a:lnSpc>
              <a:spcBef>
                <a:spcPts val="0"/>
              </a:spcBef>
              <a:spcAft>
                <a:spcPts val="0"/>
              </a:spcAft>
              <a:defRPr sz="1739" b="0">
                <a:solidFill>
                  <a:srgbClr val="18394A"/>
                </a:solidFill>
                <a:latin typeface="Noto Sans"/>
              </a:defRPr>
            </a:pPr>
            <a:r>
              <a:t>respuestas que deben corregirse sube de 4 % a 9 %. Hay una mejora de velocidad, pero el beneficio</a:t>
            </a:r>
          </a:p>
          <a:p>
            <a:pPr>
              <a:lnSpc>
                <a:spcPts val="2400"/>
              </a:lnSpc>
              <a:spcBef>
                <a:spcPts val="0"/>
              </a:spcBef>
              <a:spcAft>
                <a:spcPts val="0"/>
              </a:spcAft>
              <a:defRPr sz="1739" b="0">
                <a:solidFill>
                  <a:srgbClr val="18394A"/>
                </a:solidFill>
                <a:latin typeface="Noto Sans"/>
              </a:defRPr>
            </a:pPr>
            <a:r>
              <a:t>global no puede declararse sin investigar calidad, casos pendientes y efectos en los clientes.</a:t>
            </a:r>
          </a:p>
        </p:txBody>
      </p:sp>
      <p:sp>
        <p:nvSpPr>
          <p:cNvPr id="7" name="Rounded Rectangle 6"/>
          <p:cNvSpPr/>
          <p:nvPr/>
        </p:nvSpPr>
        <p:spPr>
          <a:xfrm>
            <a:off x="609600" y="4785360"/>
            <a:ext cx="10881360" cy="922020"/>
          </a:xfrm>
          <a:prstGeom prst="roundRect">
            <a:avLst>
              <a:gd name="adj" fmla="val 12396"/>
            </a:avLst>
          </a:prstGeom>
          <a:solidFill>
            <a:srgbClr val="E2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0580" y="4945380"/>
            <a:ext cx="104394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18394A"/>
                </a:solidFill>
                <a:latin typeface="Noto Sans"/>
              </a:defRPr>
            </a:pPr>
            <a:r>
              <a:t>¿Qué beneficio se observa y por qué todavía no basta para declarar éxito global?</a:t>
            </a:r>
          </a:p>
        </p:txBody>
      </p:sp>
      <p:sp>
        <p:nvSpPr>
          <p:cNvPr id="9" name="TextBox 8"/>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0" name="TextBox 9"/>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06 / 10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name="PND_U1 · Sección 1.2 · Beneficios del BPM en los negocios digitale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U1 · 1.2</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Indicadores equilibrados</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Combina medidas de tiempo, calidad, costo y experiencia según el propósito. Reducir el</a:t>
            </a:r>
          </a:p>
          <a:p>
            <a:pPr>
              <a:lnSpc>
                <a:spcPts val="2580"/>
              </a:lnSpc>
              <a:spcBef>
                <a:spcPts val="0"/>
              </a:spcBef>
              <a:spcAft>
                <a:spcPts val="0"/>
              </a:spcAft>
              <a:defRPr sz="1859" b="0">
                <a:solidFill>
                  <a:srgbClr val="18394A"/>
                </a:solidFill>
                <a:latin typeface="Noto Sans"/>
              </a:defRPr>
            </a:pPr>
            <a:r>
              <a:t>tiempo promedio puede ser valioso, pero también ocultar casos muy lentos. Observa</a:t>
            </a:r>
          </a:p>
          <a:p>
            <a:pPr>
              <a:lnSpc>
                <a:spcPts val="2580"/>
              </a:lnSpc>
              <a:spcBef>
                <a:spcPts val="0"/>
              </a:spcBef>
              <a:spcAft>
                <a:spcPts val="0"/>
              </a:spcAft>
              <a:defRPr sz="1859" b="0">
                <a:solidFill>
                  <a:srgbClr val="18394A"/>
                </a:solidFill>
                <a:latin typeface="Noto Sans"/>
              </a:defRPr>
            </a:pPr>
            <a:r>
              <a:t>distribución, errores y reclamos. Registra una línea base y compara períodos o grupos con</a:t>
            </a:r>
          </a:p>
          <a:p>
            <a:pPr>
              <a:lnSpc>
                <a:spcPts val="2580"/>
              </a:lnSpc>
              <a:spcBef>
                <a:spcPts val="0"/>
              </a:spcBef>
              <a:spcAft>
                <a:spcPts val="0"/>
              </a:spcAft>
              <a:defRPr sz="1859" b="0">
                <a:solidFill>
                  <a:srgbClr val="18394A"/>
                </a:solidFill>
                <a:latin typeface="Noto Sans"/>
              </a:defRPr>
            </a:pPr>
            <a:r>
              <a:t>condiciones conocidas, reconociendo que una coincidencia temporal no demuestra por sí</a:t>
            </a:r>
          </a:p>
          <a:p>
            <a:pPr>
              <a:lnSpc>
                <a:spcPts val="2580"/>
              </a:lnSpc>
              <a:spcBef>
                <a:spcPts val="0"/>
              </a:spcBef>
              <a:spcAft>
                <a:spcPts val="0"/>
              </a:spcAft>
              <a:defRPr sz="1859" b="0">
                <a:solidFill>
                  <a:srgbClr val="18394A"/>
                </a:solidFill>
                <a:latin typeface="Noto Sans"/>
              </a:defRPr>
            </a:pPr>
            <a:r>
              <a:t>sola que BPM causó el resultado.</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07 / 10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name="PND_U1 · Sección 1.2 · Beneficios del BPM en los negocios digitale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U1 · 1.2</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Condiciones y personas</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Los beneficios requieren participación, responsables, datos confiables y revisión continua.</a:t>
            </a:r>
          </a:p>
          <a:p>
            <a:pPr>
              <a:lnSpc>
                <a:spcPts val="2580"/>
              </a:lnSpc>
              <a:spcBef>
                <a:spcPts val="0"/>
              </a:spcBef>
              <a:spcAft>
                <a:spcPts val="0"/>
              </a:spcAft>
              <a:defRPr sz="1859" b="0">
                <a:solidFill>
                  <a:srgbClr val="18394A"/>
                </a:solidFill>
                <a:latin typeface="Noto Sans"/>
              </a:defRPr>
            </a:pPr>
            <a:r>
              <a:t>Las personas que ejecutan el proceso conocen excepciones y trabajo no registrado.</a:t>
            </a:r>
          </a:p>
          <a:p>
            <a:pPr>
              <a:lnSpc>
                <a:spcPts val="2580"/>
              </a:lnSpc>
              <a:spcBef>
                <a:spcPts val="0"/>
              </a:spcBef>
              <a:spcAft>
                <a:spcPts val="0"/>
              </a:spcAft>
              <a:defRPr sz="1859" b="0">
                <a:solidFill>
                  <a:srgbClr val="18394A"/>
                </a:solidFill>
                <a:latin typeface="Noto Sans"/>
              </a:defRPr>
            </a:pPr>
            <a:r>
              <a:t>Incluirlas mejora el diagnóstico y la adopción. Si el cambio solo desplaza trabajo a otra área</a:t>
            </a:r>
          </a:p>
          <a:p>
            <a:pPr>
              <a:lnSpc>
                <a:spcPts val="2580"/>
              </a:lnSpc>
              <a:spcBef>
                <a:spcPts val="0"/>
              </a:spcBef>
              <a:spcAft>
                <a:spcPts val="0"/>
              </a:spcAft>
              <a:defRPr sz="1859" b="0">
                <a:solidFill>
                  <a:srgbClr val="18394A"/>
                </a:solidFill>
                <a:latin typeface="Noto Sans"/>
              </a:defRPr>
            </a:pPr>
            <a:r>
              <a:t>o exige atajos para cumplir indicadores, revisa incentivos y capacidad antes de declarar que</a:t>
            </a:r>
          </a:p>
          <a:p>
            <a:pPr>
              <a:lnSpc>
                <a:spcPts val="2580"/>
              </a:lnSpc>
              <a:spcBef>
                <a:spcPts val="0"/>
              </a:spcBef>
              <a:spcAft>
                <a:spcPts val="0"/>
              </a:spcAft>
              <a:defRPr sz="1859" b="0">
                <a:solidFill>
                  <a:srgbClr val="18394A"/>
                </a:solidFill>
                <a:latin typeface="Noto Sans"/>
              </a:defRPr>
            </a:pPr>
            <a:r>
              <a:t>la organización mejoró.</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08 / 10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name="PND_U1 · Sección 1.2 · Beneficios del BPM en los negocios digitale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U1 · 1.2</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Tu actividad de transferencia</a:t>
            </a:r>
          </a:p>
        </p:txBody>
      </p:sp>
      <p:sp>
        <p:nvSpPr>
          <p:cNvPr id="5" name="Oval 4"/>
          <p:cNvSpPr/>
          <p:nvPr/>
        </p:nvSpPr>
        <p:spPr>
          <a:xfrm>
            <a:off x="609600" y="230124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3900" y="235458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1</a:t>
            </a:r>
          </a:p>
        </p:txBody>
      </p:sp>
      <p:sp>
        <p:nvSpPr>
          <p:cNvPr id="7" name="TextBox 6"/>
          <p:cNvSpPr txBox="1"/>
          <p:nvPr/>
        </p:nvSpPr>
        <p:spPr>
          <a:xfrm>
            <a:off x="1219200" y="227076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Identifica dos beneficios potenciales vinculados al problema del caso.</a:t>
            </a:r>
          </a:p>
        </p:txBody>
      </p:sp>
      <p:sp>
        <p:nvSpPr>
          <p:cNvPr id="8" name="Oval 7"/>
          <p:cNvSpPr/>
          <p:nvPr/>
        </p:nvSpPr>
        <p:spPr>
          <a:xfrm>
            <a:off x="609600" y="315468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3900" y="320802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2</a:t>
            </a:r>
          </a:p>
        </p:txBody>
      </p:sp>
      <p:sp>
        <p:nvSpPr>
          <p:cNvPr id="10" name="TextBox 9"/>
          <p:cNvSpPr txBox="1"/>
          <p:nvPr/>
        </p:nvSpPr>
        <p:spPr>
          <a:xfrm>
            <a:off x="1219200" y="312420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Calcula la reducción relativa de tiempo y la variación de correcciones.</a:t>
            </a:r>
          </a:p>
        </p:txBody>
      </p:sp>
      <p:sp>
        <p:nvSpPr>
          <p:cNvPr id="11" name="Oval 10"/>
          <p:cNvSpPr/>
          <p:nvPr/>
        </p:nvSpPr>
        <p:spPr>
          <a:xfrm>
            <a:off x="609600" y="400812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900" y="406146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3</a:t>
            </a:r>
          </a:p>
        </p:txBody>
      </p:sp>
      <p:sp>
        <p:nvSpPr>
          <p:cNvPr id="13" name="TextBox 12"/>
          <p:cNvSpPr txBox="1"/>
          <p:nvPr/>
        </p:nvSpPr>
        <p:spPr>
          <a:xfrm>
            <a:off x="1219200" y="3977639"/>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Diseña un tablero con tiempo, calidad y experiencia, definiendo población y período.</a:t>
            </a:r>
          </a:p>
        </p:txBody>
      </p:sp>
      <p:sp>
        <p:nvSpPr>
          <p:cNvPr id="14" name="Oval 13"/>
          <p:cNvSpPr/>
          <p:nvPr/>
        </p:nvSpPr>
        <p:spPr>
          <a:xfrm>
            <a:off x="609600" y="486156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3900" y="491490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4</a:t>
            </a:r>
          </a:p>
        </p:txBody>
      </p:sp>
      <p:sp>
        <p:nvSpPr>
          <p:cNvPr id="16" name="TextBox 15"/>
          <p:cNvSpPr txBox="1"/>
          <p:nvPr/>
        </p:nvSpPr>
        <p:spPr>
          <a:xfrm>
            <a:off x="1219200" y="483108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Propón participación del equipo y dos controles contra efectos no deseados.</a:t>
            </a:r>
          </a:p>
        </p:txBody>
      </p:sp>
      <p:sp>
        <p:nvSpPr>
          <p:cNvPr id="17" name="TextBox 16"/>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8" name="TextBox 17"/>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09 / 10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name="PND_U1 · Sección 1.2 · Beneficios del BPM en los negocios digitales">
    <p:bg>
      <p:bgPr>
        <a:solidFill>
          <a:srgbClr val="F5F2EB"/>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E7AE53"/>
                </a:solidFill>
                <a:latin typeface="Noto Sans"/>
              </a:defRPr>
            </a:pPr>
            <a:r>
              <a:t>PROCESOS PARA NEGOCIOS DIGITALES · U1 · 1.2</a:t>
            </a:r>
          </a:p>
        </p:txBody>
      </p:sp>
      <p:sp>
        <p:nvSpPr>
          <p:cNvPr id="5" name="TextBox 4"/>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FFFFFF"/>
                </a:solidFill>
                <a:latin typeface="Noto Sans"/>
              </a:defRPr>
            </a:pPr>
            <a:r>
              <a:t>Síntesis y referencias</a:t>
            </a:r>
          </a:p>
        </p:txBody>
      </p:sp>
      <p:sp>
        <p:nvSpPr>
          <p:cNvPr id="6" name="Rounded Rectangle 5"/>
          <p:cNvSpPr/>
          <p:nvPr/>
        </p:nvSpPr>
        <p:spPr>
          <a:xfrm>
            <a:off x="609600" y="217170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8200" y="230886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Vincula beneficios con necesidades medibles.</a:t>
            </a:r>
          </a:p>
        </p:txBody>
      </p:sp>
      <p:sp>
        <p:nvSpPr>
          <p:cNvPr id="8" name="Rounded Rectangle 7"/>
          <p:cNvSpPr/>
          <p:nvPr/>
        </p:nvSpPr>
        <p:spPr>
          <a:xfrm>
            <a:off x="609600" y="296418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8200" y="310134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Equilibra velocidad, calidad y experiencia.</a:t>
            </a:r>
          </a:p>
        </p:txBody>
      </p:sp>
      <p:sp>
        <p:nvSpPr>
          <p:cNvPr id="10" name="Rounded Rectangle 9"/>
          <p:cNvSpPr/>
          <p:nvPr/>
        </p:nvSpPr>
        <p:spPr>
          <a:xfrm>
            <a:off x="609600" y="375666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8200" y="389382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Incluye a las personas y revisa efectos globales.</a:t>
            </a:r>
          </a:p>
        </p:txBody>
      </p:sp>
      <p:sp>
        <p:nvSpPr>
          <p:cNvPr id="12" name="TextBox 11"/>
          <p:cNvSpPr txBox="1"/>
          <p:nvPr/>
        </p:nvSpPr>
        <p:spPr>
          <a:xfrm>
            <a:off x="685800" y="4777740"/>
            <a:ext cx="10744200" cy="594360"/>
          </a:xfrm>
          <a:prstGeom prst="rect">
            <a:avLst/>
          </a:prstGeom>
          <a:noFill/>
        </p:spPr>
        <p:txBody>
          <a:bodyPr wrap="none" lIns="0" tIns="0" rIns="0" bIns="0" anchor="t">
            <a:spAutoFit/>
          </a:bodyPr>
          <a:lstStyle/>
          <a:p>
            <a:pPr>
              <a:lnSpc>
                <a:spcPts val="1920"/>
              </a:lnSpc>
              <a:spcBef>
                <a:spcPts val="0"/>
              </a:spcBef>
              <a:spcAft>
                <a:spcPts val="0"/>
              </a:spcAft>
              <a:defRPr sz="1380" b="0">
                <a:solidFill>
                  <a:srgbClr val="D6E4E8"/>
                </a:solidFill>
                <a:latin typeface="Noto Sans"/>
              </a:defRPr>
            </a:pPr>
            <a:r>
              <a:t>Base curricular: sílabo UPS adjunto, página 1. Referencia de ampliación: Dumas et al. (2018), Fundamentals of Business Process</a:t>
            </a:r>
          </a:p>
          <a:p>
            <a:pPr>
              <a:lnSpc>
                <a:spcPts val="1920"/>
              </a:lnSpc>
              <a:spcBef>
                <a:spcPts val="0"/>
              </a:spcBef>
              <a:spcAft>
                <a:spcPts val="0"/>
              </a:spcAft>
              <a:defRPr sz="1380" b="0">
                <a:solidFill>
                  <a:srgbClr val="D6E4E8"/>
                </a:solidFill>
                <a:latin typeface="Noto Sans"/>
              </a:defRPr>
            </a:pPr>
            <a:r>
              <a:t>Management. Jeston y Nelis (2014), Business Process Management: Practical Guidelines to Successful Implementations.</a:t>
            </a:r>
          </a:p>
        </p:txBody>
      </p:sp>
      <p:sp>
        <p:nvSpPr>
          <p:cNvPr id="13" name="TextBox 12"/>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Material didáctico de elaboración original · Caso y datos ficticios</a:t>
            </a:r>
          </a:p>
        </p:txBody>
      </p:sp>
      <p:sp>
        <p:nvSpPr>
          <p:cNvPr id="14" name="TextBox 13"/>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10 / 10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name="PND_U1 · Sección 1.3 · Certificaciones">
    <p:bg>
      <p:bgPr>
        <a:solidFill>
          <a:srgbClr val="F5F2EB"/>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E7AE53"/>
                </a:solidFill>
                <a:latin typeface="Noto Sans"/>
              </a:defRPr>
            </a:pPr>
            <a:r>
              <a:t>PROCESOS PARA NEGOCIOS DIGITALES · U1 · 1.3</a:t>
            </a:r>
          </a:p>
        </p:txBody>
      </p:sp>
      <p:sp>
        <p:nvSpPr>
          <p:cNvPr id="5" name="TextBox 4"/>
          <p:cNvSpPr txBox="1"/>
          <p:nvPr/>
        </p:nvSpPr>
        <p:spPr>
          <a:xfrm>
            <a:off x="609600" y="1203960"/>
            <a:ext cx="10744200" cy="777240"/>
          </a:xfrm>
          <a:prstGeom prst="rect">
            <a:avLst/>
          </a:prstGeom>
          <a:noFill/>
        </p:spPr>
        <p:txBody>
          <a:bodyPr wrap="none" lIns="0" tIns="0" rIns="0" bIns="0" anchor="t">
            <a:spAutoFit/>
          </a:bodyPr>
          <a:lstStyle/>
          <a:p>
            <a:pPr>
              <a:lnSpc>
                <a:spcPts val="5280"/>
              </a:lnSpc>
              <a:spcBef>
                <a:spcPts val="0"/>
              </a:spcBef>
              <a:spcAft>
                <a:spcPts val="0"/>
              </a:spcAft>
              <a:defRPr sz="3840" b="1">
                <a:solidFill>
                  <a:srgbClr val="FFFFFF"/>
                </a:solidFill>
                <a:latin typeface="Noto Sans"/>
              </a:defRPr>
            </a:pPr>
            <a:r>
              <a:t>Certificaciones</a:t>
            </a:r>
          </a:p>
        </p:txBody>
      </p:sp>
      <p:sp>
        <p:nvSpPr>
          <p:cNvPr id="6" name="TextBox 5"/>
          <p:cNvSpPr txBox="1"/>
          <p:nvPr/>
        </p:nvSpPr>
        <p:spPr>
          <a:xfrm>
            <a:off x="647700" y="2080260"/>
            <a:ext cx="9982200" cy="777240"/>
          </a:xfrm>
          <a:prstGeom prst="rect">
            <a:avLst/>
          </a:prstGeom>
          <a:noFill/>
        </p:spPr>
        <p:txBody>
          <a:bodyPr wrap="none" lIns="0" tIns="0" rIns="0" bIns="0" anchor="t">
            <a:spAutoFit/>
          </a:bodyPr>
          <a:lstStyle/>
          <a:p>
            <a:pPr>
              <a:lnSpc>
                <a:spcPts val="2640"/>
              </a:lnSpc>
              <a:spcBef>
                <a:spcPts val="0"/>
              </a:spcBef>
              <a:spcAft>
                <a:spcPts val="0"/>
              </a:spcAft>
              <a:defRPr sz="1920" b="0">
                <a:solidFill>
                  <a:srgbClr val="D6E4E8"/>
                </a:solidFill>
                <a:latin typeface="Noto Sans"/>
              </a:defRPr>
            </a:pPr>
            <a:r>
              <a:t>Distinguir certificaciones de personas, acreditaciones formativas y certificaciones</a:t>
            </a:r>
          </a:p>
          <a:p>
            <a:pPr>
              <a:lnSpc>
                <a:spcPts val="2640"/>
              </a:lnSpc>
              <a:spcBef>
                <a:spcPts val="0"/>
              </a:spcBef>
              <a:spcAft>
                <a:spcPts val="0"/>
              </a:spcAft>
              <a:defRPr sz="1920" b="0">
                <a:solidFill>
                  <a:srgbClr val="D6E4E8"/>
                </a:solidFill>
                <a:latin typeface="Noto Sans"/>
              </a:defRPr>
            </a:pPr>
            <a:r>
              <a:t>organizacionales relacionadas con gestión por procesos.</a:t>
            </a:r>
          </a:p>
        </p:txBody>
      </p:sp>
      <p:sp>
        <p:nvSpPr>
          <p:cNvPr id="7" name="Rounded Rectangle 6"/>
          <p:cNvSpPr/>
          <p:nvPr/>
        </p:nvSpPr>
        <p:spPr>
          <a:xfrm>
            <a:off x="6477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34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Comprender</a:t>
            </a:r>
          </a:p>
        </p:txBody>
      </p:sp>
      <p:sp>
        <p:nvSpPr>
          <p:cNvPr id="9" name="Rounded Rectangle 8"/>
          <p:cNvSpPr/>
          <p:nvPr/>
        </p:nvSpPr>
        <p:spPr>
          <a:xfrm>
            <a:off x="43815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872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Aplicar</a:t>
            </a:r>
          </a:p>
        </p:txBody>
      </p:sp>
      <p:sp>
        <p:nvSpPr>
          <p:cNvPr id="11" name="Rounded Rectangle 10"/>
          <p:cNvSpPr/>
          <p:nvPr/>
        </p:nvSpPr>
        <p:spPr>
          <a:xfrm>
            <a:off x="81153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Comprobar</a:t>
            </a:r>
          </a:p>
        </p:txBody>
      </p:sp>
      <p:sp>
        <p:nvSpPr>
          <p:cNvPr id="13" name="TextBox 12"/>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Material didáctico de elaboración original · Caso y datos ficticios</a:t>
            </a:r>
          </a:p>
        </p:txBody>
      </p:sp>
      <p:sp>
        <p:nvSpPr>
          <p:cNvPr id="14" name="TextBox 13"/>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01 / 10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name="PND_U1 · Sección 1.3 · Certificacione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U1 · 1.3</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Una decisión que podrás justificar</a:t>
            </a:r>
          </a:p>
        </p:txBody>
      </p:sp>
      <p:sp>
        <p:nvSpPr>
          <p:cNvPr id="5" name="Rounded Rectangle 4"/>
          <p:cNvSpPr/>
          <p:nvPr/>
        </p:nvSpPr>
        <p:spPr>
          <a:xfrm>
            <a:off x="609600" y="2308860"/>
            <a:ext cx="10896600" cy="1341120"/>
          </a:xfrm>
          <a:prstGeom prst="roundRect">
            <a:avLst>
              <a:gd name="adj" fmla="val 10227"/>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200" y="2484120"/>
            <a:ext cx="10439400" cy="822960"/>
          </a:xfrm>
          <a:prstGeom prst="rect">
            <a:avLst/>
          </a:prstGeom>
          <a:noFill/>
        </p:spPr>
        <p:txBody>
          <a:bodyPr wrap="none" lIns="0" tIns="0" rIns="0" bIns="0" anchor="t">
            <a:spAutoFit/>
          </a:bodyPr>
          <a:lstStyle/>
          <a:p>
            <a:pPr>
              <a:lnSpc>
                <a:spcPts val="2820"/>
              </a:lnSpc>
              <a:spcBef>
                <a:spcPts val="0"/>
              </a:spcBef>
              <a:spcAft>
                <a:spcPts val="0"/>
              </a:spcAft>
              <a:defRPr sz="2039" b="1">
                <a:solidFill>
                  <a:srgbClr val="18394A"/>
                </a:solidFill>
                <a:latin typeface="Noto Sans"/>
              </a:defRPr>
            </a:pPr>
            <a:r>
              <a:t>Distinguir certificaciones de personas, acreditaciones formativas y</a:t>
            </a:r>
          </a:p>
          <a:p>
            <a:pPr>
              <a:lnSpc>
                <a:spcPts val="2820"/>
              </a:lnSpc>
              <a:spcBef>
                <a:spcPts val="0"/>
              </a:spcBef>
              <a:spcAft>
                <a:spcPts val="0"/>
              </a:spcAft>
              <a:defRPr sz="2039" b="1">
                <a:solidFill>
                  <a:srgbClr val="18394A"/>
                </a:solidFill>
                <a:latin typeface="Noto Sans"/>
              </a:defRPr>
            </a:pPr>
            <a:r>
              <a:t>certificaciones organizacionales relacionadas con gestión por procesos.</a:t>
            </a:r>
          </a:p>
        </p:txBody>
      </p:sp>
      <p:sp>
        <p:nvSpPr>
          <p:cNvPr id="7" name="TextBox 6"/>
          <p:cNvSpPr txBox="1"/>
          <p:nvPr/>
        </p:nvSpPr>
        <p:spPr>
          <a:xfrm>
            <a:off x="685800" y="4061460"/>
            <a:ext cx="10668000" cy="381000"/>
          </a:xfrm>
          <a:prstGeom prst="rect">
            <a:avLst/>
          </a:prstGeom>
          <a:noFill/>
        </p:spPr>
        <p:txBody>
          <a:bodyPr wrap="none" lIns="0" tIns="0" rIns="0" bIns="0" anchor="t">
            <a:spAutoFit/>
          </a:bodyPr>
          <a:lstStyle/>
          <a:p>
            <a:pPr>
              <a:lnSpc>
                <a:spcPts val="2160"/>
              </a:lnSpc>
              <a:spcBef>
                <a:spcPts val="0"/>
              </a:spcBef>
              <a:spcAft>
                <a:spcPts val="0"/>
              </a:spcAft>
              <a:defRPr sz="1560" b="1">
                <a:solidFill>
                  <a:srgbClr val="087E8B"/>
                </a:solidFill>
                <a:latin typeface="Noto Sans"/>
              </a:defRPr>
            </a:pPr>
            <a:r>
              <a:t>Pregunta de entrada</a:t>
            </a:r>
          </a:p>
        </p:txBody>
      </p:sp>
      <p:sp>
        <p:nvSpPr>
          <p:cNvPr id="8" name="TextBox 7"/>
          <p:cNvSpPr txBox="1"/>
          <p:nvPr/>
        </p:nvSpPr>
        <p:spPr>
          <a:xfrm>
            <a:off x="685800" y="4488180"/>
            <a:ext cx="10668000" cy="822960"/>
          </a:xfrm>
          <a:prstGeom prst="rect">
            <a:avLst/>
          </a:prstGeom>
          <a:noFill/>
        </p:spPr>
        <p:txBody>
          <a:bodyPr wrap="none" lIns="0" tIns="0" rIns="0" bIns="0" anchor="t">
            <a:spAutoFit/>
          </a:bodyPr>
          <a:lstStyle/>
          <a:p>
            <a:pPr>
              <a:lnSpc>
                <a:spcPts val="2820"/>
              </a:lnSpc>
              <a:spcBef>
                <a:spcPts val="0"/>
              </a:spcBef>
              <a:spcAft>
                <a:spcPts val="0"/>
              </a:spcAft>
              <a:defRPr sz="2039" b="0">
                <a:solidFill>
                  <a:srgbClr val="18394A"/>
                </a:solidFill>
                <a:latin typeface="Noto Sans"/>
              </a:defRPr>
            </a:pPr>
            <a:r>
              <a:t>¿Qué afirmación sería verificable y qué información falta para hablar de certificación</a:t>
            </a:r>
          </a:p>
          <a:p>
            <a:pPr>
              <a:lnSpc>
                <a:spcPts val="2820"/>
              </a:lnSpc>
              <a:spcBef>
                <a:spcPts val="0"/>
              </a:spcBef>
              <a:spcAft>
                <a:spcPts val="0"/>
              </a:spcAft>
              <a:defRPr sz="2039" b="0">
                <a:solidFill>
                  <a:srgbClr val="18394A"/>
                </a:solidFill>
                <a:latin typeface="Noto Sans"/>
              </a:defRPr>
            </a:pPr>
            <a:r>
              <a:t>profesional?</a:t>
            </a:r>
          </a:p>
        </p:txBody>
      </p:sp>
      <p:sp>
        <p:nvSpPr>
          <p:cNvPr id="9" name="TextBox 8"/>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0" name="TextBox 9"/>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02 / 10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name="PND_U1 · Sección 1.3 · Certificacione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U1 · 1.3</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Qué se certifica</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Una certificación declara que una persona, producto, sistema u organización cumple</a:t>
            </a:r>
          </a:p>
          <a:p>
            <a:pPr>
              <a:lnSpc>
                <a:spcPts val="2580"/>
              </a:lnSpc>
              <a:spcBef>
                <a:spcPts val="0"/>
              </a:spcBef>
              <a:spcAft>
                <a:spcPts val="0"/>
              </a:spcAft>
              <a:defRPr sz="1859" b="0">
                <a:solidFill>
                  <a:srgbClr val="18394A"/>
                </a:solidFill>
                <a:latin typeface="Noto Sans"/>
              </a:defRPr>
            </a:pPr>
            <a:r>
              <a:t>criterios de un esquema definido. En BPM importa identificar quién emite la credencial, qué</a:t>
            </a:r>
          </a:p>
          <a:p>
            <a:pPr>
              <a:lnSpc>
                <a:spcPts val="2580"/>
              </a:lnSpc>
              <a:spcBef>
                <a:spcPts val="0"/>
              </a:spcBef>
              <a:spcAft>
                <a:spcPts val="0"/>
              </a:spcAft>
              <a:defRPr sz="1859" b="0">
                <a:solidFill>
                  <a:srgbClr val="18394A"/>
                </a:solidFill>
                <a:latin typeface="Noto Sans"/>
              </a:defRPr>
            </a:pPr>
            <a:r>
              <a:t>competencias evalúa y a quién corresponde. Un certificado de asistencia demuestra</a:t>
            </a:r>
          </a:p>
          <a:p>
            <a:pPr>
              <a:lnSpc>
                <a:spcPts val="2580"/>
              </a:lnSpc>
              <a:spcBef>
                <a:spcPts val="0"/>
              </a:spcBef>
              <a:spcAft>
                <a:spcPts val="0"/>
              </a:spcAft>
              <a:defRPr sz="1859" b="0">
                <a:solidFill>
                  <a:srgbClr val="18394A"/>
                </a:solidFill>
                <a:latin typeface="Noto Sans"/>
              </a:defRPr>
            </a:pPr>
            <a:r>
              <a:t>participación bajo sus condiciones, pero no equivale automáticamente a una certificación</a:t>
            </a:r>
          </a:p>
          <a:p>
            <a:pPr>
              <a:lnSpc>
                <a:spcPts val="2580"/>
              </a:lnSpc>
              <a:spcBef>
                <a:spcPts val="0"/>
              </a:spcBef>
              <a:spcAft>
                <a:spcPts val="0"/>
              </a:spcAft>
              <a:defRPr sz="1859" b="0">
                <a:solidFill>
                  <a:srgbClr val="18394A"/>
                </a:solidFill>
                <a:latin typeface="Noto Sans"/>
              </a:defRPr>
            </a:pPr>
            <a:r>
              <a:t>profesional basada en evaluación de competencias.</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03 / 10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name="PND_U1 · Sección 1.3 · Certificacione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U1 · 1.3</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Esquemas y alcance</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ABPMP publica certificaciones profesionales relacionadas con BPM, como CBPA, CBPP y</a:t>
            </a:r>
          </a:p>
          <a:p>
            <a:pPr>
              <a:lnSpc>
                <a:spcPts val="2580"/>
              </a:lnSpc>
              <a:spcBef>
                <a:spcPts val="0"/>
              </a:spcBef>
              <a:spcAft>
                <a:spcPts val="0"/>
              </a:spcAft>
              <a:defRPr sz="1859" b="0">
                <a:solidFill>
                  <a:srgbClr val="18394A"/>
                </a:solidFill>
                <a:latin typeface="Noto Sans"/>
              </a:defRPr>
            </a:pPr>
            <a:r>
              <a:t>CBPL, con alcances y requisitos propios. Los requisitos, disponibilidad y condiciones deben</a:t>
            </a:r>
          </a:p>
          <a:p>
            <a:pPr>
              <a:lnSpc>
                <a:spcPts val="2580"/>
              </a:lnSpc>
              <a:spcBef>
                <a:spcPts val="0"/>
              </a:spcBef>
              <a:spcAft>
                <a:spcPts val="0"/>
              </a:spcAft>
              <a:defRPr sz="1859" b="0">
                <a:solidFill>
                  <a:srgbClr val="18394A"/>
                </a:solidFill>
                <a:latin typeface="Noto Sans"/>
              </a:defRPr>
            </a:pPr>
            <a:r>
              <a:t>comprobarse en su fuente vigente. También existen credenciales de proveedores sobre</a:t>
            </a:r>
          </a:p>
          <a:p>
            <a:pPr>
              <a:lnSpc>
                <a:spcPts val="2580"/>
              </a:lnSpc>
              <a:spcBef>
                <a:spcPts val="0"/>
              </a:spcBef>
              <a:spcAft>
                <a:spcPts val="0"/>
              </a:spcAft>
              <a:defRPr sz="1859" b="0">
                <a:solidFill>
                  <a:srgbClr val="18394A"/>
                </a:solidFill>
                <a:latin typeface="Noto Sans"/>
              </a:defRPr>
            </a:pPr>
            <a:r>
              <a:t>herramientas específicas. Dominio de una plataforma no demuestra por sí solo</a:t>
            </a:r>
          </a:p>
          <a:p>
            <a:pPr>
              <a:lnSpc>
                <a:spcPts val="2580"/>
              </a:lnSpc>
              <a:spcBef>
                <a:spcPts val="0"/>
              </a:spcBef>
              <a:spcAft>
                <a:spcPts val="0"/>
              </a:spcAft>
              <a:defRPr sz="1859" b="0">
                <a:solidFill>
                  <a:srgbClr val="18394A"/>
                </a:solidFill>
                <a:latin typeface="Noto Sans"/>
              </a:defRPr>
            </a:pPr>
            <a:r>
              <a:t>competencia integral en análisis, cambio y gestión de procesos.</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04 / 10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name="PND_U1 · Sección 1.3 · Certificacione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U1 · 1.3</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Del concepto a la acción</a:t>
            </a:r>
          </a:p>
        </p:txBody>
      </p:sp>
      <p:sp>
        <p:nvSpPr>
          <p:cNvPr id="5" name="Rounded Rectangle 4"/>
          <p:cNvSpPr/>
          <p:nvPr/>
        </p:nvSpPr>
        <p:spPr>
          <a:xfrm>
            <a:off x="6096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48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01</a:t>
            </a:r>
          </a:p>
        </p:txBody>
      </p:sp>
      <p:sp>
        <p:nvSpPr>
          <p:cNvPr id="7" name="TextBox 6"/>
          <p:cNvSpPr txBox="1"/>
          <p:nvPr/>
        </p:nvSpPr>
        <p:spPr>
          <a:xfrm>
            <a:off x="7848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Definir objetivo</a:t>
            </a:r>
          </a:p>
        </p:txBody>
      </p:sp>
      <p:sp>
        <p:nvSpPr>
          <p:cNvPr id="8" name="TextBox 7"/>
          <p:cNvSpPr txBox="1"/>
          <p:nvPr/>
        </p:nvSpPr>
        <p:spPr>
          <a:xfrm>
            <a:off x="31546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9" name="Rounded Rectangle 8"/>
          <p:cNvSpPr/>
          <p:nvPr/>
        </p:nvSpPr>
        <p:spPr>
          <a:xfrm>
            <a:off x="33528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280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02</a:t>
            </a:r>
          </a:p>
        </p:txBody>
      </p:sp>
      <p:sp>
        <p:nvSpPr>
          <p:cNvPr id="11" name="TextBox 10"/>
          <p:cNvSpPr txBox="1"/>
          <p:nvPr/>
        </p:nvSpPr>
        <p:spPr>
          <a:xfrm>
            <a:off x="35280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Revisar esquema</a:t>
            </a:r>
          </a:p>
        </p:txBody>
      </p:sp>
      <p:sp>
        <p:nvSpPr>
          <p:cNvPr id="12" name="TextBox 11"/>
          <p:cNvSpPr txBox="1"/>
          <p:nvPr/>
        </p:nvSpPr>
        <p:spPr>
          <a:xfrm>
            <a:off x="58978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13" name="Rounded Rectangle 12"/>
          <p:cNvSpPr/>
          <p:nvPr/>
        </p:nvSpPr>
        <p:spPr>
          <a:xfrm>
            <a:off x="60960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712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03</a:t>
            </a:r>
          </a:p>
        </p:txBody>
      </p:sp>
      <p:sp>
        <p:nvSpPr>
          <p:cNvPr id="15" name="TextBox 14"/>
          <p:cNvSpPr txBox="1"/>
          <p:nvPr/>
        </p:nvSpPr>
        <p:spPr>
          <a:xfrm>
            <a:off x="6271260" y="2948940"/>
            <a:ext cx="2171700" cy="67056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Comprobar</a:t>
            </a:r>
          </a:p>
          <a:p>
            <a:pPr>
              <a:lnSpc>
                <a:spcPts val="2220"/>
              </a:lnSpc>
              <a:spcBef>
                <a:spcPts val="0"/>
              </a:spcBef>
              <a:spcAft>
                <a:spcPts val="0"/>
              </a:spcAft>
              <a:defRPr sz="1620" b="1">
                <a:solidFill>
                  <a:srgbClr val="FFFFFF"/>
                </a:solidFill>
                <a:latin typeface="Noto Sans"/>
              </a:defRPr>
            </a:pPr>
            <a:r>
              <a:t>evidencia</a:t>
            </a:r>
          </a:p>
        </p:txBody>
      </p:sp>
      <p:sp>
        <p:nvSpPr>
          <p:cNvPr id="16" name="TextBox 15"/>
          <p:cNvSpPr txBox="1"/>
          <p:nvPr/>
        </p:nvSpPr>
        <p:spPr>
          <a:xfrm>
            <a:off x="86410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17" name="Rounded Rectangle 16"/>
          <p:cNvSpPr/>
          <p:nvPr/>
        </p:nvSpPr>
        <p:spPr>
          <a:xfrm>
            <a:off x="88392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144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04</a:t>
            </a:r>
          </a:p>
        </p:txBody>
      </p:sp>
      <p:sp>
        <p:nvSpPr>
          <p:cNvPr id="19" name="TextBox 18"/>
          <p:cNvSpPr txBox="1"/>
          <p:nvPr/>
        </p:nvSpPr>
        <p:spPr>
          <a:xfrm>
            <a:off x="90144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Mantener vigencia</a:t>
            </a:r>
          </a:p>
        </p:txBody>
      </p:sp>
      <p:sp>
        <p:nvSpPr>
          <p:cNvPr id="20" name="Rounded Rectangle 19"/>
          <p:cNvSpPr/>
          <p:nvPr/>
        </p:nvSpPr>
        <p:spPr>
          <a:xfrm>
            <a:off x="609600" y="3962399"/>
            <a:ext cx="10881360" cy="1744980"/>
          </a:xfrm>
          <a:prstGeom prst="roundRect">
            <a:avLst>
              <a:gd name="adj" fmla="val 786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8200" y="4175760"/>
            <a:ext cx="10424160" cy="1325880"/>
          </a:xfrm>
          <a:prstGeom prst="rect">
            <a:avLst/>
          </a:prstGeom>
          <a:noFill/>
        </p:spPr>
        <p:txBody>
          <a:bodyPr wrap="none" lIns="0" tIns="0" rIns="0" bIns="0" anchor="t">
            <a:spAutoFit/>
          </a:bodyPr>
          <a:lstStyle/>
          <a:p>
            <a:pPr>
              <a:lnSpc>
                <a:spcPts val="2400"/>
              </a:lnSpc>
              <a:spcBef>
                <a:spcPts val="0"/>
              </a:spcBef>
              <a:spcAft>
                <a:spcPts val="0"/>
              </a:spcAft>
              <a:defRPr sz="1739" b="0">
                <a:solidFill>
                  <a:srgbClr val="536975"/>
                </a:solidFill>
                <a:latin typeface="Noto Sans"/>
              </a:defRPr>
            </a:pPr>
            <a:r>
              <a:t>Define primero qué competencia o reconocimiento necesitas. Revisa el esquema en la fuente oficial</a:t>
            </a:r>
          </a:p>
          <a:p>
            <a:pPr>
              <a:lnSpc>
                <a:spcPts val="2400"/>
              </a:lnSpc>
              <a:spcBef>
                <a:spcPts val="0"/>
              </a:spcBef>
              <a:spcAft>
                <a:spcPts val="0"/>
              </a:spcAft>
              <a:defRPr sz="1739" b="0">
                <a:solidFill>
                  <a:srgbClr val="536975"/>
                </a:solidFill>
                <a:latin typeface="Noto Sans"/>
              </a:defRPr>
            </a:pPr>
            <a:r>
              <a:t>y distingue formación previa, evaluación y requisitos de experiencia. Verifica que la credencial</a:t>
            </a:r>
          </a:p>
          <a:p>
            <a:pPr>
              <a:lnSpc>
                <a:spcPts val="2400"/>
              </a:lnSpc>
              <a:spcBef>
                <a:spcPts val="0"/>
              </a:spcBef>
              <a:spcAft>
                <a:spcPts val="0"/>
              </a:spcAft>
              <a:defRPr sz="1739" b="0">
                <a:solidFill>
                  <a:srgbClr val="536975"/>
                </a:solidFill>
                <a:latin typeface="Noto Sans"/>
              </a:defRPr>
            </a:pPr>
            <a:r>
              <a:t>emitida pueda comprobarse y que la afirmación que haces respete su alcance. Después considera</a:t>
            </a:r>
          </a:p>
          <a:p>
            <a:pPr>
              <a:lnSpc>
                <a:spcPts val="2400"/>
              </a:lnSpc>
              <a:spcBef>
                <a:spcPts val="0"/>
              </a:spcBef>
              <a:spcAft>
                <a:spcPts val="0"/>
              </a:spcAft>
              <a:defRPr sz="1739" b="0">
                <a:solidFill>
                  <a:srgbClr val="536975"/>
                </a:solidFill>
                <a:latin typeface="Noto Sans"/>
              </a:defRPr>
            </a:pPr>
            <a:r>
              <a:t>las condiciones de mantenimiento y actualización, sin asumir que una credencial es indefinida.</a:t>
            </a:r>
          </a:p>
        </p:txBody>
      </p:sp>
      <p:sp>
        <p:nvSpPr>
          <p:cNvPr id="22" name="TextBox 21"/>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23" name="TextBox 22"/>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05 / 10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name="PND_U1 · Sección 1.3 · Certificacione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U1 · 1.3</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Caso aplicado · datos ficticios</a:t>
            </a:r>
          </a:p>
        </p:txBody>
      </p:sp>
      <p:sp>
        <p:nvSpPr>
          <p:cNvPr id="5" name="Rounded Rectangle 4"/>
          <p:cNvSpPr/>
          <p:nvPr/>
        </p:nvSpPr>
        <p:spPr>
          <a:xfrm>
            <a:off x="609600" y="2270760"/>
            <a:ext cx="10881360" cy="2301240"/>
          </a:xfrm>
          <a:prstGeom prst="roundRect">
            <a:avLst>
              <a:gd name="adj" fmla="val 596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3440" y="2484120"/>
            <a:ext cx="10393680" cy="1630680"/>
          </a:xfrm>
          <a:prstGeom prst="rect">
            <a:avLst/>
          </a:prstGeom>
          <a:noFill/>
        </p:spPr>
        <p:txBody>
          <a:bodyPr wrap="none" lIns="0" tIns="0" rIns="0" bIns="0" anchor="t">
            <a:spAutoFit/>
          </a:bodyPr>
          <a:lstStyle/>
          <a:p>
            <a:pPr>
              <a:lnSpc>
                <a:spcPts val="2400"/>
              </a:lnSpc>
              <a:spcBef>
                <a:spcPts val="0"/>
              </a:spcBef>
              <a:spcAft>
                <a:spcPts val="0"/>
              </a:spcAft>
              <a:defRPr sz="1739" b="0">
                <a:solidFill>
                  <a:srgbClr val="18394A"/>
                </a:solidFill>
                <a:latin typeface="Noto Sans"/>
              </a:defRPr>
            </a:pPr>
            <a:r>
              <a:t>Caso ficticio: una analista termina un curso de ocho horas y recibe un certificado de participación.</a:t>
            </a:r>
          </a:p>
          <a:p>
            <a:pPr>
              <a:lnSpc>
                <a:spcPts val="2400"/>
              </a:lnSpc>
              <a:spcBef>
                <a:spcPts val="0"/>
              </a:spcBef>
              <a:spcAft>
                <a:spcPts val="0"/>
              </a:spcAft>
              <a:defRPr sz="1739" b="0">
                <a:solidFill>
                  <a:srgbClr val="18394A"/>
                </a:solidFill>
                <a:latin typeface="Noto Sans"/>
              </a:defRPr>
            </a:pPr>
            <a:r>
              <a:t>Su empresa quiere anunciar que está certificada internacionalmente en BPM. Antes de publicar,</a:t>
            </a:r>
          </a:p>
          <a:p>
            <a:pPr>
              <a:lnSpc>
                <a:spcPts val="2400"/>
              </a:lnSpc>
              <a:spcBef>
                <a:spcPts val="0"/>
              </a:spcBef>
              <a:spcAft>
                <a:spcPts val="0"/>
              </a:spcAft>
              <a:defRPr sz="1739" b="0">
                <a:solidFill>
                  <a:srgbClr val="18394A"/>
                </a:solidFill>
                <a:latin typeface="Noto Sans"/>
              </a:defRPr>
            </a:pPr>
            <a:r>
              <a:t>debe distinguir la formación de la analista de una certificación profesional y de una certificación</a:t>
            </a:r>
          </a:p>
          <a:p>
            <a:pPr>
              <a:lnSpc>
                <a:spcPts val="2400"/>
              </a:lnSpc>
              <a:spcBef>
                <a:spcPts val="0"/>
              </a:spcBef>
              <a:spcAft>
                <a:spcPts val="0"/>
              </a:spcAft>
              <a:defRPr sz="1739" b="0">
                <a:solidFill>
                  <a:srgbClr val="18394A"/>
                </a:solidFill>
                <a:latin typeface="Noto Sans"/>
              </a:defRPr>
            </a:pPr>
            <a:r>
              <a:t>organizacional. Si decide preparar una credencial profesional, necesita revisar requisitos actuales y</a:t>
            </a:r>
          </a:p>
          <a:p>
            <a:pPr>
              <a:lnSpc>
                <a:spcPts val="2400"/>
              </a:lnSpc>
              <a:spcBef>
                <a:spcPts val="0"/>
              </a:spcBef>
              <a:spcAft>
                <a:spcPts val="0"/>
              </a:spcAft>
              <a:defRPr sz="1739" b="0">
                <a:solidFill>
                  <a:srgbClr val="18394A"/>
                </a:solidFill>
                <a:latin typeface="Noto Sans"/>
              </a:defRPr>
            </a:pPr>
            <a:r>
              <a:t>un plan realista de aprendizaje y evidencia.</a:t>
            </a:r>
          </a:p>
        </p:txBody>
      </p:sp>
      <p:sp>
        <p:nvSpPr>
          <p:cNvPr id="7" name="Rounded Rectangle 6"/>
          <p:cNvSpPr/>
          <p:nvPr/>
        </p:nvSpPr>
        <p:spPr>
          <a:xfrm>
            <a:off x="609600" y="4785360"/>
            <a:ext cx="10881360" cy="922020"/>
          </a:xfrm>
          <a:prstGeom prst="roundRect">
            <a:avLst>
              <a:gd name="adj" fmla="val 12396"/>
            </a:avLst>
          </a:prstGeom>
          <a:solidFill>
            <a:srgbClr val="E2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0580" y="4945380"/>
            <a:ext cx="104394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18394A"/>
                </a:solidFill>
                <a:latin typeface="Noto Sans"/>
              </a:defRPr>
            </a:pPr>
            <a:r>
              <a:t>¿Qué afirmación sería verificable y qué información falta para hablar de certificación profesional?</a:t>
            </a:r>
          </a:p>
        </p:txBody>
      </p:sp>
      <p:sp>
        <p:nvSpPr>
          <p:cNvPr id="9" name="TextBox 8"/>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0" name="TextBox 9"/>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06 / 10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name="PND_U1 · Sección 1.3 · Certificacione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U1 · 1.3</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Personas y organizaciones</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Una certificación profesional pertenece a la persona que cumple su esquema. Una</a:t>
            </a:r>
          </a:p>
          <a:p>
            <a:pPr>
              <a:lnSpc>
                <a:spcPts val="2580"/>
              </a:lnSpc>
              <a:spcBef>
                <a:spcPts val="0"/>
              </a:spcBef>
              <a:spcAft>
                <a:spcPts val="0"/>
              </a:spcAft>
              <a:defRPr sz="1859" b="0">
                <a:solidFill>
                  <a:srgbClr val="18394A"/>
                </a:solidFill>
                <a:latin typeface="Noto Sans"/>
              </a:defRPr>
            </a:pPr>
            <a:r>
              <a:t>certificación organizacional, como la de un sistema de gestión bajo un estándar aplicable,</a:t>
            </a:r>
          </a:p>
          <a:p>
            <a:pPr>
              <a:lnSpc>
                <a:spcPts val="2580"/>
              </a:lnSpc>
              <a:spcBef>
                <a:spcPts val="0"/>
              </a:spcBef>
              <a:spcAft>
                <a:spcPts val="0"/>
              </a:spcAft>
              <a:defRPr sz="1859" b="0">
                <a:solidFill>
                  <a:srgbClr val="18394A"/>
                </a:solidFill>
                <a:latin typeface="Noto Sans"/>
              </a:defRPr>
            </a:pPr>
            <a:r>
              <a:t>tiene otro objeto y alcance. No debe presentarse una credencial de un empleado como</a:t>
            </a:r>
          </a:p>
          <a:p>
            <a:pPr>
              <a:lnSpc>
                <a:spcPts val="2580"/>
              </a:lnSpc>
              <a:spcBef>
                <a:spcPts val="0"/>
              </a:spcBef>
              <a:spcAft>
                <a:spcPts val="0"/>
              </a:spcAft>
              <a:defRPr sz="1859" b="0">
                <a:solidFill>
                  <a:srgbClr val="18394A"/>
                </a:solidFill>
                <a:latin typeface="Noto Sans"/>
              </a:defRPr>
            </a:pPr>
            <a:r>
              <a:t>certificación de toda la empresa, ni confundir una formación en BPM con una autorización</a:t>
            </a:r>
          </a:p>
          <a:p>
            <a:pPr>
              <a:lnSpc>
                <a:spcPts val="2580"/>
              </a:lnSpc>
              <a:spcBef>
                <a:spcPts val="0"/>
              </a:spcBef>
              <a:spcAft>
                <a:spcPts val="0"/>
              </a:spcAft>
              <a:defRPr sz="1859" b="0">
                <a:solidFill>
                  <a:srgbClr val="18394A"/>
                </a:solidFill>
                <a:latin typeface="Noto Sans"/>
              </a:defRPr>
            </a:pPr>
            <a:r>
              <a:t>legal para cualquier servicio profesional.</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07 / 10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name="PND_U1 · Sección 1.3 · Certificacione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U1 · 1.3</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Elegir y verificar</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Relaciona la credencial con un objetivo y revisa entidad emisora, requisitos, examen,</a:t>
            </a:r>
          </a:p>
          <a:p>
            <a:pPr>
              <a:lnSpc>
                <a:spcPts val="2580"/>
              </a:lnSpc>
              <a:spcBef>
                <a:spcPts val="0"/>
              </a:spcBef>
              <a:spcAft>
                <a:spcPts val="0"/>
              </a:spcAft>
              <a:defRPr sz="1859" b="0">
                <a:solidFill>
                  <a:srgbClr val="18394A"/>
                </a:solidFill>
                <a:latin typeface="Noto Sans"/>
              </a:defRPr>
            </a:pPr>
            <a:r>
              <a:t>experiencia requerida, vigencia, renovación y costos en la información oficial actual.</a:t>
            </a:r>
          </a:p>
          <a:p>
            <a:pPr>
              <a:lnSpc>
                <a:spcPts val="2580"/>
              </a:lnSpc>
              <a:spcBef>
                <a:spcPts val="0"/>
              </a:spcBef>
              <a:spcAft>
                <a:spcPts val="0"/>
              </a:spcAft>
              <a:defRPr sz="1859" b="0">
                <a:solidFill>
                  <a:srgbClr val="18394A"/>
                </a:solidFill>
                <a:latin typeface="Noto Sans"/>
              </a:defRPr>
            </a:pPr>
            <a:r>
              <a:t>Comprueba autenticidad y alcance antes de usar un logotipo o afirmación comercial. La</a:t>
            </a:r>
          </a:p>
          <a:p>
            <a:pPr>
              <a:lnSpc>
                <a:spcPts val="2580"/>
              </a:lnSpc>
              <a:spcBef>
                <a:spcPts val="0"/>
              </a:spcBef>
              <a:spcAft>
                <a:spcPts val="0"/>
              </a:spcAft>
              <a:defRPr sz="1859" b="0">
                <a:solidFill>
                  <a:srgbClr val="18394A"/>
                </a:solidFill>
                <a:latin typeface="Noto Sans"/>
              </a:defRPr>
            </a:pPr>
            <a:r>
              <a:t>certificación puede apoyar desarrollo profesional, pero no garantiza empleo ni resultados</a:t>
            </a:r>
          </a:p>
          <a:p>
            <a:pPr>
              <a:lnSpc>
                <a:spcPts val="2580"/>
              </a:lnSpc>
              <a:spcBef>
                <a:spcPts val="0"/>
              </a:spcBef>
              <a:spcAft>
                <a:spcPts val="0"/>
              </a:spcAft>
              <a:defRPr sz="1859" b="0">
                <a:solidFill>
                  <a:srgbClr val="18394A"/>
                </a:solidFill>
                <a:latin typeface="Noto Sans"/>
              </a:defRPr>
            </a:pPr>
            <a:r>
              <a:t>de proyectos sin práctica, ética y actualización continua.</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08 / 10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name="PND_U1 · Sección 1.3 · Certificacione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U1 · 1.3</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Tu actividad de transferencia</a:t>
            </a:r>
          </a:p>
        </p:txBody>
      </p:sp>
      <p:sp>
        <p:nvSpPr>
          <p:cNvPr id="5" name="Oval 4"/>
          <p:cNvSpPr/>
          <p:nvPr/>
        </p:nvSpPr>
        <p:spPr>
          <a:xfrm>
            <a:off x="609600" y="230124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3900" y="235458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1</a:t>
            </a:r>
          </a:p>
        </p:txBody>
      </p:sp>
      <p:sp>
        <p:nvSpPr>
          <p:cNvPr id="7" name="TextBox 6"/>
          <p:cNvSpPr txBox="1"/>
          <p:nvPr/>
        </p:nvSpPr>
        <p:spPr>
          <a:xfrm>
            <a:off x="1219200" y="227076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Clasifica tres evidencias ficticias: asistencia, credencial profesional y certificación organizacional.</a:t>
            </a:r>
          </a:p>
        </p:txBody>
      </p:sp>
      <p:sp>
        <p:nvSpPr>
          <p:cNvPr id="8" name="Oval 7"/>
          <p:cNvSpPr/>
          <p:nvPr/>
        </p:nvSpPr>
        <p:spPr>
          <a:xfrm>
            <a:off x="609600" y="315468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3900" y="320802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2</a:t>
            </a:r>
          </a:p>
        </p:txBody>
      </p:sp>
      <p:sp>
        <p:nvSpPr>
          <p:cNvPr id="10" name="TextBox 9"/>
          <p:cNvSpPr txBox="1"/>
          <p:nvPr/>
        </p:nvSpPr>
        <p:spPr>
          <a:xfrm>
            <a:off x="1219200" y="312420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Compara dos esquemas usando requisitos y alcances que consultarías en fuentes oficiales.</a:t>
            </a:r>
          </a:p>
        </p:txBody>
      </p:sp>
      <p:sp>
        <p:nvSpPr>
          <p:cNvPr id="11" name="Oval 10"/>
          <p:cNvSpPr/>
          <p:nvPr/>
        </p:nvSpPr>
        <p:spPr>
          <a:xfrm>
            <a:off x="609600" y="400812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900" y="406146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3</a:t>
            </a:r>
          </a:p>
        </p:txBody>
      </p:sp>
      <p:sp>
        <p:nvSpPr>
          <p:cNvPr id="13" name="TextBox 12"/>
          <p:cNvSpPr txBox="1"/>
          <p:nvPr/>
        </p:nvSpPr>
        <p:spPr>
          <a:xfrm>
            <a:off x="1219200" y="3977639"/>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Corrige el anuncio del caso para que respete la evidencia disponible.</a:t>
            </a:r>
          </a:p>
        </p:txBody>
      </p:sp>
      <p:sp>
        <p:nvSpPr>
          <p:cNvPr id="14" name="Oval 13"/>
          <p:cNvSpPr/>
          <p:nvPr/>
        </p:nvSpPr>
        <p:spPr>
          <a:xfrm>
            <a:off x="609600" y="486156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3900" y="491490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4</a:t>
            </a:r>
          </a:p>
        </p:txBody>
      </p:sp>
      <p:sp>
        <p:nvSpPr>
          <p:cNvPr id="16" name="TextBox 15"/>
          <p:cNvSpPr txBox="1"/>
          <p:nvPr/>
        </p:nvSpPr>
        <p:spPr>
          <a:xfrm>
            <a:off x="1219200" y="483108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Diseña un plan de preparación y comprobación de vigencia sin inventar requisitos actuales.</a:t>
            </a:r>
          </a:p>
        </p:txBody>
      </p:sp>
      <p:sp>
        <p:nvSpPr>
          <p:cNvPr id="17" name="TextBox 16"/>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8" name="TextBox 17"/>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09 / 10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name="PND_U1 · Sección 1.3 · Certificaciones">
    <p:bg>
      <p:bgPr>
        <a:solidFill>
          <a:srgbClr val="F5F2EB"/>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E7AE53"/>
                </a:solidFill>
                <a:latin typeface="Noto Sans"/>
              </a:defRPr>
            </a:pPr>
            <a:r>
              <a:t>PROCESOS PARA NEGOCIOS DIGITALES · U1 · 1.3</a:t>
            </a:r>
          </a:p>
        </p:txBody>
      </p:sp>
      <p:sp>
        <p:nvSpPr>
          <p:cNvPr id="5" name="TextBox 4"/>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FFFFFF"/>
                </a:solidFill>
                <a:latin typeface="Noto Sans"/>
              </a:defRPr>
            </a:pPr>
            <a:r>
              <a:t>Síntesis y referencias</a:t>
            </a:r>
          </a:p>
        </p:txBody>
      </p:sp>
      <p:sp>
        <p:nvSpPr>
          <p:cNvPr id="6" name="Rounded Rectangle 5"/>
          <p:cNvSpPr/>
          <p:nvPr/>
        </p:nvSpPr>
        <p:spPr>
          <a:xfrm>
            <a:off x="609600" y="217170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8200" y="230886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Distingue asistencia, competencia y organización.</a:t>
            </a:r>
          </a:p>
        </p:txBody>
      </p:sp>
      <p:sp>
        <p:nvSpPr>
          <p:cNvPr id="8" name="Rounded Rectangle 7"/>
          <p:cNvSpPr/>
          <p:nvPr/>
        </p:nvSpPr>
        <p:spPr>
          <a:xfrm>
            <a:off x="609600" y="296418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8200" y="310134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Comprueba emisor, alcance y requisitos vigentes.</a:t>
            </a:r>
          </a:p>
        </p:txBody>
      </p:sp>
      <p:sp>
        <p:nvSpPr>
          <p:cNvPr id="10" name="Rounded Rectangle 9"/>
          <p:cNvSpPr/>
          <p:nvPr/>
        </p:nvSpPr>
        <p:spPr>
          <a:xfrm>
            <a:off x="609600" y="375666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8200" y="389382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Comunica solo lo que la evidencia acredita.</a:t>
            </a:r>
          </a:p>
        </p:txBody>
      </p:sp>
      <p:sp>
        <p:nvSpPr>
          <p:cNvPr id="12" name="TextBox 11"/>
          <p:cNvSpPr txBox="1"/>
          <p:nvPr/>
        </p:nvSpPr>
        <p:spPr>
          <a:xfrm>
            <a:off x="685800" y="4777740"/>
            <a:ext cx="10744200" cy="838200"/>
          </a:xfrm>
          <a:prstGeom prst="rect">
            <a:avLst/>
          </a:prstGeom>
          <a:noFill/>
        </p:spPr>
        <p:txBody>
          <a:bodyPr wrap="none" lIns="0" tIns="0" rIns="0" bIns="0" anchor="t">
            <a:spAutoFit/>
          </a:bodyPr>
          <a:lstStyle/>
          <a:p>
            <a:pPr>
              <a:lnSpc>
                <a:spcPts val="1920"/>
              </a:lnSpc>
              <a:spcBef>
                <a:spcPts val="0"/>
              </a:spcBef>
              <a:spcAft>
                <a:spcPts val="0"/>
              </a:spcAft>
              <a:defRPr sz="1380" b="0">
                <a:solidFill>
                  <a:srgbClr val="D6E4E8"/>
                </a:solidFill>
                <a:latin typeface="Noto Sans"/>
              </a:defRPr>
            </a:pPr>
            <a:r>
              <a:t>Base curricular: sílabo UPS adjunto, página 1. Referencia de ampliación: ABPMP International, información oficial de certificación:</a:t>
            </a:r>
          </a:p>
          <a:p>
            <a:pPr>
              <a:lnSpc>
                <a:spcPts val="1920"/>
              </a:lnSpc>
              <a:spcBef>
                <a:spcPts val="0"/>
              </a:spcBef>
              <a:spcAft>
                <a:spcPts val="0"/>
              </a:spcAft>
              <a:defRPr sz="1380" b="0">
                <a:solidFill>
                  <a:srgbClr val="D6E4E8"/>
                </a:solidFill>
                <a:latin typeface="Noto Sans"/>
              </a:defRPr>
            </a:pPr>
            <a:r>
              <a:t>https://www.abpmp.org/ . Los requisitos deben consultarse en su versión vigente; no se atribuye equivalencia universal entre</a:t>
            </a:r>
          </a:p>
          <a:p>
            <a:pPr>
              <a:lnSpc>
                <a:spcPts val="1920"/>
              </a:lnSpc>
              <a:spcBef>
                <a:spcPts val="0"/>
              </a:spcBef>
              <a:spcAft>
                <a:spcPts val="0"/>
              </a:spcAft>
              <a:defRPr sz="1380" b="0">
                <a:solidFill>
                  <a:srgbClr val="D6E4E8"/>
                </a:solidFill>
                <a:latin typeface="Noto Sans"/>
              </a:defRPr>
            </a:pPr>
            <a:r>
              <a:t>credenciales.</a:t>
            </a:r>
          </a:p>
        </p:txBody>
      </p:sp>
      <p:sp>
        <p:nvSpPr>
          <p:cNvPr id="13" name="TextBox 12"/>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Material didáctico de elaboración original · Caso y datos ficticios</a:t>
            </a:r>
          </a:p>
        </p:txBody>
      </p:sp>
      <p:sp>
        <p:nvSpPr>
          <p:cNvPr id="14" name="TextBox 13"/>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10 / 10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name="PND_U1 · Sección 1.4 · Ciclo de vida general del BPM">
    <p:bg>
      <p:bgPr>
        <a:solidFill>
          <a:srgbClr val="F5F2EB"/>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E7AE53"/>
                </a:solidFill>
                <a:latin typeface="Noto Sans"/>
              </a:defRPr>
            </a:pPr>
            <a:r>
              <a:t>PROCESOS PARA NEGOCIOS DIGITALES · U1 · 1.4</a:t>
            </a:r>
          </a:p>
        </p:txBody>
      </p:sp>
      <p:sp>
        <p:nvSpPr>
          <p:cNvPr id="5" name="TextBox 4"/>
          <p:cNvSpPr txBox="1"/>
          <p:nvPr/>
        </p:nvSpPr>
        <p:spPr>
          <a:xfrm>
            <a:off x="609600" y="1203960"/>
            <a:ext cx="10744200" cy="777240"/>
          </a:xfrm>
          <a:prstGeom prst="rect">
            <a:avLst/>
          </a:prstGeom>
          <a:noFill/>
        </p:spPr>
        <p:txBody>
          <a:bodyPr wrap="none" lIns="0" tIns="0" rIns="0" bIns="0" anchor="t">
            <a:spAutoFit/>
          </a:bodyPr>
          <a:lstStyle/>
          <a:p>
            <a:pPr>
              <a:lnSpc>
                <a:spcPts val="5280"/>
              </a:lnSpc>
              <a:spcBef>
                <a:spcPts val="0"/>
              </a:spcBef>
              <a:spcAft>
                <a:spcPts val="0"/>
              </a:spcAft>
              <a:defRPr sz="3840" b="1">
                <a:solidFill>
                  <a:srgbClr val="FFFFFF"/>
                </a:solidFill>
                <a:latin typeface="Noto Sans"/>
              </a:defRPr>
            </a:pPr>
            <a:r>
              <a:t>Ciclo de vida general del BPM</a:t>
            </a:r>
          </a:p>
        </p:txBody>
      </p:sp>
      <p:sp>
        <p:nvSpPr>
          <p:cNvPr id="6" name="TextBox 5"/>
          <p:cNvSpPr txBox="1"/>
          <p:nvPr/>
        </p:nvSpPr>
        <p:spPr>
          <a:xfrm>
            <a:off x="647700" y="2080260"/>
            <a:ext cx="9982200" cy="777240"/>
          </a:xfrm>
          <a:prstGeom prst="rect">
            <a:avLst/>
          </a:prstGeom>
          <a:noFill/>
        </p:spPr>
        <p:txBody>
          <a:bodyPr wrap="none" lIns="0" tIns="0" rIns="0" bIns="0" anchor="t">
            <a:spAutoFit/>
          </a:bodyPr>
          <a:lstStyle/>
          <a:p>
            <a:pPr>
              <a:lnSpc>
                <a:spcPts val="2640"/>
              </a:lnSpc>
              <a:spcBef>
                <a:spcPts val="0"/>
              </a:spcBef>
              <a:spcAft>
                <a:spcPts val="0"/>
              </a:spcAft>
              <a:defRPr sz="1920" b="0">
                <a:solidFill>
                  <a:srgbClr val="D6E4E8"/>
                </a:solidFill>
                <a:latin typeface="Noto Sans"/>
              </a:defRPr>
            </a:pPr>
            <a:r>
              <a:t>Explicar el ciclo general de BPM y la relación iterativa entre comprender, cambiar y</a:t>
            </a:r>
          </a:p>
          <a:p>
            <a:pPr>
              <a:lnSpc>
                <a:spcPts val="2640"/>
              </a:lnSpc>
              <a:spcBef>
                <a:spcPts val="0"/>
              </a:spcBef>
              <a:spcAft>
                <a:spcPts val="0"/>
              </a:spcAft>
              <a:defRPr sz="1920" b="0">
                <a:solidFill>
                  <a:srgbClr val="D6E4E8"/>
                </a:solidFill>
                <a:latin typeface="Noto Sans"/>
              </a:defRPr>
            </a:pPr>
            <a:r>
              <a:t>controlar un proceso.</a:t>
            </a:r>
          </a:p>
        </p:txBody>
      </p:sp>
      <p:sp>
        <p:nvSpPr>
          <p:cNvPr id="7" name="Rounded Rectangle 6"/>
          <p:cNvSpPr/>
          <p:nvPr/>
        </p:nvSpPr>
        <p:spPr>
          <a:xfrm>
            <a:off x="6477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34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Comprender</a:t>
            </a:r>
          </a:p>
        </p:txBody>
      </p:sp>
      <p:sp>
        <p:nvSpPr>
          <p:cNvPr id="9" name="Rounded Rectangle 8"/>
          <p:cNvSpPr/>
          <p:nvPr/>
        </p:nvSpPr>
        <p:spPr>
          <a:xfrm>
            <a:off x="43815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872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Aplicar</a:t>
            </a:r>
          </a:p>
        </p:txBody>
      </p:sp>
      <p:sp>
        <p:nvSpPr>
          <p:cNvPr id="11" name="Rounded Rectangle 10"/>
          <p:cNvSpPr/>
          <p:nvPr/>
        </p:nvSpPr>
        <p:spPr>
          <a:xfrm>
            <a:off x="81153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Comprobar</a:t>
            </a:r>
          </a:p>
        </p:txBody>
      </p:sp>
      <p:sp>
        <p:nvSpPr>
          <p:cNvPr id="13" name="TextBox 12"/>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Material didáctico de elaboración original · Caso y datos ficticios</a:t>
            </a:r>
          </a:p>
        </p:txBody>
      </p:sp>
      <p:sp>
        <p:nvSpPr>
          <p:cNvPr id="14" name="TextBox 13"/>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01 / 10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name="PND_U1 · Sección 1.4 · Ciclo de vida general del BPM">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U1 · 1.4</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Una decisión que podrás justificar</a:t>
            </a:r>
          </a:p>
        </p:txBody>
      </p:sp>
      <p:sp>
        <p:nvSpPr>
          <p:cNvPr id="5" name="Rounded Rectangle 4"/>
          <p:cNvSpPr/>
          <p:nvPr/>
        </p:nvSpPr>
        <p:spPr>
          <a:xfrm>
            <a:off x="609600" y="2308860"/>
            <a:ext cx="10896600" cy="1341120"/>
          </a:xfrm>
          <a:prstGeom prst="roundRect">
            <a:avLst>
              <a:gd name="adj" fmla="val 10227"/>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200" y="2484120"/>
            <a:ext cx="10439400" cy="822960"/>
          </a:xfrm>
          <a:prstGeom prst="rect">
            <a:avLst/>
          </a:prstGeom>
          <a:noFill/>
        </p:spPr>
        <p:txBody>
          <a:bodyPr wrap="none" lIns="0" tIns="0" rIns="0" bIns="0" anchor="t">
            <a:spAutoFit/>
          </a:bodyPr>
          <a:lstStyle/>
          <a:p>
            <a:pPr>
              <a:lnSpc>
                <a:spcPts val="2820"/>
              </a:lnSpc>
              <a:spcBef>
                <a:spcPts val="0"/>
              </a:spcBef>
              <a:spcAft>
                <a:spcPts val="0"/>
              </a:spcAft>
              <a:defRPr sz="2039" b="1">
                <a:solidFill>
                  <a:srgbClr val="18394A"/>
                </a:solidFill>
                <a:latin typeface="Noto Sans"/>
              </a:defRPr>
            </a:pPr>
            <a:r>
              <a:t>Explicar el ciclo general de BPM y la relación iterativa entre comprender,</a:t>
            </a:r>
          </a:p>
          <a:p>
            <a:pPr>
              <a:lnSpc>
                <a:spcPts val="2820"/>
              </a:lnSpc>
              <a:spcBef>
                <a:spcPts val="0"/>
              </a:spcBef>
              <a:spcAft>
                <a:spcPts val="0"/>
              </a:spcAft>
              <a:defRPr sz="2039" b="1">
                <a:solidFill>
                  <a:srgbClr val="18394A"/>
                </a:solidFill>
                <a:latin typeface="Noto Sans"/>
              </a:defRPr>
            </a:pPr>
            <a:r>
              <a:t>cambiar y controlar un proceso.</a:t>
            </a:r>
          </a:p>
        </p:txBody>
      </p:sp>
      <p:sp>
        <p:nvSpPr>
          <p:cNvPr id="7" name="TextBox 6"/>
          <p:cNvSpPr txBox="1"/>
          <p:nvPr/>
        </p:nvSpPr>
        <p:spPr>
          <a:xfrm>
            <a:off x="685800" y="4061460"/>
            <a:ext cx="10668000" cy="381000"/>
          </a:xfrm>
          <a:prstGeom prst="rect">
            <a:avLst/>
          </a:prstGeom>
          <a:noFill/>
        </p:spPr>
        <p:txBody>
          <a:bodyPr wrap="none" lIns="0" tIns="0" rIns="0" bIns="0" anchor="t">
            <a:spAutoFit/>
          </a:bodyPr>
          <a:lstStyle/>
          <a:p>
            <a:pPr>
              <a:lnSpc>
                <a:spcPts val="2160"/>
              </a:lnSpc>
              <a:spcBef>
                <a:spcPts val="0"/>
              </a:spcBef>
              <a:spcAft>
                <a:spcPts val="0"/>
              </a:spcAft>
              <a:defRPr sz="1560" b="1">
                <a:solidFill>
                  <a:srgbClr val="087E8B"/>
                </a:solidFill>
                <a:latin typeface="Noto Sans"/>
              </a:defRPr>
            </a:pPr>
            <a:r>
              <a:t>Pregunta de entrada</a:t>
            </a:r>
          </a:p>
        </p:txBody>
      </p:sp>
      <p:sp>
        <p:nvSpPr>
          <p:cNvPr id="8" name="TextBox 7"/>
          <p:cNvSpPr txBox="1"/>
          <p:nvPr/>
        </p:nvSpPr>
        <p:spPr>
          <a:xfrm>
            <a:off x="685800" y="4488180"/>
            <a:ext cx="10668000" cy="464820"/>
          </a:xfrm>
          <a:prstGeom prst="rect">
            <a:avLst/>
          </a:prstGeom>
          <a:noFill/>
        </p:spPr>
        <p:txBody>
          <a:bodyPr wrap="none" lIns="0" tIns="0" rIns="0" bIns="0" anchor="t">
            <a:spAutoFit/>
          </a:bodyPr>
          <a:lstStyle/>
          <a:p>
            <a:pPr>
              <a:lnSpc>
                <a:spcPts val="2820"/>
              </a:lnSpc>
              <a:spcBef>
                <a:spcPts val="0"/>
              </a:spcBef>
              <a:spcAft>
                <a:spcPts val="0"/>
              </a:spcAft>
              <a:defRPr sz="2039" b="0">
                <a:solidFill>
                  <a:srgbClr val="18394A"/>
                </a:solidFill>
                <a:latin typeface="Noto Sans"/>
              </a:defRPr>
            </a:pPr>
            <a:r>
              <a:t>¿Qué evidencia produce cada fase y cuándo sería necesario volver al análisis?</a:t>
            </a:r>
          </a:p>
        </p:txBody>
      </p:sp>
      <p:sp>
        <p:nvSpPr>
          <p:cNvPr id="9" name="TextBox 8"/>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0" name="TextBox 9"/>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02 / 10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name="PND_U1 · Sección 1.4 · Ciclo de vida general del BPM">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U1 · 1.4</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Identificar y delimitar</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El ciclo comienza seleccionando procesos según propósito, impacto y problemas</a:t>
            </a:r>
          </a:p>
          <a:p>
            <a:pPr>
              <a:lnSpc>
                <a:spcPts val="2580"/>
              </a:lnSpc>
              <a:spcBef>
                <a:spcPts val="0"/>
              </a:spcBef>
              <a:spcAft>
                <a:spcPts val="0"/>
              </a:spcAft>
              <a:defRPr sz="1859" b="0">
                <a:solidFill>
                  <a:srgbClr val="18394A"/>
                </a:solidFill>
                <a:latin typeface="Noto Sans"/>
              </a:defRPr>
            </a:pPr>
            <a:r>
              <a:t>observados. Define límites, destinatarios, responsable y relación con otros procesos. No</a:t>
            </a:r>
          </a:p>
          <a:p>
            <a:pPr>
              <a:lnSpc>
                <a:spcPts val="2580"/>
              </a:lnSpc>
              <a:spcBef>
                <a:spcPts val="0"/>
              </a:spcBef>
              <a:spcAft>
                <a:spcPts val="0"/>
              </a:spcAft>
              <a:defRPr sz="1859" b="0">
                <a:solidFill>
                  <a:srgbClr val="18394A"/>
                </a:solidFill>
                <a:latin typeface="Noto Sans"/>
              </a:defRPr>
            </a:pPr>
            <a:r>
              <a:t>todas las oportunidades tienen la misma prioridad ni madurez. Un alcance claro permite</a:t>
            </a:r>
          </a:p>
          <a:p>
            <a:pPr>
              <a:lnSpc>
                <a:spcPts val="2580"/>
              </a:lnSpc>
              <a:spcBef>
                <a:spcPts val="0"/>
              </a:spcBef>
              <a:spcAft>
                <a:spcPts val="0"/>
              </a:spcAft>
              <a:defRPr sz="1859" b="0">
                <a:solidFill>
                  <a:srgbClr val="18394A"/>
                </a:solidFill>
                <a:latin typeface="Noto Sans"/>
              </a:defRPr>
            </a:pPr>
            <a:r>
              <a:t>saber qué se investigará y evita que el proyecto intente transformar toda la organización</a:t>
            </a:r>
          </a:p>
          <a:p>
            <a:pPr>
              <a:lnSpc>
                <a:spcPts val="2580"/>
              </a:lnSpc>
              <a:spcBef>
                <a:spcPts val="0"/>
              </a:spcBef>
              <a:spcAft>
                <a:spcPts val="0"/>
              </a:spcAft>
              <a:defRPr sz="1859" b="0">
                <a:solidFill>
                  <a:srgbClr val="18394A"/>
                </a:solidFill>
                <a:latin typeface="Noto Sans"/>
              </a:defRPr>
            </a:pPr>
            <a:r>
              <a:t>antes de comprender una necesidad concreta.</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03 / 10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name="PND_U1 · Sección 1.4 · Ciclo de vida general del BPM">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U1 · 1.4</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Descubrir y analizar</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El descubrimiento documenta cómo funciona realmente el proceso usando entrevistas,</a:t>
            </a:r>
          </a:p>
          <a:p>
            <a:pPr>
              <a:lnSpc>
                <a:spcPts val="2580"/>
              </a:lnSpc>
              <a:spcBef>
                <a:spcPts val="0"/>
              </a:spcBef>
              <a:spcAft>
                <a:spcPts val="0"/>
              </a:spcAft>
              <a:defRPr sz="1859" b="0">
                <a:solidFill>
                  <a:srgbClr val="18394A"/>
                </a:solidFill>
                <a:latin typeface="Noto Sans"/>
              </a:defRPr>
            </a:pPr>
            <a:r>
              <a:t>observación y registros pertinentes. El análisis identifica problemas, tiempos, variaciones y</a:t>
            </a:r>
          </a:p>
          <a:p>
            <a:pPr>
              <a:lnSpc>
                <a:spcPts val="2580"/>
              </a:lnSpc>
              <a:spcBef>
                <a:spcPts val="0"/>
              </a:spcBef>
              <a:spcAft>
                <a:spcPts val="0"/>
              </a:spcAft>
              <a:defRPr sz="1859" b="0">
                <a:solidFill>
                  <a:srgbClr val="18394A"/>
                </a:solidFill>
                <a:latin typeface="Noto Sans"/>
              </a:defRPr>
            </a:pPr>
            <a:r>
              <a:t>causas que deben contrastarse. El modelo actual no debe confundirse con el procedimiento</a:t>
            </a:r>
          </a:p>
          <a:p>
            <a:pPr>
              <a:lnSpc>
                <a:spcPts val="2580"/>
              </a:lnSpc>
              <a:spcBef>
                <a:spcPts val="0"/>
              </a:spcBef>
              <a:spcAft>
                <a:spcPts val="0"/>
              </a:spcAft>
              <a:defRPr sz="1859" b="0">
                <a:solidFill>
                  <a:srgbClr val="18394A"/>
                </a:solidFill>
                <a:latin typeface="Noto Sans"/>
              </a:defRPr>
            </a:pPr>
            <a:r>
              <a:t>ideal del manual. Recoger varias perspectivas ayuda a encontrar trabajo oculto y diferencias</a:t>
            </a:r>
          </a:p>
          <a:p>
            <a:pPr>
              <a:lnSpc>
                <a:spcPts val="2580"/>
              </a:lnSpc>
              <a:spcBef>
                <a:spcPts val="0"/>
              </a:spcBef>
              <a:spcAft>
                <a:spcPts val="0"/>
              </a:spcAft>
              <a:defRPr sz="1859" b="0">
                <a:solidFill>
                  <a:srgbClr val="18394A"/>
                </a:solidFill>
                <a:latin typeface="Noto Sans"/>
              </a:defRPr>
            </a:pPr>
            <a:r>
              <a:t>entre lo previsto y lo que las personas hacen.</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04 / 10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name="PND_U1 · Sección 1.4 · Ciclo de vida general del BPM">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U1 · 1.4</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Del concepto a la acción</a:t>
            </a:r>
          </a:p>
        </p:txBody>
      </p:sp>
      <p:sp>
        <p:nvSpPr>
          <p:cNvPr id="5" name="Rounded Rectangle 4"/>
          <p:cNvSpPr/>
          <p:nvPr/>
        </p:nvSpPr>
        <p:spPr>
          <a:xfrm>
            <a:off x="6096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48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01</a:t>
            </a:r>
          </a:p>
        </p:txBody>
      </p:sp>
      <p:sp>
        <p:nvSpPr>
          <p:cNvPr id="7" name="TextBox 6"/>
          <p:cNvSpPr txBox="1"/>
          <p:nvPr/>
        </p:nvSpPr>
        <p:spPr>
          <a:xfrm>
            <a:off x="7848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Identificar</a:t>
            </a:r>
          </a:p>
        </p:txBody>
      </p:sp>
      <p:sp>
        <p:nvSpPr>
          <p:cNvPr id="8" name="TextBox 7"/>
          <p:cNvSpPr txBox="1"/>
          <p:nvPr/>
        </p:nvSpPr>
        <p:spPr>
          <a:xfrm>
            <a:off x="31546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9" name="Rounded Rectangle 8"/>
          <p:cNvSpPr/>
          <p:nvPr/>
        </p:nvSpPr>
        <p:spPr>
          <a:xfrm>
            <a:off x="33528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280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02</a:t>
            </a:r>
          </a:p>
        </p:txBody>
      </p:sp>
      <p:sp>
        <p:nvSpPr>
          <p:cNvPr id="11" name="TextBox 10"/>
          <p:cNvSpPr txBox="1"/>
          <p:nvPr/>
        </p:nvSpPr>
        <p:spPr>
          <a:xfrm>
            <a:off x="35280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Descubrir y analizar</a:t>
            </a:r>
          </a:p>
        </p:txBody>
      </p:sp>
      <p:sp>
        <p:nvSpPr>
          <p:cNvPr id="12" name="TextBox 11"/>
          <p:cNvSpPr txBox="1"/>
          <p:nvPr/>
        </p:nvSpPr>
        <p:spPr>
          <a:xfrm>
            <a:off x="58978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13" name="Rounded Rectangle 12"/>
          <p:cNvSpPr/>
          <p:nvPr/>
        </p:nvSpPr>
        <p:spPr>
          <a:xfrm>
            <a:off x="60960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712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03</a:t>
            </a:r>
          </a:p>
        </p:txBody>
      </p:sp>
      <p:sp>
        <p:nvSpPr>
          <p:cNvPr id="15" name="TextBox 14"/>
          <p:cNvSpPr txBox="1"/>
          <p:nvPr/>
        </p:nvSpPr>
        <p:spPr>
          <a:xfrm>
            <a:off x="6271260" y="2948940"/>
            <a:ext cx="2171700" cy="67056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Rediseñar e</a:t>
            </a:r>
          </a:p>
          <a:p>
            <a:pPr>
              <a:lnSpc>
                <a:spcPts val="2220"/>
              </a:lnSpc>
              <a:spcBef>
                <a:spcPts val="0"/>
              </a:spcBef>
              <a:spcAft>
                <a:spcPts val="0"/>
              </a:spcAft>
              <a:defRPr sz="1620" b="1">
                <a:solidFill>
                  <a:srgbClr val="FFFFFF"/>
                </a:solidFill>
                <a:latin typeface="Noto Sans"/>
              </a:defRPr>
            </a:pPr>
            <a:r>
              <a:t>implantar</a:t>
            </a:r>
          </a:p>
        </p:txBody>
      </p:sp>
      <p:sp>
        <p:nvSpPr>
          <p:cNvPr id="16" name="TextBox 15"/>
          <p:cNvSpPr txBox="1"/>
          <p:nvPr/>
        </p:nvSpPr>
        <p:spPr>
          <a:xfrm>
            <a:off x="86410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17" name="Rounded Rectangle 16"/>
          <p:cNvSpPr/>
          <p:nvPr/>
        </p:nvSpPr>
        <p:spPr>
          <a:xfrm>
            <a:off x="88392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144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04</a:t>
            </a:r>
          </a:p>
        </p:txBody>
      </p:sp>
      <p:sp>
        <p:nvSpPr>
          <p:cNvPr id="19" name="TextBox 18"/>
          <p:cNvSpPr txBox="1"/>
          <p:nvPr/>
        </p:nvSpPr>
        <p:spPr>
          <a:xfrm>
            <a:off x="90144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Monitorear y ajustar</a:t>
            </a:r>
          </a:p>
        </p:txBody>
      </p:sp>
      <p:sp>
        <p:nvSpPr>
          <p:cNvPr id="20" name="Rounded Rectangle 19"/>
          <p:cNvSpPr/>
          <p:nvPr/>
        </p:nvSpPr>
        <p:spPr>
          <a:xfrm>
            <a:off x="609600" y="3962399"/>
            <a:ext cx="10881360" cy="1744980"/>
          </a:xfrm>
          <a:prstGeom prst="roundRect">
            <a:avLst>
              <a:gd name="adj" fmla="val 786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8200" y="4175760"/>
            <a:ext cx="10424160" cy="1325880"/>
          </a:xfrm>
          <a:prstGeom prst="rect">
            <a:avLst/>
          </a:prstGeom>
          <a:noFill/>
        </p:spPr>
        <p:txBody>
          <a:bodyPr wrap="none" lIns="0" tIns="0" rIns="0" bIns="0" anchor="t">
            <a:spAutoFit/>
          </a:bodyPr>
          <a:lstStyle/>
          <a:p>
            <a:pPr>
              <a:lnSpc>
                <a:spcPts val="2400"/>
              </a:lnSpc>
              <a:spcBef>
                <a:spcPts val="0"/>
              </a:spcBef>
              <a:spcAft>
                <a:spcPts val="0"/>
              </a:spcAft>
              <a:defRPr sz="1739" b="0">
                <a:solidFill>
                  <a:srgbClr val="536975"/>
                </a:solidFill>
                <a:latin typeface="Noto Sans"/>
              </a:defRPr>
            </a:pPr>
            <a:r>
              <a:t>El recorrido une identificación, descubrimiento, análisis, rediseño, implementación y monitoreo.</a:t>
            </a:r>
          </a:p>
          <a:p>
            <a:pPr>
              <a:lnSpc>
                <a:spcPts val="2400"/>
              </a:lnSpc>
              <a:spcBef>
                <a:spcPts val="0"/>
              </a:spcBef>
              <a:spcAft>
                <a:spcPts val="0"/>
              </a:spcAft>
              <a:defRPr sz="1739" b="0">
                <a:solidFill>
                  <a:srgbClr val="536975"/>
                </a:solidFill>
                <a:latin typeface="Noto Sans"/>
              </a:defRPr>
            </a:pPr>
            <a:r>
              <a:t>Agruparlos en cuatro bloques facilita recordar el ciclo, pero no elimina sus actividades. La evidencia</a:t>
            </a:r>
          </a:p>
          <a:p>
            <a:pPr>
              <a:lnSpc>
                <a:spcPts val="2400"/>
              </a:lnSpc>
              <a:spcBef>
                <a:spcPts val="0"/>
              </a:spcBef>
              <a:spcAft>
                <a:spcPts val="0"/>
              </a:spcAft>
              <a:defRPr sz="1739" b="0">
                <a:solidFill>
                  <a:srgbClr val="536975"/>
                </a:solidFill>
                <a:latin typeface="Noto Sans"/>
              </a:defRPr>
            </a:pPr>
            <a:r>
              <a:t>de monitoreo puede devolver al equipo al análisis o incluso a la delimitación. Lo importante es</a:t>
            </a:r>
          </a:p>
          <a:p>
            <a:pPr>
              <a:lnSpc>
                <a:spcPts val="2400"/>
              </a:lnSpc>
              <a:spcBef>
                <a:spcPts val="0"/>
              </a:spcBef>
              <a:spcAft>
                <a:spcPts val="0"/>
              </a:spcAft>
              <a:defRPr sz="1739" b="0">
                <a:solidFill>
                  <a:srgbClr val="536975"/>
                </a:solidFill>
                <a:latin typeface="Noto Sans"/>
              </a:defRPr>
            </a:pPr>
            <a:r>
              <a:t>conservar trazabilidad entre problema, propuesta y resultado observado.</a:t>
            </a:r>
          </a:p>
        </p:txBody>
      </p:sp>
      <p:sp>
        <p:nvSpPr>
          <p:cNvPr id="22" name="TextBox 21"/>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23" name="TextBox 22"/>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05 / 10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name="PND_U1 · Sección 1.4 · Ciclo de vida general del BPM">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U1 · 1.4</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Caso aplicado · datos ficticios</a:t>
            </a:r>
          </a:p>
        </p:txBody>
      </p:sp>
      <p:sp>
        <p:nvSpPr>
          <p:cNvPr id="5" name="Rounded Rectangle 4"/>
          <p:cNvSpPr/>
          <p:nvPr/>
        </p:nvSpPr>
        <p:spPr>
          <a:xfrm>
            <a:off x="609600" y="2270760"/>
            <a:ext cx="10881360" cy="2301240"/>
          </a:xfrm>
          <a:prstGeom prst="roundRect">
            <a:avLst>
              <a:gd name="adj" fmla="val 596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3440" y="2484120"/>
            <a:ext cx="10393680" cy="1630680"/>
          </a:xfrm>
          <a:prstGeom prst="rect">
            <a:avLst/>
          </a:prstGeom>
          <a:noFill/>
        </p:spPr>
        <p:txBody>
          <a:bodyPr wrap="none" lIns="0" tIns="0" rIns="0" bIns="0" anchor="t">
            <a:spAutoFit/>
          </a:bodyPr>
          <a:lstStyle/>
          <a:p>
            <a:pPr>
              <a:lnSpc>
                <a:spcPts val="2400"/>
              </a:lnSpc>
              <a:spcBef>
                <a:spcPts val="0"/>
              </a:spcBef>
              <a:spcAft>
                <a:spcPts val="0"/>
              </a:spcAft>
              <a:defRPr sz="1739" b="0">
                <a:solidFill>
                  <a:srgbClr val="18394A"/>
                </a:solidFill>
                <a:latin typeface="Noto Sans"/>
              </a:defRPr>
            </a:pPr>
            <a:r>
              <a:t>Caso ficticio: un negocio detecta solicitudes de soporte respondidas tarde. Primero limita el proceso</a:t>
            </a:r>
          </a:p>
          <a:p>
            <a:pPr>
              <a:lnSpc>
                <a:spcPts val="2400"/>
              </a:lnSpc>
              <a:spcBef>
                <a:spcPts val="0"/>
              </a:spcBef>
              <a:spcAft>
                <a:spcPts val="0"/>
              </a:spcAft>
              <a:defRPr sz="1739" b="0">
                <a:solidFill>
                  <a:srgbClr val="18394A"/>
                </a:solidFill>
                <a:latin typeface="Noto Sans"/>
              </a:defRPr>
            </a:pPr>
            <a:r>
              <a:t>desde recepción hasta primera respuesta útil. Observa casos y descubre reasignaciones sin</a:t>
            </a:r>
          </a:p>
          <a:p>
            <a:pPr>
              <a:lnSpc>
                <a:spcPts val="2400"/>
              </a:lnSpc>
              <a:spcBef>
                <a:spcPts val="0"/>
              </a:spcBef>
              <a:spcAft>
                <a:spcPts val="0"/>
              </a:spcAft>
              <a:defRPr sz="1739" b="0">
                <a:solidFill>
                  <a:srgbClr val="18394A"/>
                </a:solidFill>
                <a:latin typeface="Noto Sans"/>
              </a:defRPr>
            </a:pPr>
            <a:r>
              <a:t>responsable. Propone una regla de asignación, forma al equipo y la prueba en un piloto. Después</a:t>
            </a:r>
          </a:p>
          <a:p>
            <a:pPr>
              <a:lnSpc>
                <a:spcPts val="2400"/>
              </a:lnSpc>
              <a:spcBef>
                <a:spcPts val="0"/>
              </a:spcBef>
              <a:spcAft>
                <a:spcPts val="0"/>
              </a:spcAft>
              <a:defRPr sz="1739" b="0">
                <a:solidFill>
                  <a:srgbClr val="18394A"/>
                </a:solidFill>
                <a:latin typeface="Noto Sans"/>
              </a:defRPr>
            </a:pPr>
            <a:r>
              <a:t>revisa tiempo, calidad y solicitudes olvidadas. Si la mejora solo funciona para casos simples, vuelve</a:t>
            </a:r>
          </a:p>
          <a:p>
            <a:pPr>
              <a:lnSpc>
                <a:spcPts val="2400"/>
              </a:lnSpc>
              <a:spcBef>
                <a:spcPts val="0"/>
              </a:spcBef>
              <a:spcAft>
                <a:spcPts val="0"/>
              </a:spcAft>
              <a:defRPr sz="1739" b="0">
                <a:solidFill>
                  <a:srgbClr val="18394A"/>
                </a:solidFill>
                <a:latin typeface="Noto Sans"/>
              </a:defRPr>
            </a:pPr>
            <a:r>
              <a:t>al análisis de excepciones.</a:t>
            </a:r>
          </a:p>
        </p:txBody>
      </p:sp>
      <p:sp>
        <p:nvSpPr>
          <p:cNvPr id="7" name="Rounded Rectangle 6"/>
          <p:cNvSpPr/>
          <p:nvPr/>
        </p:nvSpPr>
        <p:spPr>
          <a:xfrm>
            <a:off x="609600" y="4785360"/>
            <a:ext cx="10881360" cy="922020"/>
          </a:xfrm>
          <a:prstGeom prst="roundRect">
            <a:avLst>
              <a:gd name="adj" fmla="val 12396"/>
            </a:avLst>
          </a:prstGeom>
          <a:solidFill>
            <a:srgbClr val="E2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0580" y="4945380"/>
            <a:ext cx="104394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18394A"/>
                </a:solidFill>
                <a:latin typeface="Noto Sans"/>
              </a:defRPr>
            </a:pPr>
            <a:r>
              <a:t>¿Qué evidencia produce cada fase y cuándo sería necesario volver al análisis?</a:t>
            </a:r>
          </a:p>
        </p:txBody>
      </p:sp>
      <p:sp>
        <p:nvSpPr>
          <p:cNvPr id="9" name="TextBox 8"/>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0" name="TextBox 9"/>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06 / 10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name="PND_U1 · Sección 1.4 · Ciclo de vida general del BPM">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U1 · 1.4</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Rediseñar e implementar</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El rediseño propone un estado futuro coherente con objetivos y restricciones. Compara</a:t>
            </a:r>
          </a:p>
          <a:p>
            <a:pPr>
              <a:lnSpc>
                <a:spcPts val="2580"/>
              </a:lnSpc>
              <a:spcBef>
                <a:spcPts val="0"/>
              </a:spcBef>
              <a:spcAft>
                <a:spcPts val="0"/>
              </a:spcAft>
              <a:defRPr sz="1859" b="0">
                <a:solidFill>
                  <a:srgbClr val="18394A"/>
                </a:solidFill>
                <a:latin typeface="Noto Sans"/>
              </a:defRPr>
            </a:pPr>
            <a:r>
              <a:t>alternativas, revisa excepciones y anticipa cómo cambiarán tareas, roles y sistemas.</a:t>
            </a:r>
          </a:p>
          <a:p>
            <a:pPr>
              <a:lnSpc>
                <a:spcPts val="2580"/>
              </a:lnSpc>
              <a:spcBef>
                <a:spcPts val="0"/>
              </a:spcBef>
              <a:spcAft>
                <a:spcPts val="0"/>
              </a:spcAft>
              <a:defRPr sz="1859" b="0">
                <a:solidFill>
                  <a:srgbClr val="18394A"/>
                </a:solidFill>
                <a:latin typeface="Noto Sans"/>
              </a:defRPr>
            </a:pPr>
            <a:r>
              <a:t>Implementar incluye acuerdos operativos, capacitación y controles, no solo instalar</a:t>
            </a:r>
          </a:p>
          <a:p>
            <a:pPr>
              <a:lnSpc>
                <a:spcPts val="2580"/>
              </a:lnSpc>
              <a:spcBef>
                <a:spcPts val="0"/>
              </a:spcBef>
              <a:spcAft>
                <a:spcPts val="0"/>
              </a:spcAft>
              <a:defRPr sz="1859" b="0">
                <a:solidFill>
                  <a:srgbClr val="18394A"/>
                </a:solidFill>
                <a:latin typeface="Noto Sans"/>
              </a:defRPr>
            </a:pPr>
            <a:r>
              <a:t>tecnología. Una transición gradual y con criterios de aceptación permite comprobar que el</a:t>
            </a:r>
          </a:p>
          <a:p>
            <a:pPr>
              <a:lnSpc>
                <a:spcPts val="2580"/>
              </a:lnSpc>
              <a:spcBef>
                <a:spcPts val="0"/>
              </a:spcBef>
              <a:spcAft>
                <a:spcPts val="0"/>
              </a:spcAft>
              <a:defRPr sz="1859" b="0">
                <a:solidFill>
                  <a:srgbClr val="18394A"/>
                </a:solidFill>
                <a:latin typeface="Noto Sans"/>
              </a:defRPr>
            </a:pPr>
            <a:r>
              <a:t>nuevo recorrido puede ejecutarse y que su resultado satisface el propósito.</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07 / 10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name="PND_U1 · Sección 1.4 · Ciclo de vida general del BPM">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U1 · 1.4</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Monitorear y volver a aprender</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El seguimiento compara el desempeño con objetivos y detecta desviaciones. Usa</a:t>
            </a:r>
          </a:p>
          <a:p>
            <a:pPr>
              <a:lnSpc>
                <a:spcPts val="2580"/>
              </a:lnSpc>
              <a:spcBef>
                <a:spcPts val="0"/>
              </a:spcBef>
              <a:spcAft>
                <a:spcPts val="0"/>
              </a:spcAft>
              <a:defRPr sz="1859" b="0">
                <a:solidFill>
                  <a:srgbClr val="18394A"/>
                </a:solidFill>
                <a:latin typeface="Noto Sans"/>
              </a:defRPr>
            </a:pPr>
            <a:r>
              <a:t>definiciones de indicador, datos confiables y responsables de revisión. Los resultados</a:t>
            </a:r>
          </a:p>
          <a:p>
            <a:pPr>
              <a:lnSpc>
                <a:spcPts val="2580"/>
              </a:lnSpc>
              <a:spcBef>
                <a:spcPts val="0"/>
              </a:spcBef>
              <a:spcAft>
                <a:spcPts val="0"/>
              </a:spcAft>
              <a:defRPr sz="1859" b="0">
                <a:solidFill>
                  <a:srgbClr val="18394A"/>
                </a:solidFill>
                <a:latin typeface="Noto Sans"/>
              </a:defRPr>
            </a:pPr>
            <a:r>
              <a:t>pueden exigir ajustar reglas, redescubrir el proceso o revisar el alcance. El ciclo es iterativo:</a:t>
            </a:r>
          </a:p>
          <a:p>
            <a:pPr>
              <a:lnSpc>
                <a:spcPts val="2580"/>
              </a:lnSpc>
              <a:spcBef>
                <a:spcPts val="0"/>
              </a:spcBef>
              <a:spcAft>
                <a:spcPts val="0"/>
              </a:spcAft>
              <a:defRPr sz="1859" b="0">
                <a:solidFill>
                  <a:srgbClr val="18394A"/>
                </a:solidFill>
                <a:latin typeface="Noto Sans"/>
              </a:defRPr>
            </a:pPr>
            <a:r>
              <a:t>no termina al publicar un diagrama, y sus fases pueden solaparse cuando aparece nueva</a:t>
            </a:r>
          </a:p>
          <a:p>
            <a:pPr>
              <a:lnSpc>
                <a:spcPts val="2580"/>
              </a:lnSpc>
              <a:spcBef>
                <a:spcPts val="0"/>
              </a:spcBef>
              <a:spcAft>
                <a:spcPts val="0"/>
              </a:spcAft>
              <a:defRPr sz="1859" b="0">
                <a:solidFill>
                  <a:srgbClr val="18394A"/>
                </a:solidFill>
                <a:latin typeface="Noto Sans"/>
              </a:defRPr>
            </a:pPr>
            <a:r>
              <a:t>evidencia sobre la operación.</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08 / 10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name="PND_U1 · Sección 1.4 · Ciclo de vida general del BPM">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U1 · 1.4</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Tu actividad de transferencia</a:t>
            </a:r>
          </a:p>
        </p:txBody>
      </p:sp>
      <p:sp>
        <p:nvSpPr>
          <p:cNvPr id="5" name="Oval 4"/>
          <p:cNvSpPr/>
          <p:nvPr/>
        </p:nvSpPr>
        <p:spPr>
          <a:xfrm>
            <a:off x="609600" y="230124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3900" y="235458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1</a:t>
            </a:r>
          </a:p>
        </p:txBody>
      </p:sp>
      <p:sp>
        <p:nvSpPr>
          <p:cNvPr id="7" name="TextBox 6"/>
          <p:cNvSpPr txBox="1"/>
          <p:nvPr/>
        </p:nvSpPr>
        <p:spPr>
          <a:xfrm>
            <a:off x="1219200" y="227076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Describe el alcance del proceso y el criterio para seleccionarlo.</a:t>
            </a:r>
          </a:p>
        </p:txBody>
      </p:sp>
      <p:sp>
        <p:nvSpPr>
          <p:cNvPr id="8" name="Oval 7"/>
          <p:cNvSpPr/>
          <p:nvPr/>
        </p:nvSpPr>
        <p:spPr>
          <a:xfrm>
            <a:off x="609600" y="315468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3900" y="320802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2</a:t>
            </a:r>
          </a:p>
        </p:txBody>
      </p:sp>
      <p:sp>
        <p:nvSpPr>
          <p:cNvPr id="10" name="TextBox 9"/>
          <p:cNvSpPr txBox="1"/>
          <p:nvPr/>
        </p:nvSpPr>
        <p:spPr>
          <a:xfrm>
            <a:off x="1219200" y="312420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Asigna evidencias concretas a descubrimiento, análisis y rediseño.</a:t>
            </a:r>
          </a:p>
        </p:txBody>
      </p:sp>
      <p:sp>
        <p:nvSpPr>
          <p:cNvPr id="11" name="Oval 10"/>
          <p:cNvSpPr/>
          <p:nvPr/>
        </p:nvSpPr>
        <p:spPr>
          <a:xfrm>
            <a:off x="609600" y="400812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900" y="406146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3</a:t>
            </a:r>
          </a:p>
        </p:txBody>
      </p:sp>
      <p:sp>
        <p:nvSpPr>
          <p:cNvPr id="13" name="TextBox 12"/>
          <p:cNvSpPr txBox="1"/>
          <p:nvPr/>
        </p:nvSpPr>
        <p:spPr>
          <a:xfrm>
            <a:off x="1219200" y="3977639"/>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Diseña un piloto con roles, capacitación y aceptación del cambio.</a:t>
            </a:r>
          </a:p>
        </p:txBody>
      </p:sp>
      <p:sp>
        <p:nvSpPr>
          <p:cNvPr id="14" name="Oval 13"/>
          <p:cNvSpPr/>
          <p:nvPr/>
        </p:nvSpPr>
        <p:spPr>
          <a:xfrm>
            <a:off x="609600" y="486156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3900" y="491490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4</a:t>
            </a:r>
          </a:p>
        </p:txBody>
      </p:sp>
      <p:sp>
        <p:nvSpPr>
          <p:cNvPr id="16" name="TextBox 15"/>
          <p:cNvSpPr txBox="1"/>
          <p:nvPr/>
        </p:nvSpPr>
        <p:spPr>
          <a:xfrm>
            <a:off x="1219200" y="483108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Explica qué resultados del monitoreo obligarían a revisar fases anteriores.</a:t>
            </a:r>
          </a:p>
        </p:txBody>
      </p:sp>
      <p:sp>
        <p:nvSpPr>
          <p:cNvPr id="17" name="TextBox 16"/>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8" name="TextBox 17"/>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09 / 10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name="PND_U1 · Sección 1.4 · Ciclo de vida general del BPM">
    <p:bg>
      <p:bgPr>
        <a:solidFill>
          <a:srgbClr val="F5F2EB"/>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E7AE53"/>
                </a:solidFill>
                <a:latin typeface="Noto Sans"/>
              </a:defRPr>
            </a:pPr>
            <a:r>
              <a:t>PROCESOS PARA NEGOCIOS DIGITALES · U1 · 1.4</a:t>
            </a:r>
          </a:p>
        </p:txBody>
      </p:sp>
      <p:sp>
        <p:nvSpPr>
          <p:cNvPr id="5" name="TextBox 4"/>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FFFFFF"/>
                </a:solidFill>
                <a:latin typeface="Noto Sans"/>
              </a:defRPr>
            </a:pPr>
            <a:r>
              <a:t>Síntesis y referencias</a:t>
            </a:r>
          </a:p>
        </p:txBody>
      </p:sp>
      <p:sp>
        <p:nvSpPr>
          <p:cNvPr id="6" name="Rounded Rectangle 5"/>
          <p:cNvSpPr/>
          <p:nvPr/>
        </p:nvSpPr>
        <p:spPr>
          <a:xfrm>
            <a:off x="609600" y="217170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8200" y="230886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Delimita antes de intervenir.</a:t>
            </a:r>
          </a:p>
        </p:txBody>
      </p:sp>
      <p:sp>
        <p:nvSpPr>
          <p:cNvPr id="8" name="Rounded Rectangle 7"/>
          <p:cNvSpPr/>
          <p:nvPr/>
        </p:nvSpPr>
        <p:spPr>
          <a:xfrm>
            <a:off x="609600" y="296418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8200" y="310134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Conecta diagnóstico, propuesta e implementación.</a:t>
            </a:r>
          </a:p>
        </p:txBody>
      </p:sp>
      <p:sp>
        <p:nvSpPr>
          <p:cNvPr id="10" name="Rounded Rectangle 9"/>
          <p:cNvSpPr/>
          <p:nvPr/>
        </p:nvSpPr>
        <p:spPr>
          <a:xfrm>
            <a:off x="609600" y="375666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8200" y="389382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Usa resultados para reiniciar el aprendizaje.</a:t>
            </a:r>
          </a:p>
        </p:txBody>
      </p:sp>
      <p:sp>
        <p:nvSpPr>
          <p:cNvPr id="12" name="TextBox 11"/>
          <p:cNvSpPr txBox="1"/>
          <p:nvPr/>
        </p:nvSpPr>
        <p:spPr>
          <a:xfrm>
            <a:off x="685800" y="4777740"/>
            <a:ext cx="10744200" cy="594360"/>
          </a:xfrm>
          <a:prstGeom prst="rect">
            <a:avLst/>
          </a:prstGeom>
          <a:noFill/>
        </p:spPr>
        <p:txBody>
          <a:bodyPr wrap="none" lIns="0" tIns="0" rIns="0" bIns="0" anchor="t">
            <a:spAutoFit/>
          </a:bodyPr>
          <a:lstStyle/>
          <a:p>
            <a:pPr>
              <a:lnSpc>
                <a:spcPts val="1920"/>
              </a:lnSpc>
              <a:spcBef>
                <a:spcPts val="0"/>
              </a:spcBef>
              <a:spcAft>
                <a:spcPts val="0"/>
              </a:spcAft>
              <a:defRPr sz="1380" b="0">
                <a:solidFill>
                  <a:srgbClr val="D6E4E8"/>
                </a:solidFill>
                <a:latin typeface="Noto Sans"/>
              </a:defRPr>
            </a:pPr>
            <a:r>
              <a:t>Base curricular: sílabo UPS adjunto, página 1. Referencia de ampliación: Dumas et al. (2018), Fundamentals of Business Process</a:t>
            </a:r>
          </a:p>
          <a:p>
            <a:pPr>
              <a:lnSpc>
                <a:spcPts val="1920"/>
              </a:lnSpc>
              <a:spcBef>
                <a:spcPts val="0"/>
              </a:spcBef>
              <a:spcAft>
                <a:spcPts val="0"/>
              </a:spcAft>
              <a:defRPr sz="1380" b="0">
                <a:solidFill>
                  <a:srgbClr val="D6E4E8"/>
                </a:solidFill>
                <a:latin typeface="Noto Sans"/>
              </a:defRPr>
            </a:pPr>
            <a:r>
              <a:t>Management, 2.ª ed. Weske (2012), Business Process Management: Concepts, Languages, Architectures.</a:t>
            </a:r>
          </a:p>
        </p:txBody>
      </p:sp>
      <p:sp>
        <p:nvSpPr>
          <p:cNvPr id="13" name="TextBox 12"/>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Material didáctico de elaboración original · Caso y datos ficticios</a:t>
            </a:r>
          </a:p>
        </p:txBody>
      </p:sp>
      <p:sp>
        <p:nvSpPr>
          <p:cNvPr id="14" name="TextBox 13"/>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10 /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Unidad 1. Introducción del BPM</dc:title>
  <dc:subject>Procesos para Negocios Digitales · 1.1 Generalidades del BPM · 1.2 Beneficios del BPM en los negocios digitales · 1.3 Certificaciones · 1.4 Ciclo de vida general del BPM</dc:subject>
  <dc:creator>Proyecto educativo · elaboración asistida por IA</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