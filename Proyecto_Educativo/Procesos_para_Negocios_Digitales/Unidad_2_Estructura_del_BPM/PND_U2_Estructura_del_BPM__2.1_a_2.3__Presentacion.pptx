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2: Estructura del BPM.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Unidad 2: Estructura del BPM.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Hoy estudiaremos componentes clave del bpm. El propósito es relacionar modelado, ejecución, monitoreo y optimización como componentes coordinados de una estructura de BPM. Este contenido forma parte de procesos para negocios digitales. Trabajaremos con conceptos y un caso ficticio para tomar decisiones justificadas.</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Antes de proponer una solución, considera esta pregunta: ¿Qué componente aporta cada evidencia y qué problema impide confiar plenamente en el tablero? Al terminar deberás explicar tu decisión, indicar cómo la comprobarías y reconocer los límites de la evidencia utilizada.</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El modelado hace explícitos actividades, reglas, roles y resultados del proceso con el detalle adecuado al propósito. Puede incluir diagramas, definiciones y documentos asociados. Una representación compartida facilita conversación y análisis, pero necesita versión y responsable. Si el modelo no refleja la operación real, las decisiones posteriores pueden apoyarse en una visión que ya no existe.</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La ejecución convierte reglas y acuerdos en trabajo realizado por personas o sistemas. Requiere asignar casos, conservar estado y atender excepciones. No todo modelo se ejecuta directamente en una plataforma informática. Distingue una descripción para comunicar el proceso de una especificación que contenga datos y reglas suficientes para automatizar parte de su comportamiento.</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El modelo describe y acuerda el funcionamiento; la ejecución lo convierte en trabajo; el monitoreo produce evidencia; la optimización propone cambios. El gobierno conecta decisiones y versiones a lo largo del recorrido. Después de un cambio aprobado, debe comprobarse que la operación y los indicadores utilizan reglas compatibles con el nuevo modelo.</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Caso ficticio: una empresa dibuja el proceso de soporte, asigna casos en una aplicación y muestra un tablero de tiempos. Sin embargo, las solicitudes recibidas por teléfono quedan fuera del registro y nadie aprueba cambios de prioridad. El tablero representa solo parte del proceso. Antes de optimizar, el equipo debe integrar esas entradas y acordar quién puede cambiar reglas y cómo se registra su vigencia.</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El monitoreo recoge eventos y medidas relevantes para conocer desempeño. Define identificador del caso, actividad, instante y resultado cuando esos datos sean necesarios. Una cifra sin origen o definición es difícil de auditar. El tablero debe permitir investigar desviaciones y no limitarse a mostrar totales favorables; también importa si el registro omite casos abandonados o actividades manuales.</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La optimización usa evidencia para comparar alternativas y ajustar el proceso. Gobierno significa decidir quién aprueba modelos, reglas, cambios e indicadores. Es el vínculo entre los componentes: evita que una mejora en el tablero nunca llegue a la operación o que un cambio operativo deje al modelo desactualizado. La estructura necesita retroalimentación y responsabilidades, además de aplicaciones conectadas.</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Para aplicar lo aprendido, desarrolla la tarea editable. Representa los cuatro componentes y las relaciones de información entre ellos. Después, diseña el registro mínimo que incluya solicitudes web y telefónicas. Justifica tus decisiones con los conceptos de esta explicación y comprueba tus respuestas en la actividad interactiva.</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2.1: Componentes clave del BPM</a:t>
            </a:r>
          </a:p>
          <a:p/>
          <a:p>
            <a:r>
              <a:t>Conserva estas ideas. Los componentes se necesitan mutuamente. La calidad del registro delimita el monitoreo. El gobierno conecta modelos, reglas y cambios. El caso y sus datos son ficticios. Revisa las fuentes indicadas en los materiales y continúa con la práctica para transferir estos criterios a otra situación.</a:t>
            </a:r>
          </a:p>
          <a:p/>
          <a:p>
            <a:r>
              <a:t>Fuente curricular: Procesos para Negocios Digitales, 2.1, UPS 2026–2027. Referencia: Weske (2012), Business Process Management: Concepts, Languages, Architectures. Dumas et al. (2018), Fundamentals of Business Process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Hoy estudiaremos fases del ciclo de vida del bpm. El propósito es definir entregables, decisiones de paso y trazabilidad entre las fases del ciclo de vida de BPM. Este contenido forma parte de procesos para negocios digitales. Trabajaremos con conceptos y un caso ficticio para tomar decisiones justificadas.</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Antes de proponer una solución, considera esta pregunta: ¿Qué decisión de paso evitaría implantar una solución que no responde al problema principal? Al terminar deberás explicar tu decisión, indicar cómo la comprobarías y reconocer los límites de la evidencia utilizada.</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Una fase del ciclo no es solo una casilla del cronograma: produce evidencia que permite tomar una decisión. La identificación entrega alcance y prioridad; el descubrimiento, una descripción validada del estado actual. Antes de avanzar, comprueba que los participantes entienden límites y que las fuentes cubren las principales variantes. La secuencia admite revisiones cuando aparecen vacíos o contradicciones.</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El análisis debe vincular problemas con datos e hipótesis contrastables. El rediseño compara alternativas y explica qué mecanismo debería mejorar el resultado. Mantén una trazabilidad sencilla entre problema, causa investigada, cambio propuesto y medida esperada. Sin esa conexión, una solución atractiva puede terminar atendiendo un inconveniente distinto del que justificó seleccionar el proceso.</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Cada bloque entrega una base para el siguiente. Una descripción actual validada sostiene el diagnóstico; un diagnóstico contrastado permite comparar alternativas; una alternativa elegida se convierte en piloto; y el piloto genera resultados para decidir continuidad. Las decisiones de paso deben documentarse y permitir volver atrás cuando la evidencia no sea suficiente.</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Caso ficticio: un equipo quiere automatizar aprobaciones porque supone que el trabajo manual causa demoras. Los registros muestran que la mayoría del tiempo transcurre esperando datos que el cliente no envió. La evidencia exige revisar el diagnóstico y comparar una validación inicial de requisitos. El piloto debería medir solicitudes completas, tiempo total y correcciones, antes de ampliar la automatización de aprobaciones.</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El paso a implementación necesita responsables, reglas, capacitación, pruebas y criterios de aceptación. Define condiciones para iniciar un piloto, ampliarlo o retroceder. No confundas la instalación de una herramienta con la aceptación del proceso. Los participantes deben poder ejecutar tareas, resolver excepciones y conservar información suficiente para reconstruir lo ocurrido cuando exista un fallo.</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El monitoreo necesita acuerdos sobre quién revisa resultados, con qué frecuencia y qué desviación exige actuar. Un proyecto puede cerrar sus entregables mientras el proceso continúa operando y mejorándose. Registra versiones y aprendizajes para no perder contexto al cambiar de equipo. Si los resultados contradicen las hipótesis del rediseño, revisa el análisis antes de ampliar la misma intervención.</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Para aplicar lo aprendido, desarrolla la tarea editable. Construye una matriz de fase, evidencia, responsable y decisión de paso. Después, define criterios para iniciar, ampliar o detener un piloto. Justifica tus decisiones con los conceptos de esta explicación y comprueba tus respuestas en la actividad interactiva.</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2.2: Fases del ciclo de vida del BPM</a:t>
            </a:r>
          </a:p>
          <a:p/>
          <a:p>
            <a:r>
              <a:t>Conserva estas ideas. Cada fase debe justificar una decisión. Conserva trazabilidad del problema al resultado. Amplía solo con aceptación y aprendizaje. El caso y sus datos son ficticios. Revisa las fuentes indicadas en los materiales y continúa con la práctica para transferir estos criterios a otra situación.</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Hoy estudiaremos rol del bpm en la mejora continua. El propósito es aplicar una revisión continua de procesos con hipótesis, pruebas, medidas equilibradas y decisiones de ajuste. Este contenido forma parte de procesos para negocios digitales. Trabajaremos con conceptos y un caso ficticio para tomar decisiones justificadas.</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Antes de proponer una solución, considera esta pregunta: ¿Qué dos formas de expresar la reducción son correctas y qué medida de equilibrio añadirías? Al terminar deberás explicar tu decisión, indicar cómo la comprobarías y reconocer los límites de la evidencia utilizada.</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La mejora continua consiste en revisar de manera sistemática cómo se realiza el trabajo y qué resultados produce. BPM aporta límites, responsables y visibilidad para que las mejoras no dependan solo de iniciativas aisladas. Una solución necesita seguimiento: los cambios de demanda, personal o reglas pueden hacer que una práctica antes útil deje de responder al propósito.</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Formula una hipótesis que conecte un cambio con un mecanismo y un resultado esperado. Por ejemplo, validar requisitos al recibir una solicitud podría reducir devoluciones por datos incompletos. Define cómo probarla y qué evidencia la contradiría. Una prueba limitada ayuda a aprender sin comprometer toda la operación; no consiste en confirmar obligatoriamente una idea que ya se decidió imponer.</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El ciclo de planear, hacer, verificar y actuar ayuda a organizar la revisión. Planear define problema, hipótesis y medidas; hacer ejecuta una prueba controlada; verificar contrasta resultados y efectos; actuar decide si estandarizar, ajustar o descartar. Este ciclo se integra con BPM y no reemplaza la necesidad de delimitar proceso y responsabilidades.</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Caso hipotético: una validación inicial reduce solicitudes devueltas de veinte a diez en grupos de cien casos comparables. La tasa baja de 20 % a 10 %: diez puntos porcentuales y una reducción relativa de 50 %. El equipo también debe comprobar si creció el abandono del formulario o la carga de quien valida, para evitar interpretar una mejora parcial como éxito sin condiciones.</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Compara línea base y resultados con definiciones consistentes. Acompaña el indicador principal con medidas de calidad, carga o experiencia para detectar efectos secundarios. Si baja el tiempo porque se excluyen casos complejos, la aparente mejora puede ser un cambio de población. Revisa distribución, condiciones y datos faltantes antes de atribuir un resultado al cambio aplicado.</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Cuando la evidencia justifica el cambio, actualiza reglas, formación y documentación. Asigna responsable y fecha de revisión. Si la prueba no funciona, conserva el aprendizaje y ajusta o abandona la hipótesis. La mejora continua combina estabilidad de lo que sirve con capacidad de adaptación; repetir experimentos sin registrar decisiones impide construir conocimiento sobre el proceso.</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Para aplicar lo aprendido, desarrolla la tarea editable. Formula una hipótesis del caso con mecanismo y resultado esperado. Después, diseña una prueba con indicador principal, medida de equilibrio y evidencia que podría refutarla. Justifica tus decisiones con los conceptos de esta explicación y comprueba tus respuestas en la actividad interactiva.</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Procesos para Negocios Digitales · Unidad 2: Estructura del BPM</a:t>
            </a:r>
          </a:p>
          <a:p>
            <a:r>
              <a:t>Sección 2.3: Rol del BPM en la mejora continua</a:t>
            </a:r>
          </a:p>
          <a:p/>
          <a:p>
            <a:r>
              <a:t>Conserva estas ideas. Mejora con hipótesis que puedan contrastarse. Compara con medidas principales y de equilibrio. Registra decisiones y revisa lo estandarizado. El caso y sus datos son ficticios. Revisa las fuentes indicadas en los materiales y continúa con la práctica para transferir estos criterios a otra situación.</a:t>
            </a:r>
          </a:p>
          <a:p/>
          <a:p>
            <a:r>
              <a:t>Fuente curricular: Procesos para Negocios Digitales, 2.3, UPS 2026–2027. Referencia: Dumas et al. (2018), Fundamentals of Business Process Management. Deming (1986), Out of the Crisis. MIT Press.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371600"/>
            <a:ext cx="10896600" cy="502920"/>
          </a:xfrm>
          <a:prstGeom prst="rect">
            <a:avLst/>
          </a:prstGeom>
          <a:noFill/>
        </p:spPr>
        <p:txBody>
          <a:bodyPr wrap="none" lIns="0" tIns="0" rIns="0" bIns="0" anchor="t">
            <a:spAutoFit/>
          </a:bodyPr>
          <a:lstStyle/>
          <a:p>
            <a:pPr>
              <a:lnSpc>
                <a:spcPts val="3120"/>
              </a:lnSpc>
              <a:spcBef>
                <a:spcPts val="0"/>
              </a:spcBef>
              <a:spcAft>
                <a:spcPts val="0"/>
              </a:spcAft>
              <a:defRPr sz="2280" b="1">
                <a:solidFill>
                  <a:srgbClr val="D6E4E8"/>
                </a:solidFill>
                <a:latin typeface="Noto Sans"/>
              </a:defRPr>
            </a:pPr>
            <a:r>
              <a:t>Unidad 2</a:t>
            </a:r>
          </a:p>
        </p:txBody>
      </p:sp>
      <p:sp>
        <p:nvSpPr>
          <p:cNvPr id="6" name="TextBox 5"/>
          <p:cNvSpPr txBox="1"/>
          <p:nvPr/>
        </p:nvSpPr>
        <p:spPr>
          <a:xfrm>
            <a:off x="609600" y="2019300"/>
            <a:ext cx="10820400" cy="716280"/>
          </a:xfrm>
          <a:prstGeom prst="rect">
            <a:avLst/>
          </a:prstGeom>
          <a:noFill/>
        </p:spPr>
        <p:txBody>
          <a:bodyPr wrap="none" lIns="0" tIns="0" rIns="0" bIns="0" anchor="t">
            <a:spAutoFit/>
          </a:bodyPr>
          <a:lstStyle/>
          <a:p>
            <a:pPr>
              <a:lnSpc>
                <a:spcPts val="4800"/>
              </a:lnSpc>
              <a:spcBef>
                <a:spcPts val="0"/>
              </a:spcBef>
              <a:spcAft>
                <a:spcPts val="0"/>
              </a:spcAft>
              <a:defRPr sz="3479" b="1">
                <a:solidFill>
                  <a:srgbClr val="FFFFFF"/>
                </a:solidFill>
                <a:latin typeface="Noto Sans"/>
              </a:defRPr>
            </a:pPr>
            <a:r>
              <a:t>Estructura del BPM</a:t>
            </a:r>
          </a:p>
        </p:txBody>
      </p:sp>
      <p:sp>
        <p:nvSpPr>
          <p:cNvPr id="7" name="TextBox 6"/>
          <p:cNvSpPr txBox="1"/>
          <p:nvPr/>
        </p:nvSpPr>
        <p:spPr>
          <a:xfrm>
            <a:off x="647700" y="4953000"/>
            <a:ext cx="106680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Secciones 2.1 · 2.2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PROCESOS PARA NEGOCIOS DIGITALES</a:t>
            </a:r>
          </a:p>
        </p:txBody>
      </p:sp>
      <p:sp>
        <p:nvSpPr>
          <p:cNvPr id="5" name="TextBox 4"/>
          <p:cNvSpPr txBox="1"/>
          <p:nvPr/>
        </p:nvSpPr>
        <p:spPr>
          <a:xfrm>
            <a:off x="609600" y="1257300"/>
            <a:ext cx="10820400" cy="579120"/>
          </a:xfrm>
          <a:prstGeom prst="rect">
            <a:avLst/>
          </a:prstGeom>
          <a:noFill/>
        </p:spPr>
        <p:txBody>
          <a:bodyPr wrap="none" lIns="0" tIns="0" rIns="0" bIns="0" anchor="t">
            <a:spAutoFit/>
          </a:bodyPr>
          <a:lstStyle/>
          <a:p>
            <a:pPr>
              <a:lnSpc>
                <a:spcPts val="3719"/>
              </a:lnSpc>
              <a:spcBef>
                <a:spcPts val="0"/>
              </a:spcBef>
              <a:spcAft>
                <a:spcPts val="0"/>
              </a:spcAft>
              <a:defRPr sz="2700" b="1">
                <a:solidFill>
                  <a:srgbClr val="FFFFFF"/>
                </a:solidFill>
                <a:latin typeface="Noto Sans"/>
              </a:defRPr>
            </a:pPr>
            <a:r>
              <a:t>Secciones y contenidos de la unidad</a:t>
            </a:r>
          </a:p>
        </p:txBody>
      </p:sp>
      <p:sp>
        <p:nvSpPr>
          <p:cNvPr id="6" name="TextBox 5"/>
          <p:cNvSpPr txBox="1"/>
          <p:nvPr/>
        </p:nvSpPr>
        <p:spPr>
          <a:xfrm>
            <a:off x="685800" y="2362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2.1 · Componentes clave del BPM</a:t>
            </a:r>
          </a:p>
        </p:txBody>
      </p:sp>
      <p:sp>
        <p:nvSpPr>
          <p:cNvPr id="7" name="TextBox 6"/>
          <p:cNvSpPr txBox="1"/>
          <p:nvPr/>
        </p:nvSpPr>
        <p:spPr>
          <a:xfrm>
            <a:off x="685800" y="3314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2.2 · Fases del ciclo de vida del BPM</a:t>
            </a:r>
          </a:p>
        </p:txBody>
      </p:sp>
      <p:sp>
        <p:nvSpPr>
          <p:cNvPr id="8" name="TextBox 7"/>
          <p:cNvSpPr txBox="1"/>
          <p:nvPr/>
        </p:nvSpPr>
        <p:spPr>
          <a:xfrm>
            <a:off x="685800" y="4267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2.3 · Rol del BPM en la mejora continua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2.1</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Componentes clave del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Relacionar modelado, ejecución, monitoreo y optimización como componentes</a:t>
            </a:r>
          </a:p>
          <a:p>
            <a:pPr>
              <a:lnSpc>
                <a:spcPts val="2640"/>
              </a:lnSpc>
              <a:spcBef>
                <a:spcPts val="0"/>
              </a:spcBef>
              <a:spcAft>
                <a:spcPts val="0"/>
              </a:spcAft>
              <a:defRPr sz="1920" b="0">
                <a:solidFill>
                  <a:srgbClr val="D6E4E8"/>
                </a:solidFill>
                <a:latin typeface="Noto Sans"/>
              </a:defRPr>
            </a:pPr>
            <a:r>
              <a:t>coordinados de una estructura de BPM.</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Relacionar modelado, ejecución, monitoreo y optimización como componentes</a:t>
            </a:r>
          </a:p>
          <a:p>
            <a:pPr>
              <a:lnSpc>
                <a:spcPts val="2820"/>
              </a:lnSpc>
              <a:spcBef>
                <a:spcPts val="0"/>
              </a:spcBef>
              <a:spcAft>
                <a:spcPts val="0"/>
              </a:spcAft>
              <a:defRPr sz="2039" b="1">
                <a:solidFill>
                  <a:srgbClr val="18394A"/>
                </a:solidFill>
                <a:latin typeface="Noto Sans"/>
              </a:defRPr>
            </a:pPr>
            <a:r>
              <a:t>coordinados de una estructura de BPM.</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componente aporta cada evidencia y qué problema impide confiar plenamente en</a:t>
            </a:r>
          </a:p>
          <a:p>
            <a:pPr>
              <a:lnSpc>
                <a:spcPts val="2820"/>
              </a:lnSpc>
              <a:spcBef>
                <a:spcPts val="0"/>
              </a:spcBef>
              <a:spcAft>
                <a:spcPts val="0"/>
              </a:spcAft>
              <a:defRPr sz="2039" b="0">
                <a:solidFill>
                  <a:srgbClr val="18394A"/>
                </a:solidFill>
                <a:latin typeface="Noto Sans"/>
              </a:defRPr>
            </a:pPr>
            <a:r>
              <a:t>el tablero?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Modelado y conocimiento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modelado hace explícitos actividades, reglas, roles y resultados del proceso con el detalle</a:t>
            </a:r>
          </a:p>
          <a:p>
            <a:pPr>
              <a:lnSpc>
                <a:spcPts val="2580"/>
              </a:lnSpc>
              <a:spcBef>
                <a:spcPts val="0"/>
              </a:spcBef>
              <a:spcAft>
                <a:spcPts val="0"/>
              </a:spcAft>
              <a:defRPr sz="1859" b="0">
                <a:solidFill>
                  <a:srgbClr val="18394A"/>
                </a:solidFill>
                <a:latin typeface="Noto Sans"/>
              </a:defRPr>
            </a:pPr>
            <a:r>
              <a:t>adecuado al propósito. Puede incluir diagramas, definiciones y documentos asociados. Una</a:t>
            </a:r>
          </a:p>
          <a:p>
            <a:pPr>
              <a:lnSpc>
                <a:spcPts val="2580"/>
              </a:lnSpc>
              <a:spcBef>
                <a:spcPts val="0"/>
              </a:spcBef>
              <a:spcAft>
                <a:spcPts val="0"/>
              </a:spcAft>
              <a:defRPr sz="1859" b="0">
                <a:solidFill>
                  <a:srgbClr val="18394A"/>
                </a:solidFill>
                <a:latin typeface="Noto Sans"/>
              </a:defRPr>
            </a:pPr>
            <a:r>
              <a:t>representación compartida facilita conversación y análisis, pero necesita versión y</a:t>
            </a:r>
          </a:p>
          <a:p>
            <a:pPr>
              <a:lnSpc>
                <a:spcPts val="2580"/>
              </a:lnSpc>
              <a:spcBef>
                <a:spcPts val="0"/>
              </a:spcBef>
              <a:spcAft>
                <a:spcPts val="0"/>
              </a:spcAft>
              <a:defRPr sz="1859" b="0">
                <a:solidFill>
                  <a:srgbClr val="18394A"/>
                </a:solidFill>
                <a:latin typeface="Noto Sans"/>
              </a:defRPr>
            </a:pPr>
            <a:r>
              <a:t>responsable. Si el modelo no refleja la operación real, las decisiones posteriores pueden</a:t>
            </a:r>
          </a:p>
          <a:p>
            <a:pPr>
              <a:lnSpc>
                <a:spcPts val="2580"/>
              </a:lnSpc>
              <a:spcBef>
                <a:spcPts val="0"/>
              </a:spcBef>
              <a:spcAft>
                <a:spcPts val="0"/>
              </a:spcAft>
              <a:defRPr sz="1859" b="0">
                <a:solidFill>
                  <a:srgbClr val="18394A"/>
                </a:solidFill>
                <a:latin typeface="Noto Sans"/>
              </a:defRPr>
            </a:pPr>
            <a:r>
              <a:t>apoyarse en una visión que ya no existe.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Ejecución y coordinación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ejecución convierte reglas y acuerdos en trabajo realizado por personas o sistemas.</a:t>
            </a:r>
          </a:p>
          <a:p>
            <a:pPr>
              <a:lnSpc>
                <a:spcPts val="2580"/>
              </a:lnSpc>
              <a:spcBef>
                <a:spcPts val="0"/>
              </a:spcBef>
              <a:spcAft>
                <a:spcPts val="0"/>
              </a:spcAft>
              <a:defRPr sz="1859" b="0">
                <a:solidFill>
                  <a:srgbClr val="18394A"/>
                </a:solidFill>
                <a:latin typeface="Noto Sans"/>
              </a:defRPr>
            </a:pPr>
            <a:r>
              <a:t>Requiere asignar casos, conservar estado y atender excepciones. No todo modelo se</a:t>
            </a:r>
          </a:p>
          <a:p>
            <a:pPr>
              <a:lnSpc>
                <a:spcPts val="2580"/>
              </a:lnSpc>
              <a:spcBef>
                <a:spcPts val="0"/>
              </a:spcBef>
              <a:spcAft>
                <a:spcPts val="0"/>
              </a:spcAft>
              <a:defRPr sz="1859" b="0">
                <a:solidFill>
                  <a:srgbClr val="18394A"/>
                </a:solidFill>
                <a:latin typeface="Noto Sans"/>
              </a:defRPr>
            </a:pPr>
            <a:r>
              <a:t>ejecuta directamente en una plataforma informática. Distingue una descripción para</a:t>
            </a:r>
          </a:p>
          <a:p>
            <a:pPr>
              <a:lnSpc>
                <a:spcPts val="2580"/>
              </a:lnSpc>
              <a:spcBef>
                <a:spcPts val="0"/>
              </a:spcBef>
              <a:spcAft>
                <a:spcPts val="0"/>
              </a:spcAft>
              <a:defRPr sz="1859" b="0">
                <a:solidFill>
                  <a:srgbClr val="18394A"/>
                </a:solidFill>
                <a:latin typeface="Noto Sans"/>
              </a:defRPr>
            </a:pPr>
            <a:r>
              <a:t>comunicar el proceso de una especificación que contenga datos y reglas suficientes para</a:t>
            </a:r>
          </a:p>
          <a:p>
            <a:pPr>
              <a:lnSpc>
                <a:spcPts val="2580"/>
              </a:lnSpc>
              <a:spcBef>
                <a:spcPts val="0"/>
              </a:spcBef>
              <a:spcAft>
                <a:spcPts val="0"/>
              </a:spcAft>
              <a:defRPr sz="1859" b="0">
                <a:solidFill>
                  <a:srgbClr val="18394A"/>
                </a:solidFill>
                <a:latin typeface="Noto Sans"/>
              </a:defRPr>
            </a:pPr>
            <a:r>
              <a:t>automatizar parte de su comportamiento.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Modelar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Ejecutar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Monitorear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Optimizar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modelo describe y acuerda el funcionamiento; la ejecución lo convierte en trabajo; el monitoreo</a:t>
            </a:r>
          </a:p>
          <a:p>
            <a:pPr>
              <a:lnSpc>
                <a:spcPts val="2400"/>
              </a:lnSpc>
              <a:spcBef>
                <a:spcPts val="0"/>
              </a:spcBef>
              <a:spcAft>
                <a:spcPts val="0"/>
              </a:spcAft>
              <a:defRPr sz="1739" b="0">
                <a:solidFill>
                  <a:srgbClr val="536975"/>
                </a:solidFill>
                <a:latin typeface="Noto Sans"/>
              </a:defRPr>
            </a:pPr>
            <a:r>
              <a:t>produce evidencia; la optimización propone cambios. El gobierno conecta decisiones y versiones a lo</a:t>
            </a:r>
          </a:p>
          <a:p>
            <a:pPr>
              <a:lnSpc>
                <a:spcPts val="2400"/>
              </a:lnSpc>
              <a:spcBef>
                <a:spcPts val="0"/>
              </a:spcBef>
              <a:spcAft>
                <a:spcPts val="0"/>
              </a:spcAft>
              <a:defRPr sz="1739" b="0">
                <a:solidFill>
                  <a:srgbClr val="536975"/>
                </a:solidFill>
                <a:latin typeface="Noto Sans"/>
              </a:defRPr>
            </a:pPr>
            <a:r>
              <a:t>largo del recorrido. Después de un cambio aprobado, debe comprobarse que la operación y los</a:t>
            </a:r>
          </a:p>
          <a:p>
            <a:pPr>
              <a:lnSpc>
                <a:spcPts val="2400"/>
              </a:lnSpc>
              <a:spcBef>
                <a:spcPts val="0"/>
              </a:spcBef>
              <a:spcAft>
                <a:spcPts val="0"/>
              </a:spcAft>
              <a:defRPr sz="1739" b="0">
                <a:solidFill>
                  <a:srgbClr val="536975"/>
                </a:solidFill>
                <a:latin typeface="Noto Sans"/>
              </a:defRPr>
            </a:pPr>
            <a:r>
              <a:t>indicadores utilizan reglas compatibles con el nuevo modelo.</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una empresa dibuja el proceso de soporte, asigna casos en una aplicación y muestra</a:t>
            </a:r>
          </a:p>
          <a:p>
            <a:pPr>
              <a:lnSpc>
                <a:spcPts val="2400"/>
              </a:lnSpc>
              <a:spcBef>
                <a:spcPts val="0"/>
              </a:spcBef>
              <a:spcAft>
                <a:spcPts val="0"/>
              </a:spcAft>
              <a:defRPr sz="1739" b="0">
                <a:solidFill>
                  <a:srgbClr val="18394A"/>
                </a:solidFill>
                <a:latin typeface="Noto Sans"/>
              </a:defRPr>
            </a:pPr>
            <a:r>
              <a:t>un tablero de tiempos. Sin embargo, las solicitudes recibidas por teléfono quedan fuera del registro</a:t>
            </a:r>
          </a:p>
          <a:p>
            <a:pPr>
              <a:lnSpc>
                <a:spcPts val="2400"/>
              </a:lnSpc>
              <a:spcBef>
                <a:spcPts val="0"/>
              </a:spcBef>
              <a:spcAft>
                <a:spcPts val="0"/>
              </a:spcAft>
              <a:defRPr sz="1739" b="0">
                <a:solidFill>
                  <a:srgbClr val="18394A"/>
                </a:solidFill>
                <a:latin typeface="Noto Sans"/>
              </a:defRPr>
            </a:pPr>
            <a:r>
              <a:t>y nadie aprueba cambios de prioridad. El tablero representa solo parte del proceso. Antes de</a:t>
            </a:r>
          </a:p>
          <a:p>
            <a:pPr>
              <a:lnSpc>
                <a:spcPts val="2400"/>
              </a:lnSpc>
              <a:spcBef>
                <a:spcPts val="0"/>
              </a:spcBef>
              <a:spcAft>
                <a:spcPts val="0"/>
              </a:spcAft>
              <a:defRPr sz="1739" b="0">
                <a:solidFill>
                  <a:srgbClr val="18394A"/>
                </a:solidFill>
                <a:latin typeface="Noto Sans"/>
              </a:defRPr>
            </a:pPr>
            <a:r>
              <a:t>optimizar, el equipo debe integrar esas entradas y acordar quién puede cambiar reglas y cómo se</a:t>
            </a:r>
          </a:p>
          <a:p>
            <a:pPr>
              <a:lnSpc>
                <a:spcPts val="2400"/>
              </a:lnSpc>
              <a:spcBef>
                <a:spcPts val="0"/>
              </a:spcBef>
              <a:spcAft>
                <a:spcPts val="0"/>
              </a:spcAft>
              <a:defRPr sz="1739" b="0">
                <a:solidFill>
                  <a:srgbClr val="18394A"/>
                </a:solidFill>
                <a:latin typeface="Noto Sans"/>
              </a:defRPr>
            </a:pPr>
            <a:r>
              <a:t>registra su vigencia.</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componente aporta cada evidencia y qué problema impide confiar plenamente en el tablero?</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Monitoreo y datos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monitoreo recoge eventos y medidas relevantes para conocer desempeño. Define</a:t>
            </a:r>
          </a:p>
          <a:p>
            <a:pPr>
              <a:lnSpc>
                <a:spcPts val="2580"/>
              </a:lnSpc>
              <a:spcBef>
                <a:spcPts val="0"/>
              </a:spcBef>
              <a:spcAft>
                <a:spcPts val="0"/>
              </a:spcAft>
              <a:defRPr sz="1859" b="0">
                <a:solidFill>
                  <a:srgbClr val="18394A"/>
                </a:solidFill>
                <a:latin typeface="Noto Sans"/>
              </a:defRPr>
            </a:pPr>
            <a:r>
              <a:t>identificador del caso, actividad, instante y resultado cuando esos datos sean necesarios.</a:t>
            </a:r>
          </a:p>
          <a:p>
            <a:pPr>
              <a:lnSpc>
                <a:spcPts val="2580"/>
              </a:lnSpc>
              <a:spcBef>
                <a:spcPts val="0"/>
              </a:spcBef>
              <a:spcAft>
                <a:spcPts val="0"/>
              </a:spcAft>
              <a:defRPr sz="1859" b="0">
                <a:solidFill>
                  <a:srgbClr val="18394A"/>
                </a:solidFill>
                <a:latin typeface="Noto Sans"/>
              </a:defRPr>
            </a:pPr>
            <a:r>
              <a:t>Una cifra sin origen o definición es difícil de auditar. El tablero debe permitir investigar</a:t>
            </a:r>
          </a:p>
          <a:p>
            <a:pPr>
              <a:lnSpc>
                <a:spcPts val="2580"/>
              </a:lnSpc>
              <a:spcBef>
                <a:spcPts val="0"/>
              </a:spcBef>
              <a:spcAft>
                <a:spcPts val="0"/>
              </a:spcAft>
              <a:defRPr sz="1859" b="0">
                <a:solidFill>
                  <a:srgbClr val="18394A"/>
                </a:solidFill>
                <a:latin typeface="Noto Sans"/>
              </a:defRPr>
            </a:pPr>
            <a:r>
              <a:t>desviaciones y no limitarse a mostrar totales favorables; también importa si el registro</a:t>
            </a:r>
          </a:p>
          <a:p>
            <a:pPr>
              <a:lnSpc>
                <a:spcPts val="2580"/>
              </a:lnSpc>
              <a:spcBef>
                <a:spcPts val="0"/>
              </a:spcBef>
              <a:spcAft>
                <a:spcPts val="0"/>
              </a:spcAft>
              <a:defRPr sz="1859" b="0">
                <a:solidFill>
                  <a:srgbClr val="18394A"/>
                </a:solidFill>
                <a:latin typeface="Noto Sans"/>
              </a:defRPr>
            </a:pPr>
            <a:r>
              <a:t>omite casos abandonados o actividades manuales.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Optimización y gobierno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optimización usa evidencia para comparar alternativas y ajustar el proceso. Gobierno</a:t>
            </a:r>
          </a:p>
          <a:p>
            <a:pPr>
              <a:lnSpc>
                <a:spcPts val="2580"/>
              </a:lnSpc>
              <a:spcBef>
                <a:spcPts val="0"/>
              </a:spcBef>
              <a:spcAft>
                <a:spcPts val="0"/>
              </a:spcAft>
              <a:defRPr sz="1859" b="0">
                <a:solidFill>
                  <a:srgbClr val="18394A"/>
                </a:solidFill>
                <a:latin typeface="Noto Sans"/>
              </a:defRPr>
            </a:pPr>
            <a:r>
              <a:t>significa decidir quién aprueba modelos, reglas, cambios e indicadores. Es el vínculo entre</a:t>
            </a:r>
          </a:p>
          <a:p>
            <a:pPr>
              <a:lnSpc>
                <a:spcPts val="2580"/>
              </a:lnSpc>
              <a:spcBef>
                <a:spcPts val="0"/>
              </a:spcBef>
              <a:spcAft>
                <a:spcPts val="0"/>
              </a:spcAft>
              <a:defRPr sz="1859" b="0">
                <a:solidFill>
                  <a:srgbClr val="18394A"/>
                </a:solidFill>
                <a:latin typeface="Noto Sans"/>
              </a:defRPr>
            </a:pPr>
            <a:r>
              <a:t>los componentes: evita que una mejora en el tablero nunca llegue a la operación o que un</a:t>
            </a:r>
          </a:p>
          <a:p>
            <a:pPr>
              <a:lnSpc>
                <a:spcPts val="2580"/>
              </a:lnSpc>
              <a:spcBef>
                <a:spcPts val="0"/>
              </a:spcBef>
              <a:spcAft>
                <a:spcPts val="0"/>
              </a:spcAft>
              <a:defRPr sz="1859" b="0">
                <a:solidFill>
                  <a:srgbClr val="18394A"/>
                </a:solidFill>
                <a:latin typeface="Noto Sans"/>
              </a:defRPr>
            </a:pPr>
            <a:r>
              <a:t>cambio operativo deje al modelo desactualizado. La estructura necesita retroalimentación y</a:t>
            </a:r>
          </a:p>
          <a:p>
            <a:pPr>
              <a:lnSpc>
                <a:spcPts val="2580"/>
              </a:lnSpc>
              <a:spcBef>
                <a:spcPts val="0"/>
              </a:spcBef>
              <a:spcAft>
                <a:spcPts val="0"/>
              </a:spcAft>
              <a:defRPr sz="1859" b="0">
                <a:solidFill>
                  <a:srgbClr val="18394A"/>
                </a:solidFill>
                <a:latin typeface="Noto Sans"/>
              </a:defRPr>
            </a:pPr>
            <a:r>
              <a:t>responsabilidades, además de aplicaciones conectadas.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los cuatro componentes y las relaciones de información entre ellos.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Asigna responsabilidades sobre modelos, reglas y cambios del caso.</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el registro mínimo que incluya solicitudes web y telefónicas.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cómo comprobarías consistencia entre modelo, operación e indicador tras un cambio.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PND_U2 · Sección 2.1 · Componentes clave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Los componentes se necesitan mutuamente.</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La calidad del registro delimita el monitoreo.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El gobierno conecta modelos, reglas y cambios.</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Weske (2012), Business Process Management: Concepts,</a:t>
            </a:r>
          </a:p>
          <a:p>
            <a:pPr>
              <a:lnSpc>
                <a:spcPts val="1920"/>
              </a:lnSpc>
              <a:spcBef>
                <a:spcPts val="0"/>
              </a:spcBef>
              <a:spcAft>
                <a:spcPts val="0"/>
              </a:spcAft>
              <a:defRPr sz="1380" b="0">
                <a:solidFill>
                  <a:srgbClr val="D6E4E8"/>
                </a:solidFill>
                <a:latin typeface="Noto Sans"/>
              </a:defRPr>
            </a:pPr>
            <a:r>
              <a:t>Languages, Architectures. Dumas et al. (2018), Fundamentals of Business Process Management.</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2.2</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Fases del ciclo de vida del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Definir entregables, decisiones de paso y trazabilidad entre las fases del ciclo de vida</a:t>
            </a:r>
          </a:p>
          <a:p>
            <a:pPr>
              <a:lnSpc>
                <a:spcPts val="2640"/>
              </a:lnSpc>
              <a:spcBef>
                <a:spcPts val="0"/>
              </a:spcBef>
              <a:spcAft>
                <a:spcPts val="0"/>
              </a:spcAft>
              <a:defRPr sz="1920" b="0">
                <a:solidFill>
                  <a:srgbClr val="D6E4E8"/>
                </a:solidFill>
                <a:latin typeface="Noto Sans"/>
              </a:defRPr>
            </a:pPr>
            <a:r>
              <a:t>de BPM.</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Definir entregables, decisiones de paso y trazabilidad entre las fases del ciclo de</a:t>
            </a:r>
          </a:p>
          <a:p>
            <a:pPr>
              <a:lnSpc>
                <a:spcPts val="2820"/>
              </a:lnSpc>
              <a:spcBef>
                <a:spcPts val="0"/>
              </a:spcBef>
              <a:spcAft>
                <a:spcPts val="0"/>
              </a:spcAft>
              <a:defRPr sz="2039" b="1">
                <a:solidFill>
                  <a:srgbClr val="18394A"/>
                </a:solidFill>
                <a:latin typeface="Noto Sans"/>
              </a:defRPr>
            </a:pPr>
            <a:r>
              <a:t>vida de BPM.</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decisión de paso evitaría implantar una solución que no responde al problema</a:t>
            </a:r>
          </a:p>
          <a:p>
            <a:pPr>
              <a:lnSpc>
                <a:spcPts val="2820"/>
              </a:lnSpc>
              <a:spcBef>
                <a:spcPts val="0"/>
              </a:spcBef>
              <a:spcAft>
                <a:spcPts val="0"/>
              </a:spcAft>
              <a:defRPr sz="2039" b="0">
                <a:solidFill>
                  <a:srgbClr val="18394A"/>
                </a:solidFill>
                <a:latin typeface="Noto Sans"/>
              </a:defRPr>
            </a:pPr>
            <a:r>
              <a:t>principal?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 fases a decisiones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fase del ciclo no es solo una casilla del cronograma: produce evidencia que permite</a:t>
            </a:r>
          </a:p>
          <a:p>
            <a:pPr>
              <a:lnSpc>
                <a:spcPts val="2580"/>
              </a:lnSpc>
              <a:spcBef>
                <a:spcPts val="0"/>
              </a:spcBef>
              <a:spcAft>
                <a:spcPts val="0"/>
              </a:spcAft>
              <a:defRPr sz="1859" b="0">
                <a:solidFill>
                  <a:srgbClr val="18394A"/>
                </a:solidFill>
                <a:latin typeface="Noto Sans"/>
              </a:defRPr>
            </a:pPr>
            <a:r>
              <a:t>tomar una decisión. La identificación entrega alcance y prioridad; el descubrimiento, una</a:t>
            </a:r>
          </a:p>
          <a:p>
            <a:pPr>
              <a:lnSpc>
                <a:spcPts val="2580"/>
              </a:lnSpc>
              <a:spcBef>
                <a:spcPts val="0"/>
              </a:spcBef>
              <a:spcAft>
                <a:spcPts val="0"/>
              </a:spcAft>
              <a:defRPr sz="1859" b="0">
                <a:solidFill>
                  <a:srgbClr val="18394A"/>
                </a:solidFill>
                <a:latin typeface="Noto Sans"/>
              </a:defRPr>
            </a:pPr>
            <a:r>
              <a:t>descripción validada del estado actual. Antes de avanzar, comprueba que los participantes</a:t>
            </a:r>
          </a:p>
          <a:p>
            <a:pPr>
              <a:lnSpc>
                <a:spcPts val="2580"/>
              </a:lnSpc>
              <a:spcBef>
                <a:spcPts val="0"/>
              </a:spcBef>
              <a:spcAft>
                <a:spcPts val="0"/>
              </a:spcAft>
              <a:defRPr sz="1859" b="0">
                <a:solidFill>
                  <a:srgbClr val="18394A"/>
                </a:solidFill>
                <a:latin typeface="Noto Sans"/>
              </a:defRPr>
            </a:pPr>
            <a:r>
              <a:t>entienden límites y que las fuentes cubren las principales variantes. La secuencia admite</a:t>
            </a:r>
          </a:p>
          <a:p>
            <a:pPr>
              <a:lnSpc>
                <a:spcPts val="2580"/>
              </a:lnSpc>
              <a:spcBef>
                <a:spcPts val="0"/>
              </a:spcBef>
              <a:spcAft>
                <a:spcPts val="0"/>
              </a:spcAft>
              <a:defRPr sz="1859" b="0">
                <a:solidFill>
                  <a:srgbClr val="18394A"/>
                </a:solidFill>
                <a:latin typeface="Noto Sans"/>
              </a:defRPr>
            </a:pPr>
            <a:r>
              <a:t>revisiones cuando aparecen vacíos o contradicciones.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diagnóstico a la alternativa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análisis debe vincular problemas con datos e hipótesis contrastables. El rediseño</a:t>
            </a:r>
          </a:p>
          <a:p>
            <a:pPr>
              <a:lnSpc>
                <a:spcPts val="2580"/>
              </a:lnSpc>
              <a:spcBef>
                <a:spcPts val="0"/>
              </a:spcBef>
              <a:spcAft>
                <a:spcPts val="0"/>
              </a:spcAft>
              <a:defRPr sz="1859" b="0">
                <a:solidFill>
                  <a:srgbClr val="18394A"/>
                </a:solidFill>
                <a:latin typeface="Noto Sans"/>
              </a:defRPr>
            </a:pPr>
            <a:r>
              <a:t>compara alternativas y explica qué mecanismo debería mejorar el resultado. Mantén una</a:t>
            </a:r>
          </a:p>
          <a:p>
            <a:pPr>
              <a:lnSpc>
                <a:spcPts val="2580"/>
              </a:lnSpc>
              <a:spcBef>
                <a:spcPts val="0"/>
              </a:spcBef>
              <a:spcAft>
                <a:spcPts val="0"/>
              </a:spcAft>
              <a:defRPr sz="1859" b="0">
                <a:solidFill>
                  <a:srgbClr val="18394A"/>
                </a:solidFill>
                <a:latin typeface="Noto Sans"/>
              </a:defRPr>
            </a:pPr>
            <a:r>
              <a:t>trazabilidad sencilla entre problema, causa investigada, cambio propuesto y medida</a:t>
            </a:r>
          </a:p>
          <a:p>
            <a:pPr>
              <a:lnSpc>
                <a:spcPts val="2580"/>
              </a:lnSpc>
              <a:spcBef>
                <a:spcPts val="0"/>
              </a:spcBef>
              <a:spcAft>
                <a:spcPts val="0"/>
              </a:spcAft>
              <a:defRPr sz="1859" b="0">
                <a:solidFill>
                  <a:srgbClr val="18394A"/>
                </a:solidFill>
                <a:latin typeface="Noto Sans"/>
              </a:defRPr>
            </a:pPr>
            <a:r>
              <a:t>esperada. Sin esa conexión, una solución atractiva puede terminar atendiendo un</a:t>
            </a:r>
          </a:p>
          <a:p>
            <a:pPr>
              <a:lnSpc>
                <a:spcPts val="2580"/>
              </a:lnSpc>
              <a:spcBef>
                <a:spcPts val="0"/>
              </a:spcBef>
              <a:spcAft>
                <a:spcPts val="0"/>
              </a:spcAft>
              <a:defRPr sz="1859" b="0">
                <a:solidFill>
                  <a:srgbClr val="18394A"/>
                </a:solidFill>
                <a:latin typeface="Noto Sans"/>
              </a:defRPr>
            </a:pPr>
            <a:r>
              <a:t>inconveniente distinto del que justificó seleccionar el proceso.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Evidencia actual</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Diagnóstico trazable</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Piloto aceptado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Revisión del</a:t>
            </a:r>
          </a:p>
          <a:p>
            <a:pPr>
              <a:lnSpc>
                <a:spcPts val="2220"/>
              </a:lnSpc>
              <a:spcBef>
                <a:spcPts val="0"/>
              </a:spcBef>
              <a:spcAft>
                <a:spcPts val="0"/>
              </a:spcAft>
              <a:defRPr sz="1620" b="1">
                <a:solidFill>
                  <a:srgbClr val="FFFFFF"/>
                </a:solidFill>
                <a:latin typeface="Noto Sans"/>
              </a:defRPr>
            </a:pPr>
            <a:r>
              <a:t>resultado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Cada bloque entrega una base para el siguiente. Una descripción actual validada sostiene el</a:t>
            </a:r>
          </a:p>
          <a:p>
            <a:pPr>
              <a:lnSpc>
                <a:spcPts val="2400"/>
              </a:lnSpc>
              <a:spcBef>
                <a:spcPts val="0"/>
              </a:spcBef>
              <a:spcAft>
                <a:spcPts val="0"/>
              </a:spcAft>
              <a:defRPr sz="1739" b="0">
                <a:solidFill>
                  <a:srgbClr val="536975"/>
                </a:solidFill>
                <a:latin typeface="Noto Sans"/>
              </a:defRPr>
            </a:pPr>
            <a:r>
              <a:t>diagnóstico; un diagnóstico contrastado permite comparar alternativas; una alternativa elegida se</a:t>
            </a:r>
          </a:p>
          <a:p>
            <a:pPr>
              <a:lnSpc>
                <a:spcPts val="2400"/>
              </a:lnSpc>
              <a:spcBef>
                <a:spcPts val="0"/>
              </a:spcBef>
              <a:spcAft>
                <a:spcPts val="0"/>
              </a:spcAft>
              <a:defRPr sz="1739" b="0">
                <a:solidFill>
                  <a:srgbClr val="536975"/>
                </a:solidFill>
                <a:latin typeface="Noto Sans"/>
              </a:defRPr>
            </a:pPr>
            <a:r>
              <a:t>convierte en piloto; y el piloto genera resultados para decidir continuidad. Las decisiones de paso</a:t>
            </a:r>
          </a:p>
          <a:p>
            <a:pPr>
              <a:lnSpc>
                <a:spcPts val="2400"/>
              </a:lnSpc>
              <a:spcBef>
                <a:spcPts val="0"/>
              </a:spcBef>
              <a:spcAft>
                <a:spcPts val="0"/>
              </a:spcAft>
              <a:defRPr sz="1739" b="0">
                <a:solidFill>
                  <a:srgbClr val="536975"/>
                </a:solidFill>
                <a:latin typeface="Noto Sans"/>
              </a:defRPr>
            </a:pPr>
            <a:r>
              <a:t>deben documentarse y permitir volver atrás cuando la evidencia no sea suficiente.</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equipo quiere automatizar aprobaciones porque supone que el trabajo manual</a:t>
            </a:r>
          </a:p>
          <a:p>
            <a:pPr>
              <a:lnSpc>
                <a:spcPts val="2400"/>
              </a:lnSpc>
              <a:spcBef>
                <a:spcPts val="0"/>
              </a:spcBef>
              <a:spcAft>
                <a:spcPts val="0"/>
              </a:spcAft>
              <a:defRPr sz="1739" b="0">
                <a:solidFill>
                  <a:srgbClr val="18394A"/>
                </a:solidFill>
                <a:latin typeface="Noto Sans"/>
              </a:defRPr>
            </a:pPr>
            <a:r>
              <a:t>causa demoras. Los registros muestran que la mayoría del tiempo transcurre esperando datos que</a:t>
            </a:r>
          </a:p>
          <a:p>
            <a:pPr>
              <a:lnSpc>
                <a:spcPts val="2400"/>
              </a:lnSpc>
              <a:spcBef>
                <a:spcPts val="0"/>
              </a:spcBef>
              <a:spcAft>
                <a:spcPts val="0"/>
              </a:spcAft>
              <a:defRPr sz="1739" b="0">
                <a:solidFill>
                  <a:srgbClr val="18394A"/>
                </a:solidFill>
                <a:latin typeface="Noto Sans"/>
              </a:defRPr>
            </a:pPr>
            <a:r>
              <a:t>el cliente no envió. La evidencia exige revisar el diagnóstico y comparar una validación inicial de</a:t>
            </a:r>
          </a:p>
          <a:p>
            <a:pPr>
              <a:lnSpc>
                <a:spcPts val="2400"/>
              </a:lnSpc>
              <a:spcBef>
                <a:spcPts val="0"/>
              </a:spcBef>
              <a:spcAft>
                <a:spcPts val="0"/>
              </a:spcAft>
              <a:defRPr sz="1739" b="0">
                <a:solidFill>
                  <a:srgbClr val="18394A"/>
                </a:solidFill>
                <a:latin typeface="Noto Sans"/>
              </a:defRPr>
            </a:pPr>
            <a:r>
              <a:t>requisitos. El piloto debería medir solicitudes completas, tiempo total y correcciones, antes de</a:t>
            </a:r>
          </a:p>
          <a:p>
            <a:pPr>
              <a:lnSpc>
                <a:spcPts val="2400"/>
              </a:lnSpc>
              <a:spcBef>
                <a:spcPts val="0"/>
              </a:spcBef>
              <a:spcAft>
                <a:spcPts val="0"/>
              </a:spcAft>
              <a:defRPr sz="1739" b="0">
                <a:solidFill>
                  <a:srgbClr val="18394A"/>
                </a:solidFill>
                <a:latin typeface="Noto Sans"/>
              </a:defRPr>
            </a:pPr>
            <a:r>
              <a:t>ampliar la automatización de aprobaciones.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decisión de paso evitaría implantar una solución que no responde al problema principal?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Implementación con aceptación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paso a implementación necesita responsables, reglas, capacitación, pruebas y criterios de</a:t>
            </a:r>
          </a:p>
          <a:p>
            <a:pPr>
              <a:lnSpc>
                <a:spcPts val="2580"/>
              </a:lnSpc>
              <a:spcBef>
                <a:spcPts val="0"/>
              </a:spcBef>
              <a:spcAft>
                <a:spcPts val="0"/>
              </a:spcAft>
              <a:defRPr sz="1859" b="0">
                <a:solidFill>
                  <a:srgbClr val="18394A"/>
                </a:solidFill>
                <a:latin typeface="Noto Sans"/>
              </a:defRPr>
            </a:pPr>
            <a:r>
              <a:t>aceptación. Define condiciones para iniciar un piloto, ampliarlo o retroceder. No confundas</a:t>
            </a:r>
          </a:p>
          <a:p>
            <a:pPr>
              <a:lnSpc>
                <a:spcPts val="2580"/>
              </a:lnSpc>
              <a:spcBef>
                <a:spcPts val="0"/>
              </a:spcBef>
              <a:spcAft>
                <a:spcPts val="0"/>
              </a:spcAft>
              <a:defRPr sz="1859" b="0">
                <a:solidFill>
                  <a:srgbClr val="18394A"/>
                </a:solidFill>
                <a:latin typeface="Noto Sans"/>
              </a:defRPr>
            </a:pPr>
            <a:r>
              <a:t>la instalación de una herramienta con la aceptación del proceso. Los participantes deben</a:t>
            </a:r>
          </a:p>
          <a:p>
            <a:pPr>
              <a:lnSpc>
                <a:spcPts val="2580"/>
              </a:lnSpc>
              <a:spcBef>
                <a:spcPts val="0"/>
              </a:spcBef>
              <a:spcAft>
                <a:spcPts val="0"/>
              </a:spcAft>
              <a:defRPr sz="1859" b="0">
                <a:solidFill>
                  <a:srgbClr val="18394A"/>
                </a:solidFill>
                <a:latin typeface="Noto Sans"/>
              </a:defRPr>
            </a:pPr>
            <a:r>
              <a:t>poder ejecutar tareas, resolver excepciones y conservar información suficiente para</a:t>
            </a:r>
          </a:p>
          <a:p>
            <a:pPr>
              <a:lnSpc>
                <a:spcPts val="2580"/>
              </a:lnSpc>
              <a:spcBef>
                <a:spcPts val="0"/>
              </a:spcBef>
              <a:spcAft>
                <a:spcPts val="0"/>
              </a:spcAft>
              <a:defRPr sz="1859" b="0">
                <a:solidFill>
                  <a:srgbClr val="18394A"/>
                </a:solidFill>
                <a:latin typeface="Noto Sans"/>
              </a:defRPr>
            </a:pPr>
            <a:r>
              <a:t>reconstruir lo ocurrido cuando exista un fallo.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Cierre y retroalimentación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monitoreo necesita acuerdos sobre quién revisa resultados, con qué frecuencia y qué</a:t>
            </a:r>
          </a:p>
          <a:p>
            <a:pPr>
              <a:lnSpc>
                <a:spcPts val="2580"/>
              </a:lnSpc>
              <a:spcBef>
                <a:spcPts val="0"/>
              </a:spcBef>
              <a:spcAft>
                <a:spcPts val="0"/>
              </a:spcAft>
              <a:defRPr sz="1859" b="0">
                <a:solidFill>
                  <a:srgbClr val="18394A"/>
                </a:solidFill>
                <a:latin typeface="Noto Sans"/>
              </a:defRPr>
            </a:pPr>
            <a:r>
              <a:t>desviación exige actuar. Un proyecto puede cerrar sus entregables mientras el proceso</a:t>
            </a:r>
          </a:p>
          <a:p>
            <a:pPr>
              <a:lnSpc>
                <a:spcPts val="2580"/>
              </a:lnSpc>
              <a:spcBef>
                <a:spcPts val="0"/>
              </a:spcBef>
              <a:spcAft>
                <a:spcPts val="0"/>
              </a:spcAft>
              <a:defRPr sz="1859" b="0">
                <a:solidFill>
                  <a:srgbClr val="18394A"/>
                </a:solidFill>
                <a:latin typeface="Noto Sans"/>
              </a:defRPr>
            </a:pPr>
            <a:r>
              <a:t>continúa operando y mejorándose. Registra versiones y aprendizajes para no perder</a:t>
            </a:r>
          </a:p>
          <a:p>
            <a:pPr>
              <a:lnSpc>
                <a:spcPts val="2580"/>
              </a:lnSpc>
              <a:spcBef>
                <a:spcPts val="0"/>
              </a:spcBef>
              <a:spcAft>
                <a:spcPts val="0"/>
              </a:spcAft>
              <a:defRPr sz="1859" b="0">
                <a:solidFill>
                  <a:srgbClr val="18394A"/>
                </a:solidFill>
                <a:latin typeface="Noto Sans"/>
              </a:defRPr>
            </a:pPr>
            <a:r>
              <a:t>contexto al cambiar de equipo. Si los resultados contradicen las hipótesis del rediseño,</a:t>
            </a:r>
          </a:p>
          <a:p>
            <a:pPr>
              <a:lnSpc>
                <a:spcPts val="2580"/>
              </a:lnSpc>
              <a:spcBef>
                <a:spcPts val="0"/>
              </a:spcBef>
              <a:spcAft>
                <a:spcPts val="0"/>
              </a:spcAft>
              <a:defRPr sz="1859" b="0">
                <a:solidFill>
                  <a:srgbClr val="18394A"/>
                </a:solidFill>
                <a:latin typeface="Noto Sans"/>
              </a:defRPr>
            </a:pPr>
            <a:r>
              <a:t>revisa el análisis antes de ampliar la misma intervención.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una matriz de fase, evidencia, responsable y decisión de paso.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Relaciona el problema del caso con hipótesis, datos y alternativas.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criterios para iniciar, ampliar o detener un piloto.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 registro de versiones y resultados que permita volver al análisis.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PND_U2 · Sección 2.2 · Fases del ciclo de vida del BPM">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Cada fase debe justificar una decisión.</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Conserva trazabilidad del problema al resultado.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Amplía solo con aceptación y aprendizaje.</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Jeston y Nelis (2014), Business Process Management: Practical Guidelines to Successful Implementations.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2.3</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Rol del BPM en la mejora continua</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Aplicar una revisión continua de procesos con hipótesis, pruebas, medidas</a:t>
            </a:r>
          </a:p>
          <a:p>
            <a:pPr>
              <a:lnSpc>
                <a:spcPts val="2640"/>
              </a:lnSpc>
              <a:spcBef>
                <a:spcPts val="0"/>
              </a:spcBef>
              <a:spcAft>
                <a:spcPts val="0"/>
              </a:spcAft>
              <a:defRPr sz="1920" b="0">
                <a:solidFill>
                  <a:srgbClr val="D6E4E8"/>
                </a:solidFill>
                <a:latin typeface="Noto Sans"/>
              </a:defRPr>
            </a:pPr>
            <a:r>
              <a:t>equilibradas y decisiones de ajuste.</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Aplicar una revisión continua de procesos con hipótesis, pruebas, medidas</a:t>
            </a:r>
          </a:p>
          <a:p>
            <a:pPr>
              <a:lnSpc>
                <a:spcPts val="2820"/>
              </a:lnSpc>
              <a:spcBef>
                <a:spcPts val="0"/>
              </a:spcBef>
              <a:spcAft>
                <a:spcPts val="0"/>
              </a:spcAft>
              <a:defRPr sz="2039" b="1">
                <a:solidFill>
                  <a:srgbClr val="18394A"/>
                </a:solidFill>
                <a:latin typeface="Noto Sans"/>
              </a:defRPr>
            </a:pPr>
            <a:r>
              <a:t>equilibradas y decisiones de ajuste.</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dos formas de expresar la reducción son correctas y qué medida de equilibrio</a:t>
            </a:r>
          </a:p>
          <a:p>
            <a:pPr>
              <a:lnSpc>
                <a:spcPts val="2820"/>
              </a:lnSpc>
              <a:spcBef>
                <a:spcPts val="0"/>
              </a:spcBef>
              <a:spcAft>
                <a:spcPts val="0"/>
              </a:spcAft>
              <a:defRPr sz="2039" b="0">
                <a:solidFill>
                  <a:srgbClr val="18394A"/>
                </a:solidFill>
                <a:latin typeface="Noto Sans"/>
              </a:defRPr>
            </a:pPr>
            <a:r>
              <a:t>añadirías?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Mejora como práctica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mejora continua consiste en revisar de manera sistemática cómo se realiza el trabajo y</a:t>
            </a:r>
          </a:p>
          <a:p>
            <a:pPr>
              <a:lnSpc>
                <a:spcPts val="2580"/>
              </a:lnSpc>
              <a:spcBef>
                <a:spcPts val="0"/>
              </a:spcBef>
              <a:spcAft>
                <a:spcPts val="0"/>
              </a:spcAft>
              <a:defRPr sz="1859" b="0">
                <a:solidFill>
                  <a:srgbClr val="18394A"/>
                </a:solidFill>
                <a:latin typeface="Noto Sans"/>
              </a:defRPr>
            </a:pPr>
            <a:r>
              <a:t>qué resultados produce. BPM aporta límites, responsables y visibilidad para que las mejoras</a:t>
            </a:r>
          </a:p>
          <a:p>
            <a:pPr>
              <a:lnSpc>
                <a:spcPts val="2580"/>
              </a:lnSpc>
              <a:spcBef>
                <a:spcPts val="0"/>
              </a:spcBef>
              <a:spcAft>
                <a:spcPts val="0"/>
              </a:spcAft>
              <a:defRPr sz="1859" b="0">
                <a:solidFill>
                  <a:srgbClr val="18394A"/>
                </a:solidFill>
                <a:latin typeface="Noto Sans"/>
              </a:defRPr>
            </a:pPr>
            <a:r>
              <a:t>no dependan solo de iniciativas aisladas. Una solución necesita seguimiento: los cambios de</a:t>
            </a:r>
          </a:p>
          <a:p>
            <a:pPr>
              <a:lnSpc>
                <a:spcPts val="2580"/>
              </a:lnSpc>
              <a:spcBef>
                <a:spcPts val="0"/>
              </a:spcBef>
              <a:spcAft>
                <a:spcPts val="0"/>
              </a:spcAft>
              <a:defRPr sz="1859" b="0">
                <a:solidFill>
                  <a:srgbClr val="18394A"/>
                </a:solidFill>
                <a:latin typeface="Noto Sans"/>
              </a:defRPr>
            </a:pPr>
            <a:r>
              <a:t>demanda, personal o reglas pueden hacer que una práctica antes útil deje de responder al</a:t>
            </a:r>
          </a:p>
          <a:p>
            <a:pPr>
              <a:lnSpc>
                <a:spcPts val="2580"/>
              </a:lnSpc>
              <a:spcBef>
                <a:spcPts val="0"/>
              </a:spcBef>
              <a:spcAft>
                <a:spcPts val="0"/>
              </a:spcAft>
              <a:defRPr sz="1859" b="0">
                <a:solidFill>
                  <a:srgbClr val="18394A"/>
                </a:solidFill>
                <a:latin typeface="Noto Sans"/>
              </a:defRPr>
            </a:pPr>
            <a:r>
              <a:t>propósito.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Hipótesis y prueba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Formula una hipótesis que conecte un cambio con un mecanismo y un resultado esperado.</a:t>
            </a:r>
          </a:p>
          <a:p>
            <a:pPr>
              <a:lnSpc>
                <a:spcPts val="2580"/>
              </a:lnSpc>
              <a:spcBef>
                <a:spcPts val="0"/>
              </a:spcBef>
              <a:spcAft>
                <a:spcPts val="0"/>
              </a:spcAft>
              <a:defRPr sz="1859" b="0">
                <a:solidFill>
                  <a:srgbClr val="18394A"/>
                </a:solidFill>
                <a:latin typeface="Noto Sans"/>
              </a:defRPr>
            </a:pPr>
            <a:r>
              <a:t>Por ejemplo, validar requisitos al recibir una solicitud podría reducir devoluciones por datos</a:t>
            </a:r>
          </a:p>
          <a:p>
            <a:pPr>
              <a:lnSpc>
                <a:spcPts val="2580"/>
              </a:lnSpc>
              <a:spcBef>
                <a:spcPts val="0"/>
              </a:spcBef>
              <a:spcAft>
                <a:spcPts val="0"/>
              </a:spcAft>
              <a:defRPr sz="1859" b="0">
                <a:solidFill>
                  <a:srgbClr val="18394A"/>
                </a:solidFill>
                <a:latin typeface="Noto Sans"/>
              </a:defRPr>
            </a:pPr>
            <a:r>
              <a:t>incompletos. Define cómo probarla y qué evidencia la contradiría. Una prueba limitada</a:t>
            </a:r>
          </a:p>
          <a:p>
            <a:pPr>
              <a:lnSpc>
                <a:spcPts val="2580"/>
              </a:lnSpc>
              <a:spcBef>
                <a:spcPts val="0"/>
              </a:spcBef>
              <a:spcAft>
                <a:spcPts val="0"/>
              </a:spcAft>
              <a:defRPr sz="1859" b="0">
                <a:solidFill>
                  <a:srgbClr val="18394A"/>
                </a:solidFill>
                <a:latin typeface="Noto Sans"/>
              </a:defRPr>
            </a:pPr>
            <a:r>
              <a:t>ayuda a aprender sin comprometer toda la operación; no consiste en confirmar</a:t>
            </a:r>
          </a:p>
          <a:p>
            <a:pPr>
              <a:lnSpc>
                <a:spcPts val="2580"/>
              </a:lnSpc>
              <a:spcBef>
                <a:spcPts val="0"/>
              </a:spcBef>
              <a:spcAft>
                <a:spcPts val="0"/>
              </a:spcAft>
              <a:defRPr sz="1859" b="0">
                <a:solidFill>
                  <a:srgbClr val="18394A"/>
                </a:solidFill>
                <a:latin typeface="Noto Sans"/>
              </a:defRPr>
            </a:pPr>
            <a:r>
              <a:t>obligatoriamente una idea que ya se decidió imponer.</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Planear hipótesis</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Probar cambio</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Verificar evidencia</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Actuar y revisar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ciclo de planear, hacer, verificar y actuar ayuda a organizar la revisión. Planear define problema,</a:t>
            </a:r>
          </a:p>
          <a:p>
            <a:pPr>
              <a:lnSpc>
                <a:spcPts val="2400"/>
              </a:lnSpc>
              <a:spcBef>
                <a:spcPts val="0"/>
              </a:spcBef>
              <a:spcAft>
                <a:spcPts val="0"/>
              </a:spcAft>
              <a:defRPr sz="1739" b="0">
                <a:solidFill>
                  <a:srgbClr val="536975"/>
                </a:solidFill>
                <a:latin typeface="Noto Sans"/>
              </a:defRPr>
            </a:pPr>
            <a:r>
              <a:t>hipótesis y medidas; hacer ejecuta una prueba controlada; verificar contrasta resultados y efectos;</a:t>
            </a:r>
          </a:p>
          <a:p>
            <a:pPr>
              <a:lnSpc>
                <a:spcPts val="2400"/>
              </a:lnSpc>
              <a:spcBef>
                <a:spcPts val="0"/>
              </a:spcBef>
              <a:spcAft>
                <a:spcPts val="0"/>
              </a:spcAft>
              <a:defRPr sz="1739" b="0">
                <a:solidFill>
                  <a:srgbClr val="536975"/>
                </a:solidFill>
                <a:latin typeface="Noto Sans"/>
              </a:defRPr>
            </a:pPr>
            <a:r>
              <a:t>actuar decide si estandarizar, ajustar o descartar. Este ciclo se integra con BPM y no reemplaza la</a:t>
            </a:r>
          </a:p>
          <a:p>
            <a:pPr>
              <a:lnSpc>
                <a:spcPts val="2400"/>
              </a:lnSpc>
              <a:spcBef>
                <a:spcPts val="0"/>
              </a:spcBef>
              <a:spcAft>
                <a:spcPts val="0"/>
              </a:spcAft>
              <a:defRPr sz="1739" b="0">
                <a:solidFill>
                  <a:srgbClr val="536975"/>
                </a:solidFill>
                <a:latin typeface="Noto Sans"/>
              </a:defRPr>
            </a:pPr>
            <a:r>
              <a:t>necesidad de delimitar proceso y responsabilidades.</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hipotético: una validación inicial reduce solicitudes devueltas de veinte a diez en grupos de</a:t>
            </a:r>
          </a:p>
          <a:p>
            <a:pPr>
              <a:lnSpc>
                <a:spcPts val="2400"/>
              </a:lnSpc>
              <a:spcBef>
                <a:spcPts val="0"/>
              </a:spcBef>
              <a:spcAft>
                <a:spcPts val="0"/>
              </a:spcAft>
              <a:defRPr sz="1739" b="0">
                <a:solidFill>
                  <a:srgbClr val="18394A"/>
                </a:solidFill>
                <a:latin typeface="Noto Sans"/>
              </a:defRPr>
            </a:pPr>
            <a:r>
              <a:t>cien casos comparables. La tasa baja de 20 % a 10 %: diez puntos porcentuales y una reducción</a:t>
            </a:r>
          </a:p>
          <a:p>
            <a:pPr>
              <a:lnSpc>
                <a:spcPts val="2400"/>
              </a:lnSpc>
              <a:spcBef>
                <a:spcPts val="0"/>
              </a:spcBef>
              <a:spcAft>
                <a:spcPts val="0"/>
              </a:spcAft>
              <a:defRPr sz="1739" b="0">
                <a:solidFill>
                  <a:srgbClr val="18394A"/>
                </a:solidFill>
                <a:latin typeface="Noto Sans"/>
              </a:defRPr>
            </a:pPr>
            <a:r>
              <a:t>relativa de 50 %. El equipo también debe comprobar si creció el abandono del formulario o la carga</a:t>
            </a:r>
          </a:p>
          <a:p>
            <a:pPr>
              <a:lnSpc>
                <a:spcPts val="2400"/>
              </a:lnSpc>
              <a:spcBef>
                <a:spcPts val="0"/>
              </a:spcBef>
              <a:spcAft>
                <a:spcPts val="0"/>
              </a:spcAft>
              <a:defRPr sz="1739" b="0">
                <a:solidFill>
                  <a:srgbClr val="18394A"/>
                </a:solidFill>
                <a:latin typeface="Noto Sans"/>
              </a:defRPr>
            </a:pPr>
            <a:r>
              <a:t>de quien valida, para evitar interpretar una mejora parcial como éxito sin condiciones.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dos formas de expresar la reducción son correctas y qué medida de equilibrio añadirías?</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Medidas y equilibrio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Compara línea base y resultados con definiciones consistentes. Acompaña el indicador</a:t>
            </a:r>
          </a:p>
          <a:p>
            <a:pPr>
              <a:lnSpc>
                <a:spcPts val="2580"/>
              </a:lnSpc>
              <a:spcBef>
                <a:spcPts val="0"/>
              </a:spcBef>
              <a:spcAft>
                <a:spcPts val="0"/>
              </a:spcAft>
              <a:defRPr sz="1859" b="0">
                <a:solidFill>
                  <a:srgbClr val="18394A"/>
                </a:solidFill>
                <a:latin typeface="Noto Sans"/>
              </a:defRPr>
            </a:pPr>
            <a:r>
              <a:t>principal con medidas de calidad, carga o experiencia para detectar efectos secundarios. Si</a:t>
            </a:r>
          </a:p>
          <a:p>
            <a:pPr>
              <a:lnSpc>
                <a:spcPts val="2580"/>
              </a:lnSpc>
              <a:spcBef>
                <a:spcPts val="0"/>
              </a:spcBef>
              <a:spcAft>
                <a:spcPts val="0"/>
              </a:spcAft>
              <a:defRPr sz="1859" b="0">
                <a:solidFill>
                  <a:srgbClr val="18394A"/>
                </a:solidFill>
                <a:latin typeface="Noto Sans"/>
              </a:defRPr>
            </a:pPr>
            <a:r>
              <a:t>baja el tiempo porque se excluyen casos complejos, la aparente mejora puede ser un</a:t>
            </a:r>
          </a:p>
          <a:p>
            <a:pPr>
              <a:lnSpc>
                <a:spcPts val="2580"/>
              </a:lnSpc>
              <a:spcBef>
                <a:spcPts val="0"/>
              </a:spcBef>
              <a:spcAft>
                <a:spcPts val="0"/>
              </a:spcAft>
              <a:defRPr sz="1859" b="0">
                <a:solidFill>
                  <a:srgbClr val="18394A"/>
                </a:solidFill>
                <a:latin typeface="Noto Sans"/>
              </a:defRPr>
            </a:pPr>
            <a:r>
              <a:t>cambio de población. Revisa distribución, condiciones y datos faltantes antes de atribuir un</a:t>
            </a:r>
          </a:p>
          <a:p>
            <a:pPr>
              <a:lnSpc>
                <a:spcPts val="2580"/>
              </a:lnSpc>
              <a:spcBef>
                <a:spcPts val="0"/>
              </a:spcBef>
              <a:spcAft>
                <a:spcPts val="0"/>
              </a:spcAft>
              <a:defRPr sz="1859" b="0">
                <a:solidFill>
                  <a:srgbClr val="18394A"/>
                </a:solidFill>
                <a:latin typeface="Noto Sans"/>
              </a:defRPr>
            </a:pPr>
            <a:r>
              <a:t>resultado al cambio aplicado.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Estandarizar y volver a revisar</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Cuando la evidencia justifica el cambio, actualiza reglas, formación y documentación.</a:t>
            </a:r>
          </a:p>
          <a:p>
            <a:pPr>
              <a:lnSpc>
                <a:spcPts val="2580"/>
              </a:lnSpc>
              <a:spcBef>
                <a:spcPts val="0"/>
              </a:spcBef>
              <a:spcAft>
                <a:spcPts val="0"/>
              </a:spcAft>
              <a:defRPr sz="1859" b="0">
                <a:solidFill>
                  <a:srgbClr val="18394A"/>
                </a:solidFill>
                <a:latin typeface="Noto Sans"/>
              </a:defRPr>
            </a:pPr>
            <a:r>
              <a:t>Asigna responsable y fecha de revisión. Si la prueba no funciona, conserva el aprendizaje y</a:t>
            </a:r>
          </a:p>
          <a:p>
            <a:pPr>
              <a:lnSpc>
                <a:spcPts val="2580"/>
              </a:lnSpc>
              <a:spcBef>
                <a:spcPts val="0"/>
              </a:spcBef>
              <a:spcAft>
                <a:spcPts val="0"/>
              </a:spcAft>
              <a:defRPr sz="1859" b="0">
                <a:solidFill>
                  <a:srgbClr val="18394A"/>
                </a:solidFill>
                <a:latin typeface="Noto Sans"/>
              </a:defRPr>
            </a:pPr>
            <a:r>
              <a:t>ajusta o abandona la hipótesis. La mejora continua combina estabilidad de lo que sirve con</a:t>
            </a:r>
          </a:p>
          <a:p>
            <a:pPr>
              <a:lnSpc>
                <a:spcPts val="2580"/>
              </a:lnSpc>
              <a:spcBef>
                <a:spcPts val="0"/>
              </a:spcBef>
              <a:spcAft>
                <a:spcPts val="0"/>
              </a:spcAft>
              <a:defRPr sz="1859" b="0">
                <a:solidFill>
                  <a:srgbClr val="18394A"/>
                </a:solidFill>
                <a:latin typeface="Noto Sans"/>
              </a:defRPr>
            </a:pPr>
            <a:r>
              <a:t>capacidad de adaptación; repetir experimentos sin registrar decisiones impide construir</a:t>
            </a:r>
          </a:p>
          <a:p>
            <a:pPr>
              <a:lnSpc>
                <a:spcPts val="2580"/>
              </a:lnSpc>
              <a:spcBef>
                <a:spcPts val="0"/>
              </a:spcBef>
              <a:spcAft>
                <a:spcPts val="0"/>
              </a:spcAft>
              <a:defRPr sz="1859" b="0">
                <a:solidFill>
                  <a:srgbClr val="18394A"/>
                </a:solidFill>
                <a:latin typeface="Noto Sans"/>
              </a:defRPr>
            </a:pPr>
            <a:r>
              <a:t>conocimiento sobre el proceso.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Formula una hipótesis del caso con mecanismo y resultado esperado.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la reducción absoluta en puntos y la reducción relativa.</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prueba con indicador principal, medida de equilibrio y evidencia que podría refutarla.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decisiones de estandarizar, ajustar o descartar y cómo registrar el aprendizaje.</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PND_U2 · Sección 2.3 · Rol del BPM en la mejora continua">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Mejora con hipótesis que puedan contrastarse.</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Compara con medidas principales y de equilibrio.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Registra decisiones y revisa lo estandarizado.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Deming (1986), Out of the Crisis. MIT Press.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2. Estructura del BPM</dc:title>
  <dc:subject>Procesos para Negocios Digitales · 2.1 Componentes clave del BPM · 2.2 Fases del ciclo de vida del BPM · 2.3 Rol del BPM en la mejora continua</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