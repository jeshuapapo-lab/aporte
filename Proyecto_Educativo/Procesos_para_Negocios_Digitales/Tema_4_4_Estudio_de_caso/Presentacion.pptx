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estudio de caso. El propósito es integrar diagnóstico, modelado, rediseño y KPI en un estudio de caso BPM con datos simulados y conclusiones limitadas a la evidencia.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conclusiones apoyan los datos simulados y por qué no bastan para atribuir causalidad en una empresa real?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estudio integra un proceso de solicitudes de soporte desde recepción hasta respuesta útil. El destinatario es quien necesita una solución o una orientación suficiente para continuar. Se define responsable, población y condiciones de atención. Los registros de enseñanza son simulados: permiten practicar cálculos y análisis, pero no constituyen evidencia de una empresa real ni prueban que una intervención funcionará en otra organización.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actual incluye esperas por datos incompletos y reasignaciones. La propuesta valida requisitos al recibir y asigna un responsable de seguimiento. La hipótesis es reducir espera sin deteriorar calidad. Debe contrastarse con participantes y casos; el diagrama representa la lógica propuesta, no demuestra por sí solo que todas las demoras tengan la misma causa.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 el alcance con un modelo actual y los datos de casos. Explica el diagnóstico y la lógica del cambio. Modela la propuesta, prepara una prueba y calcula resultados con la misma definición en ambos períodos. Finalmente investiga excepciones y formula una decisión de continuidad, dejando claro qué se aprendió de datos simulados y qué requeriría una validación real.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de enseñanza: en el período inicial, ochenta casos duran treinta horas y veinte duran ochenta; el promedio es cuarenta. En el futuro simulado, noventa y cinco duran veinte y cinco duran cien; el promedio es veinticuatro. Los casos con corrección son doce y cinco, respectivamente. Los archivos de apoyo permiten repetir los cálculos y revisar por qué la mejora global convive con excepciones más tardías.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conjunto simulado contiene cien casos por período. El ciclo promedio pasa de cuarenta a veinticuatro horas y la proporción de casos con corrección, de doce a cinco por ciento. La reducción del promedio es 40 %; la calidad mejora siete puntos porcentuales según esa medida. El cumplimiento de respuesta en cuarenta y ocho horas pasa de 80 % a 95 %, con la definición de casos completados del ejercicio.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resultados agregados requieren mirar excepciones. En los datos simulados futuros hay cinco casos de cien horas: mejorar el promedio no elimina demoras importantes. La conclusión debe distinguir resultados calculados, hipótesis causal y condiciones pendientes de validar en una operación real. El siguiente ciclo revisaría esas excepciones, capacidad, carga de trabajo y estabilidad del registro antes de escalar.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Delimita el proceso y representa estado actual y futuro con responsabilidades. Después, calcula promedio, corrección y cumplimiento usando el CSV de apoyo y muestra fórmulas.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Integra alcance, modelo y evidencia. Calcula y examina también las excepciones. Distingue simulación, hipótesis y resultado real.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4.4, UPS 2026–2027. Referencia: Dumas et al. (2018), Fundamentals of Business Process Management. OMG, BPMN 2.0.2. Conjunto de datos sintético propio incluido en Recursos/.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Estudio de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Integrar diagnóstico, modelado, rediseño y KPI en un estudio de caso BPM con datos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simulados y conclusiones limitadas a la evidencia.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Integrar diagnóstico, modelado, rediseño y KPI en un estudio de caso BPM con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datos simulados y conclusiones limitadas a la evidencia.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conclusiones apoyan los datos simulados y por qué no bastan para atribuir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causalidad en una empresa real?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y delimitación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20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estudio integra un proceso de solicitudes de soporte desde recepción hasta respuesta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útil. El destinatario es quien necesita una solución o una orientación suficiente para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continuar. Se define responsable, población y condiciones de atención. Los registros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enseñanza son simulados: permiten practicar cálculos y análisis, pero no constituyen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evidencia de una empresa real ni prueban que una intervención funcionará en otra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organización.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Diagnóstico y 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modelo actual incluye esperas por datos incompletos y reasignaciones. La propuesta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valida requisitos al recibir y asigna un responsable de seguimiento. La hipótesis es reducir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espera sin deteriorar calidad. Debe contrastarse con participantes y casos; el diagrama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representa la lógica propuesta, no demuestra por sí solo que todas las demoras tengan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misma causa.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Delimitar y observar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Modelar y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diagnosticar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Rediseñar y probar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Medir y revisar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Conecta el alcance con un modelo actual y los datos de casos. Explica el diagnóstico y la lógica del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cambio. Modela la propuesta, prepara una prueba y calcula resultados con la misma definición en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ambos períodos. Finalmente investiga excepciones y formula una decisión de continuidad, dejando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claro qué se aprendió de datos simulados y qué requeriría una validación real.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Ejemplo de enseñanza: en el período inicial, ochenta casos duran treinta horas y veinte duran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ochenta; el promedio es cuarenta. En el futuro simulado, noventa y cinco duran veinte y cinco duran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cien; el promedio es veinticuatro. Los casos con corrección son doce y cinco, respectivamente. Los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archivos de apoyo permiten repetir los cálculos y revisar por qué la mejora global convive con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excepciones más tardías.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conclusiones apoyan los datos simulados y por qué no bastan para atribuir causalidad en una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empresa real?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668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ESTUDIO DE CASO · DATOS SIMULADOS · PND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29640"/>
            <a:ext cx="10896600" cy="662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80"/>
              </a:lnSpc>
              <a:spcBef>
                <a:spcPts val="0"/>
              </a:spcBef>
              <a:spcAft>
                <a:spcPts val="0"/>
              </a:spcAft>
              <a:defRPr sz="3179" b="1">
                <a:solidFill>
                  <a:srgbClr val="18394A"/>
                </a:solidFill>
                <a:latin typeface="Noto Sans"/>
              </a:defRPr>
            </a:pPr>
            <a:r>
              <a:t>Comparar resultados y límites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19300"/>
            <a:ext cx="3505200" cy="3718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186940"/>
            <a:ext cx="3124200" cy="403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8394A"/>
                </a:solidFill>
                <a:latin typeface="Noto Sans"/>
              </a:defRPr>
            </a:pPr>
            <a:r>
              <a:t>Ciclo promedio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4900" y="3489960"/>
            <a:ext cx="800100" cy="1524000"/>
          </a:xfrm>
          <a:prstGeom prst="roundRect">
            <a:avLst>
              <a:gd name="adj" fmla="val 3809"/>
            </a:avLst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40" y="3086100"/>
            <a:ext cx="1104900" cy="487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18394A"/>
                </a:solidFill>
                <a:latin typeface="Noto Sans"/>
              </a:defRPr>
            </a:pPr>
            <a:r>
              <a:t>40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5151120"/>
            <a:ext cx="1181100" cy="350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536975"/>
                </a:solidFill>
                <a:latin typeface="Noto Sans"/>
              </a:defRPr>
            </a:pPr>
            <a:r>
              <a:t>Inicial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400" y="4099560"/>
            <a:ext cx="800100" cy="914400"/>
          </a:xfrm>
          <a:prstGeom prst="roundRect">
            <a:avLst>
              <a:gd name="adj" fmla="val 3809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5540" y="3695700"/>
            <a:ext cx="1104900" cy="487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18394A"/>
                </a:solidFill>
                <a:latin typeface="Noto Sans"/>
              </a:defRPr>
            </a:pPr>
            <a:r>
              <a:t>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151120"/>
            <a:ext cx="1181100" cy="350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536975"/>
                </a:solidFill>
                <a:latin typeface="Noto Sans"/>
              </a:defRPr>
            </a:pPr>
            <a:r>
              <a:t>Futuro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448300"/>
            <a:ext cx="32004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087E8B"/>
                </a:solidFill>
                <a:latin typeface="Noto Sans"/>
              </a:defRPr>
            </a:pPr>
            <a:r>
              <a:t>40 % de reducción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19300"/>
            <a:ext cx="3505200" cy="3718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900" y="2186940"/>
            <a:ext cx="3124200" cy="403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8394A"/>
                </a:solidFill>
                <a:latin typeface="Noto Sans"/>
              </a:defRPr>
            </a:pPr>
            <a:r>
              <a:t>Casos con corrección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8700" y="3489960"/>
            <a:ext cx="800100" cy="1524000"/>
          </a:xfrm>
          <a:prstGeom prst="roundRect">
            <a:avLst>
              <a:gd name="adj" fmla="val 3809"/>
            </a:avLst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5840" y="3086100"/>
            <a:ext cx="1104900" cy="487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18394A"/>
                </a:solidFill>
                <a:latin typeface="Noto Sans"/>
              </a:defRPr>
            </a:pPr>
            <a:r>
              <a:t>12 %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6300" y="5151120"/>
            <a:ext cx="1181100" cy="350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536975"/>
                </a:solidFill>
                <a:latin typeface="Noto Sans"/>
              </a:defRPr>
            </a:pPr>
            <a:r>
              <a:t>Inicial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78960"/>
            <a:ext cx="800100" cy="635000"/>
          </a:xfrm>
          <a:prstGeom prst="roundRect">
            <a:avLst>
              <a:gd name="adj" fmla="val 4800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9340" y="3975100"/>
            <a:ext cx="1104900" cy="487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18394A"/>
                </a:solidFill>
                <a:latin typeface="Noto Sans"/>
              </a:defRPr>
            </a:pPr>
            <a:r>
              <a:t>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9800" y="5151120"/>
            <a:ext cx="1181100" cy="350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536975"/>
                </a:solidFill>
                <a:latin typeface="Noto Sans"/>
              </a:defRPr>
            </a:pPr>
            <a:r>
              <a:t>Futuro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5448300"/>
            <a:ext cx="32004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087E8B"/>
                </a:solidFill>
                <a:latin typeface="Noto Sans"/>
              </a:defRPr>
            </a:pPr>
            <a:r>
              <a:t>7 puntos porcentuales menos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7200" y="2019300"/>
            <a:ext cx="3505200" cy="3718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7699" y="2186940"/>
            <a:ext cx="3124200" cy="403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8394A"/>
                </a:solidFill>
                <a:latin typeface="Noto Sans"/>
              </a:defRPr>
            </a:pPr>
            <a:r>
              <a:t>Dentro de 48 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500" y="3489960"/>
            <a:ext cx="800100" cy="1524000"/>
          </a:xfrm>
          <a:prstGeom prst="roundRect">
            <a:avLst>
              <a:gd name="adj" fmla="val 3809"/>
            </a:avLst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086100"/>
            <a:ext cx="1104900" cy="487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18394A"/>
                </a:solidFill>
                <a:latin typeface="Noto Sans"/>
              </a:defRPr>
            </a:pPr>
            <a:r>
              <a:t>80 %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0100" y="5151120"/>
            <a:ext cx="1181100" cy="350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536975"/>
                </a:solidFill>
                <a:latin typeface="Noto Sans"/>
              </a:defRPr>
            </a:pPr>
            <a:r>
              <a:t>Inicial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06000" y="3204210"/>
            <a:ext cx="800100" cy="1809750"/>
          </a:xfrm>
          <a:prstGeom prst="roundRect">
            <a:avLst>
              <a:gd name="adj" fmla="val 3809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3140" y="2800350"/>
            <a:ext cx="1104900" cy="487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18394A"/>
                </a:solidFill>
                <a:latin typeface="Noto Sans"/>
              </a:defRPr>
            </a:pPr>
            <a:r>
              <a:t>95 %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600" y="5151120"/>
            <a:ext cx="1181100" cy="350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536975"/>
                </a:solidFill>
                <a:latin typeface="Noto Sans"/>
              </a:defRPr>
            </a:pPr>
            <a:r>
              <a:t>Futuro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448300"/>
            <a:ext cx="32004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087E8B"/>
                </a:solidFill>
                <a:latin typeface="Noto Sans"/>
              </a:defRPr>
            </a:pPr>
            <a:r>
              <a:t>+15 puntos porcentuales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5974080"/>
            <a:ext cx="10896600" cy="304800"/>
          </a:xfrm>
          <a:prstGeom prst="roundRect">
            <a:avLst>
              <a:gd name="adj" fmla="val 20000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760" y="6035040"/>
            <a:ext cx="105918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8394A"/>
                </a:solidFill>
                <a:latin typeface="Noto Sans"/>
              </a:defRPr>
            </a:pPr>
            <a:r>
              <a:t>100 casos por período. Cinco casos futuros llegan a 100 horas: la mejora de la media no elimina excepciones.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6520"/>
            <a:ext cx="108966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El cálculo sobre datos sintéticos no demuestra un efecto causal en una empresa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Interpretación y continuidad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Los resultados agregados requieren mirar excepciones. En los datos simulados futuros hay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cinco casos de cien horas: mejorar el promedio no elimina demoras importantes.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conclusión debe distinguir resultados calculados, hipótesis causal y condiciones pendientes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 validar en una operación real. El siguiente ciclo revisaría esas excepciones, capacidad,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carga de trabajo y estabilidad del registro antes de escalar.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Delimita el proceso y representa estado actual y futuro con responsabilidades.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Relaciona problemas, hipótesis de causa, cambio propuesto y evidencia necesaria.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promedio, corrección y cumplimiento usando el CSV de apoyo y muestra fórmulas.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Redacta una conclusión con mejoras agregadas, excepciones, límites causales y próximo ciclo de revisión.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U4 ·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Integra alcance, modelo y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Calcula y examina también las excepciones.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Distingue simulación, hipótesis y resultado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Dumas et al. (2018), Fundamentals of Business Process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Management. OMG, BPMN 2.0.2. Conjunto de datos sintético propio incluido en Recursos/.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caso</dc:title>
  <dc:subject>Implementación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