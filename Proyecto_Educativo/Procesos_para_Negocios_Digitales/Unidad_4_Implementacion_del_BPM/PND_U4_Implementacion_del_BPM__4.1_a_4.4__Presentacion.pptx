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Unidad 4: Implementación del BPM.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Unidad 4: Implementación del BPM.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Hoy estudiaremos planificación de un proyecto bpm. El propósito es planificar un proyecto BPM con alcance, entregables, responsabilidades, riesgos y criterios de aceptación. Este contenido forma parte de procesos para negocios digitales. Trabajaremos con conceptos y un caso ficticio para tomar decisiones justificadas.</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Antes de proponer una solución, considera esta pregunta: ¿Qué compromisos deben revisarse antes de aprobar el calendario del caso? Al terminar deberás explicar tu decisión, indicar cómo la comprobarías y reconocer los límites de la evidencia utilizada.</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Un proyecto BPM organiza una intervención temporal para mejorar un proceso con propósito definido. Explica el problema, quién recibe el resultado, qué se incluye y qué queda fuera. Relaciona los beneficios esperados con evidencia inicial y evita prometer una transformación total sin recursos. El responsable del proyecto y el dueño del proceso cumplen funciones relacionadas, pero distintas.</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Descompón el trabajo en entregables verificables: alcance, modelo actual, diagnóstico, propuesta futura, piloto y seguimiento. Asigna responsable de ejecución y autoridad de aprobación. Un cronograma útil representa dependencias y disponibilidad de participantes. No programes una validación antes de disponer de evidencia suficiente ni supongas que todas las personas estarán disponibles a tiempo completo.</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La planificación conecta el problema con entregables, personas y decisiones. Un modelo actual validado debe preceder al diagnóstico y a la selección del cambio. El piloto necesita preparación operacional y condiciones de aceptación. Al concluir, la responsabilidad de seguimiento se transfiere de manera explícita para que la mejora no dependa de mantener abierto el proyecto indefinidamente.</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Caso ficticio: una empresa propone mejorar soporte en cuatro semanas, pero el analista solo puede participar dos días por semana y los datos no están consolidados. El plan debe ajustar alcance o plazo, asignar acceso a registros y programar validación con atención al cliente. Comprar una herramienta en la primera semana no sustituye el diagnóstico. El piloto necesita responsables de incidentes y una decisión de continuidad.</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Identifica riesgos de datos insuficientes, resistencia, dependencia técnica o interrupción de operación. Define señales tempranas, responsables y respuestas. El cambio necesita comunicación sobre qué se modificará, formación para quienes ejecutan el proceso y un canal para reportar excepciones. Considera pruebas y transición para no usar a los clientes como validadores involuntarios de una solución todavía no comprobada.</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Define criterios observables para aceptar cada entregable y decidir si ampliar el piloto. Prevé soporte y transferencia al responsable de la operación. El cierre del proyecto debe conservar modelos, decisiones, indicadores y aprendizajes. La mejora del proceso continúa después del cierre administrativo; necesita una revisión programada y capacidad de actuar cuando el resultado se aleja del propósito.</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Para aplicar lo aprendido, desarrolla la tarea editable. Redacta una ficha de proyecto con problema, alcance, exclusiones y beneficio esperado. Después, elabora tres riesgos con señal temprana, responsable y respuesta. Justifica tus decisiones con los conceptos de esta explicación y comprueba tus respuestas en la actividad interactiva.</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4.1: Planificación de un proyecto BPM</a:t>
            </a:r>
          </a:p>
          <a:p/>
          <a:p>
            <a:r>
              <a:t>Conserva estas ideas. Planifica alcance y capacidad reales. Organiza entregables con aceptación y riesgos. Transfiere la mejora a la operación. El caso y sus datos son ficticios. Revisa las fuentes indicadas en los materiales y continúa con la práctica para transferir estos criterios a otra situación.</a:t>
            </a:r>
          </a:p>
          <a:p/>
          <a:p>
            <a:r>
              <a:t>Fuente curricular: Procesos para Negocios Digitales, 4.1, UPS 2026–2027. Referencia: Jeston y Nelis (2014), Business Process Management: Practical Guidelines to Successful Implementations.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Hoy estudiaremos indicadores para evaluar la implementación. El propósito es definir KPI de implementación con fórmulas, poblaciones y acciones de revisión que permitan interpretar el desempeño. Este contenido forma parte de procesos para negocios digitales. Trabajaremos con conceptos y un caso ficticio para tomar decisiones justificadas.</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Antes de proponer una solución, considera esta pregunta: ¿Qué fórmulas corresponden a los dos indicadores y cómo tratarías los casos todavía no evaluables? Al terminar deberás explicar tu decisión, indicar cómo la comprobarías y reconocer los límites de la evidencia utilizada.</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Un indicador expresa una medida definida; un KPI se selecciona por su relación con un objetivo relevante. No toda cifra disponible es un indicador clave. Define qué decisión apoyará y qué resultado representa. Medir cantidad de sesiones de capacitación puede informar una actividad de implementación, pero no demuestra por sí solo que mejoró el tiempo o la calidad del proceso.</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Documenta nombre, propósito, fórmula, unidad, población, período, fuente, responsable y frecuencia. Si mides tiempo, especifica eventos de inicio y fin y el calendario utilizado. Si mides una tasa, aclara numerador, denominador y exclusiones. Definiciones estables permiten comparar períodos y evitan que dos equipos reporten cifras distintas usando el mismo nombre de indicador.</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El objetivo orienta qué resultado debe medirse. La ficha convierte la intención en una fórmula reproducible. La revisión de datos comprueba que los casos están correctamente incluidos. Finalmente, el resultado se interpreta con su contexto y genera una decisión; un tablero sin responsables ni respuesta ante desviaciones no completa la función de gestión.</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Ejemplo hipotético: de veinte solicitudes cuyo plazo de respuesta ya es evaluable, dieciocho recibieron respuesta útil dentro de cuarenta y ocho horas. El cumplimiento es 90 %. Otras dos solicitudes recién abiertas aún no tienen el plazo vencido y no deben mezclarse sin una regla explícita. En otro grupo de cincuenta casos completados, cuatro requieren corrección: la tasa de corrección es 8 %, una dimensión distinta de calidad.</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Comprueba integridad, duplicados y casos abiertos antes de calcular. Distingue promedio de distribución y acompaña la velocidad con calidad, carga o satisfacción cuando corresponda. Un indicador puede incentivar comportamientos no deseados si se premia solo su número. Por ejemplo, cerrar solicitudes sin resolverlas reduce una medida aparente de tiempo, pero deteriora el servicio y aumenta reaperturas.</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Relaciona resultados con meta, línea base y condiciones observadas. Define umbrales y qué acción se tomará ante desviaciones. No inventes metas universales: deben responder al contexto y compromisos de la organización. La mejora temporal de una cifra no demuestra causalidad por sí sola; conserva evidencia sobre cambios de demanda, mezcla de casos y modificaciones en la forma de registrar.</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Para aplicar lo aprendido, desarrolla la tarea editable. Elabora fichas de un KPI de tiempo y otro de calidad con todos sus campos. Después, define reglas para casos abiertos, duplicados y eventos faltantes. Justifica tus decisiones con los conceptos de esta explicación y comprueba tus respuestas en la actividad interactiva.</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4.2: Indicadores para evaluar la implementación</a:t>
            </a:r>
          </a:p>
          <a:p/>
          <a:p>
            <a:r>
              <a:t>Conserva estas ideas. Selecciona indicadores ligados a decisiones. Define fórmulas, cohortes y calidad de datos. Interpreta y actúa con medidas equilibradas. El caso y sus datos son ficticios. Revisa las fuentes indicadas en los materiales y continúa con la práctica para transferir estos criterios a otra situación.</a:t>
            </a:r>
          </a:p>
          <a:p/>
          <a:p>
            <a:r>
              <a:t>Fuente curricular: Procesos para Negocios Digitales, 4.2, UPS 2026–2027. Referencia: Dumas et al. (2018), Fundamentals of Business Process Management.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Hoy estudiaremos evaluación y selección de procesos a mejorar. El propósito es priorizar procesos de mejora usando criterios explícitos, evidencia y restricciones que permitan justificar la selección. Este contenido forma parte de procesos para negocios digitales. Trabajaremos con conceptos y un caso ficticio para tomar decisiones justificadas.</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Antes de proponer una solución, considera esta pregunta: ¿Cómo se calculan las dos puntuaciones y qué no debe concluirse solo a partir de ellas? Al terminar deberás explicar tu decisión, indicar cómo la comprobarías y reconocer los límites de la evidencia utilizada.</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Una organización suele tener más oportunidades de mejora que capacidad para abordarlas. La evaluación de procesos compara problemas e impacto con recursos, datos y disposición al cambio. Distingue obligaciones que requieren atención de iniciativas opcionales. Un proceso visible o popular no es necesariamente el que tiene mayor efecto sobre el cliente o mayor oportunidad de mejora sostenible.</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Define criterios como impacto en el cliente, magnitud del problema, viabilidad y urgencia. Explica qué significa cada nivel de puntuación y qué evidencia lo respalda. Evita contar dos veces el mismo beneficio con nombres distintos. Cuando faltan datos, marca incertidumbre y asigna una tarea para obtenerlos, en lugar de convertir una opinión en una cifra aparentemente precisa.</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Primero acuerda criterios y restricciones. Reúne evidencia de los procesos candidatos y puntúa con una escala definida. Calcula la clasificación y prueba supuestos alternativos. La decisión final debe explicar obligaciones, dependencias y capacidad, además del resultado numérico. Un proceso elegido necesita un alcance viable para convertirse en proyecto y no solo quedar como prioridad declarada.</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Ejemplo hipotético: impacto pesa 50 %, viabilidad 30 % y urgencia 20 %, con escala de uno a cinco donde cinco es más favorable. Soporte recibe cinco, dos y cuatro: suma 3,9. Facturación recibe tres, cinco y tres: suma 3,6. La diferencia favorece soporte bajo esos juicios, pero una obligación legal crítica de facturación o un cambio de pesos puede alterar la decisión.</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Una matriz ponderada multiplica cada valoración por su peso y suma resultados. Los pesos deben sumar uno o cien por ciento y representar prioridades acordadas. La puntuación organiza juicio, no garantiza objetividad. Prueba cómo cambia la clasificación al variar pesos o supuestos; si una pequeña modificación invierte la prioridad, presenta esa sensibilidad a quienes deciden.</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Combina la clasificación con restricciones, dependencias y capacidad de ejecutar un piloto. Una obligación crítica puede requerir atención aunque no encabece una matriz de beneficios. Registra por qué se selecciona un proceso, qué alcance tendrá y qué evidencia falta. Revisar prioridades cuando cambia el contexto es parte de la gestión y no un error del método.</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Para aplicar lo aprendido, desarrolla la tarea editable. Define cuatro criterios con escala, evidencia y posibles duplicidades. Después, modifica un peso conservando la suma e interpreta la sensibilidad. Justifica tus decisiones con los conceptos de esta explicación y comprueba tus respuestas en la actividad interactiva.</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4.3: Evaluación y selección de procesos a mejorar</a:t>
            </a:r>
          </a:p>
          <a:p/>
          <a:p>
            <a:r>
              <a:t>Conserva estas ideas. Prioriza con criterios y evidencia. Calcula y contrasta sensibilidad. Integra restricciones y alcance ejecutable. El caso y sus datos son ficticios. Revisa las fuentes indicadas en los materiales y continúa con la práctica para transferir estos criterios a otra situación.</a:t>
            </a:r>
          </a:p>
          <a:p/>
          <a:p>
            <a:r>
              <a:t>Fuente curricular: Procesos para Negocios Digitales, 4.3,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Hoy estudiaremos estudio de caso. El propósito es integrar diagnóstico, modelado, rediseño y KPI en un estudio de caso BPM con datos simulados y conclusiones limitadas a la evidencia. Este contenido forma parte de procesos para negocios digitales. Trabajaremos con conceptos y un caso ficticio para tomar decisiones justificadas.</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Antes de proponer una solución, considera esta pregunta: ¿Qué conclusiones apoyan los datos simulados y por qué no bastan para atribuir causalidad en una empresa real? Al terminar deberás explicar tu decisión, indicar cómo la comprobarías y reconocer los límites de la evidencia utilizada.</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El estudio integra un proceso de solicitudes de soporte desde recepción hasta respuesta útil. El destinatario es quien necesita una solución o una orientación suficiente para continuar. Se define responsable, población y condiciones de atención. Los registros de enseñanza son simulados: permiten practicar cálculos y análisis, pero no constituyen evidencia de una empresa real ni prueban que una intervención funcionará en otra organización.</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El modelo actual incluye esperas por datos incompletos y reasignaciones. La propuesta valida requisitos al recibir y asigna un responsable de seguimiento. La hipótesis es reducir espera sin deteriorar calidad. Debe contrastarse con participantes y casos; el diagrama representa la lógica propuesta, no demuestra por sí solo que todas las demoras tengan la misma causa.</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Conecta el alcance con un modelo actual y los datos de casos. Explica el diagnóstico y la lógica del cambio. Modela la propuesta, prepara una prueba y calcula resultados con la misma definición en ambos períodos. Finalmente investiga excepciones y formula una decisión de continuidad, dejando claro qué se aprendió de datos simulados y qué requeriría una validación real.</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Ejemplo de enseñanza: en el período inicial, ochenta casos duran treinta horas y veinte duran ochenta; el promedio es cuarenta. En el futuro simulado, noventa y cinco duran veinte y cinco duran cien; el promedio es veinticuatro. Los casos con corrección son doce y cinco, respectivamente. Los archivos de apoyo permiten repetir los cálculos y revisar por qué la mejora global convive con excepciones más tardías.</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El conjunto simulado contiene cien casos por período. El ciclo promedio pasa de cuarenta a veinticuatro horas y la proporción de casos con corrección, de doce a cinco por ciento. La reducción del promedio es 40 %; la calidad mejora siete puntos porcentuales según esa medida. El cumplimiento de respuesta en cuarenta y ocho horas pasa de 80 % a 95 %, con la definición de casos completados del ejercicio.</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Los resultados agregados requieren mirar excepciones. En los datos simulados futuros hay cinco casos de cien horas: mejorar el promedio no elimina demoras importantes. La conclusión debe distinguir resultados calculados, hipótesis causal y condiciones pendientes de validar en una operación real. El siguiente ciclo revisaría esas excepciones, capacidad, carga de trabajo y estabilidad del registro antes de escalar.</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Para aplicar lo aprendido, desarrolla la tarea editable. Delimita el proceso y representa estado actual y futuro con responsabilidades. Después, calcula promedio, corrección y cumplimiento usando el CSV de apoyo y muestra fórmulas. Justifica tus decisiones con los conceptos de esta explicación y comprueba tus respuestas en la actividad interactiva.</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4: Implementación del BPM</a:t>
            </a:r>
          </a:p>
          <a:p>
            <a:r>
              <a:t>Sección 4.4: Estudio de caso</a:t>
            </a:r>
          </a:p>
          <a:p/>
          <a:p>
            <a:r>
              <a:t>Conserva estas ideas. Integra alcance, modelo y evidencia. Calcula y examina también las excepciones. Distingue simulación, hipótesis y resultado real. El caso y sus datos son ficticios. Revisa las fuentes indicadas en los materiales y continúa con la práctica para transferir estos criterios a otra situación.</a:t>
            </a:r>
          </a:p>
          <a:p/>
          <a:p>
            <a:r>
              <a:t>Fuente curricular: Procesos para Negocios Digitales, 4.4, UPS 2026–2027. Referencia: Dumas et al. (2018), Fundamentals of Business Process Management. OMG, BPMN 2.0.2. Conjunto de datos sintético propio incluido en Recursos/.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PROCESOS PARA NEGOCIOS DIGITALES</a:t>
            </a:r>
          </a:p>
        </p:txBody>
      </p:sp>
      <p:sp>
        <p:nvSpPr>
          <p:cNvPr id="5" name="TextBox 4"/>
          <p:cNvSpPr txBox="1"/>
          <p:nvPr/>
        </p:nvSpPr>
        <p:spPr>
          <a:xfrm>
            <a:off x="609600" y="1371600"/>
            <a:ext cx="10896600" cy="502920"/>
          </a:xfrm>
          <a:prstGeom prst="rect">
            <a:avLst/>
          </a:prstGeom>
          <a:noFill/>
        </p:spPr>
        <p:txBody>
          <a:bodyPr wrap="none" lIns="0" tIns="0" rIns="0" bIns="0" anchor="t">
            <a:spAutoFit/>
          </a:bodyPr>
          <a:lstStyle/>
          <a:p>
            <a:pPr>
              <a:lnSpc>
                <a:spcPts val="3120"/>
              </a:lnSpc>
              <a:spcBef>
                <a:spcPts val="0"/>
              </a:spcBef>
              <a:spcAft>
                <a:spcPts val="0"/>
              </a:spcAft>
              <a:defRPr sz="2280" b="1">
                <a:solidFill>
                  <a:srgbClr val="D6E4E8"/>
                </a:solidFill>
                <a:latin typeface="Noto Sans"/>
              </a:defRPr>
            </a:pPr>
            <a:r>
              <a:t>Unidad 4</a:t>
            </a:r>
          </a:p>
        </p:txBody>
      </p:sp>
      <p:sp>
        <p:nvSpPr>
          <p:cNvPr id="6" name="TextBox 5"/>
          <p:cNvSpPr txBox="1"/>
          <p:nvPr/>
        </p:nvSpPr>
        <p:spPr>
          <a:xfrm>
            <a:off x="609600" y="2019300"/>
            <a:ext cx="10820400" cy="716280"/>
          </a:xfrm>
          <a:prstGeom prst="rect">
            <a:avLst/>
          </a:prstGeom>
          <a:noFill/>
        </p:spPr>
        <p:txBody>
          <a:bodyPr wrap="none" lIns="0" tIns="0" rIns="0" bIns="0" anchor="t">
            <a:spAutoFit/>
          </a:bodyPr>
          <a:lstStyle/>
          <a:p>
            <a:pPr>
              <a:lnSpc>
                <a:spcPts val="4800"/>
              </a:lnSpc>
              <a:spcBef>
                <a:spcPts val="0"/>
              </a:spcBef>
              <a:spcAft>
                <a:spcPts val="0"/>
              </a:spcAft>
              <a:defRPr sz="3479" b="1">
                <a:solidFill>
                  <a:srgbClr val="FFFFFF"/>
                </a:solidFill>
                <a:latin typeface="Noto Sans"/>
              </a:defRPr>
            </a:pPr>
            <a:r>
              <a:t>Implementación del BPM</a:t>
            </a:r>
          </a:p>
        </p:txBody>
      </p:sp>
      <p:sp>
        <p:nvSpPr>
          <p:cNvPr id="7" name="TextBox 6"/>
          <p:cNvSpPr txBox="1"/>
          <p:nvPr/>
        </p:nvSpPr>
        <p:spPr>
          <a:xfrm>
            <a:off x="647700" y="4953000"/>
            <a:ext cx="106680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Secciones 4.1 · 4.2 · 4.3 · 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PROCESOS PARA NEGOCIOS DIGITALES</a:t>
            </a:r>
          </a:p>
        </p:txBody>
      </p:sp>
      <p:sp>
        <p:nvSpPr>
          <p:cNvPr id="5" name="TextBox 4"/>
          <p:cNvSpPr txBox="1"/>
          <p:nvPr/>
        </p:nvSpPr>
        <p:spPr>
          <a:xfrm>
            <a:off x="609600" y="1257300"/>
            <a:ext cx="10820400" cy="579120"/>
          </a:xfrm>
          <a:prstGeom prst="rect">
            <a:avLst/>
          </a:prstGeom>
          <a:noFill/>
        </p:spPr>
        <p:txBody>
          <a:bodyPr wrap="none" lIns="0" tIns="0" rIns="0" bIns="0" anchor="t">
            <a:spAutoFit/>
          </a:bodyPr>
          <a:lstStyle/>
          <a:p>
            <a:pPr>
              <a:lnSpc>
                <a:spcPts val="3719"/>
              </a:lnSpc>
              <a:spcBef>
                <a:spcPts val="0"/>
              </a:spcBef>
              <a:spcAft>
                <a:spcPts val="0"/>
              </a:spcAft>
              <a:defRPr sz="2700" b="1">
                <a:solidFill>
                  <a:srgbClr val="FFFFFF"/>
                </a:solidFill>
                <a:latin typeface="Noto Sans"/>
              </a:defRPr>
            </a:pPr>
            <a:r>
              <a:t>Secciones y contenidos de la unidad</a:t>
            </a:r>
          </a:p>
        </p:txBody>
      </p:sp>
      <p:sp>
        <p:nvSpPr>
          <p:cNvPr id="6" name="TextBox 5"/>
          <p:cNvSpPr txBox="1"/>
          <p:nvPr/>
        </p:nvSpPr>
        <p:spPr>
          <a:xfrm>
            <a:off x="685800" y="2362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4.1 · Planificación de un proyecto BPM</a:t>
            </a:r>
          </a:p>
        </p:txBody>
      </p:sp>
      <p:sp>
        <p:nvSpPr>
          <p:cNvPr id="7" name="TextBox 6"/>
          <p:cNvSpPr txBox="1"/>
          <p:nvPr/>
        </p:nvSpPr>
        <p:spPr>
          <a:xfrm>
            <a:off x="685800" y="3314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4.2 · Indicadores para evaluar la implementación</a:t>
            </a:r>
          </a:p>
        </p:txBody>
      </p:sp>
      <p:sp>
        <p:nvSpPr>
          <p:cNvPr id="8" name="TextBox 7"/>
          <p:cNvSpPr txBox="1"/>
          <p:nvPr/>
        </p:nvSpPr>
        <p:spPr>
          <a:xfrm>
            <a:off x="685800" y="4267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4.3 · Evaluación y selección de procesos a mejorar</a:t>
            </a:r>
          </a:p>
        </p:txBody>
      </p:sp>
      <p:sp>
        <p:nvSpPr>
          <p:cNvPr id="9" name="TextBox 8"/>
          <p:cNvSpPr txBox="1"/>
          <p:nvPr/>
        </p:nvSpPr>
        <p:spPr>
          <a:xfrm>
            <a:off x="685800" y="5219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4.4 · Estudio de caso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4.1</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Planificación de un proyecto BPM</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Planificar un proyecto BPM con alcance, entregables, responsabilidades, riesgos y</a:t>
            </a:r>
          </a:p>
          <a:p>
            <a:pPr>
              <a:lnSpc>
                <a:spcPts val="2640"/>
              </a:lnSpc>
              <a:spcBef>
                <a:spcPts val="0"/>
              </a:spcBef>
              <a:spcAft>
                <a:spcPts val="0"/>
              </a:spcAft>
              <a:defRPr sz="1920" b="0">
                <a:solidFill>
                  <a:srgbClr val="D6E4E8"/>
                </a:solidFill>
                <a:latin typeface="Noto Sans"/>
              </a:defRPr>
            </a:pPr>
            <a:r>
              <a:t>criterios de aceptación.</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Planificar un proyecto BPM con alcance, entregables, responsabilidades, riesgos</a:t>
            </a:r>
          </a:p>
          <a:p>
            <a:pPr>
              <a:lnSpc>
                <a:spcPts val="2820"/>
              </a:lnSpc>
              <a:spcBef>
                <a:spcPts val="0"/>
              </a:spcBef>
              <a:spcAft>
                <a:spcPts val="0"/>
              </a:spcAft>
              <a:defRPr sz="2039" b="1">
                <a:solidFill>
                  <a:srgbClr val="18394A"/>
                </a:solidFill>
                <a:latin typeface="Noto Sans"/>
              </a:defRPr>
            </a:pPr>
            <a:r>
              <a:t>y criterios de aceptación.</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46482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compromisos deben revisarse antes de aprobar el calendario del caso?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Alcance y justificación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proyecto BPM organiza una intervención temporal para mejorar un proceso con</a:t>
            </a:r>
          </a:p>
          <a:p>
            <a:pPr>
              <a:lnSpc>
                <a:spcPts val="2580"/>
              </a:lnSpc>
              <a:spcBef>
                <a:spcPts val="0"/>
              </a:spcBef>
              <a:spcAft>
                <a:spcPts val="0"/>
              </a:spcAft>
              <a:defRPr sz="1859" b="0">
                <a:solidFill>
                  <a:srgbClr val="18394A"/>
                </a:solidFill>
                <a:latin typeface="Noto Sans"/>
              </a:defRPr>
            </a:pPr>
            <a:r>
              <a:t>propósito definido. Explica el problema, quién recibe el resultado, qué se incluye y qué</a:t>
            </a:r>
          </a:p>
          <a:p>
            <a:pPr>
              <a:lnSpc>
                <a:spcPts val="2580"/>
              </a:lnSpc>
              <a:spcBef>
                <a:spcPts val="0"/>
              </a:spcBef>
              <a:spcAft>
                <a:spcPts val="0"/>
              </a:spcAft>
              <a:defRPr sz="1859" b="0">
                <a:solidFill>
                  <a:srgbClr val="18394A"/>
                </a:solidFill>
                <a:latin typeface="Noto Sans"/>
              </a:defRPr>
            </a:pPr>
            <a:r>
              <a:t>queda fuera. Relaciona los beneficios esperados con evidencia inicial y evita prometer una</a:t>
            </a:r>
          </a:p>
          <a:p>
            <a:pPr>
              <a:lnSpc>
                <a:spcPts val="2580"/>
              </a:lnSpc>
              <a:spcBef>
                <a:spcPts val="0"/>
              </a:spcBef>
              <a:spcAft>
                <a:spcPts val="0"/>
              </a:spcAft>
              <a:defRPr sz="1859" b="0">
                <a:solidFill>
                  <a:srgbClr val="18394A"/>
                </a:solidFill>
                <a:latin typeface="Noto Sans"/>
              </a:defRPr>
            </a:pPr>
            <a:r>
              <a:t>transformación total sin recursos. El responsable del proyecto y el dueño del proceso</a:t>
            </a:r>
          </a:p>
          <a:p>
            <a:pPr>
              <a:lnSpc>
                <a:spcPts val="2580"/>
              </a:lnSpc>
              <a:spcBef>
                <a:spcPts val="0"/>
              </a:spcBef>
              <a:spcAft>
                <a:spcPts val="0"/>
              </a:spcAft>
              <a:defRPr sz="1859" b="0">
                <a:solidFill>
                  <a:srgbClr val="18394A"/>
                </a:solidFill>
                <a:latin typeface="Noto Sans"/>
              </a:defRPr>
            </a:pPr>
            <a:r>
              <a:t>cumplen funciones relacionadas, pero distintas.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Entregables y responsabilidades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Descompón el trabajo en entregables verificables: alcance, modelo actual, diagnóstico,</a:t>
            </a:r>
          </a:p>
          <a:p>
            <a:pPr>
              <a:lnSpc>
                <a:spcPts val="2580"/>
              </a:lnSpc>
              <a:spcBef>
                <a:spcPts val="0"/>
              </a:spcBef>
              <a:spcAft>
                <a:spcPts val="0"/>
              </a:spcAft>
              <a:defRPr sz="1859" b="0">
                <a:solidFill>
                  <a:srgbClr val="18394A"/>
                </a:solidFill>
                <a:latin typeface="Noto Sans"/>
              </a:defRPr>
            </a:pPr>
            <a:r>
              <a:t>propuesta futura, piloto y seguimiento. Asigna responsable de ejecución y autoridad de</a:t>
            </a:r>
          </a:p>
          <a:p>
            <a:pPr>
              <a:lnSpc>
                <a:spcPts val="2580"/>
              </a:lnSpc>
              <a:spcBef>
                <a:spcPts val="0"/>
              </a:spcBef>
              <a:spcAft>
                <a:spcPts val="0"/>
              </a:spcAft>
              <a:defRPr sz="1859" b="0">
                <a:solidFill>
                  <a:srgbClr val="18394A"/>
                </a:solidFill>
                <a:latin typeface="Noto Sans"/>
              </a:defRPr>
            </a:pPr>
            <a:r>
              <a:t>aprobación. Un cronograma útil representa dependencias y disponibilidad de participantes.</a:t>
            </a:r>
          </a:p>
          <a:p>
            <a:pPr>
              <a:lnSpc>
                <a:spcPts val="2580"/>
              </a:lnSpc>
              <a:spcBef>
                <a:spcPts val="0"/>
              </a:spcBef>
              <a:spcAft>
                <a:spcPts val="0"/>
              </a:spcAft>
              <a:defRPr sz="1859" b="0">
                <a:solidFill>
                  <a:srgbClr val="18394A"/>
                </a:solidFill>
                <a:latin typeface="Noto Sans"/>
              </a:defRPr>
            </a:pPr>
            <a:r>
              <a:t>No programes una validación antes de disponer de evidencia suficiente ni supongas que</a:t>
            </a:r>
          </a:p>
          <a:p>
            <a:pPr>
              <a:lnSpc>
                <a:spcPts val="2580"/>
              </a:lnSpc>
              <a:spcBef>
                <a:spcPts val="0"/>
              </a:spcBef>
              <a:spcAft>
                <a:spcPts val="0"/>
              </a:spcAft>
              <a:defRPr sz="1859" b="0">
                <a:solidFill>
                  <a:srgbClr val="18394A"/>
                </a:solidFill>
                <a:latin typeface="Noto Sans"/>
              </a:defRPr>
            </a:pPr>
            <a:r>
              <a:t>todas las personas estarán disponibles a tiempo completo.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Justificar alcance</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Organizar</a:t>
            </a:r>
          </a:p>
          <a:p>
            <a:pPr>
              <a:lnSpc>
                <a:spcPts val="2220"/>
              </a:lnSpc>
              <a:spcBef>
                <a:spcPts val="0"/>
              </a:spcBef>
              <a:spcAft>
                <a:spcPts val="0"/>
              </a:spcAft>
              <a:defRPr sz="1620" b="1">
                <a:solidFill>
                  <a:srgbClr val="FFFFFF"/>
                </a:solidFill>
                <a:latin typeface="Noto Sans"/>
              </a:defRPr>
            </a:pPr>
            <a:r>
              <a:t>entregables</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Preparar piloto</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Transferir</a:t>
            </a:r>
          </a:p>
          <a:p>
            <a:pPr>
              <a:lnSpc>
                <a:spcPts val="2220"/>
              </a:lnSpc>
              <a:spcBef>
                <a:spcPts val="0"/>
              </a:spcBef>
              <a:spcAft>
                <a:spcPts val="0"/>
              </a:spcAft>
              <a:defRPr sz="1620" b="1">
                <a:solidFill>
                  <a:srgbClr val="FFFFFF"/>
                </a:solidFill>
                <a:latin typeface="Noto Sans"/>
              </a:defRPr>
            </a:pPr>
            <a:r>
              <a:t>seguimiento</a:t>
            </a:r>
          </a:p>
        </p:txBody>
      </p:sp>
      <p:sp>
        <p:nvSpPr>
          <p:cNvPr id="20" name="Rounded Rectangle 19"/>
          <p:cNvSpPr/>
          <p:nvPr/>
        </p:nvSpPr>
        <p:spPr>
          <a:xfrm>
            <a:off x="609600" y="3962399"/>
            <a:ext cx="10881360" cy="1905000"/>
          </a:xfrm>
          <a:prstGeom prst="roundRect">
            <a:avLst>
              <a:gd name="adj" fmla="val 719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295400"/>
          </a:xfrm>
          <a:prstGeom prst="rect">
            <a:avLst/>
          </a:prstGeom>
          <a:noFill/>
        </p:spPr>
        <p:txBody>
          <a:bodyPr wrap="none" lIns="0" tIns="0" rIns="0" bIns="0" anchor="t">
            <a:spAutoFit/>
          </a:bodyPr>
          <a:lstStyle/>
          <a:p>
            <a:pPr>
              <a:lnSpc>
                <a:spcPts val="2340"/>
              </a:lnSpc>
              <a:spcBef>
                <a:spcPts val="0"/>
              </a:spcBef>
              <a:spcAft>
                <a:spcPts val="0"/>
              </a:spcAft>
              <a:defRPr sz="1680" b="0">
                <a:solidFill>
                  <a:srgbClr val="536975"/>
                </a:solidFill>
                <a:latin typeface="Noto Sans"/>
              </a:defRPr>
            </a:pPr>
            <a:r>
              <a:t>La planificación conecta el problema con entregables, personas y decisiones. Un modelo actual validado</a:t>
            </a:r>
          </a:p>
          <a:p>
            <a:pPr>
              <a:lnSpc>
                <a:spcPts val="2340"/>
              </a:lnSpc>
              <a:spcBef>
                <a:spcPts val="0"/>
              </a:spcBef>
              <a:spcAft>
                <a:spcPts val="0"/>
              </a:spcAft>
              <a:defRPr sz="1680" b="0">
                <a:solidFill>
                  <a:srgbClr val="536975"/>
                </a:solidFill>
                <a:latin typeface="Noto Sans"/>
              </a:defRPr>
            </a:pPr>
            <a:r>
              <a:t>debe preceder al diagnóstico y a la selección del cambio. El piloto necesita preparación operacional y</a:t>
            </a:r>
          </a:p>
          <a:p>
            <a:pPr>
              <a:lnSpc>
                <a:spcPts val="2340"/>
              </a:lnSpc>
              <a:spcBef>
                <a:spcPts val="0"/>
              </a:spcBef>
              <a:spcAft>
                <a:spcPts val="0"/>
              </a:spcAft>
              <a:defRPr sz="1680" b="0">
                <a:solidFill>
                  <a:srgbClr val="536975"/>
                </a:solidFill>
                <a:latin typeface="Noto Sans"/>
              </a:defRPr>
            </a:pPr>
            <a:r>
              <a:t>condiciones de aceptación. Al concluir, la responsabilidad de seguimiento se transfiere de manera</a:t>
            </a:r>
          </a:p>
          <a:p>
            <a:pPr>
              <a:lnSpc>
                <a:spcPts val="2340"/>
              </a:lnSpc>
              <a:spcBef>
                <a:spcPts val="0"/>
              </a:spcBef>
              <a:spcAft>
                <a:spcPts val="0"/>
              </a:spcAft>
              <a:defRPr sz="1680" b="0">
                <a:solidFill>
                  <a:srgbClr val="536975"/>
                </a:solidFill>
                <a:latin typeface="Noto Sans"/>
              </a:defRPr>
            </a:pPr>
            <a:r>
              <a:t>explícita para que la mejora no dependa de mantener abierto el proyecto indefinidamente.</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una empresa propone mejorar soporte en cuatro semanas, pero el analista solo puede</a:t>
            </a:r>
          </a:p>
          <a:p>
            <a:pPr>
              <a:lnSpc>
                <a:spcPts val="2400"/>
              </a:lnSpc>
              <a:spcBef>
                <a:spcPts val="0"/>
              </a:spcBef>
              <a:spcAft>
                <a:spcPts val="0"/>
              </a:spcAft>
              <a:defRPr sz="1739" b="0">
                <a:solidFill>
                  <a:srgbClr val="18394A"/>
                </a:solidFill>
                <a:latin typeface="Noto Sans"/>
              </a:defRPr>
            </a:pPr>
            <a:r>
              <a:t>participar dos días por semana y los datos no están consolidados. El plan debe ajustar alcance o</a:t>
            </a:r>
          </a:p>
          <a:p>
            <a:pPr>
              <a:lnSpc>
                <a:spcPts val="2400"/>
              </a:lnSpc>
              <a:spcBef>
                <a:spcPts val="0"/>
              </a:spcBef>
              <a:spcAft>
                <a:spcPts val="0"/>
              </a:spcAft>
              <a:defRPr sz="1739" b="0">
                <a:solidFill>
                  <a:srgbClr val="18394A"/>
                </a:solidFill>
                <a:latin typeface="Noto Sans"/>
              </a:defRPr>
            </a:pPr>
            <a:r>
              <a:t>plazo, asignar acceso a registros y programar validación con atención al cliente. Comprar una</a:t>
            </a:r>
          </a:p>
          <a:p>
            <a:pPr>
              <a:lnSpc>
                <a:spcPts val="2400"/>
              </a:lnSpc>
              <a:spcBef>
                <a:spcPts val="0"/>
              </a:spcBef>
              <a:spcAft>
                <a:spcPts val="0"/>
              </a:spcAft>
              <a:defRPr sz="1739" b="0">
                <a:solidFill>
                  <a:srgbClr val="18394A"/>
                </a:solidFill>
                <a:latin typeface="Noto Sans"/>
              </a:defRPr>
            </a:pPr>
            <a:r>
              <a:t>herramienta en la primera semana no sustituye el diagnóstico. El piloto necesita responsables de</a:t>
            </a:r>
          </a:p>
          <a:p>
            <a:pPr>
              <a:lnSpc>
                <a:spcPts val="2400"/>
              </a:lnSpc>
              <a:spcBef>
                <a:spcPts val="0"/>
              </a:spcBef>
              <a:spcAft>
                <a:spcPts val="0"/>
              </a:spcAft>
              <a:defRPr sz="1739" b="0">
                <a:solidFill>
                  <a:srgbClr val="18394A"/>
                </a:solidFill>
                <a:latin typeface="Noto Sans"/>
              </a:defRPr>
            </a:pPr>
            <a:r>
              <a:t>incidentes y una decisión de continuidad.</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compromisos deben revisarse antes de aprobar el calendario del caso?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Riesgos y cambio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Identifica riesgos de datos insuficientes, resistencia, dependencia técnica o interrupción de</a:t>
            </a:r>
          </a:p>
          <a:p>
            <a:pPr>
              <a:lnSpc>
                <a:spcPts val="2580"/>
              </a:lnSpc>
              <a:spcBef>
                <a:spcPts val="0"/>
              </a:spcBef>
              <a:spcAft>
                <a:spcPts val="0"/>
              </a:spcAft>
              <a:defRPr sz="1859" b="0">
                <a:solidFill>
                  <a:srgbClr val="18394A"/>
                </a:solidFill>
                <a:latin typeface="Noto Sans"/>
              </a:defRPr>
            </a:pPr>
            <a:r>
              <a:t>operación. Define señales tempranas, responsables y respuestas. El cambio necesita</a:t>
            </a:r>
          </a:p>
          <a:p>
            <a:pPr>
              <a:lnSpc>
                <a:spcPts val="2580"/>
              </a:lnSpc>
              <a:spcBef>
                <a:spcPts val="0"/>
              </a:spcBef>
              <a:spcAft>
                <a:spcPts val="0"/>
              </a:spcAft>
              <a:defRPr sz="1859" b="0">
                <a:solidFill>
                  <a:srgbClr val="18394A"/>
                </a:solidFill>
                <a:latin typeface="Noto Sans"/>
              </a:defRPr>
            </a:pPr>
            <a:r>
              <a:t>comunicación sobre qué se modificará, formación para quienes ejecutan el proceso y un</a:t>
            </a:r>
          </a:p>
          <a:p>
            <a:pPr>
              <a:lnSpc>
                <a:spcPts val="2580"/>
              </a:lnSpc>
              <a:spcBef>
                <a:spcPts val="0"/>
              </a:spcBef>
              <a:spcAft>
                <a:spcPts val="0"/>
              </a:spcAft>
              <a:defRPr sz="1859" b="0">
                <a:solidFill>
                  <a:srgbClr val="18394A"/>
                </a:solidFill>
                <a:latin typeface="Noto Sans"/>
              </a:defRPr>
            </a:pPr>
            <a:r>
              <a:t>canal para reportar excepciones. Considera pruebas y transición para no usar a los clientes</a:t>
            </a:r>
          </a:p>
          <a:p>
            <a:pPr>
              <a:lnSpc>
                <a:spcPts val="2580"/>
              </a:lnSpc>
              <a:spcBef>
                <a:spcPts val="0"/>
              </a:spcBef>
              <a:spcAft>
                <a:spcPts val="0"/>
              </a:spcAft>
              <a:defRPr sz="1859" b="0">
                <a:solidFill>
                  <a:srgbClr val="18394A"/>
                </a:solidFill>
                <a:latin typeface="Noto Sans"/>
              </a:defRPr>
            </a:pPr>
            <a:r>
              <a:t>como validadores involuntarios de una solución todavía no comprobada.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Aceptación y continuidad</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Define criterios observables para aceptar cada entregable y decidir si ampliar el piloto.</a:t>
            </a:r>
          </a:p>
          <a:p>
            <a:pPr>
              <a:lnSpc>
                <a:spcPts val="2580"/>
              </a:lnSpc>
              <a:spcBef>
                <a:spcPts val="0"/>
              </a:spcBef>
              <a:spcAft>
                <a:spcPts val="0"/>
              </a:spcAft>
              <a:defRPr sz="1859" b="0">
                <a:solidFill>
                  <a:srgbClr val="18394A"/>
                </a:solidFill>
                <a:latin typeface="Noto Sans"/>
              </a:defRPr>
            </a:pPr>
            <a:r>
              <a:t>Prevé soporte y transferencia al responsable de la operación. El cierre del proyecto debe</a:t>
            </a:r>
          </a:p>
          <a:p>
            <a:pPr>
              <a:lnSpc>
                <a:spcPts val="2580"/>
              </a:lnSpc>
              <a:spcBef>
                <a:spcPts val="0"/>
              </a:spcBef>
              <a:spcAft>
                <a:spcPts val="0"/>
              </a:spcAft>
              <a:defRPr sz="1859" b="0">
                <a:solidFill>
                  <a:srgbClr val="18394A"/>
                </a:solidFill>
                <a:latin typeface="Noto Sans"/>
              </a:defRPr>
            </a:pPr>
            <a:r>
              <a:t>conservar modelos, decisiones, indicadores y aprendizajes. La mejora del proceso continúa</a:t>
            </a:r>
          </a:p>
          <a:p>
            <a:pPr>
              <a:lnSpc>
                <a:spcPts val="2580"/>
              </a:lnSpc>
              <a:spcBef>
                <a:spcPts val="0"/>
              </a:spcBef>
              <a:spcAft>
                <a:spcPts val="0"/>
              </a:spcAft>
              <a:defRPr sz="1859" b="0">
                <a:solidFill>
                  <a:srgbClr val="18394A"/>
                </a:solidFill>
                <a:latin typeface="Noto Sans"/>
              </a:defRPr>
            </a:pPr>
            <a:r>
              <a:t>después del cierre administrativo; necesita una revisión programada y capacidad de actuar</a:t>
            </a:r>
          </a:p>
          <a:p>
            <a:pPr>
              <a:lnSpc>
                <a:spcPts val="2580"/>
              </a:lnSpc>
              <a:spcBef>
                <a:spcPts val="0"/>
              </a:spcBef>
              <a:spcAft>
                <a:spcPts val="0"/>
              </a:spcAft>
              <a:defRPr sz="1859" b="0">
                <a:solidFill>
                  <a:srgbClr val="18394A"/>
                </a:solidFill>
                <a:latin typeface="Noto Sans"/>
              </a:defRPr>
            </a:pPr>
            <a:r>
              <a:t>cuando el resultado se aleja del propósito.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Redacta una ficha de proyecto con problema, alcance, exclusiones y beneficio esperado.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Construye entregables, dependencias y responsables para un calendario realista.</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Elabora tres riesgos con señal temprana, responsable y respuesta.</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aceptación del piloto y transferencia al responsable del proceso.</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PND_U4 · Sección 4.1 · Planificación de un proyecto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4.1</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Planifica alcance y capacidad reales.</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Organiza entregables con aceptación y riesgos.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Transfiere la mejora a la operación.</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Jeston y Nelis (2014), Business Process Management:</a:t>
            </a:r>
          </a:p>
          <a:p>
            <a:pPr>
              <a:lnSpc>
                <a:spcPts val="1920"/>
              </a:lnSpc>
              <a:spcBef>
                <a:spcPts val="0"/>
              </a:spcBef>
              <a:spcAft>
                <a:spcPts val="0"/>
              </a:spcAft>
              <a:defRPr sz="1380" b="0">
                <a:solidFill>
                  <a:srgbClr val="D6E4E8"/>
                </a:solidFill>
                <a:latin typeface="Noto Sans"/>
              </a:defRPr>
            </a:pPr>
            <a:r>
              <a:t>Practical Guidelines to Successful Implementations. Dumas et al. (2018), Fundamentals of Business Process Management.</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4.2</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Indicadores para evaluar la</a:t>
            </a:r>
          </a:p>
          <a:p>
            <a:pPr>
              <a:lnSpc>
                <a:spcPts val="5280"/>
              </a:lnSpc>
              <a:spcBef>
                <a:spcPts val="0"/>
              </a:spcBef>
              <a:spcAft>
                <a:spcPts val="0"/>
              </a:spcAft>
              <a:defRPr sz="3840" b="1">
                <a:solidFill>
                  <a:srgbClr val="FFFFFF"/>
                </a:solidFill>
                <a:latin typeface="Noto Sans"/>
              </a:defRPr>
            </a:pPr>
            <a:r>
              <a:t>implementación</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Definir KPI de implementación con fórmulas, poblaciones y acciones de revisión que</a:t>
            </a:r>
          </a:p>
          <a:p>
            <a:pPr>
              <a:lnSpc>
                <a:spcPts val="2640"/>
              </a:lnSpc>
              <a:spcBef>
                <a:spcPts val="0"/>
              </a:spcBef>
              <a:spcAft>
                <a:spcPts val="0"/>
              </a:spcAft>
              <a:defRPr sz="1920" b="0">
                <a:solidFill>
                  <a:srgbClr val="D6E4E8"/>
                </a:solidFill>
                <a:latin typeface="Noto Sans"/>
              </a:defRPr>
            </a:pPr>
            <a:r>
              <a:t>permitan interpretar el desempeño.</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Definir KPI de implementación con fórmulas, poblaciones y acciones de revisión</a:t>
            </a:r>
          </a:p>
          <a:p>
            <a:pPr>
              <a:lnSpc>
                <a:spcPts val="2820"/>
              </a:lnSpc>
              <a:spcBef>
                <a:spcPts val="0"/>
              </a:spcBef>
              <a:spcAft>
                <a:spcPts val="0"/>
              </a:spcAft>
              <a:defRPr sz="2039" b="1">
                <a:solidFill>
                  <a:srgbClr val="18394A"/>
                </a:solidFill>
                <a:latin typeface="Noto Sans"/>
              </a:defRPr>
            </a:pPr>
            <a:r>
              <a:t>que permitan interpretar el desempeño.</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fórmulas corresponden a los dos indicadores y cómo tratarías los casos todavía</a:t>
            </a:r>
          </a:p>
          <a:p>
            <a:pPr>
              <a:lnSpc>
                <a:spcPts val="2820"/>
              </a:lnSpc>
              <a:spcBef>
                <a:spcPts val="0"/>
              </a:spcBef>
              <a:spcAft>
                <a:spcPts val="0"/>
              </a:spcAft>
              <a:defRPr sz="2039" b="0">
                <a:solidFill>
                  <a:srgbClr val="18394A"/>
                </a:solidFill>
                <a:latin typeface="Noto Sans"/>
              </a:defRPr>
            </a:pPr>
            <a:r>
              <a:t>no evaluables?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Indicador y objetivo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indicador expresa una medida definida; un KPI se selecciona por su relación con un</a:t>
            </a:r>
          </a:p>
          <a:p>
            <a:pPr>
              <a:lnSpc>
                <a:spcPts val="2580"/>
              </a:lnSpc>
              <a:spcBef>
                <a:spcPts val="0"/>
              </a:spcBef>
              <a:spcAft>
                <a:spcPts val="0"/>
              </a:spcAft>
              <a:defRPr sz="1859" b="0">
                <a:solidFill>
                  <a:srgbClr val="18394A"/>
                </a:solidFill>
                <a:latin typeface="Noto Sans"/>
              </a:defRPr>
            </a:pPr>
            <a:r>
              <a:t>objetivo relevante. No toda cifra disponible es un indicador clave. Define qué decisión</a:t>
            </a:r>
          </a:p>
          <a:p>
            <a:pPr>
              <a:lnSpc>
                <a:spcPts val="2580"/>
              </a:lnSpc>
              <a:spcBef>
                <a:spcPts val="0"/>
              </a:spcBef>
              <a:spcAft>
                <a:spcPts val="0"/>
              </a:spcAft>
              <a:defRPr sz="1859" b="0">
                <a:solidFill>
                  <a:srgbClr val="18394A"/>
                </a:solidFill>
                <a:latin typeface="Noto Sans"/>
              </a:defRPr>
            </a:pPr>
            <a:r>
              <a:t>apoyará y qué resultado representa. Medir cantidad de sesiones de capacitación puede</a:t>
            </a:r>
          </a:p>
          <a:p>
            <a:pPr>
              <a:lnSpc>
                <a:spcPts val="2580"/>
              </a:lnSpc>
              <a:spcBef>
                <a:spcPts val="0"/>
              </a:spcBef>
              <a:spcAft>
                <a:spcPts val="0"/>
              </a:spcAft>
              <a:defRPr sz="1859" b="0">
                <a:solidFill>
                  <a:srgbClr val="18394A"/>
                </a:solidFill>
                <a:latin typeface="Noto Sans"/>
              </a:defRPr>
            </a:pPr>
            <a:r>
              <a:t>informar una actividad de implementación, pero no demuestra por sí solo que mejoró el</a:t>
            </a:r>
          </a:p>
          <a:p>
            <a:pPr>
              <a:lnSpc>
                <a:spcPts val="2580"/>
              </a:lnSpc>
              <a:spcBef>
                <a:spcPts val="0"/>
              </a:spcBef>
              <a:spcAft>
                <a:spcPts val="0"/>
              </a:spcAft>
              <a:defRPr sz="1859" b="0">
                <a:solidFill>
                  <a:srgbClr val="18394A"/>
                </a:solidFill>
                <a:latin typeface="Noto Sans"/>
              </a:defRPr>
            </a:pPr>
            <a:r>
              <a:t>tiempo o la calidad del proceso.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Ficha de definición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Documenta nombre, propósito, fórmula, unidad, población, período, fuente, responsable y</a:t>
            </a:r>
          </a:p>
          <a:p>
            <a:pPr>
              <a:lnSpc>
                <a:spcPts val="2580"/>
              </a:lnSpc>
              <a:spcBef>
                <a:spcPts val="0"/>
              </a:spcBef>
              <a:spcAft>
                <a:spcPts val="0"/>
              </a:spcAft>
              <a:defRPr sz="1859" b="0">
                <a:solidFill>
                  <a:srgbClr val="18394A"/>
                </a:solidFill>
                <a:latin typeface="Noto Sans"/>
              </a:defRPr>
            </a:pPr>
            <a:r>
              <a:t>frecuencia. Si mides tiempo, especifica eventos de inicio y fin y el calendario utilizado. Si</a:t>
            </a:r>
          </a:p>
          <a:p>
            <a:pPr>
              <a:lnSpc>
                <a:spcPts val="2580"/>
              </a:lnSpc>
              <a:spcBef>
                <a:spcPts val="0"/>
              </a:spcBef>
              <a:spcAft>
                <a:spcPts val="0"/>
              </a:spcAft>
              <a:defRPr sz="1859" b="0">
                <a:solidFill>
                  <a:srgbClr val="18394A"/>
                </a:solidFill>
                <a:latin typeface="Noto Sans"/>
              </a:defRPr>
            </a:pPr>
            <a:r>
              <a:t>mides una tasa, aclara numerador, denominador y exclusiones. Definiciones estables</a:t>
            </a:r>
          </a:p>
          <a:p>
            <a:pPr>
              <a:lnSpc>
                <a:spcPts val="2580"/>
              </a:lnSpc>
              <a:spcBef>
                <a:spcPts val="0"/>
              </a:spcBef>
              <a:spcAft>
                <a:spcPts val="0"/>
              </a:spcAft>
              <a:defRPr sz="1859" b="0">
                <a:solidFill>
                  <a:srgbClr val="18394A"/>
                </a:solidFill>
                <a:latin typeface="Noto Sans"/>
              </a:defRPr>
            </a:pPr>
            <a:r>
              <a:t>permiten comparar períodos y evitan que dos equipos reporten cifras distintas usando el</a:t>
            </a:r>
          </a:p>
          <a:p>
            <a:pPr>
              <a:lnSpc>
                <a:spcPts val="2580"/>
              </a:lnSpc>
              <a:spcBef>
                <a:spcPts val="0"/>
              </a:spcBef>
              <a:spcAft>
                <a:spcPts val="0"/>
              </a:spcAft>
              <a:defRPr sz="1859" b="0">
                <a:solidFill>
                  <a:srgbClr val="18394A"/>
                </a:solidFill>
                <a:latin typeface="Noto Sans"/>
              </a:defRPr>
            </a:pPr>
            <a:r>
              <a:t>mismo nombre de indicador.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Elegir objetivo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fórmula</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Validar datos</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Decidir acción</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El objetivo orienta qué resultado debe medirse. La ficha convierte la intención en una fórmula</a:t>
            </a:r>
          </a:p>
          <a:p>
            <a:pPr>
              <a:lnSpc>
                <a:spcPts val="2400"/>
              </a:lnSpc>
              <a:spcBef>
                <a:spcPts val="0"/>
              </a:spcBef>
              <a:spcAft>
                <a:spcPts val="0"/>
              </a:spcAft>
              <a:defRPr sz="1739" b="0">
                <a:solidFill>
                  <a:srgbClr val="536975"/>
                </a:solidFill>
                <a:latin typeface="Noto Sans"/>
              </a:defRPr>
            </a:pPr>
            <a:r>
              <a:t>reproducible. La revisión de datos comprueba que los casos están correctamente incluidos.</a:t>
            </a:r>
          </a:p>
          <a:p>
            <a:pPr>
              <a:lnSpc>
                <a:spcPts val="2400"/>
              </a:lnSpc>
              <a:spcBef>
                <a:spcPts val="0"/>
              </a:spcBef>
              <a:spcAft>
                <a:spcPts val="0"/>
              </a:spcAft>
              <a:defRPr sz="1739" b="0">
                <a:solidFill>
                  <a:srgbClr val="536975"/>
                </a:solidFill>
                <a:latin typeface="Noto Sans"/>
              </a:defRPr>
            </a:pPr>
            <a:r>
              <a:t>Finalmente, el resultado se interpreta con su contexto y genera una decisión; un tablero sin</a:t>
            </a:r>
          </a:p>
          <a:p>
            <a:pPr>
              <a:lnSpc>
                <a:spcPts val="2400"/>
              </a:lnSpc>
              <a:spcBef>
                <a:spcPts val="0"/>
              </a:spcBef>
              <a:spcAft>
                <a:spcPts val="0"/>
              </a:spcAft>
              <a:defRPr sz="1739" b="0">
                <a:solidFill>
                  <a:srgbClr val="536975"/>
                </a:solidFill>
                <a:latin typeface="Noto Sans"/>
              </a:defRPr>
            </a:pPr>
            <a:r>
              <a:t>responsables ni respuesta ante desviaciones no completa la función de gestión.</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Ejemplo hipotético: de veinte solicitudes cuyo plazo de respuesta ya es evaluable, dieciocho</a:t>
            </a:r>
          </a:p>
          <a:p>
            <a:pPr>
              <a:lnSpc>
                <a:spcPts val="2400"/>
              </a:lnSpc>
              <a:spcBef>
                <a:spcPts val="0"/>
              </a:spcBef>
              <a:spcAft>
                <a:spcPts val="0"/>
              </a:spcAft>
              <a:defRPr sz="1739" b="0">
                <a:solidFill>
                  <a:srgbClr val="18394A"/>
                </a:solidFill>
                <a:latin typeface="Noto Sans"/>
              </a:defRPr>
            </a:pPr>
            <a:r>
              <a:t>recibieron respuesta útil dentro de cuarenta y ocho horas. El cumplimiento es 90 %. Otras dos</a:t>
            </a:r>
          </a:p>
          <a:p>
            <a:pPr>
              <a:lnSpc>
                <a:spcPts val="2400"/>
              </a:lnSpc>
              <a:spcBef>
                <a:spcPts val="0"/>
              </a:spcBef>
              <a:spcAft>
                <a:spcPts val="0"/>
              </a:spcAft>
              <a:defRPr sz="1739" b="0">
                <a:solidFill>
                  <a:srgbClr val="18394A"/>
                </a:solidFill>
                <a:latin typeface="Noto Sans"/>
              </a:defRPr>
            </a:pPr>
            <a:r>
              <a:t>solicitudes recién abiertas aún no tienen el plazo vencido y no deben mezclarse sin una regla</a:t>
            </a:r>
          </a:p>
          <a:p>
            <a:pPr>
              <a:lnSpc>
                <a:spcPts val="2400"/>
              </a:lnSpc>
              <a:spcBef>
                <a:spcPts val="0"/>
              </a:spcBef>
              <a:spcAft>
                <a:spcPts val="0"/>
              </a:spcAft>
              <a:defRPr sz="1739" b="0">
                <a:solidFill>
                  <a:srgbClr val="18394A"/>
                </a:solidFill>
                <a:latin typeface="Noto Sans"/>
              </a:defRPr>
            </a:pPr>
            <a:r>
              <a:t>explícita. En otro grupo de cincuenta casos completados, cuatro requieren corrección: la tasa de</a:t>
            </a:r>
          </a:p>
          <a:p>
            <a:pPr>
              <a:lnSpc>
                <a:spcPts val="2400"/>
              </a:lnSpc>
              <a:spcBef>
                <a:spcPts val="0"/>
              </a:spcBef>
              <a:spcAft>
                <a:spcPts val="0"/>
              </a:spcAft>
              <a:defRPr sz="1739" b="0">
                <a:solidFill>
                  <a:srgbClr val="18394A"/>
                </a:solidFill>
                <a:latin typeface="Noto Sans"/>
              </a:defRPr>
            </a:pPr>
            <a:r>
              <a:t>corrección es 8 %, una dimensión distinta de calidad.</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fórmulas corresponden a los dos indicadores y cómo tratarías los casos todavía no evaluables?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Calidad y equilibrio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Comprueba integridad, duplicados y casos abiertos antes de calcular. Distingue promedio</a:t>
            </a:r>
          </a:p>
          <a:p>
            <a:pPr>
              <a:lnSpc>
                <a:spcPts val="2580"/>
              </a:lnSpc>
              <a:spcBef>
                <a:spcPts val="0"/>
              </a:spcBef>
              <a:spcAft>
                <a:spcPts val="0"/>
              </a:spcAft>
              <a:defRPr sz="1859" b="0">
                <a:solidFill>
                  <a:srgbClr val="18394A"/>
                </a:solidFill>
                <a:latin typeface="Noto Sans"/>
              </a:defRPr>
            </a:pPr>
            <a:r>
              <a:t>de distribución y acompaña la velocidad con calidad, carga o satisfacción cuando</a:t>
            </a:r>
          </a:p>
          <a:p>
            <a:pPr>
              <a:lnSpc>
                <a:spcPts val="2580"/>
              </a:lnSpc>
              <a:spcBef>
                <a:spcPts val="0"/>
              </a:spcBef>
              <a:spcAft>
                <a:spcPts val="0"/>
              </a:spcAft>
              <a:defRPr sz="1859" b="0">
                <a:solidFill>
                  <a:srgbClr val="18394A"/>
                </a:solidFill>
                <a:latin typeface="Noto Sans"/>
              </a:defRPr>
            </a:pPr>
            <a:r>
              <a:t>corresponda. Un indicador puede incentivar comportamientos no deseados si se premia</a:t>
            </a:r>
          </a:p>
          <a:p>
            <a:pPr>
              <a:lnSpc>
                <a:spcPts val="2580"/>
              </a:lnSpc>
              <a:spcBef>
                <a:spcPts val="0"/>
              </a:spcBef>
              <a:spcAft>
                <a:spcPts val="0"/>
              </a:spcAft>
              <a:defRPr sz="1859" b="0">
                <a:solidFill>
                  <a:srgbClr val="18394A"/>
                </a:solidFill>
                <a:latin typeface="Noto Sans"/>
              </a:defRPr>
            </a:pPr>
            <a:r>
              <a:t>solo su número. Por ejemplo, cerrar solicitudes sin resolverlas reduce una medida aparente</a:t>
            </a:r>
          </a:p>
          <a:p>
            <a:pPr>
              <a:lnSpc>
                <a:spcPts val="2580"/>
              </a:lnSpc>
              <a:spcBef>
                <a:spcPts val="0"/>
              </a:spcBef>
              <a:spcAft>
                <a:spcPts val="0"/>
              </a:spcAft>
              <a:defRPr sz="1859" b="0">
                <a:solidFill>
                  <a:srgbClr val="18394A"/>
                </a:solidFill>
                <a:latin typeface="Noto Sans"/>
              </a:defRPr>
            </a:pPr>
            <a:r>
              <a:t>de tiempo, pero deteriora el servicio y aumenta reaperturas.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Interpretación y respuesta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Relaciona resultados con meta, línea base y condiciones observadas. Define umbrales y qué</a:t>
            </a:r>
          </a:p>
          <a:p>
            <a:pPr>
              <a:lnSpc>
                <a:spcPts val="2580"/>
              </a:lnSpc>
              <a:spcBef>
                <a:spcPts val="0"/>
              </a:spcBef>
              <a:spcAft>
                <a:spcPts val="0"/>
              </a:spcAft>
              <a:defRPr sz="1859" b="0">
                <a:solidFill>
                  <a:srgbClr val="18394A"/>
                </a:solidFill>
                <a:latin typeface="Noto Sans"/>
              </a:defRPr>
            </a:pPr>
            <a:r>
              <a:t>acción se tomará ante desviaciones. No inventes metas universales: deben responder al</a:t>
            </a:r>
          </a:p>
          <a:p>
            <a:pPr>
              <a:lnSpc>
                <a:spcPts val="2580"/>
              </a:lnSpc>
              <a:spcBef>
                <a:spcPts val="0"/>
              </a:spcBef>
              <a:spcAft>
                <a:spcPts val="0"/>
              </a:spcAft>
              <a:defRPr sz="1859" b="0">
                <a:solidFill>
                  <a:srgbClr val="18394A"/>
                </a:solidFill>
                <a:latin typeface="Noto Sans"/>
              </a:defRPr>
            </a:pPr>
            <a:r>
              <a:t>contexto y compromisos de la organización. La mejora temporal de una cifra no demuestra</a:t>
            </a:r>
          </a:p>
          <a:p>
            <a:pPr>
              <a:lnSpc>
                <a:spcPts val="2580"/>
              </a:lnSpc>
              <a:spcBef>
                <a:spcPts val="0"/>
              </a:spcBef>
              <a:spcAft>
                <a:spcPts val="0"/>
              </a:spcAft>
              <a:defRPr sz="1859" b="0">
                <a:solidFill>
                  <a:srgbClr val="18394A"/>
                </a:solidFill>
                <a:latin typeface="Noto Sans"/>
              </a:defRPr>
            </a:pPr>
            <a:r>
              <a:t>causalidad por sí sola; conserva evidencia sobre cambios de demanda, mezcla de casos y</a:t>
            </a:r>
          </a:p>
          <a:p>
            <a:pPr>
              <a:lnSpc>
                <a:spcPts val="2580"/>
              </a:lnSpc>
              <a:spcBef>
                <a:spcPts val="0"/>
              </a:spcBef>
              <a:spcAft>
                <a:spcPts val="0"/>
              </a:spcAft>
              <a:defRPr sz="1859" b="0">
                <a:solidFill>
                  <a:srgbClr val="18394A"/>
                </a:solidFill>
                <a:latin typeface="Noto Sans"/>
              </a:defRPr>
            </a:pPr>
            <a:r>
              <a:t>modificaciones en la forma de registrar.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Elabora fichas de un KPI de tiempo y otro de calidad con todos sus campos.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Calcula cumplimiento y corrección con los denominadores del ejemplo.</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reglas para casos abiertos, duplicados y eventos faltantes.</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meta contextual, frecuencia, responsable y respuesta ante desviación.</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PND_U4 · Sección 4.2 · Indicadores para evaluar la implementación">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Selecciona indicadores ligados a decisiones.</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Define fórmulas, cohortes y calidad de datos.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Interpreta y actúa con medidas equilibradas.</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Weske (2012), Business Process Management: Concepts, Languages, Architectures.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4.3</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Evaluación y selección de procesos a</a:t>
            </a:r>
          </a:p>
          <a:p>
            <a:pPr>
              <a:lnSpc>
                <a:spcPts val="5280"/>
              </a:lnSpc>
              <a:spcBef>
                <a:spcPts val="0"/>
              </a:spcBef>
              <a:spcAft>
                <a:spcPts val="0"/>
              </a:spcAft>
              <a:defRPr sz="3840" b="1">
                <a:solidFill>
                  <a:srgbClr val="FFFFFF"/>
                </a:solidFill>
                <a:latin typeface="Noto Sans"/>
              </a:defRPr>
            </a:pPr>
            <a:r>
              <a:t>mejorar</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Priorizar procesos de mejora usando criterios explícitos, evidencia y restricciones que</a:t>
            </a:r>
          </a:p>
          <a:p>
            <a:pPr>
              <a:lnSpc>
                <a:spcPts val="2640"/>
              </a:lnSpc>
              <a:spcBef>
                <a:spcPts val="0"/>
              </a:spcBef>
              <a:spcAft>
                <a:spcPts val="0"/>
              </a:spcAft>
              <a:defRPr sz="1920" b="0">
                <a:solidFill>
                  <a:srgbClr val="D6E4E8"/>
                </a:solidFill>
                <a:latin typeface="Noto Sans"/>
              </a:defRPr>
            </a:pPr>
            <a:r>
              <a:t>permitan justificar la selección.</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Priorizar procesos de mejora usando criterios explícitos, evidencia y</a:t>
            </a:r>
          </a:p>
          <a:p>
            <a:pPr>
              <a:lnSpc>
                <a:spcPts val="2820"/>
              </a:lnSpc>
              <a:spcBef>
                <a:spcPts val="0"/>
              </a:spcBef>
              <a:spcAft>
                <a:spcPts val="0"/>
              </a:spcAft>
              <a:defRPr sz="2039" b="1">
                <a:solidFill>
                  <a:srgbClr val="18394A"/>
                </a:solidFill>
                <a:latin typeface="Noto Sans"/>
              </a:defRPr>
            </a:pPr>
            <a:r>
              <a:t>restricciones que permitan justificar la selección.</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46482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¿Cómo se calculan las dos puntuaciones y qué no debe concluirse solo a partir de ellas?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Seleccionar antes de intervenir</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organización suele tener más oportunidades de mejora que capacidad para abordarlas.</a:t>
            </a:r>
          </a:p>
          <a:p>
            <a:pPr>
              <a:lnSpc>
                <a:spcPts val="2580"/>
              </a:lnSpc>
              <a:spcBef>
                <a:spcPts val="0"/>
              </a:spcBef>
              <a:spcAft>
                <a:spcPts val="0"/>
              </a:spcAft>
              <a:defRPr sz="1859" b="0">
                <a:solidFill>
                  <a:srgbClr val="18394A"/>
                </a:solidFill>
                <a:latin typeface="Noto Sans"/>
              </a:defRPr>
            </a:pPr>
            <a:r>
              <a:t>La evaluación de procesos compara problemas e impacto con recursos, datos y disposición</a:t>
            </a:r>
          </a:p>
          <a:p>
            <a:pPr>
              <a:lnSpc>
                <a:spcPts val="2580"/>
              </a:lnSpc>
              <a:spcBef>
                <a:spcPts val="0"/>
              </a:spcBef>
              <a:spcAft>
                <a:spcPts val="0"/>
              </a:spcAft>
              <a:defRPr sz="1859" b="0">
                <a:solidFill>
                  <a:srgbClr val="18394A"/>
                </a:solidFill>
                <a:latin typeface="Noto Sans"/>
              </a:defRPr>
            </a:pPr>
            <a:r>
              <a:t>al cambio. Distingue obligaciones que requieren atención de iniciativas opcionales. Un</a:t>
            </a:r>
          </a:p>
          <a:p>
            <a:pPr>
              <a:lnSpc>
                <a:spcPts val="2580"/>
              </a:lnSpc>
              <a:spcBef>
                <a:spcPts val="0"/>
              </a:spcBef>
              <a:spcAft>
                <a:spcPts val="0"/>
              </a:spcAft>
              <a:defRPr sz="1859" b="0">
                <a:solidFill>
                  <a:srgbClr val="18394A"/>
                </a:solidFill>
                <a:latin typeface="Noto Sans"/>
              </a:defRPr>
            </a:pPr>
            <a:r>
              <a:t>proceso visible o popular no es necesariamente el que tiene mayor efecto sobre el cliente o</a:t>
            </a:r>
          </a:p>
          <a:p>
            <a:pPr>
              <a:lnSpc>
                <a:spcPts val="2580"/>
              </a:lnSpc>
              <a:spcBef>
                <a:spcPts val="0"/>
              </a:spcBef>
              <a:spcAft>
                <a:spcPts val="0"/>
              </a:spcAft>
              <a:defRPr sz="1859" b="0">
                <a:solidFill>
                  <a:srgbClr val="18394A"/>
                </a:solidFill>
                <a:latin typeface="Noto Sans"/>
              </a:defRPr>
            </a:pPr>
            <a:r>
              <a:t>mayor oportunidad de mejora sostenible.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Criterios y evidencia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Define criterios como impacto en el cliente, magnitud del problema, viabilidad y urgencia.</a:t>
            </a:r>
          </a:p>
          <a:p>
            <a:pPr>
              <a:lnSpc>
                <a:spcPts val="2580"/>
              </a:lnSpc>
              <a:spcBef>
                <a:spcPts val="0"/>
              </a:spcBef>
              <a:spcAft>
                <a:spcPts val="0"/>
              </a:spcAft>
              <a:defRPr sz="1859" b="0">
                <a:solidFill>
                  <a:srgbClr val="18394A"/>
                </a:solidFill>
                <a:latin typeface="Noto Sans"/>
              </a:defRPr>
            </a:pPr>
            <a:r>
              <a:t>Explica qué significa cada nivel de puntuación y qué evidencia lo respalda. Evita contar dos</a:t>
            </a:r>
          </a:p>
          <a:p>
            <a:pPr>
              <a:lnSpc>
                <a:spcPts val="2580"/>
              </a:lnSpc>
              <a:spcBef>
                <a:spcPts val="0"/>
              </a:spcBef>
              <a:spcAft>
                <a:spcPts val="0"/>
              </a:spcAft>
              <a:defRPr sz="1859" b="0">
                <a:solidFill>
                  <a:srgbClr val="18394A"/>
                </a:solidFill>
                <a:latin typeface="Noto Sans"/>
              </a:defRPr>
            </a:pPr>
            <a:r>
              <a:t>veces el mismo beneficio con nombres distintos. Cuando faltan datos, marca incertidumbre</a:t>
            </a:r>
          </a:p>
          <a:p>
            <a:pPr>
              <a:lnSpc>
                <a:spcPts val="2580"/>
              </a:lnSpc>
              <a:spcBef>
                <a:spcPts val="0"/>
              </a:spcBef>
              <a:spcAft>
                <a:spcPts val="0"/>
              </a:spcAft>
              <a:defRPr sz="1859" b="0">
                <a:solidFill>
                  <a:srgbClr val="18394A"/>
                </a:solidFill>
                <a:latin typeface="Noto Sans"/>
              </a:defRPr>
            </a:pPr>
            <a:r>
              <a:t>y asigna una tarea para obtenerlos, en lugar de convertir una opinión en una cifra</a:t>
            </a:r>
          </a:p>
          <a:p>
            <a:pPr>
              <a:lnSpc>
                <a:spcPts val="2580"/>
              </a:lnSpc>
              <a:spcBef>
                <a:spcPts val="0"/>
              </a:spcBef>
              <a:spcAft>
                <a:spcPts val="0"/>
              </a:spcAft>
              <a:defRPr sz="1859" b="0">
                <a:solidFill>
                  <a:srgbClr val="18394A"/>
                </a:solidFill>
                <a:latin typeface="Noto Sans"/>
              </a:defRPr>
            </a:pPr>
            <a:r>
              <a:t>aparentemente precisa.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criterios</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Reunir evidencia</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Comparar</a:t>
            </a:r>
          </a:p>
          <a:p>
            <a:pPr>
              <a:lnSpc>
                <a:spcPts val="2220"/>
              </a:lnSpc>
              <a:spcBef>
                <a:spcPts val="0"/>
              </a:spcBef>
              <a:spcAft>
                <a:spcPts val="0"/>
              </a:spcAft>
              <a:defRPr sz="1620" b="1">
                <a:solidFill>
                  <a:srgbClr val="FFFFFF"/>
                </a:solidFill>
                <a:latin typeface="Noto Sans"/>
              </a:defRPr>
            </a:pPr>
            <a:r>
              <a:t>sensibilidad</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Aprobar alcance</a:t>
            </a:r>
          </a:p>
        </p:txBody>
      </p:sp>
      <p:sp>
        <p:nvSpPr>
          <p:cNvPr id="20" name="Rounded Rectangle 19"/>
          <p:cNvSpPr/>
          <p:nvPr/>
        </p:nvSpPr>
        <p:spPr>
          <a:xfrm>
            <a:off x="609600" y="3962399"/>
            <a:ext cx="10881360" cy="1905000"/>
          </a:xfrm>
          <a:prstGeom prst="roundRect">
            <a:avLst>
              <a:gd name="adj" fmla="val 719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295400"/>
          </a:xfrm>
          <a:prstGeom prst="rect">
            <a:avLst/>
          </a:prstGeom>
          <a:noFill/>
        </p:spPr>
        <p:txBody>
          <a:bodyPr wrap="none" lIns="0" tIns="0" rIns="0" bIns="0" anchor="t">
            <a:spAutoFit/>
          </a:bodyPr>
          <a:lstStyle/>
          <a:p>
            <a:pPr>
              <a:lnSpc>
                <a:spcPts val="2340"/>
              </a:lnSpc>
              <a:spcBef>
                <a:spcPts val="0"/>
              </a:spcBef>
              <a:spcAft>
                <a:spcPts val="0"/>
              </a:spcAft>
              <a:defRPr sz="1680" b="0">
                <a:solidFill>
                  <a:srgbClr val="536975"/>
                </a:solidFill>
                <a:latin typeface="Noto Sans"/>
              </a:defRPr>
            </a:pPr>
            <a:r>
              <a:t>Primero acuerda criterios y restricciones. Reúne evidencia de los procesos candidatos y puntúa con una</a:t>
            </a:r>
          </a:p>
          <a:p>
            <a:pPr>
              <a:lnSpc>
                <a:spcPts val="2340"/>
              </a:lnSpc>
              <a:spcBef>
                <a:spcPts val="0"/>
              </a:spcBef>
              <a:spcAft>
                <a:spcPts val="0"/>
              </a:spcAft>
              <a:defRPr sz="1680" b="0">
                <a:solidFill>
                  <a:srgbClr val="536975"/>
                </a:solidFill>
                <a:latin typeface="Noto Sans"/>
              </a:defRPr>
            </a:pPr>
            <a:r>
              <a:t>escala definida. Calcula la clasificación y prueba supuestos alternativos. La decisión final debe explicar</a:t>
            </a:r>
          </a:p>
          <a:p>
            <a:pPr>
              <a:lnSpc>
                <a:spcPts val="2340"/>
              </a:lnSpc>
              <a:spcBef>
                <a:spcPts val="0"/>
              </a:spcBef>
              <a:spcAft>
                <a:spcPts val="0"/>
              </a:spcAft>
              <a:defRPr sz="1680" b="0">
                <a:solidFill>
                  <a:srgbClr val="536975"/>
                </a:solidFill>
                <a:latin typeface="Noto Sans"/>
              </a:defRPr>
            </a:pPr>
            <a:r>
              <a:t>obligaciones, dependencias y capacidad, además del resultado numérico. Un proceso elegido necesita</a:t>
            </a:r>
          </a:p>
          <a:p>
            <a:pPr>
              <a:lnSpc>
                <a:spcPts val="2340"/>
              </a:lnSpc>
              <a:spcBef>
                <a:spcPts val="0"/>
              </a:spcBef>
              <a:spcAft>
                <a:spcPts val="0"/>
              </a:spcAft>
              <a:defRPr sz="1680" b="0">
                <a:solidFill>
                  <a:srgbClr val="536975"/>
                </a:solidFill>
                <a:latin typeface="Noto Sans"/>
              </a:defRPr>
            </a:pPr>
            <a:r>
              <a:t>un alcance viable para convertirse en proyecto y no solo quedar como prioridad declarada.</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Ejemplo hipotético: impacto pesa 50 %, viabilidad 30 % y urgencia 20 %, con escala de uno a cinco</a:t>
            </a:r>
          </a:p>
          <a:p>
            <a:pPr>
              <a:lnSpc>
                <a:spcPts val="2400"/>
              </a:lnSpc>
              <a:spcBef>
                <a:spcPts val="0"/>
              </a:spcBef>
              <a:spcAft>
                <a:spcPts val="0"/>
              </a:spcAft>
              <a:defRPr sz="1739" b="0">
                <a:solidFill>
                  <a:srgbClr val="18394A"/>
                </a:solidFill>
                <a:latin typeface="Noto Sans"/>
              </a:defRPr>
            </a:pPr>
            <a:r>
              <a:t>donde cinco es más favorable. Soporte recibe cinco, dos y cuatro: suma 3,9. Facturación recibe tres,</a:t>
            </a:r>
          </a:p>
          <a:p>
            <a:pPr>
              <a:lnSpc>
                <a:spcPts val="2400"/>
              </a:lnSpc>
              <a:spcBef>
                <a:spcPts val="0"/>
              </a:spcBef>
              <a:spcAft>
                <a:spcPts val="0"/>
              </a:spcAft>
              <a:defRPr sz="1739" b="0">
                <a:solidFill>
                  <a:srgbClr val="18394A"/>
                </a:solidFill>
                <a:latin typeface="Noto Sans"/>
              </a:defRPr>
            </a:pPr>
            <a:r>
              <a:t>cinco y tres: suma 3,6. La diferencia favorece soporte bajo esos juicios, pero una obligación legal</a:t>
            </a:r>
          </a:p>
          <a:p>
            <a:pPr>
              <a:lnSpc>
                <a:spcPts val="2400"/>
              </a:lnSpc>
              <a:spcBef>
                <a:spcPts val="0"/>
              </a:spcBef>
              <a:spcAft>
                <a:spcPts val="0"/>
              </a:spcAft>
              <a:defRPr sz="1739" b="0">
                <a:solidFill>
                  <a:srgbClr val="18394A"/>
                </a:solidFill>
                <a:latin typeface="Noto Sans"/>
              </a:defRPr>
            </a:pPr>
            <a:r>
              <a:t>crítica de facturación o un cambio de pesos puede alterar la decisión.</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¿Cómo se calculan las dos puntuaciones y qué no debe concluirse solo a partir de ellas?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Ponderación y sensibilidad</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matriz ponderada multiplica cada valoración por su peso y suma resultados. Los pesos</a:t>
            </a:r>
          </a:p>
          <a:p>
            <a:pPr>
              <a:lnSpc>
                <a:spcPts val="2580"/>
              </a:lnSpc>
              <a:spcBef>
                <a:spcPts val="0"/>
              </a:spcBef>
              <a:spcAft>
                <a:spcPts val="0"/>
              </a:spcAft>
              <a:defRPr sz="1859" b="0">
                <a:solidFill>
                  <a:srgbClr val="18394A"/>
                </a:solidFill>
                <a:latin typeface="Noto Sans"/>
              </a:defRPr>
            </a:pPr>
            <a:r>
              <a:t>deben sumar uno o cien por ciento y representar prioridades acordadas. La puntuación</a:t>
            </a:r>
          </a:p>
          <a:p>
            <a:pPr>
              <a:lnSpc>
                <a:spcPts val="2580"/>
              </a:lnSpc>
              <a:spcBef>
                <a:spcPts val="0"/>
              </a:spcBef>
              <a:spcAft>
                <a:spcPts val="0"/>
              </a:spcAft>
              <a:defRPr sz="1859" b="0">
                <a:solidFill>
                  <a:srgbClr val="18394A"/>
                </a:solidFill>
                <a:latin typeface="Noto Sans"/>
              </a:defRPr>
            </a:pPr>
            <a:r>
              <a:t>organiza juicio, no garantiza objetividad. Prueba cómo cambia la clasificación al variar pesos</a:t>
            </a:r>
          </a:p>
          <a:p>
            <a:pPr>
              <a:lnSpc>
                <a:spcPts val="2580"/>
              </a:lnSpc>
              <a:spcBef>
                <a:spcPts val="0"/>
              </a:spcBef>
              <a:spcAft>
                <a:spcPts val="0"/>
              </a:spcAft>
              <a:defRPr sz="1859" b="0">
                <a:solidFill>
                  <a:srgbClr val="18394A"/>
                </a:solidFill>
                <a:latin typeface="Noto Sans"/>
              </a:defRPr>
            </a:pPr>
            <a:r>
              <a:t>o supuestos; si una pequeña modificación invierte la prioridad, presenta esa sensibilidad a</a:t>
            </a:r>
          </a:p>
          <a:p>
            <a:pPr>
              <a:lnSpc>
                <a:spcPts val="2580"/>
              </a:lnSpc>
              <a:spcBef>
                <a:spcPts val="0"/>
              </a:spcBef>
              <a:spcAft>
                <a:spcPts val="0"/>
              </a:spcAft>
              <a:defRPr sz="1859" b="0">
                <a:solidFill>
                  <a:srgbClr val="18394A"/>
                </a:solidFill>
                <a:latin typeface="Noto Sans"/>
              </a:defRPr>
            </a:pPr>
            <a:r>
              <a:t>quienes deciden.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Decisión y alcance viable</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Combina la clasificación con restricciones, dependencias y capacidad de ejecutar un piloto.</a:t>
            </a:r>
          </a:p>
          <a:p>
            <a:pPr>
              <a:lnSpc>
                <a:spcPts val="2580"/>
              </a:lnSpc>
              <a:spcBef>
                <a:spcPts val="0"/>
              </a:spcBef>
              <a:spcAft>
                <a:spcPts val="0"/>
              </a:spcAft>
              <a:defRPr sz="1859" b="0">
                <a:solidFill>
                  <a:srgbClr val="18394A"/>
                </a:solidFill>
                <a:latin typeface="Noto Sans"/>
              </a:defRPr>
            </a:pPr>
            <a:r>
              <a:t>Una obligación crítica puede requerir atención aunque no encabece una matriz de</a:t>
            </a:r>
          </a:p>
          <a:p>
            <a:pPr>
              <a:lnSpc>
                <a:spcPts val="2580"/>
              </a:lnSpc>
              <a:spcBef>
                <a:spcPts val="0"/>
              </a:spcBef>
              <a:spcAft>
                <a:spcPts val="0"/>
              </a:spcAft>
              <a:defRPr sz="1859" b="0">
                <a:solidFill>
                  <a:srgbClr val="18394A"/>
                </a:solidFill>
                <a:latin typeface="Noto Sans"/>
              </a:defRPr>
            </a:pPr>
            <a:r>
              <a:t>beneficios. Registra por qué se selecciona un proceso, qué alcance tendrá y qué evidencia</a:t>
            </a:r>
          </a:p>
          <a:p>
            <a:pPr>
              <a:lnSpc>
                <a:spcPts val="2580"/>
              </a:lnSpc>
              <a:spcBef>
                <a:spcPts val="0"/>
              </a:spcBef>
              <a:spcAft>
                <a:spcPts val="0"/>
              </a:spcAft>
              <a:defRPr sz="1859" b="0">
                <a:solidFill>
                  <a:srgbClr val="18394A"/>
                </a:solidFill>
                <a:latin typeface="Noto Sans"/>
              </a:defRPr>
            </a:pPr>
            <a:r>
              <a:t>falta. Revisar prioridades cuando cambia el contexto es parte de la gestión y no un error del</a:t>
            </a:r>
          </a:p>
          <a:p>
            <a:pPr>
              <a:lnSpc>
                <a:spcPts val="2580"/>
              </a:lnSpc>
              <a:spcBef>
                <a:spcPts val="0"/>
              </a:spcBef>
              <a:spcAft>
                <a:spcPts val="0"/>
              </a:spcAft>
              <a:defRPr sz="1859" b="0">
                <a:solidFill>
                  <a:srgbClr val="18394A"/>
                </a:solidFill>
                <a:latin typeface="Noto Sans"/>
              </a:defRPr>
            </a:pPr>
            <a:r>
              <a:t>método.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cuatro criterios con escala, evidencia y posibles duplicidades.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Calcula las puntuaciones del ejemplo verificando los pesos.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Modifica un peso conservando la suma e interpreta la sensibilidad.</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Justifica una selección considerando obligación crítica, dependencia y capacidad de piloto.</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PND_U4 · Sección 4.3 · Evaluación y selección de procesos a mejorar">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4.3</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Prioriza con criterios y evidencia.</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Calcula y contrasta sensibilidad.</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Integra restricciones y alcance ejecutable.</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Jeston y Nelis (2014), Business Process Management: Practical Guidelines to Successful Implementations.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4.4</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Estudio de caso</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Integrar diagnóstico, modelado, rediseño y KPI en un estudio de caso BPM con datos</a:t>
            </a:r>
          </a:p>
          <a:p>
            <a:pPr>
              <a:lnSpc>
                <a:spcPts val="2640"/>
              </a:lnSpc>
              <a:spcBef>
                <a:spcPts val="0"/>
              </a:spcBef>
              <a:spcAft>
                <a:spcPts val="0"/>
              </a:spcAft>
              <a:defRPr sz="1920" b="0">
                <a:solidFill>
                  <a:srgbClr val="D6E4E8"/>
                </a:solidFill>
                <a:latin typeface="Noto Sans"/>
              </a:defRPr>
            </a:pPr>
            <a:r>
              <a:t>simulados y conclusiones limitadas a la evidencia.</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Integrar diagnóstico, modelado, rediseño y KPI en un estudio de caso BPM con</a:t>
            </a:r>
          </a:p>
          <a:p>
            <a:pPr>
              <a:lnSpc>
                <a:spcPts val="2820"/>
              </a:lnSpc>
              <a:spcBef>
                <a:spcPts val="0"/>
              </a:spcBef>
              <a:spcAft>
                <a:spcPts val="0"/>
              </a:spcAft>
              <a:defRPr sz="2039" b="1">
                <a:solidFill>
                  <a:srgbClr val="18394A"/>
                </a:solidFill>
                <a:latin typeface="Noto Sans"/>
              </a:defRPr>
            </a:pPr>
            <a:r>
              <a:t>datos simulados y conclusiones limitadas a la evidencia.</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conclusiones apoyan los datos simulados y por qué no bastan para atribuir</a:t>
            </a:r>
          </a:p>
          <a:p>
            <a:pPr>
              <a:lnSpc>
                <a:spcPts val="2820"/>
              </a:lnSpc>
              <a:spcBef>
                <a:spcPts val="0"/>
              </a:spcBef>
              <a:spcAft>
                <a:spcPts val="0"/>
              </a:spcAft>
              <a:defRPr sz="2039" b="0">
                <a:solidFill>
                  <a:srgbClr val="18394A"/>
                </a:solidFill>
                <a:latin typeface="Noto Sans"/>
              </a:defRPr>
            </a:pPr>
            <a:r>
              <a:t>causalidad en una empresa real?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y delimitación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207264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estudio integra un proceso de solicitudes de soporte desde recepción hasta respuesta</a:t>
            </a:r>
          </a:p>
          <a:p>
            <a:pPr>
              <a:lnSpc>
                <a:spcPts val="2580"/>
              </a:lnSpc>
              <a:spcBef>
                <a:spcPts val="0"/>
              </a:spcBef>
              <a:spcAft>
                <a:spcPts val="0"/>
              </a:spcAft>
              <a:defRPr sz="1859" b="0">
                <a:solidFill>
                  <a:srgbClr val="18394A"/>
                </a:solidFill>
                <a:latin typeface="Noto Sans"/>
              </a:defRPr>
            </a:pPr>
            <a:r>
              <a:t>útil. El destinatario es quien necesita una solución o una orientación suficiente para</a:t>
            </a:r>
          </a:p>
          <a:p>
            <a:pPr>
              <a:lnSpc>
                <a:spcPts val="2580"/>
              </a:lnSpc>
              <a:spcBef>
                <a:spcPts val="0"/>
              </a:spcBef>
              <a:spcAft>
                <a:spcPts val="0"/>
              </a:spcAft>
              <a:defRPr sz="1859" b="0">
                <a:solidFill>
                  <a:srgbClr val="18394A"/>
                </a:solidFill>
                <a:latin typeface="Noto Sans"/>
              </a:defRPr>
            </a:pPr>
            <a:r>
              <a:t>continuar. Se define responsable, población y condiciones de atención. Los registros de</a:t>
            </a:r>
          </a:p>
          <a:p>
            <a:pPr>
              <a:lnSpc>
                <a:spcPts val="2580"/>
              </a:lnSpc>
              <a:spcBef>
                <a:spcPts val="0"/>
              </a:spcBef>
              <a:spcAft>
                <a:spcPts val="0"/>
              </a:spcAft>
              <a:defRPr sz="1859" b="0">
                <a:solidFill>
                  <a:srgbClr val="18394A"/>
                </a:solidFill>
                <a:latin typeface="Noto Sans"/>
              </a:defRPr>
            </a:pPr>
            <a:r>
              <a:t>enseñanza son simulados: permiten practicar cálculos y análisis, pero no constituyen</a:t>
            </a:r>
          </a:p>
          <a:p>
            <a:pPr>
              <a:lnSpc>
                <a:spcPts val="2580"/>
              </a:lnSpc>
              <a:spcBef>
                <a:spcPts val="0"/>
              </a:spcBef>
              <a:spcAft>
                <a:spcPts val="0"/>
              </a:spcAft>
              <a:defRPr sz="1859" b="0">
                <a:solidFill>
                  <a:srgbClr val="18394A"/>
                </a:solidFill>
                <a:latin typeface="Noto Sans"/>
              </a:defRPr>
            </a:pPr>
            <a:r>
              <a:t>evidencia de una empresa real ni prueban que una intervención funcionará en otra</a:t>
            </a:r>
          </a:p>
          <a:p>
            <a:pPr>
              <a:lnSpc>
                <a:spcPts val="2580"/>
              </a:lnSpc>
              <a:spcBef>
                <a:spcPts val="0"/>
              </a:spcBef>
              <a:spcAft>
                <a:spcPts val="0"/>
              </a:spcAft>
              <a:defRPr sz="1859" b="0">
                <a:solidFill>
                  <a:srgbClr val="18394A"/>
                </a:solidFill>
                <a:latin typeface="Noto Sans"/>
              </a:defRPr>
            </a:pPr>
            <a:r>
              <a:t>organización.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Diagnóstico y propuesta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modelo actual incluye esperas por datos incompletos y reasignaciones. La propuesta</a:t>
            </a:r>
          </a:p>
          <a:p>
            <a:pPr>
              <a:lnSpc>
                <a:spcPts val="2580"/>
              </a:lnSpc>
              <a:spcBef>
                <a:spcPts val="0"/>
              </a:spcBef>
              <a:spcAft>
                <a:spcPts val="0"/>
              </a:spcAft>
              <a:defRPr sz="1859" b="0">
                <a:solidFill>
                  <a:srgbClr val="18394A"/>
                </a:solidFill>
                <a:latin typeface="Noto Sans"/>
              </a:defRPr>
            </a:pPr>
            <a:r>
              <a:t>valida requisitos al recibir y asigna un responsable de seguimiento. La hipótesis es reducir</a:t>
            </a:r>
          </a:p>
          <a:p>
            <a:pPr>
              <a:lnSpc>
                <a:spcPts val="2580"/>
              </a:lnSpc>
              <a:spcBef>
                <a:spcPts val="0"/>
              </a:spcBef>
              <a:spcAft>
                <a:spcPts val="0"/>
              </a:spcAft>
              <a:defRPr sz="1859" b="0">
                <a:solidFill>
                  <a:srgbClr val="18394A"/>
                </a:solidFill>
                <a:latin typeface="Noto Sans"/>
              </a:defRPr>
            </a:pPr>
            <a:r>
              <a:t>espera sin deteriorar calidad. Debe contrastarse con participantes y casos; el diagrama</a:t>
            </a:r>
          </a:p>
          <a:p>
            <a:pPr>
              <a:lnSpc>
                <a:spcPts val="2580"/>
              </a:lnSpc>
              <a:spcBef>
                <a:spcPts val="0"/>
              </a:spcBef>
              <a:spcAft>
                <a:spcPts val="0"/>
              </a:spcAft>
              <a:defRPr sz="1859" b="0">
                <a:solidFill>
                  <a:srgbClr val="18394A"/>
                </a:solidFill>
                <a:latin typeface="Noto Sans"/>
              </a:defRPr>
            </a:pPr>
            <a:r>
              <a:t>representa la lógica propuesta, no demuestra por sí solo que todas las demoras tengan la</a:t>
            </a:r>
          </a:p>
          <a:p>
            <a:pPr>
              <a:lnSpc>
                <a:spcPts val="2580"/>
              </a:lnSpc>
              <a:spcBef>
                <a:spcPts val="0"/>
              </a:spcBef>
              <a:spcAft>
                <a:spcPts val="0"/>
              </a:spcAft>
              <a:defRPr sz="1859" b="0">
                <a:solidFill>
                  <a:srgbClr val="18394A"/>
                </a:solidFill>
                <a:latin typeface="Noto Sans"/>
              </a:defRPr>
            </a:pPr>
            <a:r>
              <a:t>misma causa.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Delimitar y observar</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Modelar y</a:t>
            </a:r>
          </a:p>
          <a:p>
            <a:pPr>
              <a:lnSpc>
                <a:spcPts val="2220"/>
              </a:lnSpc>
              <a:spcBef>
                <a:spcPts val="0"/>
              </a:spcBef>
              <a:spcAft>
                <a:spcPts val="0"/>
              </a:spcAft>
              <a:defRPr sz="1620" b="1">
                <a:solidFill>
                  <a:srgbClr val="FFFFFF"/>
                </a:solidFill>
                <a:latin typeface="Noto Sans"/>
              </a:defRPr>
            </a:pPr>
            <a:r>
              <a:t>diagnosticar</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Rediseñar y probar</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Medir y revisar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Conecta el alcance con un modelo actual y los datos de casos. Explica el diagnóstico y la lógica del</a:t>
            </a:r>
          </a:p>
          <a:p>
            <a:pPr>
              <a:lnSpc>
                <a:spcPts val="2400"/>
              </a:lnSpc>
              <a:spcBef>
                <a:spcPts val="0"/>
              </a:spcBef>
              <a:spcAft>
                <a:spcPts val="0"/>
              </a:spcAft>
              <a:defRPr sz="1739" b="0">
                <a:solidFill>
                  <a:srgbClr val="536975"/>
                </a:solidFill>
                <a:latin typeface="Noto Sans"/>
              </a:defRPr>
            </a:pPr>
            <a:r>
              <a:t>cambio. Modela la propuesta, prepara una prueba y calcula resultados con la misma definición en</a:t>
            </a:r>
          </a:p>
          <a:p>
            <a:pPr>
              <a:lnSpc>
                <a:spcPts val="2400"/>
              </a:lnSpc>
              <a:spcBef>
                <a:spcPts val="0"/>
              </a:spcBef>
              <a:spcAft>
                <a:spcPts val="0"/>
              </a:spcAft>
              <a:defRPr sz="1739" b="0">
                <a:solidFill>
                  <a:srgbClr val="536975"/>
                </a:solidFill>
                <a:latin typeface="Noto Sans"/>
              </a:defRPr>
            </a:pPr>
            <a:r>
              <a:t>ambos períodos. Finalmente investiga excepciones y formula una decisión de continuidad, dejando</a:t>
            </a:r>
          </a:p>
          <a:p>
            <a:pPr>
              <a:lnSpc>
                <a:spcPts val="2400"/>
              </a:lnSpc>
              <a:spcBef>
                <a:spcPts val="0"/>
              </a:spcBef>
              <a:spcAft>
                <a:spcPts val="0"/>
              </a:spcAft>
              <a:defRPr sz="1739" b="0">
                <a:solidFill>
                  <a:srgbClr val="536975"/>
                </a:solidFill>
                <a:latin typeface="Noto Sans"/>
              </a:defRPr>
            </a:pPr>
            <a:r>
              <a:t>claro qué se aprendió de datos simulados y qué requeriría una validación real.</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Ejemplo de enseñanza: en el período inicial, ochenta casos duran treinta horas y veinte duran</a:t>
            </a:r>
          </a:p>
          <a:p>
            <a:pPr>
              <a:lnSpc>
                <a:spcPts val="2400"/>
              </a:lnSpc>
              <a:spcBef>
                <a:spcPts val="0"/>
              </a:spcBef>
              <a:spcAft>
                <a:spcPts val="0"/>
              </a:spcAft>
              <a:defRPr sz="1739" b="0">
                <a:solidFill>
                  <a:srgbClr val="18394A"/>
                </a:solidFill>
                <a:latin typeface="Noto Sans"/>
              </a:defRPr>
            </a:pPr>
            <a:r>
              <a:t>ochenta; el promedio es cuarenta. En el futuro simulado, noventa y cinco duran veinte y cinco duran</a:t>
            </a:r>
          </a:p>
          <a:p>
            <a:pPr>
              <a:lnSpc>
                <a:spcPts val="2400"/>
              </a:lnSpc>
              <a:spcBef>
                <a:spcPts val="0"/>
              </a:spcBef>
              <a:spcAft>
                <a:spcPts val="0"/>
              </a:spcAft>
              <a:defRPr sz="1739" b="0">
                <a:solidFill>
                  <a:srgbClr val="18394A"/>
                </a:solidFill>
                <a:latin typeface="Noto Sans"/>
              </a:defRPr>
            </a:pPr>
            <a:r>
              <a:t>cien; el promedio es veinticuatro. Los casos con corrección son doce y cinco, respectivamente. Los</a:t>
            </a:r>
          </a:p>
          <a:p>
            <a:pPr>
              <a:lnSpc>
                <a:spcPts val="2400"/>
              </a:lnSpc>
              <a:spcBef>
                <a:spcPts val="0"/>
              </a:spcBef>
              <a:spcAft>
                <a:spcPts val="0"/>
              </a:spcAft>
              <a:defRPr sz="1739" b="0">
                <a:solidFill>
                  <a:srgbClr val="18394A"/>
                </a:solidFill>
                <a:latin typeface="Noto Sans"/>
              </a:defRPr>
            </a:pPr>
            <a:r>
              <a:t>archivos de apoyo permiten repetir los cálculos y revisar por qué la mejora global convive con</a:t>
            </a:r>
          </a:p>
          <a:p>
            <a:pPr>
              <a:lnSpc>
                <a:spcPts val="2400"/>
              </a:lnSpc>
              <a:spcBef>
                <a:spcPts val="0"/>
              </a:spcBef>
              <a:spcAft>
                <a:spcPts val="0"/>
              </a:spcAft>
              <a:defRPr sz="1739" b="0">
                <a:solidFill>
                  <a:srgbClr val="18394A"/>
                </a:solidFill>
                <a:latin typeface="Noto Sans"/>
              </a:defRPr>
            </a:pPr>
            <a:r>
              <a:t>excepciones más tardías.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conclusiones apoyan los datos simulados y por qué no bastan para atribuir causalidad en una</a:t>
            </a:r>
          </a:p>
          <a:p>
            <a:pPr>
              <a:lnSpc>
                <a:spcPts val="2220"/>
              </a:lnSpc>
              <a:spcBef>
                <a:spcPts val="0"/>
              </a:spcBef>
              <a:spcAft>
                <a:spcPts val="0"/>
              </a:spcAft>
              <a:defRPr sz="1620" b="1">
                <a:solidFill>
                  <a:srgbClr val="18394A"/>
                </a:solidFill>
                <a:latin typeface="Noto Sans"/>
              </a:defRPr>
            </a:pPr>
            <a:r>
              <a:t>empresa real?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6680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ESTUDIO DE CASO · DATOS SIMULADOS · PND 4.4</a:t>
            </a:r>
          </a:p>
        </p:txBody>
      </p:sp>
      <p:sp>
        <p:nvSpPr>
          <p:cNvPr id="4" name="TextBox 3"/>
          <p:cNvSpPr txBox="1"/>
          <p:nvPr/>
        </p:nvSpPr>
        <p:spPr>
          <a:xfrm>
            <a:off x="609600" y="929640"/>
            <a:ext cx="10896600" cy="662940"/>
          </a:xfrm>
          <a:prstGeom prst="rect">
            <a:avLst/>
          </a:prstGeom>
          <a:noFill/>
        </p:spPr>
        <p:txBody>
          <a:bodyPr wrap="none" lIns="0" tIns="0" rIns="0" bIns="0" anchor="t">
            <a:spAutoFit/>
          </a:bodyPr>
          <a:lstStyle/>
          <a:p>
            <a:pPr>
              <a:lnSpc>
                <a:spcPts val="4380"/>
              </a:lnSpc>
              <a:spcBef>
                <a:spcPts val="0"/>
              </a:spcBef>
              <a:spcAft>
                <a:spcPts val="0"/>
              </a:spcAft>
              <a:defRPr sz="3179" b="1">
                <a:solidFill>
                  <a:srgbClr val="18394A"/>
                </a:solidFill>
                <a:latin typeface="Noto Sans"/>
              </a:defRPr>
            </a:pPr>
            <a:r>
              <a:t>Comparar resultados y límites</a:t>
            </a:r>
          </a:p>
        </p:txBody>
      </p:sp>
      <p:sp>
        <p:nvSpPr>
          <p:cNvPr id="5" name="Rounded Rectangle 4"/>
          <p:cNvSpPr/>
          <p:nvPr/>
        </p:nvSpPr>
        <p:spPr>
          <a:xfrm>
            <a:off x="609600" y="2019300"/>
            <a:ext cx="3505200" cy="3718560"/>
          </a:xfrm>
          <a:prstGeom prst="roundRect">
            <a:avLst>
              <a:gd name="adj" fmla="val 347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186940"/>
            <a:ext cx="3124200" cy="403860"/>
          </a:xfrm>
          <a:prstGeom prst="rect">
            <a:avLst/>
          </a:prstGeom>
          <a:noFill/>
        </p:spPr>
        <p:txBody>
          <a:bodyPr wrap="none" lIns="0" tIns="0" rIns="0" bIns="0" anchor="t">
            <a:spAutoFit/>
          </a:bodyPr>
          <a:lstStyle/>
          <a:p>
            <a:pPr>
              <a:lnSpc>
                <a:spcPts val="2340"/>
              </a:lnSpc>
              <a:spcBef>
                <a:spcPts val="0"/>
              </a:spcBef>
              <a:spcAft>
                <a:spcPts val="0"/>
              </a:spcAft>
              <a:defRPr sz="1680" b="1">
                <a:solidFill>
                  <a:srgbClr val="18394A"/>
                </a:solidFill>
                <a:latin typeface="Noto Sans"/>
              </a:defRPr>
            </a:pPr>
            <a:r>
              <a:t>Ciclo promedio</a:t>
            </a:r>
          </a:p>
        </p:txBody>
      </p:sp>
      <p:sp>
        <p:nvSpPr>
          <p:cNvPr id="7" name="Rounded Rectangle 6"/>
          <p:cNvSpPr/>
          <p:nvPr/>
        </p:nvSpPr>
        <p:spPr>
          <a:xfrm>
            <a:off x="1104900" y="3489960"/>
            <a:ext cx="800100" cy="1524000"/>
          </a:xfrm>
          <a:prstGeom prst="roundRect">
            <a:avLst>
              <a:gd name="adj" fmla="val 3809"/>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82040" y="3086100"/>
            <a:ext cx="1104900" cy="487680"/>
          </a:xfrm>
          <a:prstGeom prst="rect">
            <a:avLst/>
          </a:prstGeom>
          <a:noFill/>
        </p:spPr>
        <p:txBody>
          <a:bodyPr wrap="none" lIns="0" tIns="0" rIns="0" bIns="0" anchor="t">
            <a:spAutoFit/>
          </a:bodyPr>
          <a:lstStyle/>
          <a:p>
            <a:pPr>
              <a:lnSpc>
                <a:spcPts val="3000"/>
              </a:lnSpc>
              <a:spcBef>
                <a:spcPts val="0"/>
              </a:spcBef>
              <a:spcAft>
                <a:spcPts val="0"/>
              </a:spcAft>
              <a:defRPr sz="2160" b="1">
                <a:solidFill>
                  <a:srgbClr val="18394A"/>
                </a:solidFill>
                <a:latin typeface="Noto Sans"/>
              </a:defRPr>
            </a:pPr>
            <a:r>
              <a:t>40 h</a:t>
            </a:r>
          </a:p>
        </p:txBody>
      </p:sp>
      <p:sp>
        <p:nvSpPr>
          <p:cNvPr id="9" name="TextBox 8"/>
          <p:cNvSpPr txBox="1"/>
          <p:nvPr/>
        </p:nvSpPr>
        <p:spPr>
          <a:xfrm>
            <a:off x="952500" y="5151120"/>
            <a:ext cx="118110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536975"/>
                </a:solidFill>
                <a:latin typeface="Noto Sans"/>
              </a:defRPr>
            </a:pPr>
            <a:r>
              <a:t>Inicial</a:t>
            </a:r>
          </a:p>
        </p:txBody>
      </p:sp>
      <p:sp>
        <p:nvSpPr>
          <p:cNvPr id="10" name="Rounded Rectangle 9"/>
          <p:cNvSpPr/>
          <p:nvPr/>
        </p:nvSpPr>
        <p:spPr>
          <a:xfrm>
            <a:off x="2438400" y="4099560"/>
            <a:ext cx="800100" cy="914400"/>
          </a:xfrm>
          <a:prstGeom prst="roundRect">
            <a:avLst>
              <a:gd name="adj" fmla="val 3809"/>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15540" y="3695700"/>
            <a:ext cx="1104900" cy="487680"/>
          </a:xfrm>
          <a:prstGeom prst="rect">
            <a:avLst/>
          </a:prstGeom>
          <a:noFill/>
        </p:spPr>
        <p:txBody>
          <a:bodyPr wrap="none" lIns="0" tIns="0" rIns="0" bIns="0" anchor="t">
            <a:spAutoFit/>
          </a:bodyPr>
          <a:lstStyle/>
          <a:p>
            <a:pPr>
              <a:lnSpc>
                <a:spcPts val="3000"/>
              </a:lnSpc>
              <a:spcBef>
                <a:spcPts val="0"/>
              </a:spcBef>
              <a:spcAft>
                <a:spcPts val="0"/>
              </a:spcAft>
              <a:defRPr sz="2160" b="1">
                <a:solidFill>
                  <a:srgbClr val="18394A"/>
                </a:solidFill>
                <a:latin typeface="Noto Sans"/>
              </a:defRPr>
            </a:pPr>
            <a:r>
              <a:t>24 h</a:t>
            </a:r>
          </a:p>
        </p:txBody>
      </p:sp>
      <p:sp>
        <p:nvSpPr>
          <p:cNvPr id="12" name="TextBox 11"/>
          <p:cNvSpPr txBox="1"/>
          <p:nvPr/>
        </p:nvSpPr>
        <p:spPr>
          <a:xfrm>
            <a:off x="2286000" y="5151120"/>
            <a:ext cx="118110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536975"/>
                </a:solidFill>
                <a:latin typeface="Noto Sans"/>
              </a:defRPr>
            </a:pPr>
            <a:r>
              <a:t>Futuro</a:t>
            </a:r>
          </a:p>
        </p:txBody>
      </p:sp>
      <p:sp>
        <p:nvSpPr>
          <p:cNvPr id="13" name="TextBox 12"/>
          <p:cNvSpPr txBox="1"/>
          <p:nvPr/>
        </p:nvSpPr>
        <p:spPr>
          <a:xfrm>
            <a:off x="762000" y="5448300"/>
            <a:ext cx="3200400" cy="30480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087E8B"/>
                </a:solidFill>
                <a:latin typeface="Noto Sans"/>
              </a:defRPr>
            </a:pPr>
            <a:r>
              <a:t>40 % de reducción</a:t>
            </a:r>
          </a:p>
        </p:txBody>
      </p:sp>
      <p:sp>
        <p:nvSpPr>
          <p:cNvPr id="14" name="Rounded Rectangle 13"/>
          <p:cNvSpPr/>
          <p:nvPr/>
        </p:nvSpPr>
        <p:spPr>
          <a:xfrm>
            <a:off x="4343400" y="2019300"/>
            <a:ext cx="3505200" cy="3718560"/>
          </a:xfrm>
          <a:prstGeom prst="roundRect">
            <a:avLst>
              <a:gd name="adj" fmla="val 347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3900" y="2186940"/>
            <a:ext cx="3124200" cy="403860"/>
          </a:xfrm>
          <a:prstGeom prst="rect">
            <a:avLst/>
          </a:prstGeom>
          <a:noFill/>
        </p:spPr>
        <p:txBody>
          <a:bodyPr wrap="none" lIns="0" tIns="0" rIns="0" bIns="0" anchor="t">
            <a:spAutoFit/>
          </a:bodyPr>
          <a:lstStyle/>
          <a:p>
            <a:pPr>
              <a:lnSpc>
                <a:spcPts val="2340"/>
              </a:lnSpc>
              <a:spcBef>
                <a:spcPts val="0"/>
              </a:spcBef>
              <a:spcAft>
                <a:spcPts val="0"/>
              </a:spcAft>
              <a:defRPr sz="1680" b="1">
                <a:solidFill>
                  <a:srgbClr val="18394A"/>
                </a:solidFill>
                <a:latin typeface="Noto Sans"/>
              </a:defRPr>
            </a:pPr>
            <a:r>
              <a:t>Casos con corrección</a:t>
            </a:r>
          </a:p>
        </p:txBody>
      </p:sp>
      <p:sp>
        <p:nvSpPr>
          <p:cNvPr id="16" name="Rounded Rectangle 15"/>
          <p:cNvSpPr/>
          <p:nvPr/>
        </p:nvSpPr>
        <p:spPr>
          <a:xfrm>
            <a:off x="4838700" y="3489960"/>
            <a:ext cx="800100" cy="1524000"/>
          </a:xfrm>
          <a:prstGeom prst="roundRect">
            <a:avLst>
              <a:gd name="adj" fmla="val 3809"/>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15840" y="3086100"/>
            <a:ext cx="1104900" cy="487680"/>
          </a:xfrm>
          <a:prstGeom prst="rect">
            <a:avLst/>
          </a:prstGeom>
          <a:noFill/>
        </p:spPr>
        <p:txBody>
          <a:bodyPr wrap="none" lIns="0" tIns="0" rIns="0" bIns="0" anchor="t">
            <a:spAutoFit/>
          </a:bodyPr>
          <a:lstStyle/>
          <a:p>
            <a:pPr>
              <a:lnSpc>
                <a:spcPts val="3000"/>
              </a:lnSpc>
              <a:spcBef>
                <a:spcPts val="0"/>
              </a:spcBef>
              <a:spcAft>
                <a:spcPts val="0"/>
              </a:spcAft>
              <a:defRPr sz="2160" b="1">
                <a:solidFill>
                  <a:srgbClr val="18394A"/>
                </a:solidFill>
                <a:latin typeface="Noto Sans"/>
              </a:defRPr>
            </a:pPr>
            <a:r>
              <a:t>12 %</a:t>
            </a:r>
          </a:p>
        </p:txBody>
      </p:sp>
      <p:sp>
        <p:nvSpPr>
          <p:cNvPr id="18" name="TextBox 17"/>
          <p:cNvSpPr txBox="1"/>
          <p:nvPr/>
        </p:nvSpPr>
        <p:spPr>
          <a:xfrm>
            <a:off x="4686300" y="5151120"/>
            <a:ext cx="118110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536975"/>
                </a:solidFill>
                <a:latin typeface="Noto Sans"/>
              </a:defRPr>
            </a:pPr>
            <a:r>
              <a:t>Inicial</a:t>
            </a:r>
          </a:p>
        </p:txBody>
      </p:sp>
      <p:sp>
        <p:nvSpPr>
          <p:cNvPr id="19" name="Rounded Rectangle 18"/>
          <p:cNvSpPr/>
          <p:nvPr/>
        </p:nvSpPr>
        <p:spPr>
          <a:xfrm>
            <a:off x="6172200" y="4378960"/>
            <a:ext cx="800100" cy="635000"/>
          </a:xfrm>
          <a:prstGeom prst="roundRect">
            <a:avLst>
              <a:gd name="adj" fmla="val 4800"/>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9340" y="3975100"/>
            <a:ext cx="1104900" cy="487680"/>
          </a:xfrm>
          <a:prstGeom prst="rect">
            <a:avLst/>
          </a:prstGeom>
          <a:noFill/>
        </p:spPr>
        <p:txBody>
          <a:bodyPr wrap="none" lIns="0" tIns="0" rIns="0" bIns="0" anchor="t">
            <a:spAutoFit/>
          </a:bodyPr>
          <a:lstStyle/>
          <a:p>
            <a:pPr>
              <a:lnSpc>
                <a:spcPts val="3000"/>
              </a:lnSpc>
              <a:spcBef>
                <a:spcPts val="0"/>
              </a:spcBef>
              <a:spcAft>
                <a:spcPts val="0"/>
              </a:spcAft>
              <a:defRPr sz="2160" b="1">
                <a:solidFill>
                  <a:srgbClr val="18394A"/>
                </a:solidFill>
                <a:latin typeface="Noto Sans"/>
              </a:defRPr>
            </a:pPr>
            <a:r>
              <a:t>5 %</a:t>
            </a:r>
          </a:p>
        </p:txBody>
      </p:sp>
      <p:sp>
        <p:nvSpPr>
          <p:cNvPr id="21" name="TextBox 20"/>
          <p:cNvSpPr txBox="1"/>
          <p:nvPr/>
        </p:nvSpPr>
        <p:spPr>
          <a:xfrm>
            <a:off x="6019800" y="5151120"/>
            <a:ext cx="118110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536975"/>
                </a:solidFill>
                <a:latin typeface="Noto Sans"/>
              </a:defRPr>
            </a:pPr>
            <a:r>
              <a:t>Futuro</a:t>
            </a:r>
          </a:p>
        </p:txBody>
      </p:sp>
      <p:sp>
        <p:nvSpPr>
          <p:cNvPr id="22" name="TextBox 21"/>
          <p:cNvSpPr txBox="1"/>
          <p:nvPr/>
        </p:nvSpPr>
        <p:spPr>
          <a:xfrm>
            <a:off x="4495800" y="5448300"/>
            <a:ext cx="3200400" cy="30480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087E8B"/>
                </a:solidFill>
                <a:latin typeface="Noto Sans"/>
              </a:defRPr>
            </a:pPr>
            <a:r>
              <a:t>7 puntos porcentuales menos</a:t>
            </a:r>
          </a:p>
        </p:txBody>
      </p:sp>
      <p:sp>
        <p:nvSpPr>
          <p:cNvPr id="23" name="Rounded Rectangle 22"/>
          <p:cNvSpPr/>
          <p:nvPr/>
        </p:nvSpPr>
        <p:spPr>
          <a:xfrm>
            <a:off x="8077200" y="2019300"/>
            <a:ext cx="3505200" cy="3718560"/>
          </a:xfrm>
          <a:prstGeom prst="roundRect">
            <a:avLst>
              <a:gd name="adj" fmla="val 347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67699" y="2186940"/>
            <a:ext cx="3124200" cy="403860"/>
          </a:xfrm>
          <a:prstGeom prst="rect">
            <a:avLst/>
          </a:prstGeom>
          <a:noFill/>
        </p:spPr>
        <p:txBody>
          <a:bodyPr wrap="none" lIns="0" tIns="0" rIns="0" bIns="0" anchor="t">
            <a:spAutoFit/>
          </a:bodyPr>
          <a:lstStyle/>
          <a:p>
            <a:pPr>
              <a:lnSpc>
                <a:spcPts val="2340"/>
              </a:lnSpc>
              <a:spcBef>
                <a:spcPts val="0"/>
              </a:spcBef>
              <a:spcAft>
                <a:spcPts val="0"/>
              </a:spcAft>
              <a:defRPr sz="1680" b="1">
                <a:solidFill>
                  <a:srgbClr val="18394A"/>
                </a:solidFill>
                <a:latin typeface="Noto Sans"/>
              </a:defRPr>
            </a:pPr>
            <a:r>
              <a:t>Dentro de 48 h</a:t>
            </a:r>
          </a:p>
        </p:txBody>
      </p:sp>
      <p:sp>
        <p:nvSpPr>
          <p:cNvPr id="25" name="Rounded Rectangle 24"/>
          <p:cNvSpPr/>
          <p:nvPr/>
        </p:nvSpPr>
        <p:spPr>
          <a:xfrm>
            <a:off x="8572500" y="3489960"/>
            <a:ext cx="800100" cy="1524000"/>
          </a:xfrm>
          <a:prstGeom prst="roundRect">
            <a:avLst>
              <a:gd name="adj" fmla="val 3809"/>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49640" y="3086100"/>
            <a:ext cx="1104900" cy="487680"/>
          </a:xfrm>
          <a:prstGeom prst="rect">
            <a:avLst/>
          </a:prstGeom>
          <a:noFill/>
        </p:spPr>
        <p:txBody>
          <a:bodyPr wrap="none" lIns="0" tIns="0" rIns="0" bIns="0" anchor="t">
            <a:spAutoFit/>
          </a:bodyPr>
          <a:lstStyle/>
          <a:p>
            <a:pPr>
              <a:lnSpc>
                <a:spcPts val="3000"/>
              </a:lnSpc>
              <a:spcBef>
                <a:spcPts val="0"/>
              </a:spcBef>
              <a:spcAft>
                <a:spcPts val="0"/>
              </a:spcAft>
              <a:defRPr sz="2160" b="1">
                <a:solidFill>
                  <a:srgbClr val="18394A"/>
                </a:solidFill>
                <a:latin typeface="Noto Sans"/>
              </a:defRPr>
            </a:pPr>
            <a:r>
              <a:t>80 %</a:t>
            </a:r>
          </a:p>
        </p:txBody>
      </p:sp>
      <p:sp>
        <p:nvSpPr>
          <p:cNvPr id="27" name="TextBox 26"/>
          <p:cNvSpPr txBox="1"/>
          <p:nvPr/>
        </p:nvSpPr>
        <p:spPr>
          <a:xfrm>
            <a:off x="8420100" y="5151120"/>
            <a:ext cx="118110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536975"/>
                </a:solidFill>
                <a:latin typeface="Noto Sans"/>
              </a:defRPr>
            </a:pPr>
            <a:r>
              <a:t>Inicial</a:t>
            </a:r>
          </a:p>
        </p:txBody>
      </p:sp>
      <p:sp>
        <p:nvSpPr>
          <p:cNvPr id="28" name="Rounded Rectangle 27"/>
          <p:cNvSpPr/>
          <p:nvPr/>
        </p:nvSpPr>
        <p:spPr>
          <a:xfrm>
            <a:off x="9906000" y="3204210"/>
            <a:ext cx="800100" cy="1809750"/>
          </a:xfrm>
          <a:prstGeom prst="roundRect">
            <a:avLst>
              <a:gd name="adj" fmla="val 3809"/>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83140" y="2800350"/>
            <a:ext cx="1104900" cy="487680"/>
          </a:xfrm>
          <a:prstGeom prst="rect">
            <a:avLst/>
          </a:prstGeom>
          <a:noFill/>
        </p:spPr>
        <p:txBody>
          <a:bodyPr wrap="none" lIns="0" tIns="0" rIns="0" bIns="0" anchor="t">
            <a:spAutoFit/>
          </a:bodyPr>
          <a:lstStyle/>
          <a:p>
            <a:pPr>
              <a:lnSpc>
                <a:spcPts val="3000"/>
              </a:lnSpc>
              <a:spcBef>
                <a:spcPts val="0"/>
              </a:spcBef>
              <a:spcAft>
                <a:spcPts val="0"/>
              </a:spcAft>
              <a:defRPr sz="2160" b="1">
                <a:solidFill>
                  <a:srgbClr val="18394A"/>
                </a:solidFill>
                <a:latin typeface="Noto Sans"/>
              </a:defRPr>
            </a:pPr>
            <a:r>
              <a:t>95 %</a:t>
            </a:r>
          </a:p>
        </p:txBody>
      </p:sp>
      <p:sp>
        <p:nvSpPr>
          <p:cNvPr id="30" name="TextBox 29"/>
          <p:cNvSpPr txBox="1"/>
          <p:nvPr/>
        </p:nvSpPr>
        <p:spPr>
          <a:xfrm>
            <a:off x="9753600" y="5151120"/>
            <a:ext cx="118110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536975"/>
                </a:solidFill>
                <a:latin typeface="Noto Sans"/>
              </a:defRPr>
            </a:pPr>
            <a:r>
              <a:t>Futuro</a:t>
            </a:r>
          </a:p>
        </p:txBody>
      </p:sp>
      <p:sp>
        <p:nvSpPr>
          <p:cNvPr id="31" name="TextBox 30"/>
          <p:cNvSpPr txBox="1"/>
          <p:nvPr/>
        </p:nvSpPr>
        <p:spPr>
          <a:xfrm>
            <a:off x="8229600" y="5448300"/>
            <a:ext cx="3200400" cy="304800"/>
          </a:xfrm>
          <a:prstGeom prst="rect">
            <a:avLst/>
          </a:prstGeom>
          <a:noFill/>
        </p:spPr>
        <p:txBody>
          <a:bodyPr wrap="none" lIns="0" tIns="0" rIns="0" bIns="0" anchor="t">
            <a:spAutoFit/>
          </a:bodyPr>
          <a:lstStyle/>
          <a:p>
            <a:pPr>
              <a:lnSpc>
                <a:spcPts val="1560"/>
              </a:lnSpc>
              <a:spcBef>
                <a:spcPts val="0"/>
              </a:spcBef>
              <a:spcAft>
                <a:spcPts val="0"/>
              </a:spcAft>
              <a:defRPr sz="1140" b="1">
                <a:solidFill>
                  <a:srgbClr val="087E8B"/>
                </a:solidFill>
                <a:latin typeface="Noto Sans"/>
              </a:defRPr>
            </a:pPr>
            <a:r>
              <a:t>+15 puntos porcentuales</a:t>
            </a:r>
          </a:p>
        </p:txBody>
      </p:sp>
      <p:sp>
        <p:nvSpPr>
          <p:cNvPr id="32" name="Rounded Rectangle 31"/>
          <p:cNvSpPr/>
          <p:nvPr/>
        </p:nvSpPr>
        <p:spPr>
          <a:xfrm>
            <a:off x="609600" y="5974080"/>
            <a:ext cx="10896600" cy="304800"/>
          </a:xfrm>
          <a:prstGeom prst="roundRect">
            <a:avLst>
              <a:gd name="adj" fmla="val 20000"/>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6760" y="6035040"/>
            <a:ext cx="10591800" cy="304800"/>
          </a:xfrm>
          <a:prstGeom prst="rect">
            <a:avLst/>
          </a:prstGeom>
          <a:noFill/>
        </p:spPr>
        <p:txBody>
          <a:bodyPr wrap="none" lIns="0" tIns="0" rIns="0" bIns="0" anchor="t">
            <a:spAutoFit/>
          </a:bodyPr>
          <a:lstStyle/>
          <a:p>
            <a:pPr>
              <a:lnSpc>
                <a:spcPts val="1560"/>
              </a:lnSpc>
              <a:spcBef>
                <a:spcPts val="0"/>
              </a:spcBef>
              <a:spcAft>
                <a:spcPts val="0"/>
              </a:spcAft>
              <a:defRPr sz="1140" b="0">
                <a:solidFill>
                  <a:srgbClr val="18394A"/>
                </a:solidFill>
                <a:latin typeface="Noto Sans"/>
              </a:defRPr>
            </a:pPr>
            <a:r>
              <a:t>100 casos por período. Cinco casos futuros llegan a 100 horas: la mejora de la media no elimina excepciones.</a:t>
            </a:r>
          </a:p>
        </p:txBody>
      </p:sp>
      <p:sp>
        <p:nvSpPr>
          <p:cNvPr id="34" name="TextBox 33"/>
          <p:cNvSpPr txBox="1"/>
          <p:nvPr/>
        </p:nvSpPr>
        <p:spPr>
          <a:xfrm>
            <a:off x="609600" y="6446520"/>
            <a:ext cx="108966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El cálculo sobre datos sintéticos no demuestra un efecto causal en una empresa real.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Interpretación y continuidad</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Los resultados agregados requieren mirar excepciones. En los datos simulados futuros hay</a:t>
            </a:r>
          </a:p>
          <a:p>
            <a:pPr>
              <a:lnSpc>
                <a:spcPts val="2580"/>
              </a:lnSpc>
              <a:spcBef>
                <a:spcPts val="0"/>
              </a:spcBef>
              <a:spcAft>
                <a:spcPts val="0"/>
              </a:spcAft>
              <a:defRPr sz="1859" b="0">
                <a:solidFill>
                  <a:srgbClr val="18394A"/>
                </a:solidFill>
                <a:latin typeface="Noto Sans"/>
              </a:defRPr>
            </a:pPr>
            <a:r>
              <a:t>cinco casos de cien horas: mejorar el promedio no elimina demoras importantes. La</a:t>
            </a:r>
          </a:p>
          <a:p>
            <a:pPr>
              <a:lnSpc>
                <a:spcPts val="2580"/>
              </a:lnSpc>
              <a:spcBef>
                <a:spcPts val="0"/>
              </a:spcBef>
              <a:spcAft>
                <a:spcPts val="0"/>
              </a:spcAft>
              <a:defRPr sz="1859" b="0">
                <a:solidFill>
                  <a:srgbClr val="18394A"/>
                </a:solidFill>
                <a:latin typeface="Noto Sans"/>
              </a:defRPr>
            </a:pPr>
            <a:r>
              <a:t>conclusión debe distinguir resultados calculados, hipótesis causal y condiciones pendientes</a:t>
            </a:r>
          </a:p>
          <a:p>
            <a:pPr>
              <a:lnSpc>
                <a:spcPts val="2580"/>
              </a:lnSpc>
              <a:spcBef>
                <a:spcPts val="0"/>
              </a:spcBef>
              <a:spcAft>
                <a:spcPts val="0"/>
              </a:spcAft>
              <a:defRPr sz="1859" b="0">
                <a:solidFill>
                  <a:srgbClr val="18394A"/>
                </a:solidFill>
                <a:latin typeface="Noto Sans"/>
              </a:defRPr>
            </a:pPr>
            <a:r>
              <a:t>de validar en una operación real. El siguiente ciclo revisaría esas excepciones, capacidad,</a:t>
            </a:r>
          </a:p>
          <a:p>
            <a:pPr>
              <a:lnSpc>
                <a:spcPts val="2580"/>
              </a:lnSpc>
              <a:spcBef>
                <a:spcPts val="0"/>
              </a:spcBef>
              <a:spcAft>
                <a:spcPts val="0"/>
              </a:spcAft>
              <a:defRPr sz="1859" b="0">
                <a:solidFill>
                  <a:srgbClr val="18394A"/>
                </a:solidFill>
                <a:latin typeface="Noto Sans"/>
              </a:defRPr>
            </a:pPr>
            <a:r>
              <a:t>carga de trabajo y estabilidad del registro antes de escalar.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U4 · 4.4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Delimita el proceso y representa estado actual y futuro con responsabilidades.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Relaciona problemas, hipótesis de causa, cambio propuesto y evidencia necesaria.</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Calcula promedio, corrección y cumplimiento usando el CSV de apoyo y muestra fórmulas.</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Redacta una conclusión con mejoras agregadas, excepciones, límites causales y próximo ciclo de revisión.</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PND_U4 · Sección 4.4 · Estudio de caso">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U4 · 4.4</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Integra alcance, modelo y evidencia.</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Calcula y examina también las excepciones.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Distingue simulación, hipótesis y resultado real.</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OMG, BPMN 2.0.2. Conjunto de datos sintético propio incluido en Recursos/.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4. Implementación del BPM</dc:title>
  <dc:subject>Procesos para Negocios Digitales · 4.1 Planificación de un proyecto BPM · 4.2 Indicadores para evaluar la implementación · 4.3 Evaluación y selección de procesos a mejorar · 4.4 Estudio de caso</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