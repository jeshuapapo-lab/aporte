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Hoy estudiaremos fases del ciclo de vida del bpm. El propósito es definir entregables, decisiones de paso y trazabilidad entre las fases del ciclo de vida de BPM. Este contenido forma parte de procesos para negocios digitales. Trabajaremos con conceptos y un caso ficticio para tomar decisiones justificadas.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proponer una solución, considera esta pregunta: ¿Qué decisión de paso evitaría implantar una solución que no responde al problema principal? Al terminar deberás explicar tu decisión, indicar cómo la comprobarías y reconocer los límites de la evidencia utilizada.</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fase del ciclo no es solo una casilla del cronograma: produce evidencia que permite tomar una decisión. La identificación entrega alcance y prioridad; el descubrimiento, una descripción validada del estado actual. Antes de avanzar, comprueba que los participantes entienden límites y que las fuentes cubren las principales variantes. La secuencia admite revisiones cuando aparecen vacíos o contradicciones.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debe vincular problemas con datos e hipótesis contrastables. El rediseño compara alternativas y explica qué mecanismo debería mejorar el resultado. Mantén una trazabilidad sencilla entre problema, causa investigada, cambio propuesto y medida esperada. Sin esa conexión, una solución atractiva puede terminar atendiendo un inconveniente distinto del que justificó seleccionar el proceso.</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bloque entrega una base para el siguiente. Una descripción actual validada sostiene el diagnóstico; un diagnóstico contrastado permite comparar alternativas; una alternativa elegida se convierte en piloto; y el piloto genera resultados para decidir continuidad. Las decisiones de paso deben documentarse y permitir volver atrás cuando la evidencia no sea suficiente.</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ficticio: un equipo quiere automatizar aprobaciones porque supone que el trabajo manual causa demoras. Los registros muestran que la mayoría del tiempo transcurre esperando datos que el cliente no envió. La evidencia exige revisar el diagnóstico y comparar una validación inicial de requisitos. El piloto debería medir solicitudes completas, tiempo total y correcciones, antes de ampliar la automatización de aprobaciones.</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a implementación necesita responsables, reglas, capacitación, pruebas y criterios de aceptación. Define condiciones para iniciar un piloto, ampliarlo o retroceder. No confundas la instalación de una herramienta con la aceptación del proceso. Los participantes deben poder ejecutar tareas, resolver excepciones y conservar información suficiente para reconstruir lo ocurrido cuando exista un fallo.</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monitoreo necesita acuerdos sobre quién revisa resultados, con qué frecuencia y qué desviación exige actuar. Un proyecto puede cerrar sus entregables mientras el proceso continúa operando y mejorándose. Registra versiones y aprendizajes para no perder contexto al cambiar de equipo. Si los resultados contradicen las hipótesis del rediseño, revisa el análisis antes de ampliar la misma intervención.</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aplicar lo aprendido, desarrolla la tarea editable. Construye una matriz de fase, evidencia, responsable y decisión de paso. Después, define criterios para iniciar, ampliar o detener un piloto. Justifica tus decisiones con los conceptos de esta explicación y comprueba tus respuestas en la actividad interactiva.</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 estas ideas. Cada fase debe justificar una decisión. Conserva trazabilidad del problema al resultado. Amplía solo con aceptación y aprendizaje. El caso y sus datos son ficticios. Revisa las fuentes indicadas en los materiales y continúa con la práctica para transferir estos criterios a otra situación.</a:t>
            </a:r>
          </a:p>
          <a:p/>
          <a:p>
            <a:r>
              <a:t>Fuente curricular: Procesos para Negocios Digitales, 2.2, UPS 2026–2027. Referencia: Dumas et al. (2018), Fundamentals of Business Process Management. Jeston y Nelis (2014), Business Process Management: Practical Guidelines to Successful Implementations.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2.2</a:t>
            </a:r>
          </a:p>
        </p:txBody>
      </p:sp>
      <p:sp>
        <p:nvSpPr>
          <p:cNvPr id="5" name="TextBox 4"/>
          <p:cNvSpPr txBox="1"/>
          <p:nvPr/>
        </p:nvSpPr>
        <p:spPr>
          <a:xfrm>
            <a:off x="609600" y="1203960"/>
            <a:ext cx="10744200" cy="777240"/>
          </a:xfrm>
          <a:prstGeom prst="rect">
            <a:avLst/>
          </a:prstGeom>
          <a:noFill/>
        </p:spPr>
        <p:txBody>
          <a:bodyPr wrap="none" lIns="0" tIns="0" rIns="0" bIns="0" anchor="t">
            <a:spAutoFit/>
          </a:bodyPr>
          <a:lstStyle/>
          <a:p>
            <a:pPr>
              <a:lnSpc>
                <a:spcPts val="5280"/>
              </a:lnSpc>
              <a:spcBef>
                <a:spcPts val="0"/>
              </a:spcBef>
              <a:spcAft>
                <a:spcPts val="0"/>
              </a:spcAft>
              <a:defRPr sz="3840" b="1">
                <a:solidFill>
                  <a:srgbClr val="FFFFFF"/>
                </a:solidFill>
                <a:latin typeface="Noto Sans"/>
              </a:defRPr>
            </a:pPr>
            <a:r>
              <a:t>Fases del ciclo de vida del BPM</a:t>
            </a:r>
          </a:p>
        </p:txBody>
      </p:sp>
      <p:sp>
        <p:nvSpPr>
          <p:cNvPr id="6" name="TextBox 5"/>
          <p:cNvSpPr txBox="1"/>
          <p:nvPr/>
        </p:nvSpPr>
        <p:spPr>
          <a:xfrm>
            <a:off x="647700" y="2080260"/>
            <a:ext cx="9982200" cy="777240"/>
          </a:xfrm>
          <a:prstGeom prst="rect">
            <a:avLst/>
          </a:prstGeom>
          <a:noFill/>
        </p:spPr>
        <p:txBody>
          <a:bodyPr wrap="none" lIns="0" tIns="0" rIns="0" bIns="0" anchor="t">
            <a:spAutoFit/>
          </a:bodyPr>
          <a:lstStyle/>
          <a:p>
            <a:pPr>
              <a:lnSpc>
                <a:spcPts val="2640"/>
              </a:lnSpc>
              <a:spcBef>
                <a:spcPts val="0"/>
              </a:spcBef>
              <a:spcAft>
                <a:spcPts val="0"/>
              </a:spcAft>
              <a:defRPr sz="1920" b="0">
                <a:solidFill>
                  <a:srgbClr val="D6E4E8"/>
                </a:solidFill>
                <a:latin typeface="Noto Sans"/>
              </a:defRPr>
            </a:pPr>
            <a:r>
              <a:t>Definir entregables, decisiones de paso y trazabilidad entre las fases del ciclo de vida</a:t>
            </a:r>
          </a:p>
          <a:p>
            <a:pPr>
              <a:lnSpc>
                <a:spcPts val="2640"/>
              </a:lnSpc>
              <a:spcBef>
                <a:spcPts val="0"/>
              </a:spcBef>
              <a:spcAft>
                <a:spcPts val="0"/>
              </a:spcAft>
              <a:defRPr sz="1920" b="0">
                <a:solidFill>
                  <a:srgbClr val="D6E4E8"/>
                </a:solidFill>
                <a:latin typeface="Noto Sans"/>
              </a:defRPr>
            </a:pPr>
            <a:r>
              <a:t>de BPM.</a:t>
            </a:r>
          </a:p>
        </p:txBody>
      </p:sp>
      <p:sp>
        <p:nvSpPr>
          <p:cNvPr id="7" name="Rounded Rectangle 6"/>
          <p:cNvSpPr/>
          <p:nvPr/>
        </p:nvSpPr>
        <p:spPr>
          <a:xfrm>
            <a:off x="6477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34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Comprender</a:t>
            </a:r>
          </a:p>
        </p:txBody>
      </p:sp>
      <p:sp>
        <p:nvSpPr>
          <p:cNvPr id="9" name="Rounded Rectangle 8"/>
          <p:cNvSpPr/>
          <p:nvPr/>
        </p:nvSpPr>
        <p:spPr>
          <a:xfrm>
            <a:off x="43815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Aplicar</a:t>
            </a:r>
          </a:p>
        </p:txBody>
      </p:sp>
      <p:sp>
        <p:nvSpPr>
          <p:cNvPr id="11" name="Rounded Rectangle 10"/>
          <p:cNvSpPr/>
          <p:nvPr/>
        </p:nvSpPr>
        <p:spPr>
          <a:xfrm>
            <a:off x="8115300" y="4983480"/>
            <a:ext cx="3467100" cy="792480"/>
          </a:xfrm>
          <a:prstGeom prst="roundRect">
            <a:avLst>
              <a:gd name="adj" fmla="val 15384"/>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5189220"/>
            <a:ext cx="30480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Comprobar</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Una decisión que podrás justificar</a:t>
            </a:r>
          </a:p>
        </p:txBody>
      </p:sp>
      <p:sp>
        <p:nvSpPr>
          <p:cNvPr id="5" name="Rounded Rectangle 4"/>
          <p:cNvSpPr/>
          <p:nvPr/>
        </p:nvSpPr>
        <p:spPr>
          <a:xfrm>
            <a:off x="609600" y="2308860"/>
            <a:ext cx="10896600" cy="1341120"/>
          </a:xfrm>
          <a:prstGeom prst="roundRect">
            <a:avLst>
              <a:gd name="adj" fmla="val 1022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8200" y="2484120"/>
            <a:ext cx="10439400" cy="822960"/>
          </a:xfrm>
          <a:prstGeom prst="rect">
            <a:avLst/>
          </a:prstGeom>
          <a:noFill/>
        </p:spPr>
        <p:txBody>
          <a:bodyPr wrap="none" lIns="0" tIns="0" rIns="0" bIns="0" anchor="t">
            <a:spAutoFit/>
          </a:bodyPr>
          <a:lstStyle/>
          <a:p>
            <a:pPr>
              <a:lnSpc>
                <a:spcPts val="2820"/>
              </a:lnSpc>
              <a:spcBef>
                <a:spcPts val="0"/>
              </a:spcBef>
              <a:spcAft>
                <a:spcPts val="0"/>
              </a:spcAft>
              <a:defRPr sz="2039" b="1">
                <a:solidFill>
                  <a:srgbClr val="18394A"/>
                </a:solidFill>
                <a:latin typeface="Noto Sans"/>
              </a:defRPr>
            </a:pPr>
            <a:r>
              <a:t>Definir entregables, decisiones de paso y trazabilidad entre las fases del ciclo de</a:t>
            </a:r>
          </a:p>
          <a:p>
            <a:pPr>
              <a:lnSpc>
                <a:spcPts val="2820"/>
              </a:lnSpc>
              <a:spcBef>
                <a:spcPts val="0"/>
              </a:spcBef>
              <a:spcAft>
                <a:spcPts val="0"/>
              </a:spcAft>
              <a:defRPr sz="2039" b="1">
                <a:solidFill>
                  <a:srgbClr val="18394A"/>
                </a:solidFill>
                <a:latin typeface="Noto Sans"/>
              </a:defRPr>
            </a:pPr>
            <a:r>
              <a:t>vida de BPM.</a:t>
            </a:r>
          </a:p>
        </p:txBody>
      </p:sp>
      <p:sp>
        <p:nvSpPr>
          <p:cNvPr id="7" name="TextBox 6"/>
          <p:cNvSpPr txBox="1"/>
          <p:nvPr/>
        </p:nvSpPr>
        <p:spPr>
          <a:xfrm>
            <a:off x="685800" y="4061460"/>
            <a:ext cx="10668000" cy="381000"/>
          </a:xfrm>
          <a:prstGeom prst="rect">
            <a:avLst/>
          </a:prstGeom>
          <a:noFill/>
        </p:spPr>
        <p:txBody>
          <a:bodyPr wrap="none" lIns="0" tIns="0" rIns="0" bIns="0" anchor="t">
            <a:spAutoFit/>
          </a:bodyPr>
          <a:lstStyle/>
          <a:p>
            <a:pPr>
              <a:lnSpc>
                <a:spcPts val="2160"/>
              </a:lnSpc>
              <a:spcBef>
                <a:spcPts val="0"/>
              </a:spcBef>
              <a:spcAft>
                <a:spcPts val="0"/>
              </a:spcAft>
              <a:defRPr sz="1560" b="1">
                <a:solidFill>
                  <a:srgbClr val="087E8B"/>
                </a:solidFill>
                <a:latin typeface="Noto Sans"/>
              </a:defRPr>
            </a:pPr>
            <a:r>
              <a:t>Pregunta de entrada</a:t>
            </a:r>
          </a:p>
        </p:txBody>
      </p:sp>
      <p:sp>
        <p:nvSpPr>
          <p:cNvPr id="8" name="TextBox 7"/>
          <p:cNvSpPr txBox="1"/>
          <p:nvPr/>
        </p:nvSpPr>
        <p:spPr>
          <a:xfrm>
            <a:off x="685800" y="4488180"/>
            <a:ext cx="10668000" cy="822960"/>
          </a:xfrm>
          <a:prstGeom prst="rect">
            <a:avLst/>
          </a:prstGeom>
          <a:noFill/>
        </p:spPr>
        <p:txBody>
          <a:bodyPr wrap="none" lIns="0" tIns="0" rIns="0" bIns="0" anchor="t">
            <a:spAutoFit/>
          </a:bodyPr>
          <a:lstStyle/>
          <a:p>
            <a:pPr>
              <a:lnSpc>
                <a:spcPts val="2820"/>
              </a:lnSpc>
              <a:spcBef>
                <a:spcPts val="0"/>
              </a:spcBef>
              <a:spcAft>
                <a:spcPts val="0"/>
              </a:spcAft>
              <a:defRPr sz="2039" b="0">
                <a:solidFill>
                  <a:srgbClr val="18394A"/>
                </a:solidFill>
                <a:latin typeface="Noto Sans"/>
              </a:defRPr>
            </a:pPr>
            <a:r>
              <a:t>¿Qué decisión de paso evitaría implantar una solución que no responde al problema</a:t>
            </a:r>
          </a:p>
          <a:p>
            <a:pPr>
              <a:lnSpc>
                <a:spcPts val="2820"/>
              </a:lnSpc>
              <a:spcBef>
                <a:spcPts val="0"/>
              </a:spcBef>
              <a:spcAft>
                <a:spcPts val="0"/>
              </a:spcAft>
              <a:defRPr sz="2039" b="0">
                <a:solidFill>
                  <a:srgbClr val="18394A"/>
                </a:solidFill>
                <a:latin typeface="Noto Sans"/>
              </a:defRPr>
            </a:pPr>
            <a:r>
              <a:t>principal?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 fases a decisiones</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Una fase del ciclo no es solo una casilla del cronograma: produce evidencia que permite</a:t>
            </a:r>
          </a:p>
          <a:p>
            <a:pPr>
              <a:lnSpc>
                <a:spcPts val="2580"/>
              </a:lnSpc>
              <a:spcBef>
                <a:spcPts val="0"/>
              </a:spcBef>
              <a:spcAft>
                <a:spcPts val="0"/>
              </a:spcAft>
              <a:defRPr sz="1859" b="0">
                <a:solidFill>
                  <a:srgbClr val="18394A"/>
                </a:solidFill>
                <a:latin typeface="Noto Sans"/>
              </a:defRPr>
            </a:pPr>
            <a:r>
              <a:t>tomar una decisión. La identificación entrega alcance y prioridad; el descubrimiento, una</a:t>
            </a:r>
          </a:p>
          <a:p>
            <a:pPr>
              <a:lnSpc>
                <a:spcPts val="2580"/>
              </a:lnSpc>
              <a:spcBef>
                <a:spcPts val="0"/>
              </a:spcBef>
              <a:spcAft>
                <a:spcPts val="0"/>
              </a:spcAft>
              <a:defRPr sz="1859" b="0">
                <a:solidFill>
                  <a:srgbClr val="18394A"/>
                </a:solidFill>
                <a:latin typeface="Noto Sans"/>
              </a:defRPr>
            </a:pPr>
            <a:r>
              <a:t>descripción validada del estado actual. Antes de avanzar, comprueba que los participantes</a:t>
            </a:r>
          </a:p>
          <a:p>
            <a:pPr>
              <a:lnSpc>
                <a:spcPts val="2580"/>
              </a:lnSpc>
              <a:spcBef>
                <a:spcPts val="0"/>
              </a:spcBef>
              <a:spcAft>
                <a:spcPts val="0"/>
              </a:spcAft>
              <a:defRPr sz="1859" b="0">
                <a:solidFill>
                  <a:srgbClr val="18394A"/>
                </a:solidFill>
                <a:latin typeface="Noto Sans"/>
              </a:defRPr>
            </a:pPr>
            <a:r>
              <a:t>entienden límites y que las fuentes cubren las principales variantes. La secuencia admite</a:t>
            </a:r>
          </a:p>
          <a:p>
            <a:pPr>
              <a:lnSpc>
                <a:spcPts val="2580"/>
              </a:lnSpc>
              <a:spcBef>
                <a:spcPts val="0"/>
              </a:spcBef>
              <a:spcAft>
                <a:spcPts val="0"/>
              </a:spcAft>
              <a:defRPr sz="1859" b="0">
                <a:solidFill>
                  <a:srgbClr val="18394A"/>
                </a:solidFill>
                <a:latin typeface="Noto Sans"/>
              </a:defRPr>
            </a:pPr>
            <a:r>
              <a:t>revisiones cuando aparecen vacíos o contradicciones.</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diagnóstico a la alternativa</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análisis debe vincular problemas con datos e hipótesis contrastables. El rediseño</a:t>
            </a:r>
          </a:p>
          <a:p>
            <a:pPr>
              <a:lnSpc>
                <a:spcPts val="2580"/>
              </a:lnSpc>
              <a:spcBef>
                <a:spcPts val="0"/>
              </a:spcBef>
              <a:spcAft>
                <a:spcPts val="0"/>
              </a:spcAft>
              <a:defRPr sz="1859" b="0">
                <a:solidFill>
                  <a:srgbClr val="18394A"/>
                </a:solidFill>
                <a:latin typeface="Noto Sans"/>
              </a:defRPr>
            </a:pPr>
            <a:r>
              <a:t>compara alternativas y explica qué mecanismo debería mejorar el resultado. Mantén una</a:t>
            </a:r>
          </a:p>
          <a:p>
            <a:pPr>
              <a:lnSpc>
                <a:spcPts val="2580"/>
              </a:lnSpc>
              <a:spcBef>
                <a:spcPts val="0"/>
              </a:spcBef>
              <a:spcAft>
                <a:spcPts val="0"/>
              </a:spcAft>
              <a:defRPr sz="1859" b="0">
                <a:solidFill>
                  <a:srgbClr val="18394A"/>
                </a:solidFill>
                <a:latin typeface="Noto Sans"/>
              </a:defRPr>
            </a:pPr>
            <a:r>
              <a:t>trazabilidad sencilla entre problema, causa investigada, cambio propuesto y medida</a:t>
            </a:r>
          </a:p>
          <a:p>
            <a:pPr>
              <a:lnSpc>
                <a:spcPts val="2580"/>
              </a:lnSpc>
              <a:spcBef>
                <a:spcPts val="0"/>
              </a:spcBef>
              <a:spcAft>
                <a:spcPts val="0"/>
              </a:spcAft>
              <a:defRPr sz="1859" b="0">
                <a:solidFill>
                  <a:srgbClr val="18394A"/>
                </a:solidFill>
                <a:latin typeface="Noto Sans"/>
              </a:defRPr>
            </a:pPr>
            <a:r>
              <a:t>esperada. Sin esa conexión, una solución atractiva puede terminar atendiendo un</a:t>
            </a:r>
          </a:p>
          <a:p>
            <a:pPr>
              <a:lnSpc>
                <a:spcPts val="2580"/>
              </a:lnSpc>
              <a:spcBef>
                <a:spcPts val="0"/>
              </a:spcBef>
              <a:spcAft>
                <a:spcPts val="0"/>
              </a:spcAft>
              <a:defRPr sz="1859" b="0">
                <a:solidFill>
                  <a:srgbClr val="18394A"/>
                </a:solidFill>
                <a:latin typeface="Noto Sans"/>
              </a:defRPr>
            </a:pPr>
            <a:r>
              <a:t>inconveniente distinto del que justificó seleccionar el proceso.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Del concepto a la acción</a:t>
            </a:r>
          </a:p>
        </p:txBody>
      </p:sp>
      <p:sp>
        <p:nvSpPr>
          <p:cNvPr id="5" name="Rounded Rectangle 4"/>
          <p:cNvSpPr/>
          <p:nvPr/>
        </p:nvSpPr>
        <p:spPr>
          <a:xfrm>
            <a:off x="6096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48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01</a:t>
            </a:r>
          </a:p>
        </p:txBody>
      </p:sp>
      <p:sp>
        <p:nvSpPr>
          <p:cNvPr id="7" name="TextBox 6"/>
          <p:cNvSpPr txBox="1"/>
          <p:nvPr/>
        </p:nvSpPr>
        <p:spPr>
          <a:xfrm>
            <a:off x="7848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Evidencia actual</a:t>
            </a:r>
          </a:p>
        </p:txBody>
      </p:sp>
      <p:sp>
        <p:nvSpPr>
          <p:cNvPr id="8" name="TextBox 7"/>
          <p:cNvSpPr txBox="1"/>
          <p:nvPr/>
        </p:nvSpPr>
        <p:spPr>
          <a:xfrm>
            <a:off x="31546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9" name="Rounded Rectangle 8"/>
          <p:cNvSpPr/>
          <p:nvPr/>
        </p:nvSpPr>
        <p:spPr>
          <a:xfrm>
            <a:off x="33528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80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02</a:t>
            </a:r>
          </a:p>
        </p:txBody>
      </p:sp>
      <p:sp>
        <p:nvSpPr>
          <p:cNvPr id="11" name="TextBox 10"/>
          <p:cNvSpPr txBox="1"/>
          <p:nvPr/>
        </p:nvSpPr>
        <p:spPr>
          <a:xfrm>
            <a:off x="35280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Diagnóstico trazable</a:t>
            </a:r>
          </a:p>
        </p:txBody>
      </p:sp>
      <p:sp>
        <p:nvSpPr>
          <p:cNvPr id="12" name="TextBox 11"/>
          <p:cNvSpPr txBox="1"/>
          <p:nvPr/>
        </p:nvSpPr>
        <p:spPr>
          <a:xfrm>
            <a:off x="58978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3" name="Rounded Rectangle 12"/>
          <p:cNvSpPr/>
          <p:nvPr/>
        </p:nvSpPr>
        <p:spPr>
          <a:xfrm>
            <a:off x="60960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12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03</a:t>
            </a:r>
          </a:p>
        </p:txBody>
      </p:sp>
      <p:sp>
        <p:nvSpPr>
          <p:cNvPr id="15" name="TextBox 14"/>
          <p:cNvSpPr txBox="1"/>
          <p:nvPr/>
        </p:nvSpPr>
        <p:spPr>
          <a:xfrm>
            <a:off x="6271260" y="2948940"/>
            <a:ext cx="21717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Piloto aceptado</a:t>
            </a:r>
          </a:p>
        </p:txBody>
      </p:sp>
      <p:sp>
        <p:nvSpPr>
          <p:cNvPr id="16" name="TextBox 15"/>
          <p:cNvSpPr txBox="1"/>
          <p:nvPr/>
        </p:nvSpPr>
        <p:spPr>
          <a:xfrm>
            <a:off x="8641080" y="2811780"/>
            <a:ext cx="2286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18394A"/>
                </a:solidFill>
                <a:latin typeface="Noto Sans"/>
              </a:defRPr>
            </a:pPr>
            <a:r>
              <a:t>›</a:t>
            </a:r>
          </a:p>
        </p:txBody>
      </p:sp>
      <p:sp>
        <p:nvSpPr>
          <p:cNvPr id="17" name="Rounded Rectangle 16"/>
          <p:cNvSpPr/>
          <p:nvPr/>
        </p:nvSpPr>
        <p:spPr>
          <a:xfrm>
            <a:off x="8839200" y="2438400"/>
            <a:ext cx="2514600" cy="1188720"/>
          </a:xfrm>
          <a:prstGeom prst="roundRect">
            <a:avLst>
              <a:gd name="adj" fmla="val 9615"/>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14460" y="2606040"/>
            <a:ext cx="2171700" cy="327660"/>
          </a:xfrm>
          <a:prstGeom prst="rect">
            <a:avLst/>
          </a:prstGeom>
          <a:noFill/>
        </p:spPr>
        <p:txBody>
          <a:bodyPr wrap="none" lIns="0" tIns="0" rIns="0" bIns="0" anchor="t">
            <a:spAutoFit/>
          </a:bodyPr>
          <a:lstStyle/>
          <a:p>
            <a:pPr>
              <a:lnSpc>
                <a:spcPts val="1739"/>
              </a:lnSpc>
              <a:spcBef>
                <a:spcPts val="0"/>
              </a:spcBef>
              <a:spcAft>
                <a:spcPts val="0"/>
              </a:spcAft>
              <a:defRPr sz="1260" b="1">
                <a:solidFill>
                  <a:srgbClr val="FFFFFF"/>
                </a:solidFill>
                <a:latin typeface="Noto Sans"/>
              </a:defRPr>
            </a:pPr>
            <a:r>
              <a:t>04</a:t>
            </a:r>
          </a:p>
        </p:txBody>
      </p:sp>
      <p:sp>
        <p:nvSpPr>
          <p:cNvPr id="19" name="TextBox 18"/>
          <p:cNvSpPr txBox="1"/>
          <p:nvPr/>
        </p:nvSpPr>
        <p:spPr>
          <a:xfrm>
            <a:off x="9014460" y="2948940"/>
            <a:ext cx="2171700" cy="67056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FFFFFF"/>
                </a:solidFill>
                <a:latin typeface="Noto Sans"/>
              </a:defRPr>
            </a:pPr>
            <a:r>
              <a:t>Revisión del</a:t>
            </a:r>
          </a:p>
          <a:p>
            <a:pPr>
              <a:lnSpc>
                <a:spcPts val="2220"/>
              </a:lnSpc>
              <a:spcBef>
                <a:spcPts val="0"/>
              </a:spcBef>
              <a:spcAft>
                <a:spcPts val="0"/>
              </a:spcAft>
              <a:defRPr sz="1620" b="1">
                <a:solidFill>
                  <a:srgbClr val="FFFFFF"/>
                </a:solidFill>
                <a:latin typeface="Noto Sans"/>
              </a:defRPr>
            </a:pPr>
            <a:r>
              <a:t>resultado</a:t>
            </a:r>
          </a:p>
        </p:txBody>
      </p:sp>
      <p:sp>
        <p:nvSpPr>
          <p:cNvPr id="20" name="Rounded Rectangle 19"/>
          <p:cNvSpPr/>
          <p:nvPr/>
        </p:nvSpPr>
        <p:spPr>
          <a:xfrm>
            <a:off x="609600" y="3962399"/>
            <a:ext cx="10881360" cy="1744980"/>
          </a:xfrm>
          <a:prstGeom prst="roundRect">
            <a:avLst>
              <a:gd name="adj" fmla="val 78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200" y="4175760"/>
            <a:ext cx="10424160" cy="13258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536975"/>
                </a:solidFill>
                <a:latin typeface="Noto Sans"/>
              </a:defRPr>
            </a:pPr>
            <a:r>
              <a:t>Cada bloque entrega una base para el siguiente. Una descripción actual validada sostiene el</a:t>
            </a:r>
          </a:p>
          <a:p>
            <a:pPr>
              <a:lnSpc>
                <a:spcPts val="2400"/>
              </a:lnSpc>
              <a:spcBef>
                <a:spcPts val="0"/>
              </a:spcBef>
              <a:spcAft>
                <a:spcPts val="0"/>
              </a:spcAft>
              <a:defRPr sz="1739" b="0">
                <a:solidFill>
                  <a:srgbClr val="536975"/>
                </a:solidFill>
                <a:latin typeface="Noto Sans"/>
              </a:defRPr>
            </a:pPr>
            <a:r>
              <a:t>diagnóstico; un diagnóstico contrastado permite comparar alternativas; una alternativa elegida se</a:t>
            </a:r>
          </a:p>
          <a:p>
            <a:pPr>
              <a:lnSpc>
                <a:spcPts val="2400"/>
              </a:lnSpc>
              <a:spcBef>
                <a:spcPts val="0"/>
              </a:spcBef>
              <a:spcAft>
                <a:spcPts val="0"/>
              </a:spcAft>
              <a:defRPr sz="1739" b="0">
                <a:solidFill>
                  <a:srgbClr val="536975"/>
                </a:solidFill>
                <a:latin typeface="Noto Sans"/>
              </a:defRPr>
            </a:pPr>
            <a:r>
              <a:t>convierte en piloto; y el piloto genera resultados para decidir continuidad. Las decisiones de paso</a:t>
            </a:r>
          </a:p>
          <a:p>
            <a:pPr>
              <a:lnSpc>
                <a:spcPts val="2400"/>
              </a:lnSpc>
              <a:spcBef>
                <a:spcPts val="0"/>
              </a:spcBef>
              <a:spcAft>
                <a:spcPts val="0"/>
              </a:spcAft>
              <a:defRPr sz="1739" b="0">
                <a:solidFill>
                  <a:srgbClr val="536975"/>
                </a:solidFill>
                <a:latin typeface="Noto Sans"/>
              </a:defRPr>
            </a:pPr>
            <a:r>
              <a:t>deben documentarse y permitir volver atrás cuando la evidencia no sea suficiente.</a:t>
            </a:r>
          </a:p>
        </p:txBody>
      </p:sp>
      <p:sp>
        <p:nvSpPr>
          <p:cNvPr id="22" name="TextBox 21"/>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23" name="TextBox 22"/>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Caso aplicado · datos ficticios</a:t>
            </a:r>
          </a:p>
        </p:txBody>
      </p:sp>
      <p:sp>
        <p:nvSpPr>
          <p:cNvPr id="5" name="Rounded Rectangle 4"/>
          <p:cNvSpPr/>
          <p:nvPr/>
        </p:nvSpPr>
        <p:spPr>
          <a:xfrm>
            <a:off x="609600" y="2270760"/>
            <a:ext cx="10881360" cy="2301240"/>
          </a:xfrm>
          <a:prstGeom prst="roundRect">
            <a:avLst>
              <a:gd name="adj" fmla="val 596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3440" y="2484120"/>
            <a:ext cx="10393680" cy="1630680"/>
          </a:xfrm>
          <a:prstGeom prst="rect">
            <a:avLst/>
          </a:prstGeom>
          <a:noFill/>
        </p:spPr>
        <p:txBody>
          <a:bodyPr wrap="none" lIns="0" tIns="0" rIns="0" bIns="0" anchor="t">
            <a:spAutoFit/>
          </a:bodyPr>
          <a:lstStyle/>
          <a:p>
            <a:pPr>
              <a:lnSpc>
                <a:spcPts val="2400"/>
              </a:lnSpc>
              <a:spcBef>
                <a:spcPts val="0"/>
              </a:spcBef>
              <a:spcAft>
                <a:spcPts val="0"/>
              </a:spcAft>
              <a:defRPr sz="1739" b="0">
                <a:solidFill>
                  <a:srgbClr val="18394A"/>
                </a:solidFill>
                <a:latin typeface="Noto Sans"/>
              </a:defRPr>
            </a:pPr>
            <a:r>
              <a:t>Caso ficticio: un equipo quiere automatizar aprobaciones porque supone que el trabajo manual</a:t>
            </a:r>
          </a:p>
          <a:p>
            <a:pPr>
              <a:lnSpc>
                <a:spcPts val="2400"/>
              </a:lnSpc>
              <a:spcBef>
                <a:spcPts val="0"/>
              </a:spcBef>
              <a:spcAft>
                <a:spcPts val="0"/>
              </a:spcAft>
              <a:defRPr sz="1739" b="0">
                <a:solidFill>
                  <a:srgbClr val="18394A"/>
                </a:solidFill>
                <a:latin typeface="Noto Sans"/>
              </a:defRPr>
            </a:pPr>
            <a:r>
              <a:t>causa demoras. Los registros muestran que la mayoría del tiempo transcurre esperando datos que</a:t>
            </a:r>
          </a:p>
          <a:p>
            <a:pPr>
              <a:lnSpc>
                <a:spcPts val="2400"/>
              </a:lnSpc>
              <a:spcBef>
                <a:spcPts val="0"/>
              </a:spcBef>
              <a:spcAft>
                <a:spcPts val="0"/>
              </a:spcAft>
              <a:defRPr sz="1739" b="0">
                <a:solidFill>
                  <a:srgbClr val="18394A"/>
                </a:solidFill>
                <a:latin typeface="Noto Sans"/>
              </a:defRPr>
            </a:pPr>
            <a:r>
              <a:t>el cliente no envió. La evidencia exige revisar el diagnóstico y comparar una validación inicial de</a:t>
            </a:r>
          </a:p>
          <a:p>
            <a:pPr>
              <a:lnSpc>
                <a:spcPts val="2400"/>
              </a:lnSpc>
              <a:spcBef>
                <a:spcPts val="0"/>
              </a:spcBef>
              <a:spcAft>
                <a:spcPts val="0"/>
              </a:spcAft>
              <a:defRPr sz="1739" b="0">
                <a:solidFill>
                  <a:srgbClr val="18394A"/>
                </a:solidFill>
                <a:latin typeface="Noto Sans"/>
              </a:defRPr>
            </a:pPr>
            <a:r>
              <a:t>requisitos. El piloto debería medir solicitudes completas, tiempo total y correcciones, antes de</a:t>
            </a:r>
          </a:p>
          <a:p>
            <a:pPr>
              <a:lnSpc>
                <a:spcPts val="2400"/>
              </a:lnSpc>
              <a:spcBef>
                <a:spcPts val="0"/>
              </a:spcBef>
              <a:spcAft>
                <a:spcPts val="0"/>
              </a:spcAft>
              <a:defRPr sz="1739" b="0">
                <a:solidFill>
                  <a:srgbClr val="18394A"/>
                </a:solidFill>
                <a:latin typeface="Noto Sans"/>
              </a:defRPr>
            </a:pPr>
            <a:r>
              <a:t>ampliar la automatización de aprobaciones.</a:t>
            </a:r>
          </a:p>
        </p:txBody>
      </p:sp>
      <p:sp>
        <p:nvSpPr>
          <p:cNvPr id="7" name="Rounded Rectangle 6"/>
          <p:cNvSpPr/>
          <p:nvPr/>
        </p:nvSpPr>
        <p:spPr>
          <a:xfrm>
            <a:off x="609600" y="4785360"/>
            <a:ext cx="10881360" cy="922020"/>
          </a:xfrm>
          <a:prstGeom prst="roundRect">
            <a:avLst>
              <a:gd name="adj" fmla="val 12396"/>
            </a:avLst>
          </a:prstGeom>
          <a:solidFill>
            <a:srgbClr val="E2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580" y="4945380"/>
            <a:ext cx="10439400" cy="388620"/>
          </a:xfrm>
          <a:prstGeom prst="rect">
            <a:avLst/>
          </a:prstGeom>
          <a:noFill/>
        </p:spPr>
        <p:txBody>
          <a:bodyPr wrap="none" lIns="0" tIns="0" rIns="0" bIns="0" anchor="t">
            <a:spAutoFit/>
          </a:bodyPr>
          <a:lstStyle/>
          <a:p>
            <a:pPr>
              <a:lnSpc>
                <a:spcPts val="2220"/>
              </a:lnSpc>
              <a:spcBef>
                <a:spcPts val="0"/>
              </a:spcBef>
              <a:spcAft>
                <a:spcPts val="0"/>
              </a:spcAft>
              <a:defRPr sz="1620" b="1">
                <a:solidFill>
                  <a:srgbClr val="18394A"/>
                </a:solidFill>
                <a:latin typeface="Noto Sans"/>
              </a:defRPr>
            </a:pPr>
            <a:r>
              <a:t>¿Qué decisión de paso evitaría implantar una solución que no responde al problema principal?</a:t>
            </a:r>
          </a:p>
        </p:txBody>
      </p:sp>
      <p:sp>
        <p:nvSpPr>
          <p:cNvPr id="9" name="TextBox 8"/>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0" name="TextBox 9"/>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Implementación con aceptación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paso a implementación necesita responsables, reglas, capacitación, pruebas y criterios de</a:t>
            </a:r>
          </a:p>
          <a:p>
            <a:pPr>
              <a:lnSpc>
                <a:spcPts val="2580"/>
              </a:lnSpc>
              <a:spcBef>
                <a:spcPts val="0"/>
              </a:spcBef>
              <a:spcAft>
                <a:spcPts val="0"/>
              </a:spcAft>
              <a:defRPr sz="1859" b="0">
                <a:solidFill>
                  <a:srgbClr val="18394A"/>
                </a:solidFill>
                <a:latin typeface="Noto Sans"/>
              </a:defRPr>
            </a:pPr>
            <a:r>
              <a:t>aceptación. Define condiciones para iniciar un piloto, ampliarlo o retroceder. No confundas</a:t>
            </a:r>
          </a:p>
          <a:p>
            <a:pPr>
              <a:lnSpc>
                <a:spcPts val="2580"/>
              </a:lnSpc>
              <a:spcBef>
                <a:spcPts val="0"/>
              </a:spcBef>
              <a:spcAft>
                <a:spcPts val="0"/>
              </a:spcAft>
              <a:defRPr sz="1859" b="0">
                <a:solidFill>
                  <a:srgbClr val="18394A"/>
                </a:solidFill>
                <a:latin typeface="Noto Sans"/>
              </a:defRPr>
            </a:pPr>
            <a:r>
              <a:t>la instalación de una herramienta con la aceptación del proceso. Los participantes deben</a:t>
            </a:r>
          </a:p>
          <a:p>
            <a:pPr>
              <a:lnSpc>
                <a:spcPts val="2580"/>
              </a:lnSpc>
              <a:spcBef>
                <a:spcPts val="0"/>
              </a:spcBef>
              <a:spcAft>
                <a:spcPts val="0"/>
              </a:spcAft>
              <a:defRPr sz="1859" b="0">
                <a:solidFill>
                  <a:srgbClr val="18394A"/>
                </a:solidFill>
                <a:latin typeface="Noto Sans"/>
              </a:defRPr>
            </a:pPr>
            <a:r>
              <a:t>poder ejecutar tareas, resolver excepciones y conservar información suficiente para</a:t>
            </a:r>
          </a:p>
          <a:p>
            <a:pPr>
              <a:lnSpc>
                <a:spcPts val="2580"/>
              </a:lnSpc>
              <a:spcBef>
                <a:spcPts val="0"/>
              </a:spcBef>
              <a:spcAft>
                <a:spcPts val="0"/>
              </a:spcAft>
              <a:defRPr sz="1859" b="0">
                <a:solidFill>
                  <a:srgbClr val="18394A"/>
                </a:solidFill>
                <a:latin typeface="Noto Sans"/>
              </a:defRPr>
            </a:pPr>
            <a:r>
              <a:t>reconstruir lo ocurrido cuando exista un fallo.</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Cierre y retroalimentación</a:t>
            </a:r>
          </a:p>
        </p:txBody>
      </p:sp>
      <p:sp>
        <p:nvSpPr>
          <p:cNvPr id="5" name="Rounded Rectangle 4"/>
          <p:cNvSpPr/>
          <p:nvPr/>
        </p:nvSpPr>
        <p:spPr>
          <a:xfrm>
            <a:off x="609600" y="2286000"/>
            <a:ext cx="10881360" cy="3390900"/>
          </a:xfrm>
          <a:prstGeom prst="roundRect">
            <a:avLst>
              <a:gd name="adj" fmla="val 40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2286000"/>
            <a:ext cx="83820" cy="339090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9160" y="2522220"/>
            <a:ext cx="10210800" cy="1744980"/>
          </a:xfrm>
          <a:prstGeom prst="rect">
            <a:avLst/>
          </a:prstGeom>
          <a:noFill/>
        </p:spPr>
        <p:txBody>
          <a:bodyPr wrap="none" lIns="0" tIns="0" rIns="0" bIns="0" anchor="t">
            <a:spAutoFit/>
          </a:bodyPr>
          <a:lstStyle/>
          <a:p>
            <a:pPr>
              <a:lnSpc>
                <a:spcPts val="2580"/>
              </a:lnSpc>
              <a:spcBef>
                <a:spcPts val="0"/>
              </a:spcBef>
              <a:spcAft>
                <a:spcPts val="0"/>
              </a:spcAft>
              <a:defRPr sz="1859" b="0">
                <a:solidFill>
                  <a:srgbClr val="18394A"/>
                </a:solidFill>
                <a:latin typeface="Noto Sans"/>
              </a:defRPr>
            </a:pPr>
            <a:r>
              <a:t>El monitoreo necesita acuerdos sobre quién revisa resultados, con qué frecuencia y qué</a:t>
            </a:r>
          </a:p>
          <a:p>
            <a:pPr>
              <a:lnSpc>
                <a:spcPts val="2580"/>
              </a:lnSpc>
              <a:spcBef>
                <a:spcPts val="0"/>
              </a:spcBef>
              <a:spcAft>
                <a:spcPts val="0"/>
              </a:spcAft>
              <a:defRPr sz="1859" b="0">
                <a:solidFill>
                  <a:srgbClr val="18394A"/>
                </a:solidFill>
                <a:latin typeface="Noto Sans"/>
              </a:defRPr>
            </a:pPr>
            <a:r>
              <a:t>desviación exige actuar. Un proyecto puede cerrar sus entregables mientras el proceso</a:t>
            </a:r>
          </a:p>
          <a:p>
            <a:pPr>
              <a:lnSpc>
                <a:spcPts val="2580"/>
              </a:lnSpc>
              <a:spcBef>
                <a:spcPts val="0"/>
              </a:spcBef>
              <a:spcAft>
                <a:spcPts val="0"/>
              </a:spcAft>
              <a:defRPr sz="1859" b="0">
                <a:solidFill>
                  <a:srgbClr val="18394A"/>
                </a:solidFill>
                <a:latin typeface="Noto Sans"/>
              </a:defRPr>
            </a:pPr>
            <a:r>
              <a:t>continúa operando y mejorándose. Registra versiones y aprendizajes para no perder</a:t>
            </a:r>
          </a:p>
          <a:p>
            <a:pPr>
              <a:lnSpc>
                <a:spcPts val="2580"/>
              </a:lnSpc>
              <a:spcBef>
                <a:spcPts val="0"/>
              </a:spcBef>
              <a:spcAft>
                <a:spcPts val="0"/>
              </a:spcAft>
              <a:defRPr sz="1859" b="0">
                <a:solidFill>
                  <a:srgbClr val="18394A"/>
                </a:solidFill>
                <a:latin typeface="Noto Sans"/>
              </a:defRPr>
            </a:pPr>
            <a:r>
              <a:t>contexto al cambiar de equipo. Si los resultados contradicen las hipótesis del rediseño,</a:t>
            </a:r>
          </a:p>
          <a:p>
            <a:pPr>
              <a:lnSpc>
                <a:spcPts val="2580"/>
              </a:lnSpc>
              <a:spcBef>
                <a:spcPts val="0"/>
              </a:spcBef>
              <a:spcAft>
                <a:spcPts val="0"/>
              </a:spcAft>
              <a:defRPr sz="1859" b="0">
                <a:solidFill>
                  <a:srgbClr val="18394A"/>
                </a:solidFill>
                <a:latin typeface="Noto Sans"/>
              </a:defRPr>
            </a:pPr>
            <a:r>
              <a:t>revisa el análisis antes de ampliar la misma intervención.</a:t>
            </a:r>
          </a:p>
        </p:txBody>
      </p:sp>
      <p:sp>
        <p:nvSpPr>
          <p:cNvPr id="8" name="TextBox 7"/>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9" name="TextBox 8"/>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087E8B"/>
                </a:solidFill>
                <a:latin typeface="Noto Sans"/>
              </a:defRPr>
            </a:pPr>
            <a:r>
              <a:t>PROCESOS PARA NEGOCIOS DIGITALES · U2 · 2.2</a:t>
            </a:r>
          </a:p>
        </p:txBody>
      </p:sp>
      <p:sp>
        <p:nvSpPr>
          <p:cNvPr id="4" name="TextBox 3"/>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18394A"/>
                </a:solidFill>
                <a:latin typeface="Noto Sans"/>
              </a:defRPr>
            </a:pPr>
            <a:r>
              <a:t>Tu actividad de transferencia</a:t>
            </a:r>
          </a:p>
        </p:txBody>
      </p:sp>
      <p:sp>
        <p:nvSpPr>
          <p:cNvPr id="5" name="Oval 4"/>
          <p:cNvSpPr/>
          <p:nvPr/>
        </p:nvSpPr>
        <p:spPr>
          <a:xfrm>
            <a:off x="609600" y="230124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3900" y="235458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1</a:t>
            </a:r>
          </a:p>
        </p:txBody>
      </p:sp>
      <p:sp>
        <p:nvSpPr>
          <p:cNvPr id="7" name="TextBox 6"/>
          <p:cNvSpPr txBox="1"/>
          <p:nvPr/>
        </p:nvSpPr>
        <p:spPr>
          <a:xfrm>
            <a:off x="1219200" y="227076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Construye una matriz de fase, evidencia, responsable y decisión de paso.</a:t>
            </a:r>
          </a:p>
        </p:txBody>
      </p:sp>
      <p:sp>
        <p:nvSpPr>
          <p:cNvPr id="8" name="Oval 7"/>
          <p:cNvSpPr/>
          <p:nvPr/>
        </p:nvSpPr>
        <p:spPr>
          <a:xfrm>
            <a:off x="609600" y="315468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900" y="320802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2</a:t>
            </a:r>
          </a:p>
        </p:txBody>
      </p:sp>
      <p:sp>
        <p:nvSpPr>
          <p:cNvPr id="10" name="TextBox 9"/>
          <p:cNvSpPr txBox="1"/>
          <p:nvPr/>
        </p:nvSpPr>
        <p:spPr>
          <a:xfrm>
            <a:off x="1219200" y="312420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Relaciona el problema del caso con hipótesis, datos y alternativas.</a:t>
            </a:r>
          </a:p>
        </p:txBody>
      </p:sp>
      <p:sp>
        <p:nvSpPr>
          <p:cNvPr id="11" name="Oval 10"/>
          <p:cNvSpPr/>
          <p:nvPr/>
        </p:nvSpPr>
        <p:spPr>
          <a:xfrm>
            <a:off x="609600" y="400812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900" y="406146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3</a:t>
            </a:r>
          </a:p>
        </p:txBody>
      </p:sp>
      <p:sp>
        <p:nvSpPr>
          <p:cNvPr id="13" name="TextBox 12"/>
          <p:cNvSpPr txBox="1"/>
          <p:nvPr/>
        </p:nvSpPr>
        <p:spPr>
          <a:xfrm>
            <a:off x="1219200" y="3977639"/>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Define criterios para iniciar, ampliar o detener un piloto.</a:t>
            </a:r>
          </a:p>
        </p:txBody>
      </p:sp>
      <p:sp>
        <p:nvSpPr>
          <p:cNvPr id="14" name="Oval 13"/>
          <p:cNvSpPr/>
          <p:nvPr/>
        </p:nvSpPr>
        <p:spPr>
          <a:xfrm>
            <a:off x="609600" y="4861560"/>
            <a:ext cx="381000" cy="38100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3900" y="4914900"/>
            <a:ext cx="266700" cy="358140"/>
          </a:xfrm>
          <a:prstGeom prst="rect">
            <a:avLst/>
          </a:prstGeom>
          <a:noFill/>
        </p:spPr>
        <p:txBody>
          <a:bodyPr wrap="none" lIns="0" tIns="0" rIns="0" bIns="0" anchor="t">
            <a:spAutoFit/>
          </a:bodyPr>
          <a:lstStyle/>
          <a:p>
            <a:pPr>
              <a:lnSpc>
                <a:spcPts val="1980"/>
              </a:lnSpc>
              <a:spcBef>
                <a:spcPts val="0"/>
              </a:spcBef>
              <a:spcAft>
                <a:spcPts val="0"/>
              </a:spcAft>
              <a:defRPr sz="1439" b="1">
                <a:solidFill>
                  <a:srgbClr val="FFFFFF"/>
                </a:solidFill>
                <a:latin typeface="Noto Sans"/>
              </a:defRPr>
            </a:pPr>
            <a:r>
              <a:t>4</a:t>
            </a:r>
          </a:p>
        </p:txBody>
      </p:sp>
      <p:sp>
        <p:nvSpPr>
          <p:cNvPr id="16" name="TextBox 15"/>
          <p:cNvSpPr txBox="1"/>
          <p:nvPr/>
        </p:nvSpPr>
        <p:spPr>
          <a:xfrm>
            <a:off x="1219200" y="4831080"/>
            <a:ext cx="10210800" cy="388620"/>
          </a:xfrm>
          <a:prstGeom prst="rect">
            <a:avLst/>
          </a:prstGeom>
          <a:noFill/>
        </p:spPr>
        <p:txBody>
          <a:bodyPr wrap="none" lIns="0" tIns="0" rIns="0" bIns="0" anchor="t">
            <a:spAutoFit/>
          </a:bodyPr>
          <a:lstStyle/>
          <a:p>
            <a:pPr>
              <a:lnSpc>
                <a:spcPts val="2220"/>
              </a:lnSpc>
              <a:spcBef>
                <a:spcPts val="0"/>
              </a:spcBef>
              <a:spcAft>
                <a:spcPts val="0"/>
              </a:spcAft>
              <a:defRPr sz="1620" b="0">
                <a:solidFill>
                  <a:srgbClr val="18394A"/>
                </a:solidFill>
                <a:latin typeface="Noto Sans"/>
              </a:defRPr>
            </a:pPr>
            <a:r>
              <a:t>Diseña un registro de versiones y resultados que permita volver al análisis.</a:t>
            </a:r>
          </a:p>
        </p:txBody>
      </p:sp>
      <p:sp>
        <p:nvSpPr>
          <p:cNvPr id="17" name="TextBox 16"/>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Material didáctico de elaboración original · Caso y datos ficticios</a:t>
            </a:r>
          </a:p>
        </p:txBody>
      </p:sp>
      <p:sp>
        <p:nvSpPr>
          <p:cNvPr id="18" name="TextBox 17"/>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536975"/>
                </a:solidFill>
                <a:latin typeface="Noto Sans"/>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2EB"/>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1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65760"/>
            <a:ext cx="10820400" cy="320040"/>
          </a:xfrm>
          <a:prstGeom prst="rect">
            <a:avLst/>
          </a:prstGeom>
          <a:noFill/>
        </p:spPr>
        <p:txBody>
          <a:bodyPr wrap="none" lIns="0" tIns="0" rIns="0" bIns="0" anchor="t">
            <a:spAutoFit/>
          </a:bodyPr>
          <a:lstStyle/>
          <a:p>
            <a:pPr>
              <a:lnSpc>
                <a:spcPts val="1680"/>
              </a:lnSpc>
              <a:spcBef>
                <a:spcPts val="0"/>
              </a:spcBef>
              <a:spcAft>
                <a:spcPts val="0"/>
              </a:spcAft>
              <a:defRPr sz="1200" b="1">
                <a:solidFill>
                  <a:srgbClr val="E7AE53"/>
                </a:solidFill>
                <a:latin typeface="Noto Sans"/>
              </a:defRPr>
            </a:pPr>
            <a:r>
              <a:t>PROCESOS PARA NEGOCIOS DIGITALES · U2 · 2.2</a:t>
            </a:r>
          </a:p>
        </p:txBody>
      </p:sp>
      <p:sp>
        <p:nvSpPr>
          <p:cNvPr id="5" name="TextBox 4"/>
          <p:cNvSpPr txBox="1"/>
          <p:nvPr/>
        </p:nvSpPr>
        <p:spPr>
          <a:xfrm>
            <a:off x="609600" y="952500"/>
            <a:ext cx="10896600" cy="655320"/>
          </a:xfrm>
          <a:prstGeom prst="rect">
            <a:avLst/>
          </a:prstGeom>
          <a:noFill/>
        </p:spPr>
        <p:txBody>
          <a:bodyPr wrap="none" lIns="0" tIns="0" rIns="0" bIns="0" anchor="t">
            <a:spAutoFit/>
          </a:bodyPr>
          <a:lstStyle/>
          <a:p>
            <a:pPr>
              <a:lnSpc>
                <a:spcPts val="4320"/>
              </a:lnSpc>
              <a:spcBef>
                <a:spcPts val="0"/>
              </a:spcBef>
              <a:spcAft>
                <a:spcPts val="0"/>
              </a:spcAft>
              <a:defRPr sz="3120" b="1">
                <a:solidFill>
                  <a:srgbClr val="FFFFFF"/>
                </a:solidFill>
                <a:latin typeface="Noto Sans"/>
              </a:defRPr>
            </a:pPr>
            <a:r>
              <a:t>Síntesis y referencias</a:t>
            </a:r>
          </a:p>
        </p:txBody>
      </p:sp>
      <p:sp>
        <p:nvSpPr>
          <p:cNvPr id="6" name="Rounded Rectangle 5"/>
          <p:cNvSpPr/>
          <p:nvPr/>
        </p:nvSpPr>
        <p:spPr>
          <a:xfrm>
            <a:off x="609600" y="217170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30886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Cada fase debe justificar una decisión.</a:t>
            </a:r>
          </a:p>
        </p:txBody>
      </p:sp>
      <p:sp>
        <p:nvSpPr>
          <p:cNvPr id="8" name="Rounded Rectangle 7"/>
          <p:cNvSpPr/>
          <p:nvPr/>
        </p:nvSpPr>
        <p:spPr>
          <a:xfrm>
            <a:off x="609600" y="296418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10134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Conserva trazabilidad del problema al resultado.</a:t>
            </a:r>
          </a:p>
        </p:txBody>
      </p:sp>
      <p:sp>
        <p:nvSpPr>
          <p:cNvPr id="10" name="Rounded Rectangle 9"/>
          <p:cNvSpPr/>
          <p:nvPr/>
        </p:nvSpPr>
        <p:spPr>
          <a:xfrm>
            <a:off x="609600" y="3756660"/>
            <a:ext cx="10896600" cy="693420"/>
          </a:xfrm>
          <a:prstGeom prst="roundRect">
            <a:avLst>
              <a:gd name="adj" fmla="val 13186"/>
            </a:avLst>
          </a:prstGeom>
          <a:solidFill>
            <a:srgbClr val="1D40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 y="3893820"/>
            <a:ext cx="10439400" cy="419100"/>
          </a:xfrm>
          <a:prstGeom prst="rect">
            <a:avLst/>
          </a:prstGeom>
          <a:noFill/>
        </p:spPr>
        <p:txBody>
          <a:bodyPr wrap="none" lIns="0" tIns="0" rIns="0" bIns="0" anchor="t">
            <a:spAutoFit/>
          </a:bodyPr>
          <a:lstStyle/>
          <a:p>
            <a:pPr>
              <a:lnSpc>
                <a:spcPts val="2460"/>
              </a:lnSpc>
              <a:spcBef>
                <a:spcPts val="0"/>
              </a:spcBef>
              <a:spcAft>
                <a:spcPts val="0"/>
              </a:spcAft>
              <a:defRPr sz="1800" b="1">
                <a:solidFill>
                  <a:srgbClr val="FFFFFF"/>
                </a:solidFill>
                <a:latin typeface="Noto Sans"/>
              </a:defRPr>
            </a:pPr>
            <a:r>
              <a:t>Amplía solo con aceptación y aprendizaje.</a:t>
            </a:r>
          </a:p>
        </p:txBody>
      </p:sp>
      <p:sp>
        <p:nvSpPr>
          <p:cNvPr id="12" name="TextBox 11"/>
          <p:cNvSpPr txBox="1"/>
          <p:nvPr/>
        </p:nvSpPr>
        <p:spPr>
          <a:xfrm>
            <a:off x="685800" y="4777740"/>
            <a:ext cx="10744200" cy="594360"/>
          </a:xfrm>
          <a:prstGeom prst="rect">
            <a:avLst/>
          </a:prstGeom>
          <a:noFill/>
        </p:spPr>
        <p:txBody>
          <a:bodyPr wrap="none" lIns="0" tIns="0" rIns="0" bIns="0" anchor="t">
            <a:spAutoFit/>
          </a:bodyPr>
          <a:lstStyle/>
          <a:p>
            <a:pPr>
              <a:lnSpc>
                <a:spcPts val="1920"/>
              </a:lnSpc>
              <a:spcBef>
                <a:spcPts val="0"/>
              </a:spcBef>
              <a:spcAft>
                <a:spcPts val="0"/>
              </a:spcAft>
              <a:defRPr sz="1380" b="0">
                <a:solidFill>
                  <a:srgbClr val="D6E4E8"/>
                </a:solidFill>
                <a:latin typeface="Noto Sans"/>
              </a:defRPr>
            </a:pPr>
            <a:r>
              <a:t>Base curricular: sílabo UPS adjunto, página 1. Referencia de ampliación: Dumas et al. (2018), Fundamentals of Business Process</a:t>
            </a:r>
          </a:p>
          <a:p>
            <a:pPr>
              <a:lnSpc>
                <a:spcPts val="1920"/>
              </a:lnSpc>
              <a:spcBef>
                <a:spcPts val="0"/>
              </a:spcBef>
              <a:spcAft>
                <a:spcPts val="0"/>
              </a:spcAft>
              <a:defRPr sz="1380" b="0">
                <a:solidFill>
                  <a:srgbClr val="D6E4E8"/>
                </a:solidFill>
                <a:latin typeface="Noto Sans"/>
              </a:defRPr>
            </a:pPr>
            <a:r>
              <a:t>Management. Jeston y Nelis (2014), Business Process Management: Practical Guidelines to Successful Implementations.</a:t>
            </a:r>
          </a:p>
        </p:txBody>
      </p:sp>
      <p:sp>
        <p:nvSpPr>
          <p:cNvPr id="13" name="TextBox 12"/>
          <p:cNvSpPr txBox="1"/>
          <p:nvPr/>
        </p:nvSpPr>
        <p:spPr>
          <a:xfrm>
            <a:off x="609600" y="6446520"/>
            <a:ext cx="105918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Material didáctico de elaboración original · Caso y datos ficticios</a:t>
            </a:r>
          </a:p>
        </p:txBody>
      </p:sp>
      <p:sp>
        <p:nvSpPr>
          <p:cNvPr id="14" name="TextBox 13"/>
          <p:cNvSpPr txBox="1"/>
          <p:nvPr/>
        </p:nvSpPr>
        <p:spPr>
          <a:xfrm>
            <a:off x="11049000" y="6446520"/>
            <a:ext cx="762000" cy="281940"/>
          </a:xfrm>
          <a:prstGeom prst="rect">
            <a:avLst/>
          </a:prstGeom>
          <a:noFill/>
        </p:spPr>
        <p:txBody>
          <a:bodyPr wrap="none" lIns="0" tIns="0" rIns="0" bIns="0" anchor="t">
            <a:spAutoFit/>
          </a:bodyPr>
          <a:lstStyle/>
          <a:p>
            <a:pPr>
              <a:lnSpc>
                <a:spcPts val="1380"/>
              </a:lnSpc>
              <a:spcBef>
                <a:spcPts val="0"/>
              </a:spcBef>
              <a:spcAft>
                <a:spcPts val="0"/>
              </a:spcAft>
              <a:defRPr sz="1019" b="0">
                <a:solidFill>
                  <a:srgbClr val="C5D6DC"/>
                </a:solidFill>
                <a:latin typeface="Noto Sans"/>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Fases del ciclo de vida del BPM</dc:title>
  <dc:subject>Estructura del BPM</dc:subject>
  <dc:creator>Proyecto educativo · elaboración asistida por IA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