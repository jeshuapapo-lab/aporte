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Hoy estudiaremos importancia del modelado en la gestión de procesos. El propósito es explicar para qué modelar un proceso y elegir un nivel de detalle que permita comunicar, analizar o preparar su ejecución. Este contenido forma parte de procesos para negocios digitales. Trabajaremos con conceptos y un caso ficticio para tomar decisiones justificadas.</a:t>
            </a:r>
          </a:p>
          <a:p/>
          <a:p>
            <a:r>
              <a:t>Fuente curricular: Procesos para Negocios Digitales, 3.1, UPS 2026–2027. Referencia: Dumas et al. (2018), Fundamentals of Business Process Management. OMG, BPMN 2.0.2: https://www.omg.org/spec/BPMN/2.0.2/</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Antes de proponer una solución, considera esta pregunta: ¿Qué vistas prepararías y cómo evitarías confundir el proceso observado con la propuesta? Al terminar deberás explicar tu decisión, indicar cómo la comprobarías y reconocer los límites de la evidencia utilizada.</a:t>
            </a:r>
          </a:p>
          <a:p/>
          <a:p>
            <a:r>
              <a:t>Fuente curricular: Procesos para Negocios Digitales, 3.1, UPS 2026–2027. Referencia: Dumas et al. (2018), Fundamentals of Business Process Management. OMG, BPMN 2.0.2: https://www.omg.org/spec/BPMN/2.0.2/</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Modelar un proceso representa actividades, decisiones, participantes y resultados para comprender cómo se relacionan. Permite descubrir transferencias y esperas que una lista de tareas puede ocultar. Su valor depende del propósito: una conversación con responsables puede necesitar una vista general; investigar una excepción requiere detalle adicional. Más símbolos no significan automáticamente mejor comprensión.</a:t>
            </a:r>
          </a:p>
          <a:p/>
          <a:p>
            <a:r>
              <a:t>Fuente curricular: Procesos para Negocios Digitales, 3.1, UPS 2026–2027. Referencia: Dumas et al. (2018), Fundamentals of Business Process Management. OMG, BPMN 2.0.2: https://www.omg.org/spec/BPMN/2.0.2/</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Define audiencia, pregunta que se quiere responder y límites antes de dibujar. Separa una vista general de subprocesos detallados cuando sea necesario. Mantén un nivel de abstracción consistente dentro de cada vista. Si mezclas aprobar una solicitud con pulsar un botón y gestionar toda la empresa, el modelo reúne escalas distintas y se vuelve difícil de interpretar.</a:t>
            </a:r>
          </a:p>
          <a:p/>
          <a:p>
            <a:r>
              <a:t>Fuente curricular: Procesos para Negocios Digitales, 3.1, UPS 2026–2027. Referencia: Dumas et al. (2018), Fundamentals of Business Process Management. OMG, BPMN 2.0.2: https://www.omg.org/spec/BPMN/2.0.2/</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Define qué decisión apoyará el modelo. Representa el recorrido con límites y detalle consistentes. Valídalo recorriendo casos concretos con sus participantes y registra desacuerdos o supuestos. Después úsalo para formular preguntas y relacionar evidencia; revisa la representación cuando la operación o el propósito del análisis cambien.</a:t>
            </a:r>
          </a:p>
          <a:p/>
          <a:p>
            <a:r>
              <a:t>Fuente curricular: Procesos para Negocios Digitales, 3.1, UPS 2026–2027. Referencia: Dumas et al. (2018), Fundamentals of Business Process Management. OMG, BPMN 2.0.2: https://www.omg.org/spec/BPMN/2.0.2/</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Caso ficticio: ventas dibuja cotizar como una sola tarea, mientras revisión técnica enumera cuarenta clics. Ambos creen describir el mismo proceso. El equipo acuerda una vista de extremo a extremo desde solicitud hasta respuesta, con un subproceso para revisar requisitos. Marca como propuesta futura la validación inicial que todavía no existe. Esa separación permite discutir responsabilidades sin confundir escalas ni hechos con intenciones.</a:t>
            </a:r>
          </a:p>
          <a:p/>
          <a:p>
            <a:r>
              <a:t>Fuente curricular: Procesos para Negocios Digitales, 3.1, UPS 2026–2027. Referencia: Dumas et al. (2018), Fundamentals of Business Process Management. OMG, BPMN 2.0.2: https://www.omg.org/spec/BPMN/2.0.2/</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El modelo actual describe la operación observada; el futuro representa una propuesta. Rotula versiones y supuestos para no presentar deseos como hechos. Valida el estado actual con participantes y evidencia de casos. El desacuerdo entre áreas puede revelar variantes reales, por lo que debe investigarse antes de imponer una única secuencia que nadie reconoce completamente.</a:t>
            </a:r>
          </a:p>
          <a:p/>
          <a:p>
            <a:r>
              <a:t>Fuente curricular: Procesos para Negocios Digitales, 3.1, UPS 2026–2027. Referencia: Dumas et al. (2018), Fundamentals of Business Process Management. OMG, BPMN 2.0.2: https://www.omg.org/spec/BPMN/2.0.2/</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Un modelo facilita preguntas sobre responsables, condiciones, entradas y salidas, pero no demuestra por sí solo tiempos, causas ni cumplimiento. Conecta el diagrama con datos y reglas documentadas. Revisa si una persona puede recorrer casos normales y excepcionales sin contradicciones. Mantener versión, propósito y responsable convierte el modelo en conocimiento compartido, en lugar de una imagen que pierde vigencia.</a:t>
            </a:r>
          </a:p>
          <a:p/>
          <a:p>
            <a:r>
              <a:t>Fuente curricular: Procesos para Negocios Digitales, 3.1, UPS 2026–2027. Referencia: Dumas et al. (2018), Fundamentals of Business Process Management. OMG, BPMN 2.0.2: https://www.omg.org/spec/BPMN/2.0.2/</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Para aplicar lo aprendido, desarrolla la tarea editable. Define dos preguntas de análisis y la audiencia de cada modelo. Después, identifica qué elementos del caso son observados y cuáles propuestos. Justifica tus decisiones con los conceptos de esta explicación y comprueba tus respuestas en la actividad interactiva.</a:t>
            </a:r>
          </a:p>
          <a:p/>
          <a:p>
            <a:r>
              <a:t>Fuente curricular: Procesos para Negocios Digitales, 3.1, UPS 2026–2027. Referencia: Dumas et al. (2018), Fundamentals of Business Process Management. OMG, BPMN 2.0.2: https://www.omg.org/spec/BPMN/2.0.2/</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Conserva estas ideas. Modela para una pregunta y una audiencia. Mantén escalas y versiones claras. Valida recorridos y conecta datos. El caso y sus datos son ficticios. Revisa las fuentes indicadas en los materiales y continúa con la práctica para transferir estos criterios a otra situación.</a:t>
            </a:r>
          </a:p>
          <a:p/>
          <a:p>
            <a:r>
              <a:t>Fuente curricular: Procesos para Negocios Digitales, 3.1, UPS 2026–2027. Referencia: Dumas et al. (2018), Fundamentals of Business Process Management. OMG, BPMN 2.0.2: https://www.omg.org/spec/BPMN/2.0.2/</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5F2EB"/>
        </a:solidFill>
        <a:effectLst/>
      </p:bgPr>
    </p:bg>
    <p:spTree>
      <p:nvGrpSpPr>
        <p:cNvPr id="1" name=""/>
        <p:cNvGrpSpPr/>
        <p:nvPr/>
      </p:nvGrpSpPr>
      <p:grpSpPr/>
      <p:sp>
        <p:nvSpPr>
          <p:cNvPr id="2" name="Rectangle 1"/>
          <p:cNvSpPr/>
          <p:nvPr/>
        </p:nvSpPr>
        <p:spPr>
          <a:xfrm>
            <a:off x="0" y="0"/>
            <a:ext cx="12192000" cy="6858000"/>
          </a:xfrm>
          <a:prstGeom prst="rect">
            <a:avLst/>
          </a:prstGeom>
          <a:solidFill>
            <a:srgbClr val="112B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2000" cy="91440"/>
          </a:xfrm>
          <a:prstGeom prst="rect">
            <a:avLst/>
          </a:prstGeom>
          <a:solidFill>
            <a:srgbClr val="087E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09600" y="365760"/>
            <a:ext cx="10820400" cy="320040"/>
          </a:xfrm>
          <a:prstGeom prst="rect">
            <a:avLst/>
          </a:prstGeom>
          <a:noFill/>
        </p:spPr>
        <p:txBody>
          <a:bodyPr wrap="none" lIns="0" tIns="0" rIns="0" bIns="0" anchor="t">
            <a:spAutoFit/>
          </a:bodyPr>
          <a:lstStyle/>
          <a:p>
            <a:pPr>
              <a:lnSpc>
                <a:spcPts val="1680"/>
              </a:lnSpc>
              <a:spcBef>
                <a:spcPts val="0"/>
              </a:spcBef>
              <a:spcAft>
                <a:spcPts val="0"/>
              </a:spcAft>
              <a:defRPr sz="1200" b="1">
                <a:solidFill>
                  <a:srgbClr val="E7AE53"/>
                </a:solidFill>
                <a:latin typeface="Noto Sans"/>
              </a:defRPr>
            </a:pPr>
            <a:r>
              <a:t>PROCESOS PARA NEGOCIOS DIGITALES · U3 · 3.1</a:t>
            </a:r>
          </a:p>
        </p:txBody>
      </p:sp>
      <p:sp>
        <p:nvSpPr>
          <p:cNvPr id="5" name="TextBox 4"/>
          <p:cNvSpPr txBox="1"/>
          <p:nvPr/>
        </p:nvSpPr>
        <p:spPr>
          <a:xfrm>
            <a:off x="609600" y="1203960"/>
            <a:ext cx="10744200" cy="1447800"/>
          </a:xfrm>
          <a:prstGeom prst="rect">
            <a:avLst/>
          </a:prstGeom>
          <a:noFill/>
        </p:spPr>
        <p:txBody>
          <a:bodyPr wrap="none" lIns="0" tIns="0" rIns="0" bIns="0" anchor="t">
            <a:spAutoFit/>
          </a:bodyPr>
          <a:lstStyle/>
          <a:p>
            <a:pPr>
              <a:lnSpc>
                <a:spcPts val="5280"/>
              </a:lnSpc>
              <a:spcBef>
                <a:spcPts val="0"/>
              </a:spcBef>
              <a:spcAft>
                <a:spcPts val="0"/>
              </a:spcAft>
              <a:defRPr sz="3840" b="1">
                <a:solidFill>
                  <a:srgbClr val="FFFFFF"/>
                </a:solidFill>
                <a:latin typeface="Noto Sans"/>
              </a:defRPr>
            </a:pPr>
            <a:r>
              <a:t>Importancia del modelado en la gestión de</a:t>
            </a:r>
          </a:p>
          <a:p>
            <a:pPr>
              <a:lnSpc>
                <a:spcPts val="5280"/>
              </a:lnSpc>
              <a:spcBef>
                <a:spcPts val="0"/>
              </a:spcBef>
              <a:spcAft>
                <a:spcPts val="0"/>
              </a:spcAft>
              <a:defRPr sz="3840" b="1">
                <a:solidFill>
                  <a:srgbClr val="FFFFFF"/>
                </a:solidFill>
                <a:latin typeface="Noto Sans"/>
              </a:defRPr>
            </a:pPr>
            <a:r>
              <a:t>procesos</a:t>
            </a:r>
          </a:p>
        </p:txBody>
      </p:sp>
      <p:sp>
        <p:nvSpPr>
          <p:cNvPr id="6" name="TextBox 5"/>
          <p:cNvSpPr txBox="1"/>
          <p:nvPr/>
        </p:nvSpPr>
        <p:spPr>
          <a:xfrm>
            <a:off x="647700" y="2750820"/>
            <a:ext cx="9982200" cy="777240"/>
          </a:xfrm>
          <a:prstGeom prst="rect">
            <a:avLst/>
          </a:prstGeom>
          <a:noFill/>
        </p:spPr>
        <p:txBody>
          <a:bodyPr wrap="none" lIns="0" tIns="0" rIns="0" bIns="0" anchor="t">
            <a:spAutoFit/>
          </a:bodyPr>
          <a:lstStyle/>
          <a:p>
            <a:pPr>
              <a:lnSpc>
                <a:spcPts val="2640"/>
              </a:lnSpc>
              <a:spcBef>
                <a:spcPts val="0"/>
              </a:spcBef>
              <a:spcAft>
                <a:spcPts val="0"/>
              </a:spcAft>
              <a:defRPr sz="1920" b="0">
                <a:solidFill>
                  <a:srgbClr val="D6E4E8"/>
                </a:solidFill>
                <a:latin typeface="Noto Sans"/>
              </a:defRPr>
            </a:pPr>
            <a:r>
              <a:t>Explicar para qué modelar un proceso y elegir un nivel de detalle que permita</a:t>
            </a:r>
          </a:p>
          <a:p>
            <a:pPr>
              <a:lnSpc>
                <a:spcPts val="2640"/>
              </a:lnSpc>
              <a:spcBef>
                <a:spcPts val="0"/>
              </a:spcBef>
              <a:spcAft>
                <a:spcPts val="0"/>
              </a:spcAft>
              <a:defRPr sz="1920" b="0">
                <a:solidFill>
                  <a:srgbClr val="D6E4E8"/>
                </a:solidFill>
                <a:latin typeface="Noto Sans"/>
              </a:defRPr>
            </a:pPr>
            <a:r>
              <a:t>comunicar, analizar o preparar su ejecución.</a:t>
            </a:r>
          </a:p>
        </p:txBody>
      </p:sp>
      <p:sp>
        <p:nvSpPr>
          <p:cNvPr id="7" name="Rounded Rectangle 6"/>
          <p:cNvSpPr/>
          <p:nvPr/>
        </p:nvSpPr>
        <p:spPr>
          <a:xfrm>
            <a:off x="647700" y="4983480"/>
            <a:ext cx="3467100" cy="792480"/>
          </a:xfrm>
          <a:prstGeom prst="roundRect">
            <a:avLst>
              <a:gd name="adj" fmla="val 15384"/>
            </a:avLst>
          </a:prstGeom>
          <a:solidFill>
            <a:srgbClr val="1D40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53440" y="5189220"/>
            <a:ext cx="3048000" cy="419100"/>
          </a:xfrm>
          <a:prstGeom prst="rect">
            <a:avLst/>
          </a:prstGeom>
          <a:noFill/>
        </p:spPr>
        <p:txBody>
          <a:bodyPr wrap="none" lIns="0" tIns="0" rIns="0" bIns="0" anchor="t">
            <a:spAutoFit/>
          </a:bodyPr>
          <a:lstStyle/>
          <a:p>
            <a:pPr>
              <a:lnSpc>
                <a:spcPts val="2460"/>
              </a:lnSpc>
              <a:spcBef>
                <a:spcPts val="0"/>
              </a:spcBef>
              <a:spcAft>
                <a:spcPts val="0"/>
              </a:spcAft>
              <a:defRPr sz="1800" b="1">
                <a:solidFill>
                  <a:srgbClr val="FFFFFF"/>
                </a:solidFill>
                <a:latin typeface="Noto Sans"/>
              </a:defRPr>
            </a:pPr>
            <a:r>
              <a:t>Comprender</a:t>
            </a:r>
          </a:p>
        </p:txBody>
      </p:sp>
      <p:sp>
        <p:nvSpPr>
          <p:cNvPr id="9" name="Rounded Rectangle 8"/>
          <p:cNvSpPr/>
          <p:nvPr/>
        </p:nvSpPr>
        <p:spPr>
          <a:xfrm>
            <a:off x="4381500" y="4983480"/>
            <a:ext cx="3467100" cy="792480"/>
          </a:xfrm>
          <a:prstGeom prst="roundRect">
            <a:avLst>
              <a:gd name="adj" fmla="val 15384"/>
            </a:avLst>
          </a:prstGeom>
          <a:solidFill>
            <a:srgbClr val="1D40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87240" y="5189220"/>
            <a:ext cx="3048000" cy="419100"/>
          </a:xfrm>
          <a:prstGeom prst="rect">
            <a:avLst/>
          </a:prstGeom>
          <a:noFill/>
        </p:spPr>
        <p:txBody>
          <a:bodyPr wrap="none" lIns="0" tIns="0" rIns="0" bIns="0" anchor="t">
            <a:spAutoFit/>
          </a:bodyPr>
          <a:lstStyle/>
          <a:p>
            <a:pPr>
              <a:lnSpc>
                <a:spcPts val="2460"/>
              </a:lnSpc>
              <a:spcBef>
                <a:spcPts val="0"/>
              </a:spcBef>
              <a:spcAft>
                <a:spcPts val="0"/>
              </a:spcAft>
              <a:defRPr sz="1800" b="1">
                <a:solidFill>
                  <a:srgbClr val="FFFFFF"/>
                </a:solidFill>
                <a:latin typeface="Noto Sans"/>
              </a:defRPr>
            </a:pPr>
            <a:r>
              <a:t>Aplicar</a:t>
            </a:r>
          </a:p>
        </p:txBody>
      </p:sp>
      <p:sp>
        <p:nvSpPr>
          <p:cNvPr id="11" name="Rounded Rectangle 10"/>
          <p:cNvSpPr/>
          <p:nvPr/>
        </p:nvSpPr>
        <p:spPr>
          <a:xfrm>
            <a:off x="8115300" y="4983480"/>
            <a:ext cx="3467100" cy="792480"/>
          </a:xfrm>
          <a:prstGeom prst="roundRect">
            <a:avLst>
              <a:gd name="adj" fmla="val 15384"/>
            </a:avLst>
          </a:prstGeom>
          <a:solidFill>
            <a:srgbClr val="1D40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321040" y="5189220"/>
            <a:ext cx="3048000" cy="419100"/>
          </a:xfrm>
          <a:prstGeom prst="rect">
            <a:avLst/>
          </a:prstGeom>
          <a:noFill/>
        </p:spPr>
        <p:txBody>
          <a:bodyPr wrap="none" lIns="0" tIns="0" rIns="0" bIns="0" anchor="t">
            <a:spAutoFit/>
          </a:bodyPr>
          <a:lstStyle/>
          <a:p>
            <a:pPr>
              <a:lnSpc>
                <a:spcPts val="2460"/>
              </a:lnSpc>
              <a:spcBef>
                <a:spcPts val="0"/>
              </a:spcBef>
              <a:spcAft>
                <a:spcPts val="0"/>
              </a:spcAft>
              <a:defRPr sz="1800" b="1">
                <a:solidFill>
                  <a:srgbClr val="FFFFFF"/>
                </a:solidFill>
                <a:latin typeface="Noto Sans"/>
              </a:defRPr>
            </a:pPr>
            <a:r>
              <a:t>Comprobar</a:t>
            </a:r>
          </a:p>
        </p:txBody>
      </p:sp>
      <p:sp>
        <p:nvSpPr>
          <p:cNvPr id="13" name="TextBox 12"/>
          <p:cNvSpPr txBox="1"/>
          <p:nvPr/>
        </p:nvSpPr>
        <p:spPr>
          <a:xfrm>
            <a:off x="609600" y="6446520"/>
            <a:ext cx="10591800" cy="281940"/>
          </a:xfrm>
          <a:prstGeom prst="rect">
            <a:avLst/>
          </a:prstGeom>
          <a:noFill/>
        </p:spPr>
        <p:txBody>
          <a:bodyPr wrap="none" lIns="0" tIns="0" rIns="0" bIns="0" anchor="t">
            <a:spAutoFit/>
          </a:bodyPr>
          <a:lstStyle/>
          <a:p>
            <a:pPr>
              <a:lnSpc>
                <a:spcPts val="1380"/>
              </a:lnSpc>
              <a:spcBef>
                <a:spcPts val="0"/>
              </a:spcBef>
              <a:spcAft>
                <a:spcPts val="0"/>
              </a:spcAft>
              <a:defRPr sz="1019" b="0">
                <a:solidFill>
                  <a:srgbClr val="C5D6DC"/>
                </a:solidFill>
                <a:latin typeface="Noto Sans"/>
              </a:defRPr>
            </a:pPr>
            <a:r>
              <a:t>Material didáctico de elaboración original · Caso y datos ficticios</a:t>
            </a:r>
          </a:p>
        </p:txBody>
      </p:sp>
      <p:sp>
        <p:nvSpPr>
          <p:cNvPr id="14" name="TextBox 13"/>
          <p:cNvSpPr txBox="1"/>
          <p:nvPr/>
        </p:nvSpPr>
        <p:spPr>
          <a:xfrm>
            <a:off x="11049000" y="6446520"/>
            <a:ext cx="762000" cy="281940"/>
          </a:xfrm>
          <a:prstGeom prst="rect">
            <a:avLst/>
          </a:prstGeom>
          <a:noFill/>
        </p:spPr>
        <p:txBody>
          <a:bodyPr wrap="none" lIns="0" tIns="0" rIns="0" bIns="0" anchor="t">
            <a:spAutoFit/>
          </a:bodyPr>
          <a:lstStyle/>
          <a:p>
            <a:pPr>
              <a:lnSpc>
                <a:spcPts val="1380"/>
              </a:lnSpc>
              <a:spcBef>
                <a:spcPts val="0"/>
              </a:spcBef>
              <a:spcAft>
                <a:spcPts val="0"/>
              </a:spcAft>
              <a:defRPr sz="1019" b="0">
                <a:solidFill>
                  <a:srgbClr val="C5D6DC"/>
                </a:solidFill>
                <a:latin typeface="Noto Sans"/>
              </a:defRPr>
            </a:pPr>
            <a:r>
              <a:t>01 / 10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5F2EB"/>
        </a:solidFill>
        <a:effectLst/>
      </p:bgPr>
    </p:bg>
    <p:spTree>
      <p:nvGrpSpPr>
        <p:cNvPr id="1" name=""/>
        <p:cNvGrpSpPr/>
        <p:nvPr/>
      </p:nvGrpSpPr>
      <p:grpSpPr/>
      <p:sp>
        <p:nvSpPr>
          <p:cNvPr id="2" name="Rectangle 1"/>
          <p:cNvSpPr/>
          <p:nvPr/>
        </p:nvSpPr>
        <p:spPr>
          <a:xfrm>
            <a:off x="0" y="0"/>
            <a:ext cx="12192000" cy="91440"/>
          </a:xfrm>
          <a:prstGeom prst="rect">
            <a:avLst/>
          </a:prstGeom>
          <a:solidFill>
            <a:srgbClr val="087E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09600" y="365760"/>
            <a:ext cx="10820400" cy="320040"/>
          </a:xfrm>
          <a:prstGeom prst="rect">
            <a:avLst/>
          </a:prstGeom>
          <a:noFill/>
        </p:spPr>
        <p:txBody>
          <a:bodyPr wrap="none" lIns="0" tIns="0" rIns="0" bIns="0" anchor="t">
            <a:spAutoFit/>
          </a:bodyPr>
          <a:lstStyle/>
          <a:p>
            <a:pPr>
              <a:lnSpc>
                <a:spcPts val="1680"/>
              </a:lnSpc>
              <a:spcBef>
                <a:spcPts val="0"/>
              </a:spcBef>
              <a:spcAft>
                <a:spcPts val="0"/>
              </a:spcAft>
              <a:defRPr sz="1200" b="1">
                <a:solidFill>
                  <a:srgbClr val="087E8B"/>
                </a:solidFill>
                <a:latin typeface="Noto Sans"/>
              </a:defRPr>
            </a:pPr>
            <a:r>
              <a:t>PROCESOS PARA NEGOCIOS DIGITALES · U3 · 3.1</a:t>
            </a:r>
          </a:p>
        </p:txBody>
      </p:sp>
      <p:sp>
        <p:nvSpPr>
          <p:cNvPr id="4" name="TextBox 3"/>
          <p:cNvSpPr txBox="1"/>
          <p:nvPr/>
        </p:nvSpPr>
        <p:spPr>
          <a:xfrm>
            <a:off x="609600" y="952500"/>
            <a:ext cx="10896600" cy="655320"/>
          </a:xfrm>
          <a:prstGeom prst="rect">
            <a:avLst/>
          </a:prstGeom>
          <a:noFill/>
        </p:spPr>
        <p:txBody>
          <a:bodyPr wrap="none" lIns="0" tIns="0" rIns="0" bIns="0" anchor="t">
            <a:spAutoFit/>
          </a:bodyPr>
          <a:lstStyle/>
          <a:p>
            <a:pPr>
              <a:lnSpc>
                <a:spcPts val="4320"/>
              </a:lnSpc>
              <a:spcBef>
                <a:spcPts val="0"/>
              </a:spcBef>
              <a:spcAft>
                <a:spcPts val="0"/>
              </a:spcAft>
              <a:defRPr sz="3120" b="1">
                <a:solidFill>
                  <a:srgbClr val="18394A"/>
                </a:solidFill>
                <a:latin typeface="Noto Sans"/>
              </a:defRPr>
            </a:pPr>
            <a:r>
              <a:t>Una decisión que podrás justificar</a:t>
            </a:r>
          </a:p>
        </p:txBody>
      </p:sp>
      <p:sp>
        <p:nvSpPr>
          <p:cNvPr id="5" name="Rounded Rectangle 4"/>
          <p:cNvSpPr/>
          <p:nvPr/>
        </p:nvSpPr>
        <p:spPr>
          <a:xfrm>
            <a:off x="609600" y="2308860"/>
            <a:ext cx="10896600" cy="1341120"/>
          </a:xfrm>
          <a:prstGeom prst="roundRect">
            <a:avLst>
              <a:gd name="adj" fmla="val 10227"/>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38200" y="2484120"/>
            <a:ext cx="10439400" cy="822960"/>
          </a:xfrm>
          <a:prstGeom prst="rect">
            <a:avLst/>
          </a:prstGeom>
          <a:noFill/>
        </p:spPr>
        <p:txBody>
          <a:bodyPr wrap="none" lIns="0" tIns="0" rIns="0" bIns="0" anchor="t">
            <a:spAutoFit/>
          </a:bodyPr>
          <a:lstStyle/>
          <a:p>
            <a:pPr>
              <a:lnSpc>
                <a:spcPts val="2820"/>
              </a:lnSpc>
              <a:spcBef>
                <a:spcPts val="0"/>
              </a:spcBef>
              <a:spcAft>
                <a:spcPts val="0"/>
              </a:spcAft>
              <a:defRPr sz="2039" b="1">
                <a:solidFill>
                  <a:srgbClr val="18394A"/>
                </a:solidFill>
                <a:latin typeface="Noto Sans"/>
              </a:defRPr>
            </a:pPr>
            <a:r>
              <a:t>Explicar para qué modelar un proceso y elegir un nivel de detalle que permita</a:t>
            </a:r>
          </a:p>
          <a:p>
            <a:pPr>
              <a:lnSpc>
                <a:spcPts val="2820"/>
              </a:lnSpc>
              <a:spcBef>
                <a:spcPts val="0"/>
              </a:spcBef>
              <a:spcAft>
                <a:spcPts val="0"/>
              </a:spcAft>
              <a:defRPr sz="2039" b="1">
                <a:solidFill>
                  <a:srgbClr val="18394A"/>
                </a:solidFill>
                <a:latin typeface="Noto Sans"/>
              </a:defRPr>
            </a:pPr>
            <a:r>
              <a:t>comunicar, analizar o preparar su ejecución.</a:t>
            </a:r>
          </a:p>
        </p:txBody>
      </p:sp>
      <p:sp>
        <p:nvSpPr>
          <p:cNvPr id="7" name="TextBox 6"/>
          <p:cNvSpPr txBox="1"/>
          <p:nvPr/>
        </p:nvSpPr>
        <p:spPr>
          <a:xfrm>
            <a:off x="685800" y="4061460"/>
            <a:ext cx="10668000" cy="381000"/>
          </a:xfrm>
          <a:prstGeom prst="rect">
            <a:avLst/>
          </a:prstGeom>
          <a:noFill/>
        </p:spPr>
        <p:txBody>
          <a:bodyPr wrap="none" lIns="0" tIns="0" rIns="0" bIns="0" anchor="t">
            <a:spAutoFit/>
          </a:bodyPr>
          <a:lstStyle/>
          <a:p>
            <a:pPr>
              <a:lnSpc>
                <a:spcPts val="2160"/>
              </a:lnSpc>
              <a:spcBef>
                <a:spcPts val="0"/>
              </a:spcBef>
              <a:spcAft>
                <a:spcPts val="0"/>
              </a:spcAft>
              <a:defRPr sz="1560" b="1">
                <a:solidFill>
                  <a:srgbClr val="087E8B"/>
                </a:solidFill>
                <a:latin typeface="Noto Sans"/>
              </a:defRPr>
            </a:pPr>
            <a:r>
              <a:t>Pregunta de entrada</a:t>
            </a:r>
          </a:p>
        </p:txBody>
      </p:sp>
      <p:sp>
        <p:nvSpPr>
          <p:cNvPr id="8" name="TextBox 7"/>
          <p:cNvSpPr txBox="1"/>
          <p:nvPr/>
        </p:nvSpPr>
        <p:spPr>
          <a:xfrm>
            <a:off x="685800" y="4488180"/>
            <a:ext cx="10668000" cy="822960"/>
          </a:xfrm>
          <a:prstGeom prst="rect">
            <a:avLst/>
          </a:prstGeom>
          <a:noFill/>
        </p:spPr>
        <p:txBody>
          <a:bodyPr wrap="none" lIns="0" tIns="0" rIns="0" bIns="0" anchor="t">
            <a:spAutoFit/>
          </a:bodyPr>
          <a:lstStyle/>
          <a:p>
            <a:pPr>
              <a:lnSpc>
                <a:spcPts val="2820"/>
              </a:lnSpc>
              <a:spcBef>
                <a:spcPts val="0"/>
              </a:spcBef>
              <a:spcAft>
                <a:spcPts val="0"/>
              </a:spcAft>
              <a:defRPr sz="2039" b="0">
                <a:solidFill>
                  <a:srgbClr val="18394A"/>
                </a:solidFill>
                <a:latin typeface="Noto Sans"/>
              </a:defRPr>
            </a:pPr>
            <a:r>
              <a:t>¿Qué vistas prepararías y cómo evitarías confundir el proceso observado con la</a:t>
            </a:r>
          </a:p>
          <a:p>
            <a:pPr>
              <a:lnSpc>
                <a:spcPts val="2820"/>
              </a:lnSpc>
              <a:spcBef>
                <a:spcPts val="0"/>
              </a:spcBef>
              <a:spcAft>
                <a:spcPts val="0"/>
              </a:spcAft>
              <a:defRPr sz="2039" b="0">
                <a:solidFill>
                  <a:srgbClr val="18394A"/>
                </a:solidFill>
                <a:latin typeface="Noto Sans"/>
              </a:defRPr>
            </a:pPr>
            <a:r>
              <a:t>propuesta?</a:t>
            </a:r>
          </a:p>
        </p:txBody>
      </p:sp>
      <p:sp>
        <p:nvSpPr>
          <p:cNvPr id="9" name="TextBox 8"/>
          <p:cNvSpPr txBox="1"/>
          <p:nvPr/>
        </p:nvSpPr>
        <p:spPr>
          <a:xfrm>
            <a:off x="609600" y="6446520"/>
            <a:ext cx="10591800" cy="281940"/>
          </a:xfrm>
          <a:prstGeom prst="rect">
            <a:avLst/>
          </a:prstGeom>
          <a:noFill/>
        </p:spPr>
        <p:txBody>
          <a:bodyPr wrap="none" lIns="0" tIns="0" rIns="0" bIns="0" anchor="t">
            <a:spAutoFit/>
          </a:bodyPr>
          <a:lstStyle/>
          <a:p>
            <a:pPr>
              <a:lnSpc>
                <a:spcPts val="1380"/>
              </a:lnSpc>
              <a:spcBef>
                <a:spcPts val="0"/>
              </a:spcBef>
              <a:spcAft>
                <a:spcPts val="0"/>
              </a:spcAft>
              <a:defRPr sz="1019" b="0">
                <a:solidFill>
                  <a:srgbClr val="536975"/>
                </a:solidFill>
                <a:latin typeface="Noto Sans"/>
              </a:defRPr>
            </a:pPr>
            <a:r>
              <a:t>Material didáctico de elaboración original · Caso y datos ficticios</a:t>
            </a:r>
          </a:p>
        </p:txBody>
      </p:sp>
      <p:sp>
        <p:nvSpPr>
          <p:cNvPr id="10" name="TextBox 9"/>
          <p:cNvSpPr txBox="1"/>
          <p:nvPr/>
        </p:nvSpPr>
        <p:spPr>
          <a:xfrm>
            <a:off x="11049000" y="6446520"/>
            <a:ext cx="762000" cy="281940"/>
          </a:xfrm>
          <a:prstGeom prst="rect">
            <a:avLst/>
          </a:prstGeom>
          <a:noFill/>
        </p:spPr>
        <p:txBody>
          <a:bodyPr wrap="none" lIns="0" tIns="0" rIns="0" bIns="0" anchor="t">
            <a:spAutoFit/>
          </a:bodyPr>
          <a:lstStyle/>
          <a:p>
            <a:pPr>
              <a:lnSpc>
                <a:spcPts val="1380"/>
              </a:lnSpc>
              <a:spcBef>
                <a:spcPts val="0"/>
              </a:spcBef>
              <a:spcAft>
                <a:spcPts val="0"/>
              </a:spcAft>
              <a:defRPr sz="1019" b="0">
                <a:solidFill>
                  <a:srgbClr val="536975"/>
                </a:solidFill>
                <a:latin typeface="Noto Sans"/>
              </a:defRPr>
            </a:pPr>
            <a:r>
              <a:t>02 / 10</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5F2EB"/>
        </a:solidFill>
        <a:effectLst/>
      </p:bgPr>
    </p:bg>
    <p:spTree>
      <p:nvGrpSpPr>
        <p:cNvPr id="1" name=""/>
        <p:cNvGrpSpPr/>
        <p:nvPr/>
      </p:nvGrpSpPr>
      <p:grpSpPr/>
      <p:sp>
        <p:nvSpPr>
          <p:cNvPr id="2" name="Rectangle 1"/>
          <p:cNvSpPr/>
          <p:nvPr/>
        </p:nvSpPr>
        <p:spPr>
          <a:xfrm>
            <a:off x="0" y="0"/>
            <a:ext cx="12192000" cy="91440"/>
          </a:xfrm>
          <a:prstGeom prst="rect">
            <a:avLst/>
          </a:prstGeom>
          <a:solidFill>
            <a:srgbClr val="087E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09600" y="365760"/>
            <a:ext cx="10820400" cy="320040"/>
          </a:xfrm>
          <a:prstGeom prst="rect">
            <a:avLst/>
          </a:prstGeom>
          <a:noFill/>
        </p:spPr>
        <p:txBody>
          <a:bodyPr wrap="none" lIns="0" tIns="0" rIns="0" bIns="0" anchor="t">
            <a:spAutoFit/>
          </a:bodyPr>
          <a:lstStyle/>
          <a:p>
            <a:pPr>
              <a:lnSpc>
                <a:spcPts val="1680"/>
              </a:lnSpc>
              <a:spcBef>
                <a:spcPts val="0"/>
              </a:spcBef>
              <a:spcAft>
                <a:spcPts val="0"/>
              </a:spcAft>
              <a:defRPr sz="1200" b="1">
                <a:solidFill>
                  <a:srgbClr val="087E8B"/>
                </a:solidFill>
                <a:latin typeface="Noto Sans"/>
              </a:defRPr>
            </a:pPr>
            <a:r>
              <a:t>PROCESOS PARA NEGOCIOS DIGITALES · U3 · 3.1</a:t>
            </a:r>
          </a:p>
        </p:txBody>
      </p:sp>
      <p:sp>
        <p:nvSpPr>
          <p:cNvPr id="4" name="TextBox 3"/>
          <p:cNvSpPr txBox="1"/>
          <p:nvPr/>
        </p:nvSpPr>
        <p:spPr>
          <a:xfrm>
            <a:off x="609600" y="952500"/>
            <a:ext cx="10896600" cy="655320"/>
          </a:xfrm>
          <a:prstGeom prst="rect">
            <a:avLst/>
          </a:prstGeom>
          <a:noFill/>
        </p:spPr>
        <p:txBody>
          <a:bodyPr wrap="none" lIns="0" tIns="0" rIns="0" bIns="0" anchor="t">
            <a:spAutoFit/>
          </a:bodyPr>
          <a:lstStyle/>
          <a:p>
            <a:pPr>
              <a:lnSpc>
                <a:spcPts val="4320"/>
              </a:lnSpc>
              <a:spcBef>
                <a:spcPts val="0"/>
              </a:spcBef>
              <a:spcAft>
                <a:spcPts val="0"/>
              </a:spcAft>
              <a:defRPr sz="3120" b="1">
                <a:solidFill>
                  <a:srgbClr val="18394A"/>
                </a:solidFill>
                <a:latin typeface="Noto Sans"/>
              </a:defRPr>
            </a:pPr>
            <a:r>
              <a:t>Hacer visible el trabajo</a:t>
            </a:r>
          </a:p>
        </p:txBody>
      </p:sp>
      <p:sp>
        <p:nvSpPr>
          <p:cNvPr id="5" name="Rounded Rectangle 4"/>
          <p:cNvSpPr/>
          <p:nvPr/>
        </p:nvSpPr>
        <p:spPr>
          <a:xfrm>
            <a:off x="609600" y="2286000"/>
            <a:ext cx="10881360" cy="3390900"/>
          </a:xfrm>
          <a:prstGeom prst="roundRect">
            <a:avLst>
              <a:gd name="adj" fmla="val 4044"/>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09600" y="2286000"/>
            <a:ext cx="83820" cy="3390900"/>
          </a:xfrm>
          <a:prstGeom prst="rect">
            <a:avLst/>
          </a:prstGeom>
          <a:solidFill>
            <a:srgbClr val="087E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99160" y="2522220"/>
            <a:ext cx="10210800" cy="1744980"/>
          </a:xfrm>
          <a:prstGeom prst="rect">
            <a:avLst/>
          </a:prstGeom>
          <a:noFill/>
        </p:spPr>
        <p:txBody>
          <a:bodyPr wrap="none" lIns="0" tIns="0" rIns="0" bIns="0" anchor="t">
            <a:spAutoFit/>
          </a:bodyPr>
          <a:lstStyle/>
          <a:p>
            <a:pPr>
              <a:lnSpc>
                <a:spcPts val="2580"/>
              </a:lnSpc>
              <a:spcBef>
                <a:spcPts val="0"/>
              </a:spcBef>
              <a:spcAft>
                <a:spcPts val="0"/>
              </a:spcAft>
              <a:defRPr sz="1859" b="0">
                <a:solidFill>
                  <a:srgbClr val="18394A"/>
                </a:solidFill>
                <a:latin typeface="Noto Sans"/>
              </a:defRPr>
            </a:pPr>
            <a:r>
              <a:t>Modelar un proceso representa actividades, decisiones, participantes y resultados para</a:t>
            </a:r>
          </a:p>
          <a:p>
            <a:pPr>
              <a:lnSpc>
                <a:spcPts val="2580"/>
              </a:lnSpc>
              <a:spcBef>
                <a:spcPts val="0"/>
              </a:spcBef>
              <a:spcAft>
                <a:spcPts val="0"/>
              </a:spcAft>
              <a:defRPr sz="1859" b="0">
                <a:solidFill>
                  <a:srgbClr val="18394A"/>
                </a:solidFill>
                <a:latin typeface="Noto Sans"/>
              </a:defRPr>
            </a:pPr>
            <a:r>
              <a:t>comprender cómo se relacionan. Permite descubrir transferencias y esperas que una lista</a:t>
            </a:r>
          </a:p>
          <a:p>
            <a:pPr>
              <a:lnSpc>
                <a:spcPts val="2580"/>
              </a:lnSpc>
              <a:spcBef>
                <a:spcPts val="0"/>
              </a:spcBef>
              <a:spcAft>
                <a:spcPts val="0"/>
              </a:spcAft>
              <a:defRPr sz="1859" b="0">
                <a:solidFill>
                  <a:srgbClr val="18394A"/>
                </a:solidFill>
                <a:latin typeface="Noto Sans"/>
              </a:defRPr>
            </a:pPr>
            <a:r>
              <a:t>de tareas puede ocultar. Su valor depende del propósito: una conversación con</a:t>
            </a:r>
          </a:p>
          <a:p>
            <a:pPr>
              <a:lnSpc>
                <a:spcPts val="2580"/>
              </a:lnSpc>
              <a:spcBef>
                <a:spcPts val="0"/>
              </a:spcBef>
              <a:spcAft>
                <a:spcPts val="0"/>
              </a:spcAft>
              <a:defRPr sz="1859" b="0">
                <a:solidFill>
                  <a:srgbClr val="18394A"/>
                </a:solidFill>
                <a:latin typeface="Noto Sans"/>
              </a:defRPr>
            </a:pPr>
            <a:r>
              <a:t>responsables puede necesitar una vista general; investigar una excepción requiere detalle</a:t>
            </a:r>
          </a:p>
          <a:p>
            <a:pPr>
              <a:lnSpc>
                <a:spcPts val="2580"/>
              </a:lnSpc>
              <a:spcBef>
                <a:spcPts val="0"/>
              </a:spcBef>
              <a:spcAft>
                <a:spcPts val="0"/>
              </a:spcAft>
              <a:defRPr sz="1859" b="0">
                <a:solidFill>
                  <a:srgbClr val="18394A"/>
                </a:solidFill>
                <a:latin typeface="Noto Sans"/>
              </a:defRPr>
            </a:pPr>
            <a:r>
              <a:t>adicional. Más símbolos no significan automáticamente mejor comprensión.</a:t>
            </a:r>
          </a:p>
        </p:txBody>
      </p:sp>
      <p:sp>
        <p:nvSpPr>
          <p:cNvPr id="8" name="TextBox 7"/>
          <p:cNvSpPr txBox="1"/>
          <p:nvPr/>
        </p:nvSpPr>
        <p:spPr>
          <a:xfrm>
            <a:off x="609600" y="6446520"/>
            <a:ext cx="10591800" cy="281940"/>
          </a:xfrm>
          <a:prstGeom prst="rect">
            <a:avLst/>
          </a:prstGeom>
          <a:noFill/>
        </p:spPr>
        <p:txBody>
          <a:bodyPr wrap="none" lIns="0" tIns="0" rIns="0" bIns="0" anchor="t">
            <a:spAutoFit/>
          </a:bodyPr>
          <a:lstStyle/>
          <a:p>
            <a:pPr>
              <a:lnSpc>
                <a:spcPts val="1380"/>
              </a:lnSpc>
              <a:spcBef>
                <a:spcPts val="0"/>
              </a:spcBef>
              <a:spcAft>
                <a:spcPts val="0"/>
              </a:spcAft>
              <a:defRPr sz="1019" b="0">
                <a:solidFill>
                  <a:srgbClr val="536975"/>
                </a:solidFill>
                <a:latin typeface="Noto Sans"/>
              </a:defRPr>
            </a:pPr>
            <a:r>
              <a:t>Material didáctico de elaboración original · Caso y datos ficticios</a:t>
            </a:r>
          </a:p>
        </p:txBody>
      </p:sp>
      <p:sp>
        <p:nvSpPr>
          <p:cNvPr id="9" name="TextBox 8"/>
          <p:cNvSpPr txBox="1"/>
          <p:nvPr/>
        </p:nvSpPr>
        <p:spPr>
          <a:xfrm>
            <a:off x="11049000" y="6446520"/>
            <a:ext cx="762000" cy="281940"/>
          </a:xfrm>
          <a:prstGeom prst="rect">
            <a:avLst/>
          </a:prstGeom>
          <a:noFill/>
        </p:spPr>
        <p:txBody>
          <a:bodyPr wrap="none" lIns="0" tIns="0" rIns="0" bIns="0" anchor="t">
            <a:spAutoFit/>
          </a:bodyPr>
          <a:lstStyle/>
          <a:p>
            <a:pPr>
              <a:lnSpc>
                <a:spcPts val="1380"/>
              </a:lnSpc>
              <a:spcBef>
                <a:spcPts val="0"/>
              </a:spcBef>
              <a:spcAft>
                <a:spcPts val="0"/>
              </a:spcAft>
              <a:defRPr sz="1019" b="0">
                <a:solidFill>
                  <a:srgbClr val="536975"/>
                </a:solidFill>
                <a:latin typeface="Noto Sans"/>
              </a:defRPr>
            </a:pPr>
            <a:r>
              <a:t>03 / 10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5F2EB"/>
        </a:solidFill>
        <a:effectLst/>
      </p:bgPr>
    </p:bg>
    <p:spTree>
      <p:nvGrpSpPr>
        <p:cNvPr id="1" name=""/>
        <p:cNvGrpSpPr/>
        <p:nvPr/>
      </p:nvGrpSpPr>
      <p:grpSpPr/>
      <p:sp>
        <p:nvSpPr>
          <p:cNvPr id="2" name="Rectangle 1"/>
          <p:cNvSpPr/>
          <p:nvPr/>
        </p:nvSpPr>
        <p:spPr>
          <a:xfrm>
            <a:off x="0" y="0"/>
            <a:ext cx="12192000" cy="91440"/>
          </a:xfrm>
          <a:prstGeom prst="rect">
            <a:avLst/>
          </a:prstGeom>
          <a:solidFill>
            <a:srgbClr val="087E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09600" y="365760"/>
            <a:ext cx="10820400" cy="320040"/>
          </a:xfrm>
          <a:prstGeom prst="rect">
            <a:avLst/>
          </a:prstGeom>
          <a:noFill/>
        </p:spPr>
        <p:txBody>
          <a:bodyPr wrap="none" lIns="0" tIns="0" rIns="0" bIns="0" anchor="t">
            <a:spAutoFit/>
          </a:bodyPr>
          <a:lstStyle/>
          <a:p>
            <a:pPr>
              <a:lnSpc>
                <a:spcPts val="1680"/>
              </a:lnSpc>
              <a:spcBef>
                <a:spcPts val="0"/>
              </a:spcBef>
              <a:spcAft>
                <a:spcPts val="0"/>
              </a:spcAft>
              <a:defRPr sz="1200" b="1">
                <a:solidFill>
                  <a:srgbClr val="087E8B"/>
                </a:solidFill>
                <a:latin typeface="Noto Sans"/>
              </a:defRPr>
            </a:pPr>
            <a:r>
              <a:t>PROCESOS PARA NEGOCIOS DIGITALES · U3 · 3.1</a:t>
            </a:r>
          </a:p>
        </p:txBody>
      </p:sp>
      <p:sp>
        <p:nvSpPr>
          <p:cNvPr id="4" name="TextBox 3"/>
          <p:cNvSpPr txBox="1"/>
          <p:nvPr/>
        </p:nvSpPr>
        <p:spPr>
          <a:xfrm>
            <a:off x="609600" y="952500"/>
            <a:ext cx="10896600" cy="655320"/>
          </a:xfrm>
          <a:prstGeom prst="rect">
            <a:avLst/>
          </a:prstGeom>
          <a:noFill/>
        </p:spPr>
        <p:txBody>
          <a:bodyPr wrap="none" lIns="0" tIns="0" rIns="0" bIns="0" anchor="t">
            <a:spAutoFit/>
          </a:bodyPr>
          <a:lstStyle/>
          <a:p>
            <a:pPr>
              <a:lnSpc>
                <a:spcPts val="4320"/>
              </a:lnSpc>
              <a:spcBef>
                <a:spcPts val="0"/>
              </a:spcBef>
              <a:spcAft>
                <a:spcPts val="0"/>
              </a:spcAft>
              <a:defRPr sz="3120" b="1">
                <a:solidFill>
                  <a:srgbClr val="18394A"/>
                </a:solidFill>
                <a:latin typeface="Noto Sans"/>
              </a:defRPr>
            </a:pPr>
            <a:r>
              <a:t>Propósito y nivel de detalle</a:t>
            </a:r>
          </a:p>
        </p:txBody>
      </p:sp>
      <p:sp>
        <p:nvSpPr>
          <p:cNvPr id="5" name="Rounded Rectangle 4"/>
          <p:cNvSpPr/>
          <p:nvPr/>
        </p:nvSpPr>
        <p:spPr>
          <a:xfrm>
            <a:off x="609600" y="2286000"/>
            <a:ext cx="10881360" cy="3390900"/>
          </a:xfrm>
          <a:prstGeom prst="roundRect">
            <a:avLst>
              <a:gd name="adj" fmla="val 4044"/>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09600" y="2286000"/>
            <a:ext cx="83820" cy="3390900"/>
          </a:xfrm>
          <a:prstGeom prst="rect">
            <a:avLst/>
          </a:prstGeom>
          <a:solidFill>
            <a:srgbClr val="087E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99160" y="2522220"/>
            <a:ext cx="10210800" cy="1744980"/>
          </a:xfrm>
          <a:prstGeom prst="rect">
            <a:avLst/>
          </a:prstGeom>
          <a:noFill/>
        </p:spPr>
        <p:txBody>
          <a:bodyPr wrap="none" lIns="0" tIns="0" rIns="0" bIns="0" anchor="t">
            <a:spAutoFit/>
          </a:bodyPr>
          <a:lstStyle/>
          <a:p>
            <a:pPr>
              <a:lnSpc>
                <a:spcPts val="2580"/>
              </a:lnSpc>
              <a:spcBef>
                <a:spcPts val="0"/>
              </a:spcBef>
              <a:spcAft>
                <a:spcPts val="0"/>
              </a:spcAft>
              <a:defRPr sz="1859" b="0">
                <a:solidFill>
                  <a:srgbClr val="18394A"/>
                </a:solidFill>
                <a:latin typeface="Noto Sans"/>
              </a:defRPr>
            </a:pPr>
            <a:r>
              <a:t>Define audiencia, pregunta que se quiere responder y límites antes de dibujar. Separa una</a:t>
            </a:r>
          </a:p>
          <a:p>
            <a:pPr>
              <a:lnSpc>
                <a:spcPts val="2580"/>
              </a:lnSpc>
              <a:spcBef>
                <a:spcPts val="0"/>
              </a:spcBef>
              <a:spcAft>
                <a:spcPts val="0"/>
              </a:spcAft>
              <a:defRPr sz="1859" b="0">
                <a:solidFill>
                  <a:srgbClr val="18394A"/>
                </a:solidFill>
                <a:latin typeface="Noto Sans"/>
              </a:defRPr>
            </a:pPr>
            <a:r>
              <a:t>vista general de subprocesos detallados cuando sea necesario. Mantén un nivel de</a:t>
            </a:r>
          </a:p>
          <a:p>
            <a:pPr>
              <a:lnSpc>
                <a:spcPts val="2580"/>
              </a:lnSpc>
              <a:spcBef>
                <a:spcPts val="0"/>
              </a:spcBef>
              <a:spcAft>
                <a:spcPts val="0"/>
              </a:spcAft>
              <a:defRPr sz="1859" b="0">
                <a:solidFill>
                  <a:srgbClr val="18394A"/>
                </a:solidFill>
                <a:latin typeface="Noto Sans"/>
              </a:defRPr>
            </a:pPr>
            <a:r>
              <a:t>abstracción consistente dentro de cada vista. Si mezclas aprobar una solicitud con pulsar un</a:t>
            </a:r>
          </a:p>
          <a:p>
            <a:pPr>
              <a:lnSpc>
                <a:spcPts val="2580"/>
              </a:lnSpc>
              <a:spcBef>
                <a:spcPts val="0"/>
              </a:spcBef>
              <a:spcAft>
                <a:spcPts val="0"/>
              </a:spcAft>
              <a:defRPr sz="1859" b="0">
                <a:solidFill>
                  <a:srgbClr val="18394A"/>
                </a:solidFill>
                <a:latin typeface="Noto Sans"/>
              </a:defRPr>
            </a:pPr>
            <a:r>
              <a:t>botón y gestionar toda la empresa, el modelo reúne escalas distintas y se vuelve difícil de</a:t>
            </a:r>
          </a:p>
          <a:p>
            <a:pPr>
              <a:lnSpc>
                <a:spcPts val="2580"/>
              </a:lnSpc>
              <a:spcBef>
                <a:spcPts val="0"/>
              </a:spcBef>
              <a:spcAft>
                <a:spcPts val="0"/>
              </a:spcAft>
              <a:defRPr sz="1859" b="0">
                <a:solidFill>
                  <a:srgbClr val="18394A"/>
                </a:solidFill>
                <a:latin typeface="Noto Sans"/>
              </a:defRPr>
            </a:pPr>
            <a:r>
              <a:t>interpretar.</a:t>
            </a:r>
          </a:p>
        </p:txBody>
      </p:sp>
      <p:sp>
        <p:nvSpPr>
          <p:cNvPr id="8" name="TextBox 7"/>
          <p:cNvSpPr txBox="1"/>
          <p:nvPr/>
        </p:nvSpPr>
        <p:spPr>
          <a:xfrm>
            <a:off x="609600" y="6446520"/>
            <a:ext cx="10591800" cy="281940"/>
          </a:xfrm>
          <a:prstGeom prst="rect">
            <a:avLst/>
          </a:prstGeom>
          <a:noFill/>
        </p:spPr>
        <p:txBody>
          <a:bodyPr wrap="none" lIns="0" tIns="0" rIns="0" bIns="0" anchor="t">
            <a:spAutoFit/>
          </a:bodyPr>
          <a:lstStyle/>
          <a:p>
            <a:pPr>
              <a:lnSpc>
                <a:spcPts val="1380"/>
              </a:lnSpc>
              <a:spcBef>
                <a:spcPts val="0"/>
              </a:spcBef>
              <a:spcAft>
                <a:spcPts val="0"/>
              </a:spcAft>
              <a:defRPr sz="1019" b="0">
                <a:solidFill>
                  <a:srgbClr val="536975"/>
                </a:solidFill>
                <a:latin typeface="Noto Sans"/>
              </a:defRPr>
            </a:pPr>
            <a:r>
              <a:t>Material didáctico de elaboración original · Caso y datos ficticios</a:t>
            </a:r>
          </a:p>
        </p:txBody>
      </p:sp>
      <p:sp>
        <p:nvSpPr>
          <p:cNvPr id="9" name="TextBox 8"/>
          <p:cNvSpPr txBox="1"/>
          <p:nvPr/>
        </p:nvSpPr>
        <p:spPr>
          <a:xfrm>
            <a:off x="11049000" y="6446520"/>
            <a:ext cx="762000" cy="281940"/>
          </a:xfrm>
          <a:prstGeom prst="rect">
            <a:avLst/>
          </a:prstGeom>
          <a:noFill/>
        </p:spPr>
        <p:txBody>
          <a:bodyPr wrap="none" lIns="0" tIns="0" rIns="0" bIns="0" anchor="t">
            <a:spAutoFit/>
          </a:bodyPr>
          <a:lstStyle/>
          <a:p>
            <a:pPr>
              <a:lnSpc>
                <a:spcPts val="1380"/>
              </a:lnSpc>
              <a:spcBef>
                <a:spcPts val="0"/>
              </a:spcBef>
              <a:spcAft>
                <a:spcPts val="0"/>
              </a:spcAft>
              <a:defRPr sz="1019" b="0">
                <a:solidFill>
                  <a:srgbClr val="536975"/>
                </a:solidFill>
                <a:latin typeface="Noto Sans"/>
              </a:defRPr>
            </a:pPr>
            <a:r>
              <a:t>04 / 10</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5F2EB"/>
        </a:solidFill>
        <a:effectLst/>
      </p:bgPr>
    </p:bg>
    <p:spTree>
      <p:nvGrpSpPr>
        <p:cNvPr id="1" name=""/>
        <p:cNvGrpSpPr/>
        <p:nvPr/>
      </p:nvGrpSpPr>
      <p:grpSpPr/>
      <p:sp>
        <p:nvSpPr>
          <p:cNvPr id="2" name="Rectangle 1"/>
          <p:cNvSpPr/>
          <p:nvPr/>
        </p:nvSpPr>
        <p:spPr>
          <a:xfrm>
            <a:off x="0" y="0"/>
            <a:ext cx="12192000" cy="91440"/>
          </a:xfrm>
          <a:prstGeom prst="rect">
            <a:avLst/>
          </a:prstGeom>
          <a:solidFill>
            <a:srgbClr val="087E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09600" y="365760"/>
            <a:ext cx="10820400" cy="320040"/>
          </a:xfrm>
          <a:prstGeom prst="rect">
            <a:avLst/>
          </a:prstGeom>
          <a:noFill/>
        </p:spPr>
        <p:txBody>
          <a:bodyPr wrap="none" lIns="0" tIns="0" rIns="0" bIns="0" anchor="t">
            <a:spAutoFit/>
          </a:bodyPr>
          <a:lstStyle/>
          <a:p>
            <a:pPr>
              <a:lnSpc>
                <a:spcPts val="1680"/>
              </a:lnSpc>
              <a:spcBef>
                <a:spcPts val="0"/>
              </a:spcBef>
              <a:spcAft>
                <a:spcPts val="0"/>
              </a:spcAft>
              <a:defRPr sz="1200" b="1">
                <a:solidFill>
                  <a:srgbClr val="087E8B"/>
                </a:solidFill>
                <a:latin typeface="Noto Sans"/>
              </a:defRPr>
            </a:pPr>
            <a:r>
              <a:t>PROCESOS PARA NEGOCIOS DIGITALES · U3 · 3.1</a:t>
            </a:r>
          </a:p>
        </p:txBody>
      </p:sp>
      <p:sp>
        <p:nvSpPr>
          <p:cNvPr id="4" name="TextBox 3"/>
          <p:cNvSpPr txBox="1"/>
          <p:nvPr/>
        </p:nvSpPr>
        <p:spPr>
          <a:xfrm>
            <a:off x="609600" y="952500"/>
            <a:ext cx="10896600" cy="655320"/>
          </a:xfrm>
          <a:prstGeom prst="rect">
            <a:avLst/>
          </a:prstGeom>
          <a:noFill/>
        </p:spPr>
        <p:txBody>
          <a:bodyPr wrap="none" lIns="0" tIns="0" rIns="0" bIns="0" anchor="t">
            <a:spAutoFit/>
          </a:bodyPr>
          <a:lstStyle/>
          <a:p>
            <a:pPr>
              <a:lnSpc>
                <a:spcPts val="4320"/>
              </a:lnSpc>
              <a:spcBef>
                <a:spcPts val="0"/>
              </a:spcBef>
              <a:spcAft>
                <a:spcPts val="0"/>
              </a:spcAft>
              <a:defRPr sz="3120" b="1">
                <a:solidFill>
                  <a:srgbClr val="18394A"/>
                </a:solidFill>
                <a:latin typeface="Noto Sans"/>
              </a:defRPr>
            </a:pPr>
            <a:r>
              <a:t>Del concepto a la acción</a:t>
            </a:r>
          </a:p>
        </p:txBody>
      </p:sp>
      <p:sp>
        <p:nvSpPr>
          <p:cNvPr id="5" name="Rounded Rectangle 4"/>
          <p:cNvSpPr/>
          <p:nvPr/>
        </p:nvSpPr>
        <p:spPr>
          <a:xfrm>
            <a:off x="609600" y="2438400"/>
            <a:ext cx="2514600" cy="1188720"/>
          </a:xfrm>
          <a:prstGeom prst="roundRect">
            <a:avLst>
              <a:gd name="adj" fmla="val 9615"/>
            </a:avLst>
          </a:prstGeom>
          <a:solidFill>
            <a:srgbClr val="087E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84860" y="2606040"/>
            <a:ext cx="2171700" cy="327660"/>
          </a:xfrm>
          <a:prstGeom prst="rect">
            <a:avLst/>
          </a:prstGeom>
          <a:noFill/>
        </p:spPr>
        <p:txBody>
          <a:bodyPr wrap="none" lIns="0" tIns="0" rIns="0" bIns="0" anchor="t">
            <a:spAutoFit/>
          </a:bodyPr>
          <a:lstStyle/>
          <a:p>
            <a:pPr>
              <a:lnSpc>
                <a:spcPts val="1739"/>
              </a:lnSpc>
              <a:spcBef>
                <a:spcPts val="0"/>
              </a:spcBef>
              <a:spcAft>
                <a:spcPts val="0"/>
              </a:spcAft>
              <a:defRPr sz="1260" b="1">
                <a:solidFill>
                  <a:srgbClr val="FFFFFF"/>
                </a:solidFill>
                <a:latin typeface="Noto Sans"/>
              </a:defRPr>
            </a:pPr>
            <a:r>
              <a:t>01</a:t>
            </a:r>
          </a:p>
        </p:txBody>
      </p:sp>
      <p:sp>
        <p:nvSpPr>
          <p:cNvPr id="7" name="TextBox 6"/>
          <p:cNvSpPr txBox="1"/>
          <p:nvPr/>
        </p:nvSpPr>
        <p:spPr>
          <a:xfrm>
            <a:off x="784860" y="2948940"/>
            <a:ext cx="2171700" cy="388620"/>
          </a:xfrm>
          <a:prstGeom prst="rect">
            <a:avLst/>
          </a:prstGeom>
          <a:noFill/>
        </p:spPr>
        <p:txBody>
          <a:bodyPr wrap="none" lIns="0" tIns="0" rIns="0" bIns="0" anchor="t">
            <a:spAutoFit/>
          </a:bodyPr>
          <a:lstStyle/>
          <a:p>
            <a:pPr>
              <a:lnSpc>
                <a:spcPts val="2220"/>
              </a:lnSpc>
              <a:spcBef>
                <a:spcPts val="0"/>
              </a:spcBef>
              <a:spcAft>
                <a:spcPts val="0"/>
              </a:spcAft>
              <a:defRPr sz="1620" b="1">
                <a:solidFill>
                  <a:srgbClr val="FFFFFF"/>
                </a:solidFill>
                <a:latin typeface="Noto Sans"/>
              </a:defRPr>
            </a:pPr>
            <a:r>
              <a:t>Definir pregunta</a:t>
            </a:r>
          </a:p>
        </p:txBody>
      </p:sp>
      <p:sp>
        <p:nvSpPr>
          <p:cNvPr id="8" name="TextBox 7"/>
          <p:cNvSpPr txBox="1"/>
          <p:nvPr/>
        </p:nvSpPr>
        <p:spPr>
          <a:xfrm>
            <a:off x="3154680" y="2811780"/>
            <a:ext cx="228600" cy="419100"/>
          </a:xfrm>
          <a:prstGeom prst="rect">
            <a:avLst/>
          </a:prstGeom>
          <a:noFill/>
        </p:spPr>
        <p:txBody>
          <a:bodyPr wrap="none" lIns="0" tIns="0" rIns="0" bIns="0" anchor="t">
            <a:spAutoFit/>
          </a:bodyPr>
          <a:lstStyle/>
          <a:p>
            <a:pPr>
              <a:lnSpc>
                <a:spcPts val="2460"/>
              </a:lnSpc>
              <a:spcBef>
                <a:spcPts val="0"/>
              </a:spcBef>
              <a:spcAft>
                <a:spcPts val="0"/>
              </a:spcAft>
              <a:defRPr sz="1800" b="1">
                <a:solidFill>
                  <a:srgbClr val="18394A"/>
                </a:solidFill>
                <a:latin typeface="Noto Sans"/>
              </a:defRPr>
            </a:pPr>
            <a:r>
              <a:t>›</a:t>
            </a:r>
          </a:p>
        </p:txBody>
      </p:sp>
      <p:sp>
        <p:nvSpPr>
          <p:cNvPr id="9" name="Rounded Rectangle 8"/>
          <p:cNvSpPr/>
          <p:nvPr/>
        </p:nvSpPr>
        <p:spPr>
          <a:xfrm>
            <a:off x="3352800" y="2438400"/>
            <a:ext cx="2514600" cy="1188720"/>
          </a:xfrm>
          <a:prstGeom prst="roundRect">
            <a:avLst>
              <a:gd name="adj" fmla="val 9615"/>
            </a:avLst>
          </a:prstGeom>
          <a:solidFill>
            <a:srgbClr val="087E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528060" y="2606040"/>
            <a:ext cx="2171700" cy="327660"/>
          </a:xfrm>
          <a:prstGeom prst="rect">
            <a:avLst/>
          </a:prstGeom>
          <a:noFill/>
        </p:spPr>
        <p:txBody>
          <a:bodyPr wrap="none" lIns="0" tIns="0" rIns="0" bIns="0" anchor="t">
            <a:spAutoFit/>
          </a:bodyPr>
          <a:lstStyle/>
          <a:p>
            <a:pPr>
              <a:lnSpc>
                <a:spcPts val="1739"/>
              </a:lnSpc>
              <a:spcBef>
                <a:spcPts val="0"/>
              </a:spcBef>
              <a:spcAft>
                <a:spcPts val="0"/>
              </a:spcAft>
              <a:defRPr sz="1260" b="1">
                <a:solidFill>
                  <a:srgbClr val="FFFFFF"/>
                </a:solidFill>
                <a:latin typeface="Noto Sans"/>
              </a:defRPr>
            </a:pPr>
            <a:r>
              <a:t>02</a:t>
            </a:r>
          </a:p>
        </p:txBody>
      </p:sp>
      <p:sp>
        <p:nvSpPr>
          <p:cNvPr id="11" name="TextBox 10"/>
          <p:cNvSpPr txBox="1"/>
          <p:nvPr/>
        </p:nvSpPr>
        <p:spPr>
          <a:xfrm>
            <a:off x="3528060" y="2948940"/>
            <a:ext cx="2171700" cy="670560"/>
          </a:xfrm>
          <a:prstGeom prst="rect">
            <a:avLst/>
          </a:prstGeom>
          <a:noFill/>
        </p:spPr>
        <p:txBody>
          <a:bodyPr wrap="none" lIns="0" tIns="0" rIns="0" bIns="0" anchor="t">
            <a:spAutoFit/>
          </a:bodyPr>
          <a:lstStyle/>
          <a:p>
            <a:pPr>
              <a:lnSpc>
                <a:spcPts val="2220"/>
              </a:lnSpc>
              <a:spcBef>
                <a:spcPts val="0"/>
              </a:spcBef>
              <a:spcAft>
                <a:spcPts val="0"/>
              </a:spcAft>
              <a:defRPr sz="1620" b="1">
                <a:solidFill>
                  <a:srgbClr val="FFFFFF"/>
                </a:solidFill>
                <a:latin typeface="Noto Sans"/>
              </a:defRPr>
            </a:pPr>
            <a:r>
              <a:t>Representar</a:t>
            </a:r>
          </a:p>
          <a:p>
            <a:pPr>
              <a:lnSpc>
                <a:spcPts val="2220"/>
              </a:lnSpc>
              <a:spcBef>
                <a:spcPts val="0"/>
              </a:spcBef>
              <a:spcAft>
                <a:spcPts val="0"/>
              </a:spcAft>
              <a:defRPr sz="1620" b="1">
                <a:solidFill>
                  <a:srgbClr val="FFFFFF"/>
                </a:solidFill>
                <a:latin typeface="Noto Sans"/>
              </a:defRPr>
            </a:pPr>
            <a:r>
              <a:t>recorrido</a:t>
            </a:r>
          </a:p>
        </p:txBody>
      </p:sp>
      <p:sp>
        <p:nvSpPr>
          <p:cNvPr id="12" name="TextBox 11"/>
          <p:cNvSpPr txBox="1"/>
          <p:nvPr/>
        </p:nvSpPr>
        <p:spPr>
          <a:xfrm>
            <a:off x="5897880" y="2811780"/>
            <a:ext cx="228600" cy="419100"/>
          </a:xfrm>
          <a:prstGeom prst="rect">
            <a:avLst/>
          </a:prstGeom>
          <a:noFill/>
        </p:spPr>
        <p:txBody>
          <a:bodyPr wrap="none" lIns="0" tIns="0" rIns="0" bIns="0" anchor="t">
            <a:spAutoFit/>
          </a:bodyPr>
          <a:lstStyle/>
          <a:p>
            <a:pPr>
              <a:lnSpc>
                <a:spcPts val="2460"/>
              </a:lnSpc>
              <a:spcBef>
                <a:spcPts val="0"/>
              </a:spcBef>
              <a:spcAft>
                <a:spcPts val="0"/>
              </a:spcAft>
              <a:defRPr sz="1800" b="1">
                <a:solidFill>
                  <a:srgbClr val="18394A"/>
                </a:solidFill>
                <a:latin typeface="Noto Sans"/>
              </a:defRPr>
            </a:pPr>
            <a:r>
              <a:t>›</a:t>
            </a:r>
          </a:p>
        </p:txBody>
      </p:sp>
      <p:sp>
        <p:nvSpPr>
          <p:cNvPr id="13" name="Rounded Rectangle 12"/>
          <p:cNvSpPr/>
          <p:nvPr/>
        </p:nvSpPr>
        <p:spPr>
          <a:xfrm>
            <a:off x="6096000" y="2438400"/>
            <a:ext cx="2514600" cy="1188720"/>
          </a:xfrm>
          <a:prstGeom prst="roundRect">
            <a:avLst>
              <a:gd name="adj" fmla="val 9615"/>
            </a:avLst>
          </a:prstGeom>
          <a:solidFill>
            <a:srgbClr val="087E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271260" y="2606040"/>
            <a:ext cx="2171700" cy="327660"/>
          </a:xfrm>
          <a:prstGeom prst="rect">
            <a:avLst/>
          </a:prstGeom>
          <a:noFill/>
        </p:spPr>
        <p:txBody>
          <a:bodyPr wrap="none" lIns="0" tIns="0" rIns="0" bIns="0" anchor="t">
            <a:spAutoFit/>
          </a:bodyPr>
          <a:lstStyle/>
          <a:p>
            <a:pPr>
              <a:lnSpc>
                <a:spcPts val="1739"/>
              </a:lnSpc>
              <a:spcBef>
                <a:spcPts val="0"/>
              </a:spcBef>
              <a:spcAft>
                <a:spcPts val="0"/>
              </a:spcAft>
              <a:defRPr sz="1260" b="1">
                <a:solidFill>
                  <a:srgbClr val="FFFFFF"/>
                </a:solidFill>
                <a:latin typeface="Noto Sans"/>
              </a:defRPr>
            </a:pPr>
            <a:r>
              <a:t>03</a:t>
            </a:r>
          </a:p>
        </p:txBody>
      </p:sp>
      <p:sp>
        <p:nvSpPr>
          <p:cNvPr id="15" name="TextBox 14"/>
          <p:cNvSpPr txBox="1"/>
          <p:nvPr/>
        </p:nvSpPr>
        <p:spPr>
          <a:xfrm>
            <a:off x="6271260" y="2948940"/>
            <a:ext cx="2171700" cy="388620"/>
          </a:xfrm>
          <a:prstGeom prst="rect">
            <a:avLst/>
          </a:prstGeom>
          <a:noFill/>
        </p:spPr>
        <p:txBody>
          <a:bodyPr wrap="none" lIns="0" tIns="0" rIns="0" bIns="0" anchor="t">
            <a:spAutoFit/>
          </a:bodyPr>
          <a:lstStyle/>
          <a:p>
            <a:pPr>
              <a:lnSpc>
                <a:spcPts val="2220"/>
              </a:lnSpc>
              <a:spcBef>
                <a:spcPts val="0"/>
              </a:spcBef>
              <a:spcAft>
                <a:spcPts val="0"/>
              </a:spcAft>
              <a:defRPr sz="1620" b="1">
                <a:solidFill>
                  <a:srgbClr val="FFFFFF"/>
                </a:solidFill>
                <a:latin typeface="Noto Sans"/>
              </a:defRPr>
            </a:pPr>
            <a:r>
              <a:t>Validar casos</a:t>
            </a:r>
          </a:p>
        </p:txBody>
      </p:sp>
      <p:sp>
        <p:nvSpPr>
          <p:cNvPr id="16" name="TextBox 15"/>
          <p:cNvSpPr txBox="1"/>
          <p:nvPr/>
        </p:nvSpPr>
        <p:spPr>
          <a:xfrm>
            <a:off x="8641080" y="2811780"/>
            <a:ext cx="228600" cy="419100"/>
          </a:xfrm>
          <a:prstGeom prst="rect">
            <a:avLst/>
          </a:prstGeom>
          <a:noFill/>
        </p:spPr>
        <p:txBody>
          <a:bodyPr wrap="none" lIns="0" tIns="0" rIns="0" bIns="0" anchor="t">
            <a:spAutoFit/>
          </a:bodyPr>
          <a:lstStyle/>
          <a:p>
            <a:pPr>
              <a:lnSpc>
                <a:spcPts val="2460"/>
              </a:lnSpc>
              <a:spcBef>
                <a:spcPts val="0"/>
              </a:spcBef>
              <a:spcAft>
                <a:spcPts val="0"/>
              </a:spcAft>
              <a:defRPr sz="1800" b="1">
                <a:solidFill>
                  <a:srgbClr val="18394A"/>
                </a:solidFill>
                <a:latin typeface="Noto Sans"/>
              </a:defRPr>
            </a:pPr>
            <a:r>
              <a:t>›</a:t>
            </a:r>
          </a:p>
        </p:txBody>
      </p:sp>
      <p:sp>
        <p:nvSpPr>
          <p:cNvPr id="17" name="Rounded Rectangle 16"/>
          <p:cNvSpPr/>
          <p:nvPr/>
        </p:nvSpPr>
        <p:spPr>
          <a:xfrm>
            <a:off x="8839200" y="2438400"/>
            <a:ext cx="2514600" cy="1188720"/>
          </a:xfrm>
          <a:prstGeom prst="roundRect">
            <a:avLst>
              <a:gd name="adj" fmla="val 9615"/>
            </a:avLst>
          </a:prstGeom>
          <a:solidFill>
            <a:srgbClr val="087E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014460" y="2606040"/>
            <a:ext cx="2171700" cy="327660"/>
          </a:xfrm>
          <a:prstGeom prst="rect">
            <a:avLst/>
          </a:prstGeom>
          <a:noFill/>
        </p:spPr>
        <p:txBody>
          <a:bodyPr wrap="none" lIns="0" tIns="0" rIns="0" bIns="0" anchor="t">
            <a:spAutoFit/>
          </a:bodyPr>
          <a:lstStyle/>
          <a:p>
            <a:pPr>
              <a:lnSpc>
                <a:spcPts val="1739"/>
              </a:lnSpc>
              <a:spcBef>
                <a:spcPts val="0"/>
              </a:spcBef>
              <a:spcAft>
                <a:spcPts val="0"/>
              </a:spcAft>
              <a:defRPr sz="1260" b="1">
                <a:solidFill>
                  <a:srgbClr val="FFFFFF"/>
                </a:solidFill>
                <a:latin typeface="Noto Sans"/>
              </a:defRPr>
            </a:pPr>
            <a:r>
              <a:t>04</a:t>
            </a:r>
          </a:p>
        </p:txBody>
      </p:sp>
      <p:sp>
        <p:nvSpPr>
          <p:cNvPr id="19" name="TextBox 18"/>
          <p:cNvSpPr txBox="1"/>
          <p:nvPr/>
        </p:nvSpPr>
        <p:spPr>
          <a:xfrm>
            <a:off x="9014460" y="2948940"/>
            <a:ext cx="2171700" cy="388620"/>
          </a:xfrm>
          <a:prstGeom prst="rect">
            <a:avLst/>
          </a:prstGeom>
          <a:noFill/>
        </p:spPr>
        <p:txBody>
          <a:bodyPr wrap="none" lIns="0" tIns="0" rIns="0" bIns="0" anchor="t">
            <a:spAutoFit/>
          </a:bodyPr>
          <a:lstStyle/>
          <a:p>
            <a:pPr>
              <a:lnSpc>
                <a:spcPts val="2220"/>
              </a:lnSpc>
              <a:spcBef>
                <a:spcPts val="0"/>
              </a:spcBef>
              <a:spcAft>
                <a:spcPts val="0"/>
              </a:spcAft>
              <a:defRPr sz="1620" b="1">
                <a:solidFill>
                  <a:srgbClr val="FFFFFF"/>
                </a:solidFill>
                <a:latin typeface="Noto Sans"/>
              </a:defRPr>
            </a:pPr>
            <a:r>
              <a:t>Usar evidencia</a:t>
            </a:r>
          </a:p>
        </p:txBody>
      </p:sp>
      <p:sp>
        <p:nvSpPr>
          <p:cNvPr id="20" name="Rounded Rectangle 19"/>
          <p:cNvSpPr/>
          <p:nvPr/>
        </p:nvSpPr>
        <p:spPr>
          <a:xfrm>
            <a:off x="609600" y="3962399"/>
            <a:ext cx="10881360" cy="1744980"/>
          </a:xfrm>
          <a:prstGeom prst="roundRect">
            <a:avLst>
              <a:gd name="adj" fmla="val 786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38200" y="4175760"/>
            <a:ext cx="10424160" cy="1325880"/>
          </a:xfrm>
          <a:prstGeom prst="rect">
            <a:avLst/>
          </a:prstGeom>
          <a:noFill/>
        </p:spPr>
        <p:txBody>
          <a:bodyPr wrap="none" lIns="0" tIns="0" rIns="0" bIns="0" anchor="t">
            <a:spAutoFit/>
          </a:bodyPr>
          <a:lstStyle/>
          <a:p>
            <a:pPr>
              <a:lnSpc>
                <a:spcPts val="2400"/>
              </a:lnSpc>
              <a:spcBef>
                <a:spcPts val="0"/>
              </a:spcBef>
              <a:spcAft>
                <a:spcPts val="0"/>
              </a:spcAft>
              <a:defRPr sz="1739" b="0">
                <a:solidFill>
                  <a:srgbClr val="536975"/>
                </a:solidFill>
                <a:latin typeface="Noto Sans"/>
              </a:defRPr>
            </a:pPr>
            <a:r>
              <a:t>Define qué decisión apoyará el modelo. Representa el recorrido con límites y detalle consistentes.</a:t>
            </a:r>
          </a:p>
          <a:p>
            <a:pPr>
              <a:lnSpc>
                <a:spcPts val="2400"/>
              </a:lnSpc>
              <a:spcBef>
                <a:spcPts val="0"/>
              </a:spcBef>
              <a:spcAft>
                <a:spcPts val="0"/>
              </a:spcAft>
              <a:defRPr sz="1739" b="0">
                <a:solidFill>
                  <a:srgbClr val="536975"/>
                </a:solidFill>
                <a:latin typeface="Noto Sans"/>
              </a:defRPr>
            </a:pPr>
            <a:r>
              <a:t>Valídalo recorriendo casos concretos con sus participantes y registra desacuerdos o supuestos.</a:t>
            </a:r>
          </a:p>
          <a:p>
            <a:pPr>
              <a:lnSpc>
                <a:spcPts val="2400"/>
              </a:lnSpc>
              <a:spcBef>
                <a:spcPts val="0"/>
              </a:spcBef>
              <a:spcAft>
                <a:spcPts val="0"/>
              </a:spcAft>
              <a:defRPr sz="1739" b="0">
                <a:solidFill>
                  <a:srgbClr val="536975"/>
                </a:solidFill>
                <a:latin typeface="Noto Sans"/>
              </a:defRPr>
            </a:pPr>
            <a:r>
              <a:t>Después úsalo para formular preguntas y relacionar evidencia; revisa la representación cuando la</a:t>
            </a:r>
          </a:p>
          <a:p>
            <a:pPr>
              <a:lnSpc>
                <a:spcPts val="2400"/>
              </a:lnSpc>
              <a:spcBef>
                <a:spcPts val="0"/>
              </a:spcBef>
              <a:spcAft>
                <a:spcPts val="0"/>
              </a:spcAft>
              <a:defRPr sz="1739" b="0">
                <a:solidFill>
                  <a:srgbClr val="536975"/>
                </a:solidFill>
                <a:latin typeface="Noto Sans"/>
              </a:defRPr>
            </a:pPr>
            <a:r>
              <a:t>operación o el propósito del análisis cambien.</a:t>
            </a:r>
          </a:p>
        </p:txBody>
      </p:sp>
      <p:sp>
        <p:nvSpPr>
          <p:cNvPr id="22" name="TextBox 21"/>
          <p:cNvSpPr txBox="1"/>
          <p:nvPr/>
        </p:nvSpPr>
        <p:spPr>
          <a:xfrm>
            <a:off x="609600" y="6446520"/>
            <a:ext cx="10591800" cy="281940"/>
          </a:xfrm>
          <a:prstGeom prst="rect">
            <a:avLst/>
          </a:prstGeom>
          <a:noFill/>
        </p:spPr>
        <p:txBody>
          <a:bodyPr wrap="none" lIns="0" tIns="0" rIns="0" bIns="0" anchor="t">
            <a:spAutoFit/>
          </a:bodyPr>
          <a:lstStyle/>
          <a:p>
            <a:pPr>
              <a:lnSpc>
                <a:spcPts val="1380"/>
              </a:lnSpc>
              <a:spcBef>
                <a:spcPts val="0"/>
              </a:spcBef>
              <a:spcAft>
                <a:spcPts val="0"/>
              </a:spcAft>
              <a:defRPr sz="1019" b="0">
                <a:solidFill>
                  <a:srgbClr val="536975"/>
                </a:solidFill>
                <a:latin typeface="Noto Sans"/>
              </a:defRPr>
            </a:pPr>
            <a:r>
              <a:t>Material didáctico de elaboración original · Caso y datos ficticios</a:t>
            </a:r>
          </a:p>
        </p:txBody>
      </p:sp>
      <p:sp>
        <p:nvSpPr>
          <p:cNvPr id="23" name="TextBox 22"/>
          <p:cNvSpPr txBox="1"/>
          <p:nvPr/>
        </p:nvSpPr>
        <p:spPr>
          <a:xfrm>
            <a:off x="11049000" y="6446520"/>
            <a:ext cx="762000" cy="281940"/>
          </a:xfrm>
          <a:prstGeom prst="rect">
            <a:avLst/>
          </a:prstGeom>
          <a:noFill/>
        </p:spPr>
        <p:txBody>
          <a:bodyPr wrap="none" lIns="0" tIns="0" rIns="0" bIns="0" anchor="t">
            <a:spAutoFit/>
          </a:bodyPr>
          <a:lstStyle/>
          <a:p>
            <a:pPr>
              <a:lnSpc>
                <a:spcPts val="1380"/>
              </a:lnSpc>
              <a:spcBef>
                <a:spcPts val="0"/>
              </a:spcBef>
              <a:spcAft>
                <a:spcPts val="0"/>
              </a:spcAft>
              <a:defRPr sz="1019" b="0">
                <a:solidFill>
                  <a:srgbClr val="536975"/>
                </a:solidFill>
                <a:latin typeface="Noto Sans"/>
              </a:defRPr>
            </a:pPr>
            <a:r>
              <a:t>05 / 10</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5F2EB"/>
        </a:solidFill>
        <a:effectLst/>
      </p:bgPr>
    </p:bg>
    <p:spTree>
      <p:nvGrpSpPr>
        <p:cNvPr id="1" name=""/>
        <p:cNvGrpSpPr/>
        <p:nvPr/>
      </p:nvGrpSpPr>
      <p:grpSpPr/>
      <p:sp>
        <p:nvSpPr>
          <p:cNvPr id="2" name="Rectangle 1"/>
          <p:cNvSpPr/>
          <p:nvPr/>
        </p:nvSpPr>
        <p:spPr>
          <a:xfrm>
            <a:off x="0" y="0"/>
            <a:ext cx="12192000" cy="91440"/>
          </a:xfrm>
          <a:prstGeom prst="rect">
            <a:avLst/>
          </a:prstGeom>
          <a:solidFill>
            <a:srgbClr val="087E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09600" y="365760"/>
            <a:ext cx="10820400" cy="320040"/>
          </a:xfrm>
          <a:prstGeom prst="rect">
            <a:avLst/>
          </a:prstGeom>
          <a:noFill/>
        </p:spPr>
        <p:txBody>
          <a:bodyPr wrap="none" lIns="0" tIns="0" rIns="0" bIns="0" anchor="t">
            <a:spAutoFit/>
          </a:bodyPr>
          <a:lstStyle/>
          <a:p>
            <a:pPr>
              <a:lnSpc>
                <a:spcPts val="1680"/>
              </a:lnSpc>
              <a:spcBef>
                <a:spcPts val="0"/>
              </a:spcBef>
              <a:spcAft>
                <a:spcPts val="0"/>
              </a:spcAft>
              <a:defRPr sz="1200" b="1">
                <a:solidFill>
                  <a:srgbClr val="087E8B"/>
                </a:solidFill>
                <a:latin typeface="Noto Sans"/>
              </a:defRPr>
            </a:pPr>
            <a:r>
              <a:t>PROCESOS PARA NEGOCIOS DIGITALES · U3 · 3.1</a:t>
            </a:r>
          </a:p>
        </p:txBody>
      </p:sp>
      <p:sp>
        <p:nvSpPr>
          <p:cNvPr id="4" name="TextBox 3"/>
          <p:cNvSpPr txBox="1"/>
          <p:nvPr/>
        </p:nvSpPr>
        <p:spPr>
          <a:xfrm>
            <a:off x="609600" y="952500"/>
            <a:ext cx="10896600" cy="655320"/>
          </a:xfrm>
          <a:prstGeom prst="rect">
            <a:avLst/>
          </a:prstGeom>
          <a:noFill/>
        </p:spPr>
        <p:txBody>
          <a:bodyPr wrap="none" lIns="0" tIns="0" rIns="0" bIns="0" anchor="t">
            <a:spAutoFit/>
          </a:bodyPr>
          <a:lstStyle/>
          <a:p>
            <a:pPr>
              <a:lnSpc>
                <a:spcPts val="4320"/>
              </a:lnSpc>
              <a:spcBef>
                <a:spcPts val="0"/>
              </a:spcBef>
              <a:spcAft>
                <a:spcPts val="0"/>
              </a:spcAft>
              <a:defRPr sz="3120" b="1">
                <a:solidFill>
                  <a:srgbClr val="18394A"/>
                </a:solidFill>
                <a:latin typeface="Noto Sans"/>
              </a:defRPr>
            </a:pPr>
            <a:r>
              <a:t>Caso aplicado · datos ficticios</a:t>
            </a:r>
          </a:p>
        </p:txBody>
      </p:sp>
      <p:sp>
        <p:nvSpPr>
          <p:cNvPr id="5" name="Rounded Rectangle 4"/>
          <p:cNvSpPr/>
          <p:nvPr/>
        </p:nvSpPr>
        <p:spPr>
          <a:xfrm>
            <a:off x="609600" y="2270760"/>
            <a:ext cx="10881360" cy="2301240"/>
          </a:xfrm>
          <a:prstGeom prst="roundRect">
            <a:avLst>
              <a:gd name="adj" fmla="val 596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53440" y="2484120"/>
            <a:ext cx="10393680" cy="1630680"/>
          </a:xfrm>
          <a:prstGeom prst="rect">
            <a:avLst/>
          </a:prstGeom>
          <a:noFill/>
        </p:spPr>
        <p:txBody>
          <a:bodyPr wrap="none" lIns="0" tIns="0" rIns="0" bIns="0" anchor="t">
            <a:spAutoFit/>
          </a:bodyPr>
          <a:lstStyle/>
          <a:p>
            <a:pPr>
              <a:lnSpc>
                <a:spcPts val="2400"/>
              </a:lnSpc>
              <a:spcBef>
                <a:spcPts val="0"/>
              </a:spcBef>
              <a:spcAft>
                <a:spcPts val="0"/>
              </a:spcAft>
              <a:defRPr sz="1739" b="0">
                <a:solidFill>
                  <a:srgbClr val="18394A"/>
                </a:solidFill>
                <a:latin typeface="Noto Sans"/>
              </a:defRPr>
            </a:pPr>
            <a:r>
              <a:t>Caso ficticio: ventas dibuja cotizar como una sola tarea, mientras revisión técnica enumera cuarenta</a:t>
            </a:r>
          </a:p>
          <a:p>
            <a:pPr>
              <a:lnSpc>
                <a:spcPts val="2400"/>
              </a:lnSpc>
              <a:spcBef>
                <a:spcPts val="0"/>
              </a:spcBef>
              <a:spcAft>
                <a:spcPts val="0"/>
              </a:spcAft>
              <a:defRPr sz="1739" b="0">
                <a:solidFill>
                  <a:srgbClr val="18394A"/>
                </a:solidFill>
                <a:latin typeface="Noto Sans"/>
              </a:defRPr>
            </a:pPr>
            <a:r>
              <a:t>clics. Ambos creen describir el mismo proceso. El equipo acuerda una vista de extremo a extremo</a:t>
            </a:r>
          </a:p>
          <a:p>
            <a:pPr>
              <a:lnSpc>
                <a:spcPts val="2400"/>
              </a:lnSpc>
              <a:spcBef>
                <a:spcPts val="0"/>
              </a:spcBef>
              <a:spcAft>
                <a:spcPts val="0"/>
              </a:spcAft>
              <a:defRPr sz="1739" b="0">
                <a:solidFill>
                  <a:srgbClr val="18394A"/>
                </a:solidFill>
                <a:latin typeface="Noto Sans"/>
              </a:defRPr>
            </a:pPr>
            <a:r>
              <a:t>desde solicitud hasta respuesta, con un subproceso para revisar requisitos. Marca como propuesta</a:t>
            </a:r>
          </a:p>
          <a:p>
            <a:pPr>
              <a:lnSpc>
                <a:spcPts val="2400"/>
              </a:lnSpc>
              <a:spcBef>
                <a:spcPts val="0"/>
              </a:spcBef>
              <a:spcAft>
                <a:spcPts val="0"/>
              </a:spcAft>
              <a:defRPr sz="1739" b="0">
                <a:solidFill>
                  <a:srgbClr val="18394A"/>
                </a:solidFill>
                <a:latin typeface="Noto Sans"/>
              </a:defRPr>
            </a:pPr>
            <a:r>
              <a:t>futura la validación inicial que todavía no existe. Esa separación permite discutir responsabilidades</a:t>
            </a:r>
          </a:p>
          <a:p>
            <a:pPr>
              <a:lnSpc>
                <a:spcPts val="2400"/>
              </a:lnSpc>
              <a:spcBef>
                <a:spcPts val="0"/>
              </a:spcBef>
              <a:spcAft>
                <a:spcPts val="0"/>
              </a:spcAft>
              <a:defRPr sz="1739" b="0">
                <a:solidFill>
                  <a:srgbClr val="18394A"/>
                </a:solidFill>
                <a:latin typeface="Noto Sans"/>
              </a:defRPr>
            </a:pPr>
            <a:r>
              <a:t>sin confundir escalas ni hechos con intenciones.</a:t>
            </a:r>
          </a:p>
        </p:txBody>
      </p:sp>
      <p:sp>
        <p:nvSpPr>
          <p:cNvPr id="7" name="Rounded Rectangle 6"/>
          <p:cNvSpPr/>
          <p:nvPr/>
        </p:nvSpPr>
        <p:spPr>
          <a:xfrm>
            <a:off x="609600" y="4785360"/>
            <a:ext cx="10881360" cy="922020"/>
          </a:xfrm>
          <a:prstGeom prst="roundRect">
            <a:avLst>
              <a:gd name="adj" fmla="val 12396"/>
            </a:avLst>
          </a:prstGeom>
          <a:solidFill>
            <a:srgbClr val="E2F0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30580" y="4945380"/>
            <a:ext cx="10439400" cy="388620"/>
          </a:xfrm>
          <a:prstGeom prst="rect">
            <a:avLst/>
          </a:prstGeom>
          <a:noFill/>
        </p:spPr>
        <p:txBody>
          <a:bodyPr wrap="none" lIns="0" tIns="0" rIns="0" bIns="0" anchor="t">
            <a:spAutoFit/>
          </a:bodyPr>
          <a:lstStyle/>
          <a:p>
            <a:pPr>
              <a:lnSpc>
                <a:spcPts val="2220"/>
              </a:lnSpc>
              <a:spcBef>
                <a:spcPts val="0"/>
              </a:spcBef>
              <a:spcAft>
                <a:spcPts val="0"/>
              </a:spcAft>
              <a:defRPr sz="1620" b="1">
                <a:solidFill>
                  <a:srgbClr val="18394A"/>
                </a:solidFill>
                <a:latin typeface="Noto Sans"/>
              </a:defRPr>
            </a:pPr>
            <a:r>
              <a:t>¿Qué vistas prepararías y cómo evitarías confundir el proceso observado con la propuesta?</a:t>
            </a:r>
          </a:p>
        </p:txBody>
      </p:sp>
      <p:sp>
        <p:nvSpPr>
          <p:cNvPr id="9" name="TextBox 8"/>
          <p:cNvSpPr txBox="1"/>
          <p:nvPr/>
        </p:nvSpPr>
        <p:spPr>
          <a:xfrm>
            <a:off x="609600" y="6446520"/>
            <a:ext cx="10591800" cy="281940"/>
          </a:xfrm>
          <a:prstGeom prst="rect">
            <a:avLst/>
          </a:prstGeom>
          <a:noFill/>
        </p:spPr>
        <p:txBody>
          <a:bodyPr wrap="none" lIns="0" tIns="0" rIns="0" bIns="0" anchor="t">
            <a:spAutoFit/>
          </a:bodyPr>
          <a:lstStyle/>
          <a:p>
            <a:pPr>
              <a:lnSpc>
                <a:spcPts val="1380"/>
              </a:lnSpc>
              <a:spcBef>
                <a:spcPts val="0"/>
              </a:spcBef>
              <a:spcAft>
                <a:spcPts val="0"/>
              </a:spcAft>
              <a:defRPr sz="1019" b="0">
                <a:solidFill>
                  <a:srgbClr val="536975"/>
                </a:solidFill>
                <a:latin typeface="Noto Sans"/>
              </a:defRPr>
            </a:pPr>
            <a:r>
              <a:t>Material didáctico de elaboración original · Caso y datos ficticios</a:t>
            </a:r>
          </a:p>
        </p:txBody>
      </p:sp>
      <p:sp>
        <p:nvSpPr>
          <p:cNvPr id="10" name="TextBox 9"/>
          <p:cNvSpPr txBox="1"/>
          <p:nvPr/>
        </p:nvSpPr>
        <p:spPr>
          <a:xfrm>
            <a:off x="11049000" y="6446520"/>
            <a:ext cx="762000" cy="281940"/>
          </a:xfrm>
          <a:prstGeom prst="rect">
            <a:avLst/>
          </a:prstGeom>
          <a:noFill/>
        </p:spPr>
        <p:txBody>
          <a:bodyPr wrap="none" lIns="0" tIns="0" rIns="0" bIns="0" anchor="t">
            <a:spAutoFit/>
          </a:bodyPr>
          <a:lstStyle/>
          <a:p>
            <a:pPr>
              <a:lnSpc>
                <a:spcPts val="1380"/>
              </a:lnSpc>
              <a:spcBef>
                <a:spcPts val="0"/>
              </a:spcBef>
              <a:spcAft>
                <a:spcPts val="0"/>
              </a:spcAft>
              <a:defRPr sz="1019" b="0">
                <a:solidFill>
                  <a:srgbClr val="536975"/>
                </a:solidFill>
                <a:latin typeface="Noto Sans"/>
              </a:defRPr>
            </a:pPr>
            <a:r>
              <a:t>06 / 10</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5F2EB"/>
        </a:solidFill>
        <a:effectLst/>
      </p:bgPr>
    </p:bg>
    <p:spTree>
      <p:nvGrpSpPr>
        <p:cNvPr id="1" name=""/>
        <p:cNvGrpSpPr/>
        <p:nvPr/>
      </p:nvGrpSpPr>
      <p:grpSpPr/>
      <p:sp>
        <p:nvSpPr>
          <p:cNvPr id="2" name="Rectangle 1"/>
          <p:cNvSpPr/>
          <p:nvPr/>
        </p:nvSpPr>
        <p:spPr>
          <a:xfrm>
            <a:off x="0" y="0"/>
            <a:ext cx="12192000" cy="91440"/>
          </a:xfrm>
          <a:prstGeom prst="rect">
            <a:avLst/>
          </a:prstGeom>
          <a:solidFill>
            <a:srgbClr val="087E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09600" y="365760"/>
            <a:ext cx="10820400" cy="320040"/>
          </a:xfrm>
          <a:prstGeom prst="rect">
            <a:avLst/>
          </a:prstGeom>
          <a:noFill/>
        </p:spPr>
        <p:txBody>
          <a:bodyPr wrap="none" lIns="0" tIns="0" rIns="0" bIns="0" anchor="t">
            <a:spAutoFit/>
          </a:bodyPr>
          <a:lstStyle/>
          <a:p>
            <a:pPr>
              <a:lnSpc>
                <a:spcPts val="1680"/>
              </a:lnSpc>
              <a:spcBef>
                <a:spcPts val="0"/>
              </a:spcBef>
              <a:spcAft>
                <a:spcPts val="0"/>
              </a:spcAft>
              <a:defRPr sz="1200" b="1">
                <a:solidFill>
                  <a:srgbClr val="087E8B"/>
                </a:solidFill>
                <a:latin typeface="Noto Sans"/>
              </a:defRPr>
            </a:pPr>
            <a:r>
              <a:t>PROCESOS PARA NEGOCIOS DIGITALES · U3 · 3.1</a:t>
            </a:r>
          </a:p>
        </p:txBody>
      </p:sp>
      <p:sp>
        <p:nvSpPr>
          <p:cNvPr id="4" name="TextBox 3"/>
          <p:cNvSpPr txBox="1"/>
          <p:nvPr/>
        </p:nvSpPr>
        <p:spPr>
          <a:xfrm>
            <a:off x="609600" y="952500"/>
            <a:ext cx="10896600" cy="655320"/>
          </a:xfrm>
          <a:prstGeom prst="rect">
            <a:avLst/>
          </a:prstGeom>
          <a:noFill/>
        </p:spPr>
        <p:txBody>
          <a:bodyPr wrap="none" lIns="0" tIns="0" rIns="0" bIns="0" anchor="t">
            <a:spAutoFit/>
          </a:bodyPr>
          <a:lstStyle/>
          <a:p>
            <a:pPr>
              <a:lnSpc>
                <a:spcPts val="4320"/>
              </a:lnSpc>
              <a:spcBef>
                <a:spcPts val="0"/>
              </a:spcBef>
              <a:spcAft>
                <a:spcPts val="0"/>
              </a:spcAft>
              <a:defRPr sz="3120" b="1">
                <a:solidFill>
                  <a:srgbClr val="18394A"/>
                </a:solidFill>
                <a:latin typeface="Noto Sans"/>
              </a:defRPr>
            </a:pPr>
            <a:r>
              <a:t>Estado actual y futuro</a:t>
            </a:r>
          </a:p>
        </p:txBody>
      </p:sp>
      <p:sp>
        <p:nvSpPr>
          <p:cNvPr id="5" name="Rounded Rectangle 4"/>
          <p:cNvSpPr/>
          <p:nvPr/>
        </p:nvSpPr>
        <p:spPr>
          <a:xfrm>
            <a:off x="609600" y="2286000"/>
            <a:ext cx="10881360" cy="3390900"/>
          </a:xfrm>
          <a:prstGeom prst="roundRect">
            <a:avLst>
              <a:gd name="adj" fmla="val 4044"/>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09600" y="2286000"/>
            <a:ext cx="83820" cy="3390900"/>
          </a:xfrm>
          <a:prstGeom prst="rect">
            <a:avLst/>
          </a:prstGeom>
          <a:solidFill>
            <a:srgbClr val="087E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99160" y="2522220"/>
            <a:ext cx="10210800" cy="1744980"/>
          </a:xfrm>
          <a:prstGeom prst="rect">
            <a:avLst/>
          </a:prstGeom>
          <a:noFill/>
        </p:spPr>
        <p:txBody>
          <a:bodyPr wrap="none" lIns="0" tIns="0" rIns="0" bIns="0" anchor="t">
            <a:spAutoFit/>
          </a:bodyPr>
          <a:lstStyle/>
          <a:p>
            <a:pPr>
              <a:lnSpc>
                <a:spcPts val="2580"/>
              </a:lnSpc>
              <a:spcBef>
                <a:spcPts val="0"/>
              </a:spcBef>
              <a:spcAft>
                <a:spcPts val="0"/>
              </a:spcAft>
              <a:defRPr sz="1859" b="0">
                <a:solidFill>
                  <a:srgbClr val="18394A"/>
                </a:solidFill>
                <a:latin typeface="Noto Sans"/>
              </a:defRPr>
            </a:pPr>
            <a:r>
              <a:t>El modelo actual describe la operación observada; el futuro representa una propuesta.</a:t>
            </a:r>
          </a:p>
          <a:p>
            <a:pPr>
              <a:lnSpc>
                <a:spcPts val="2580"/>
              </a:lnSpc>
              <a:spcBef>
                <a:spcPts val="0"/>
              </a:spcBef>
              <a:spcAft>
                <a:spcPts val="0"/>
              </a:spcAft>
              <a:defRPr sz="1859" b="0">
                <a:solidFill>
                  <a:srgbClr val="18394A"/>
                </a:solidFill>
                <a:latin typeface="Noto Sans"/>
              </a:defRPr>
            </a:pPr>
            <a:r>
              <a:t>Rotula versiones y supuestos para no presentar deseos como hechos. Valida el estado</a:t>
            </a:r>
          </a:p>
          <a:p>
            <a:pPr>
              <a:lnSpc>
                <a:spcPts val="2580"/>
              </a:lnSpc>
              <a:spcBef>
                <a:spcPts val="0"/>
              </a:spcBef>
              <a:spcAft>
                <a:spcPts val="0"/>
              </a:spcAft>
              <a:defRPr sz="1859" b="0">
                <a:solidFill>
                  <a:srgbClr val="18394A"/>
                </a:solidFill>
                <a:latin typeface="Noto Sans"/>
              </a:defRPr>
            </a:pPr>
            <a:r>
              <a:t>actual con participantes y evidencia de casos. El desacuerdo entre áreas puede revelar</a:t>
            </a:r>
          </a:p>
          <a:p>
            <a:pPr>
              <a:lnSpc>
                <a:spcPts val="2580"/>
              </a:lnSpc>
              <a:spcBef>
                <a:spcPts val="0"/>
              </a:spcBef>
              <a:spcAft>
                <a:spcPts val="0"/>
              </a:spcAft>
              <a:defRPr sz="1859" b="0">
                <a:solidFill>
                  <a:srgbClr val="18394A"/>
                </a:solidFill>
                <a:latin typeface="Noto Sans"/>
              </a:defRPr>
            </a:pPr>
            <a:r>
              <a:t>variantes reales, por lo que debe investigarse antes de imponer una única secuencia que</a:t>
            </a:r>
          </a:p>
          <a:p>
            <a:pPr>
              <a:lnSpc>
                <a:spcPts val="2580"/>
              </a:lnSpc>
              <a:spcBef>
                <a:spcPts val="0"/>
              </a:spcBef>
              <a:spcAft>
                <a:spcPts val="0"/>
              </a:spcAft>
              <a:defRPr sz="1859" b="0">
                <a:solidFill>
                  <a:srgbClr val="18394A"/>
                </a:solidFill>
                <a:latin typeface="Noto Sans"/>
              </a:defRPr>
            </a:pPr>
            <a:r>
              <a:t>nadie reconoce completamente.</a:t>
            </a:r>
          </a:p>
        </p:txBody>
      </p:sp>
      <p:sp>
        <p:nvSpPr>
          <p:cNvPr id="8" name="TextBox 7"/>
          <p:cNvSpPr txBox="1"/>
          <p:nvPr/>
        </p:nvSpPr>
        <p:spPr>
          <a:xfrm>
            <a:off x="609600" y="6446520"/>
            <a:ext cx="10591800" cy="281940"/>
          </a:xfrm>
          <a:prstGeom prst="rect">
            <a:avLst/>
          </a:prstGeom>
          <a:noFill/>
        </p:spPr>
        <p:txBody>
          <a:bodyPr wrap="none" lIns="0" tIns="0" rIns="0" bIns="0" anchor="t">
            <a:spAutoFit/>
          </a:bodyPr>
          <a:lstStyle/>
          <a:p>
            <a:pPr>
              <a:lnSpc>
                <a:spcPts val="1380"/>
              </a:lnSpc>
              <a:spcBef>
                <a:spcPts val="0"/>
              </a:spcBef>
              <a:spcAft>
                <a:spcPts val="0"/>
              </a:spcAft>
              <a:defRPr sz="1019" b="0">
                <a:solidFill>
                  <a:srgbClr val="536975"/>
                </a:solidFill>
                <a:latin typeface="Noto Sans"/>
              </a:defRPr>
            </a:pPr>
            <a:r>
              <a:t>Material didáctico de elaboración original · Caso y datos ficticios</a:t>
            </a:r>
          </a:p>
        </p:txBody>
      </p:sp>
      <p:sp>
        <p:nvSpPr>
          <p:cNvPr id="9" name="TextBox 8"/>
          <p:cNvSpPr txBox="1"/>
          <p:nvPr/>
        </p:nvSpPr>
        <p:spPr>
          <a:xfrm>
            <a:off x="11049000" y="6446520"/>
            <a:ext cx="762000" cy="281940"/>
          </a:xfrm>
          <a:prstGeom prst="rect">
            <a:avLst/>
          </a:prstGeom>
          <a:noFill/>
        </p:spPr>
        <p:txBody>
          <a:bodyPr wrap="none" lIns="0" tIns="0" rIns="0" bIns="0" anchor="t">
            <a:spAutoFit/>
          </a:bodyPr>
          <a:lstStyle/>
          <a:p>
            <a:pPr>
              <a:lnSpc>
                <a:spcPts val="1380"/>
              </a:lnSpc>
              <a:spcBef>
                <a:spcPts val="0"/>
              </a:spcBef>
              <a:spcAft>
                <a:spcPts val="0"/>
              </a:spcAft>
              <a:defRPr sz="1019" b="0">
                <a:solidFill>
                  <a:srgbClr val="536975"/>
                </a:solidFill>
                <a:latin typeface="Noto Sans"/>
              </a:defRPr>
            </a:pPr>
            <a:r>
              <a:t>07 / 10</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5F2EB"/>
        </a:solidFill>
        <a:effectLst/>
      </p:bgPr>
    </p:bg>
    <p:spTree>
      <p:nvGrpSpPr>
        <p:cNvPr id="1" name=""/>
        <p:cNvGrpSpPr/>
        <p:nvPr/>
      </p:nvGrpSpPr>
      <p:grpSpPr/>
      <p:sp>
        <p:nvSpPr>
          <p:cNvPr id="2" name="Rectangle 1"/>
          <p:cNvSpPr/>
          <p:nvPr/>
        </p:nvSpPr>
        <p:spPr>
          <a:xfrm>
            <a:off x="0" y="0"/>
            <a:ext cx="12192000" cy="91440"/>
          </a:xfrm>
          <a:prstGeom prst="rect">
            <a:avLst/>
          </a:prstGeom>
          <a:solidFill>
            <a:srgbClr val="087E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09600" y="365760"/>
            <a:ext cx="10820400" cy="320040"/>
          </a:xfrm>
          <a:prstGeom prst="rect">
            <a:avLst/>
          </a:prstGeom>
          <a:noFill/>
        </p:spPr>
        <p:txBody>
          <a:bodyPr wrap="none" lIns="0" tIns="0" rIns="0" bIns="0" anchor="t">
            <a:spAutoFit/>
          </a:bodyPr>
          <a:lstStyle/>
          <a:p>
            <a:pPr>
              <a:lnSpc>
                <a:spcPts val="1680"/>
              </a:lnSpc>
              <a:spcBef>
                <a:spcPts val="0"/>
              </a:spcBef>
              <a:spcAft>
                <a:spcPts val="0"/>
              </a:spcAft>
              <a:defRPr sz="1200" b="1">
                <a:solidFill>
                  <a:srgbClr val="087E8B"/>
                </a:solidFill>
                <a:latin typeface="Noto Sans"/>
              </a:defRPr>
            </a:pPr>
            <a:r>
              <a:t>PROCESOS PARA NEGOCIOS DIGITALES · U3 · 3.1</a:t>
            </a:r>
          </a:p>
        </p:txBody>
      </p:sp>
      <p:sp>
        <p:nvSpPr>
          <p:cNvPr id="4" name="TextBox 3"/>
          <p:cNvSpPr txBox="1"/>
          <p:nvPr/>
        </p:nvSpPr>
        <p:spPr>
          <a:xfrm>
            <a:off x="609600" y="952500"/>
            <a:ext cx="10896600" cy="655320"/>
          </a:xfrm>
          <a:prstGeom prst="rect">
            <a:avLst/>
          </a:prstGeom>
          <a:noFill/>
        </p:spPr>
        <p:txBody>
          <a:bodyPr wrap="none" lIns="0" tIns="0" rIns="0" bIns="0" anchor="t">
            <a:spAutoFit/>
          </a:bodyPr>
          <a:lstStyle/>
          <a:p>
            <a:pPr>
              <a:lnSpc>
                <a:spcPts val="4320"/>
              </a:lnSpc>
              <a:spcBef>
                <a:spcPts val="0"/>
              </a:spcBef>
              <a:spcAft>
                <a:spcPts val="0"/>
              </a:spcAft>
              <a:defRPr sz="3120" b="1">
                <a:solidFill>
                  <a:srgbClr val="18394A"/>
                </a:solidFill>
                <a:latin typeface="Noto Sans"/>
              </a:defRPr>
            </a:pPr>
            <a:r>
              <a:t>Modelo como evidencia revisable</a:t>
            </a:r>
          </a:p>
        </p:txBody>
      </p:sp>
      <p:sp>
        <p:nvSpPr>
          <p:cNvPr id="5" name="Rounded Rectangle 4"/>
          <p:cNvSpPr/>
          <p:nvPr/>
        </p:nvSpPr>
        <p:spPr>
          <a:xfrm>
            <a:off x="609600" y="2286000"/>
            <a:ext cx="10881360" cy="3390900"/>
          </a:xfrm>
          <a:prstGeom prst="roundRect">
            <a:avLst>
              <a:gd name="adj" fmla="val 4044"/>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09600" y="2286000"/>
            <a:ext cx="83820" cy="3390900"/>
          </a:xfrm>
          <a:prstGeom prst="rect">
            <a:avLst/>
          </a:prstGeom>
          <a:solidFill>
            <a:srgbClr val="087E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99160" y="2522220"/>
            <a:ext cx="10210800" cy="1744980"/>
          </a:xfrm>
          <a:prstGeom prst="rect">
            <a:avLst/>
          </a:prstGeom>
          <a:noFill/>
        </p:spPr>
        <p:txBody>
          <a:bodyPr wrap="none" lIns="0" tIns="0" rIns="0" bIns="0" anchor="t">
            <a:spAutoFit/>
          </a:bodyPr>
          <a:lstStyle/>
          <a:p>
            <a:pPr>
              <a:lnSpc>
                <a:spcPts val="2580"/>
              </a:lnSpc>
              <a:spcBef>
                <a:spcPts val="0"/>
              </a:spcBef>
              <a:spcAft>
                <a:spcPts val="0"/>
              </a:spcAft>
              <a:defRPr sz="1859" b="0">
                <a:solidFill>
                  <a:srgbClr val="18394A"/>
                </a:solidFill>
                <a:latin typeface="Noto Sans"/>
              </a:defRPr>
            </a:pPr>
            <a:r>
              <a:t>Un modelo facilita preguntas sobre responsables, condiciones, entradas y salidas, pero no</a:t>
            </a:r>
          </a:p>
          <a:p>
            <a:pPr>
              <a:lnSpc>
                <a:spcPts val="2580"/>
              </a:lnSpc>
              <a:spcBef>
                <a:spcPts val="0"/>
              </a:spcBef>
              <a:spcAft>
                <a:spcPts val="0"/>
              </a:spcAft>
              <a:defRPr sz="1859" b="0">
                <a:solidFill>
                  <a:srgbClr val="18394A"/>
                </a:solidFill>
                <a:latin typeface="Noto Sans"/>
              </a:defRPr>
            </a:pPr>
            <a:r>
              <a:t>demuestra por sí solo tiempos, causas ni cumplimiento. Conecta el diagrama con datos y</a:t>
            </a:r>
          </a:p>
          <a:p>
            <a:pPr>
              <a:lnSpc>
                <a:spcPts val="2580"/>
              </a:lnSpc>
              <a:spcBef>
                <a:spcPts val="0"/>
              </a:spcBef>
              <a:spcAft>
                <a:spcPts val="0"/>
              </a:spcAft>
              <a:defRPr sz="1859" b="0">
                <a:solidFill>
                  <a:srgbClr val="18394A"/>
                </a:solidFill>
                <a:latin typeface="Noto Sans"/>
              </a:defRPr>
            </a:pPr>
            <a:r>
              <a:t>reglas documentadas. Revisa si una persona puede recorrer casos normales y</a:t>
            </a:r>
          </a:p>
          <a:p>
            <a:pPr>
              <a:lnSpc>
                <a:spcPts val="2580"/>
              </a:lnSpc>
              <a:spcBef>
                <a:spcPts val="0"/>
              </a:spcBef>
              <a:spcAft>
                <a:spcPts val="0"/>
              </a:spcAft>
              <a:defRPr sz="1859" b="0">
                <a:solidFill>
                  <a:srgbClr val="18394A"/>
                </a:solidFill>
                <a:latin typeface="Noto Sans"/>
              </a:defRPr>
            </a:pPr>
            <a:r>
              <a:t>excepcionales sin contradicciones. Mantener versión, propósito y responsable convierte el</a:t>
            </a:r>
          </a:p>
          <a:p>
            <a:pPr>
              <a:lnSpc>
                <a:spcPts val="2580"/>
              </a:lnSpc>
              <a:spcBef>
                <a:spcPts val="0"/>
              </a:spcBef>
              <a:spcAft>
                <a:spcPts val="0"/>
              </a:spcAft>
              <a:defRPr sz="1859" b="0">
                <a:solidFill>
                  <a:srgbClr val="18394A"/>
                </a:solidFill>
                <a:latin typeface="Noto Sans"/>
              </a:defRPr>
            </a:pPr>
            <a:r>
              <a:t>modelo en conocimiento compartido, en lugar de una imagen que pierde vigencia.</a:t>
            </a:r>
          </a:p>
        </p:txBody>
      </p:sp>
      <p:sp>
        <p:nvSpPr>
          <p:cNvPr id="8" name="TextBox 7"/>
          <p:cNvSpPr txBox="1"/>
          <p:nvPr/>
        </p:nvSpPr>
        <p:spPr>
          <a:xfrm>
            <a:off x="609600" y="6446520"/>
            <a:ext cx="10591800" cy="281940"/>
          </a:xfrm>
          <a:prstGeom prst="rect">
            <a:avLst/>
          </a:prstGeom>
          <a:noFill/>
        </p:spPr>
        <p:txBody>
          <a:bodyPr wrap="none" lIns="0" tIns="0" rIns="0" bIns="0" anchor="t">
            <a:spAutoFit/>
          </a:bodyPr>
          <a:lstStyle/>
          <a:p>
            <a:pPr>
              <a:lnSpc>
                <a:spcPts val="1380"/>
              </a:lnSpc>
              <a:spcBef>
                <a:spcPts val="0"/>
              </a:spcBef>
              <a:spcAft>
                <a:spcPts val="0"/>
              </a:spcAft>
              <a:defRPr sz="1019" b="0">
                <a:solidFill>
                  <a:srgbClr val="536975"/>
                </a:solidFill>
                <a:latin typeface="Noto Sans"/>
              </a:defRPr>
            </a:pPr>
            <a:r>
              <a:t>Material didáctico de elaboración original · Caso y datos ficticios</a:t>
            </a:r>
          </a:p>
        </p:txBody>
      </p:sp>
      <p:sp>
        <p:nvSpPr>
          <p:cNvPr id="9" name="TextBox 8"/>
          <p:cNvSpPr txBox="1"/>
          <p:nvPr/>
        </p:nvSpPr>
        <p:spPr>
          <a:xfrm>
            <a:off x="11049000" y="6446520"/>
            <a:ext cx="762000" cy="281940"/>
          </a:xfrm>
          <a:prstGeom prst="rect">
            <a:avLst/>
          </a:prstGeom>
          <a:noFill/>
        </p:spPr>
        <p:txBody>
          <a:bodyPr wrap="none" lIns="0" tIns="0" rIns="0" bIns="0" anchor="t">
            <a:spAutoFit/>
          </a:bodyPr>
          <a:lstStyle/>
          <a:p>
            <a:pPr>
              <a:lnSpc>
                <a:spcPts val="1380"/>
              </a:lnSpc>
              <a:spcBef>
                <a:spcPts val="0"/>
              </a:spcBef>
              <a:spcAft>
                <a:spcPts val="0"/>
              </a:spcAft>
              <a:defRPr sz="1019" b="0">
                <a:solidFill>
                  <a:srgbClr val="536975"/>
                </a:solidFill>
                <a:latin typeface="Noto Sans"/>
              </a:defRPr>
            </a:pPr>
            <a:r>
              <a:t>08 / 10</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5F2EB"/>
        </a:solidFill>
        <a:effectLst/>
      </p:bgPr>
    </p:bg>
    <p:spTree>
      <p:nvGrpSpPr>
        <p:cNvPr id="1" name=""/>
        <p:cNvGrpSpPr/>
        <p:nvPr/>
      </p:nvGrpSpPr>
      <p:grpSpPr/>
      <p:sp>
        <p:nvSpPr>
          <p:cNvPr id="2" name="Rectangle 1"/>
          <p:cNvSpPr/>
          <p:nvPr/>
        </p:nvSpPr>
        <p:spPr>
          <a:xfrm>
            <a:off x="0" y="0"/>
            <a:ext cx="12192000" cy="91440"/>
          </a:xfrm>
          <a:prstGeom prst="rect">
            <a:avLst/>
          </a:prstGeom>
          <a:solidFill>
            <a:srgbClr val="087E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09600" y="365760"/>
            <a:ext cx="10820400" cy="320040"/>
          </a:xfrm>
          <a:prstGeom prst="rect">
            <a:avLst/>
          </a:prstGeom>
          <a:noFill/>
        </p:spPr>
        <p:txBody>
          <a:bodyPr wrap="none" lIns="0" tIns="0" rIns="0" bIns="0" anchor="t">
            <a:spAutoFit/>
          </a:bodyPr>
          <a:lstStyle/>
          <a:p>
            <a:pPr>
              <a:lnSpc>
                <a:spcPts val="1680"/>
              </a:lnSpc>
              <a:spcBef>
                <a:spcPts val="0"/>
              </a:spcBef>
              <a:spcAft>
                <a:spcPts val="0"/>
              </a:spcAft>
              <a:defRPr sz="1200" b="1">
                <a:solidFill>
                  <a:srgbClr val="087E8B"/>
                </a:solidFill>
                <a:latin typeface="Noto Sans"/>
              </a:defRPr>
            </a:pPr>
            <a:r>
              <a:t>PROCESOS PARA NEGOCIOS DIGITALES · U3 · 3.1</a:t>
            </a:r>
          </a:p>
        </p:txBody>
      </p:sp>
      <p:sp>
        <p:nvSpPr>
          <p:cNvPr id="4" name="TextBox 3"/>
          <p:cNvSpPr txBox="1"/>
          <p:nvPr/>
        </p:nvSpPr>
        <p:spPr>
          <a:xfrm>
            <a:off x="609600" y="952500"/>
            <a:ext cx="10896600" cy="655320"/>
          </a:xfrm>
          <a:prstGeom prst="rect">
            <a:avLst/>
          </a:prstGeom>
          <a:noFill/>
        </p:spPr>
        <p:txBody>
          <a:bodyPr wrap="none" lIns="0" tIns="0" rIns="0" bIns="0" anchor="t">
            <a:spAutoFit/>
          </a:bodyPr>
          <a:lstStyle/>
          <a:p>
            <a:pPr>
              <a:lnSpc>
                <a:spcPts val="4320"/>
              </a:lnSpc>
              <a:spcBef>
                <a:spcPts val="0"/>
              </a:spcBef>
              <a:spcAft>
                <a:spcPts val="0"/>
              </a:spcAft>
              <a:defRPr sz="3120" b="1">
                <a:solidFill>
                  <a:srgbClr val="18394A"/>
                </a:solidFill>
                <a:latin typeface="Noto Sans"/>
              </a:defRPr>
            </a:pPr>
            <a:r>
              <a:t>Tu actividad de transferencia</a:t>
            </a:r>
          </a:p>
        </p:txBody>
      </p:sp>
      <p:sp>
        <p:nvSpPr>
          <p:cNvPr id="5" name="Oval 4"/>
          <p:cNvSpPr/>
          <p:nvPr/>
        </p:nvSpPr>
        <p:spPr>
          <a:xfrm>
            <a:off x="609600" y="2301240"/>
            <a:ext cx="381000" cy="381000"/>
          </a:xfrm>
          <a:prstGeom prst="ellipse">
            <a:avLst/>
          </a:prstGeom>
          <a:solidFill>
            <a:srgbClr val="087E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23900" y="2354580"/>
            <a:ext cx="266700" cy="358140"/>
          </a:xfrm>
          <a:prstGeom prst="rect">
            <a:avLst/>
          </a:prstGeom>
          <a:noFill/>
        </p:spPr>
        <p:txBody>
          <a:bodyPr wrap="none" lIns="0" tIns="0" rIns="0" bIns="0" anchor="t">
            <a:spAutoFit/>
          </a:bodyPr>
          <a:lstStyle/>
          <a:p>
            <a:pPr>
              <a:lnSpc>
                <a:spcPts val="1980"/>
              </a:lnSpc>
              <a:spcBef>
                <a:spcPts val="0"/>
              </a:spcBef>
              <a:spcAft>
                <a:spcPts val="0"/>
              </a:spcAft>
              <a:defRPr sz="1439" b="1">
                <a:solidFill>
                  <a:srgbClr val="FFFFFF"/>
                </a:solidFill>
                <a:latin typeface="Noto Sans"/>
              </a:defRPr>
            </a:pPr>
            <a:r>
              <a:t>1</a:t>
            </a:r>
          </a:p>
        </p:txBody>
      </p:sp>
      <p:sp>
        <p:nvSpPr>
          <p:cNvPr id="7" name="TextBox 6"/>
          <p:cNvSpPr txBox="1"/>
          <p:nvPr/>
        </p:nvSpPr>
        <p:spPr>
          <a:xfrm>
            <a:off x="1219200" y="2270760"/>
            <a:ext cx="10210800" cy="388620"/>
          </a:xfrm>
          <a:prstGeom prst="rect">
            <a:avLst/>
          </a:prstGeom>
          <a:noFill/>
        </p:spPr>
        <p:txBody>
          <a:bodyPr wrap="none" lIns="0" tIns="0" rIns="0" bIns="0" anchor="t">
            <a:spAutoFit/>
          </a:bodyPr>
          <a:lstStyle/>
          <a:p>
            <a:pPr>
              <a:lnSpc>
                <a:spcPts val="2220"/>
              </a:lnSpc>
              <a:spcBef>
                <a:spcPts val="0"/>
              </a:spcBef>
              <a:spcAft>
                <a:spcPts val="0"/>
              </a:spcAft>
              <a:defRPr sz="1620" b="0">
                <a:solidFill>
                  <a:srgbClr val="18394A"/>
                </a:solidFill>
                <a:latin typeface="Noto Sans"/>
              </a:defRPr>
            </a:pPr>
            <a:r>
              <a:t>Define dos preguntas de análisis y la audiencia de cada modelo.</a:t>
            </a:r>
          </a:p>
        </p:txBody>
      </p:sp>
      <p:sp>
        <p:nvSpPr>
          <p:cNvPr id="8" name="Oval 7"/>
          <p:cNvSpPr/>
          <p:nvPr/>
        </p:nvSpPr>
        <p:spPr>
          <a:xfrm>
            <a:off x="609600" y="3154680"/>
            <a:ext cx="381000" cy="381000"/>
          </a:xfrm>
          <a:prstGeom prst="ellipse">
            <a:avLst/>
          </a:prstGeom>
          <a:solidFill>
            <a:srgbClr val="087E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23900" y="3208020"/>
            <a:ext cx="266700" cy="358140"/>
          </a:xfrm>
          <a:prstGeom prst="rect">
            <a:avLst/>
          </a:prstGeom>
          <a:noFill/>
        </p:spPr>
        <p:txBody>
          <a:bodyPr wrap="none" lIns="0" tIns="0" rIns="0" bIns="0" anchor="t">
            <a:spAutoFit/>
          </a:bodyPr>
          <a:lstStyle/>
          <a:p>
            <a:pPr>
              <a:lnSpc>
                <a:spcPts val="1980"/>
              </a:lnSpc>
              <a:spcBef>
                <a:spcPts val="0"/>
              </a:spcBef>
              <a:spcAft>
                <a:spcPts val="0"/>
              </a:spcAft>
              <a:defRPr sz="1439" b="1">
                <a:solidFill>
                  <a:srgbClr val="FFFFFF"/>
                </a:solidFill>
                <a:latin typeface="Noto Sans"/>
              </a:defRPr>
            </a:pPr>
            <a:r>
              <a:t>2</a:t>
            </a:r>
          </a:p>
        </p:txBody>
      </p:sp>
      <p:sp>
        <p:nvSpPr>
          <p:cNvPr id="10" name="TextBox 9"/>
          <p:cNvSpPr txBox="1"/>
          <p:nvPr/>
        </p:nvSpPr>
        <p:spPr>
          <a:xfrm>
            <a:off x="1219200" y="3124200"/>
            <a:ext cx="10210800" cy="388620"/>
          </a:xfrm>
          <a:prstGeom prst="rect">
            <a:avLst/>
          </a:prstGeom>
          <a:noFill/>
        </p:spPr>
        <p:txBody>
          <a:bodyPr wrap="none" lIns="0" tIns="0" rIns="0" bIns="0" anchor="t">
            <a:spAutoFit/>
          </a:bodyPr>
          <a:lstStyle/>
          <a:p>
            <a:pPr>
              <a:lnSpc>
                <a:spcPts val="2220"/>
              </a:lnSpc>
              <a:spcBef>
                <a:spcPts val="0"/>
              </a:spcBef>
              <a:spcAft>
                <a:spcPts val="0"/>
              </a:spcAft>
              <a:defRPr sz="1620" b="0">
                <a:solidFill>
                  <a:srgbClr val="18394A"/>
                </a:solidFill>
                <a:latin typeface="Noto Sans"/>
              </a:defRPr>
            </a:pPr>
            <a:r>
              <a:t>Construye una vista general y delimita un subproceso con detalle coherente.</a:t>
            </a:r>
          </a:p>
        </p:txBody>
      </p:sp>
      <p:sp>
        <p:nvSpPr>
          <p:cNvPr id="11" name="Oval 10"/>
          <p:cNvSpPr/>
          <p:nvPr/>
        </p:nvSpPr>
        <p:spPr>
          <a:xfrm>
            <a:off x="609600" y="4008120"/>
            <a:ext cx="381000" cy="381000"/>
          </a:xfrm>
          <a:prstGeom prst="ellipse">
            <a:avLst/>
          </a:prstGeom>
          <a:solidFill>
            <a:srgbClr val="087E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23900" y="4061460"/>
            <a:ext cx="266700" cy="358140"/>
          </a:xfrm>
          <a:prstGeom prst="rect">
            <a:avLst/>
          </a:prstGeom>
          <a:noFill/>
        </p:spPr>
        <p:txBody>
          <a:bodyPr wrap="none" lIns="0" tIns="0" rIns="0" bIns="0" anchor="t">
            <a:spAutoFit/>
          </a:bodyPr>
          <a:lstStyle/>
          <a:p>
            <a:pPr>
              <a:lnSpc>
                <a:spcPts val="1980"/>
              </a:lnSpc>
              <a:spcBef>
                <a:spcPts val="0"/>
              </a:spcBef>
              <a:spcAft>
                <a:spcPts val="0"/>
              </a:spcAft>
              <a:defRPr sz="1439" b="1">
                <a:solidFill>
                  <a:srgbClr val="FFFFFF"/>
                </a:solidFill>
                <a:latin typeface="Noto Sans"/>
              </a:defRPr>
            </a:pPr>
            <a:r>
              <a:t>3</a:t>
            </a:r>
          </a:p>
        </p:txBody>
      </p:sp>
      <p:sp>
        <p:nvSpPr>
          <p:cNvPr id="13" name="TextBox 12"/>
          <p:cNvSpPr txBox="1"/>
          <p:nvPr/>
        </p:nvSpPr>
        <p:spPr>
          <a:xfrm>
            <a:off x="1219200" y="3977639"/>
            <a:ext cx="10210800" cy="388620"/>
          </a:xfrm>
          <a:prstGeom prst="rect">
            <a:avLst/>
          </a:prstGeom>
          <a:noFill/>
        </p:spPr>
        <p:txBody>
          <a:bodyPr wrap="none" lIns="0" tIns="0" rIns="0" bIns="0" anchor="t">
            <a:spAutoFit/>
          </a:bodyPr>
          <a:lstStyle/>
          <a:p>
            <a:pPr>
              <a:lnSpc>
                <a:spcPts val="2220"/>
              </a:lnSpc>
              <a:spcBef>
                <a:spcPts val="0"/>
              </a:spcBef>
              <a:spcAft>
                <a:spcPts val="0"/>
              </a:spcAft>
              <a:defRPr sz="1620" b="0">
                <a:solidFill>
                  <a:srgbClr val="18394A"/>
                </a:solidFill>
                <a:latin typeface="Noto Sans"/>
              </a:defRPr>
            </a:pPr>
            <a:r>
              <a:t>Identifica qué elementos del caso son observados y cuáles propuestos.</a:t>
            </a:r>
          </a:p>
        </p:txBody>
      </p:sp>
      <p:sp>
        <p:nvSpPr>
          <p:cNvPr id="14" name="Oval 13"/>
          <p:cNvSpPr/>
          <p:nvPr/>
        </p:nvSpPr>
        <p:spPr>
          <a:xfrm>
            <a:off x="609600" y="4861560"/>
            <a:ext cx="381000" cy="381000"/>
          </a:xfrm>
          <a:prstGeom prst="ellipse">
            <a:avLst/>
          </a:prstGeom>
          <a:solidFill>
            <a:srgbClr val="087E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23900" y="4914900"/>
            <a:ext cx="266700" cy="358140"/>
          </a:xfrm>
          <a:prstGeom prst="rect">
            <a:avLst/>
          </a:prstGeom>
          <a:noFill/>
        </p:spPr>
        <p:txBody>
          <a:bodyPr wrap="none" lIns="0" tIns="0" rIns="0" bIns="0" anchor="t">
            <a:spAutoFit/>
          </a:bodyPr>
          <a:lstStyle/>
          <a:p>
            <a:pPr>
              <a:lnSpc>
                <a:spcPts val="1980"/>
              </a:lnSpc>
              <a:spcBef>
                <a:spcPts val="0"/>
              </a:spcBef>
              <a:spcAft>
                <a:spcPts val="0"/>
              </a:spcAft>
              <a:defRPr sz="1439" b="1">
                <a:solidFill>
                  <a:srgbClr val="FFFFFF"/>
                </a:solidFill>
                <a:latin typeface="Noto Sans"/>
              </a:defRPr>
            </a:pPr>
            <a:r>
              <a:t>4</a:t>
            </a:r>
          </a:p>
        </p:txBody>
      </p:sp>
      <p:sp>
        <p:nvSpPr>
          <p:cNvPr id="16" name="TextBox 15"/>
          <p:cNvSpPr txBox="1"/>
          <p:nvPr/>
        </p:nvSpPr>
        <p:spPr>
          <a:xfrm>
            <a:off x="1219200" y="4831080"/>
            <a:ext cx="10210800" cy="388620"/>
          </a:xfrm>
          <a:prstGeom prst="rect">
            <a:avLst/>
          </a:prstGeom>
          <a:noFill/>
        </p:spPr>
        <p:txBody>
          <a:bodyPr wrap="none" lIns="0" tIns="0" rIns="0" bIns="0" anchor="t">
            <a:spAutoFit/>
          </a:bodyPr>
          <a:lstStyle/>
          <a:p>
            <a:pPr>
              <a:lnSpc>
                <a:spcPts val="2220"/>
              </a:lnSpc>
              <a:spcBef>
                <a:spcPts val="0"/>
              </a:spcBef>
              <a:spcAft>
                <a:spcPts val="0"/>
              </a:spcAft>
              <a:defRPr sz="1620" b="0">
                <a:solidFill>
                  <a:srgbClr val="18394A"/>
                </a:solidFill>
                <a:latin typeface="Noto Sans"/>
              </a:defRPr>
            </a:pPr>
            <a:r>
              <a:t>Diseña una validación con participantes, casos y registro de discrepancias.</a:t>
            </a:r>
          </a:p>
        </p:txBody>
      </p:sp>
      <p:sp>
        <p:nvSpPr>
          <p:cNvPr id="17" name="TextBox 16"/>
          <p:cNvSpPr txBox="1"/>
          <p:nvPr/>
        </p:nvSpPr>
        <p:spPr>
          <a:xfrm>
            <a:off x="609600" y="6446520"/>
            <a:ext cx="10591800" cy="281940"/>
          </a:xfrm>
          <a:prstGeom prst="rect">
            <a:avLst/>
          </a:prstGeom>
          <a:noFill/>
        </p:spPr>
        <p:txBody>
          <a:bodyPr wrap="none" lIns="0" tIns="0" rIns="0" bIns="0" anchor="t">
            <a:spAutoFit/>
          </a:bodyPr>
          <a:lstStyle/>
          <a:p>
            <a:pPr>
              <a:lnSpc>
                <a:spcPts val="1380"/>
              </a:lnSpc>
              <a:spcBef>
                <a:spcPts val="0"/>
              </a:spcBef>
              <a:spcAft>
                <a:spcPts val="0"/>
              </a:spcAft>
              <a:defRPr sz="1019" b="0">
                <a:solidFill>
                  <a:srgbClr val="536975"/>
                </a:solidFill>
                <a:latin typeface="Noto Sans"/>
              </a:defRPr>
            </a:pPr>
            <a:r>
              <a:t>Material didáctico de elaboración original · Caso y datos ficticios</a:t>
            </a:r>
          </a:p>
        </p:txBody>
      </p:sp>
      <p:sp>
        <p:nvSpPr>
          <p:cNvPr id="18" name="TextBox 17"/>
          <p:cNvSpPr txBox="1"/>
          <p:nvPr/>
        </p:nvSpPr>
        <p:spPr>
          <a:xfrm>
            <a:off x="11049000" y="6446520"/>
            <a:ext cx="762000" cy="281940"/>
          </a:xfrm>
          <a:prstGeom prst="rect">
            <a:avLst/>
          </a:prstGeom>
          <a:noFill/>
        </p:spPr>
        <p:txBody>
          <a:bodyPr wrap="none" lIns="0" tIns="0" rIns="0" bIns="0" anchor="t">
            <a:spAutoFit/>
          </a:bodyPr>
          <a:lstStyle/>
          <a:p>
            <a:pPr>
              <a:lnSpc>
                <a:spcPts val="1380"/>
              </a:lnSpc>
              <a:spcBef>
                <a:spcPts val="0"/>
              </a:spcBef>
              <a:spcAft>
                <a:spcPts val="0"/>
              </a:spcAft>
              <a:defRPr sz="1019" b="0">
                <a:solidFill>
                  <a:srgbClr val="536975"/>
                </a:solidFill>
                <a:latin typeface="Noto Sans"/>
              </a:defRPr>
            </a:pPr>
            <a:r>
              <a:t>09 / 10</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5F2EB"/>
        </a:solidFill>
        <a:effectLst/>
      </p:bgPr>
    </p:bg>
    <p:spTree>
      <p:nvGrpSpPr>
        <p:cNvPr id="1" name=""/>
        <p:cNvGrpSpPr/>
        <p:nvPr/>
      </p:nvGrpSpPr>
      <p:grpSpPr/>
      <p:sp>
        <p:nvSpPr>
          <p:cNvPr id="2" name="Rectangle 1"/>
          <p:cNvSpPr/>
          <p:nvPr/>
        </p:nvSpPr>
        <p:spPr>
          <a:xfrm>
            <a:off x="0" y="0"/>
            <a:ext cx="12192000" cy="6858000"/>
          </a:xfrm>
          <a:prstGeom prst="rect">
            <a:avLst/>
          </a:prstGeom>
          <a:solidFill>
            <a:srgbClr val="112B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2000" cy="91440"/>
          </a:xfrm>
          <a:prstGeom prst="rect">
            <a:avLst/>
          </a:prstGeom>
          <a:solidFill>
            <a:srgbClr val="087E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09600" y="365760"/>
            <a:ext cx="10820400" cy="320040"/>
          </a:xfrm>
          <a:prstGeom prst="rect">
            <a:avLst/>
          </a:prstGeom>
          <a:noFill/>
        </p:spPr>
        <p:txBody>
          <a:bodyPr wrap="none" lIns="0" tIns="0" rIns="0" bIns="0" anchor="t">
            <a:spAutoFit/>
          </a:bodyPr>
          <a:lstStyle/>
          <a:p>
            <a:pPr>
              <a:lnSpc>
                <a:spcPts val="1680"/>
              </a:lnSpc>
              <a:spcBef>
                <a:spcPts val="0"/>
              </a:spcBef>
              <a:spcAft>
                <a:spcPts val="0"/>
              </a:spcAft>
              <a:defRPr sz="1200" b="1">
                <a:solidFill>
                  <a:srgbClr val="E7AE53"/>
                </a:solidFill>
                <a:latin typeface="Noto Sans"/>
              </a:defRPr>
            </a:pPr>
            <a:r>
              <a:t>PROCESOS PARA NEGOCIOS DIGITALES · U3 · 3.1</a:t>
            </a:r>
          </a:p>
        </p:txBody>
      </p:sp>
      <p:sp>
        <p:nvSpPr>
          <p:cNvPr id="5" name="TextBox 4"/>
          <p:cNvSpPr txBox="1"/>
          <p:nvPr/>
        </p:nvSpPr>
        <p:spPr>
          <a:xfrm>
            <a:off x="609600" y="952500"/>
            <a:ext cx="10896600" cy="655320"/>
          </a:xfrm>
          <a:prstGeom prst="rect">
            <a:avLst/>
          </a:prstGeom>
          <a:noFill/>
        </p:spPr>
        <p:txBody>
          <a:bodyPr wrap="none" lIns="0" tIns="0" rIns="0" bIns="0" anchor="t">
            <a:spAutoFit/>
          </a:bodyPr>
          <a:lstStyle/>
          <a:p>
            <a:pPr>
              <a:lnSpc>
                <a:spcPts val="4320"/>
              </a:lnSpc>
              <a:spcBef>
                <a:spcPts val="0"/>
              </a:spcBef>
              <a:spcAft>
                <a:spcPts val="0"/>
              </a:spcAft>
              <a:defRPr sz="3120" b="1">
                <a:solidFill>
                  <a:srgbClr val="FFFFFF"/>
                </a:solidFill>
                <a:latin typeface="Noto Sans"/>
              </a:defRPr>
            </a:pPr>
            <a:r>
              <a:t>Síntesis y referencias</a:t>
            </a:r>
          </a:p>
        </p:txBody>
      </p:sp>
      <p:sp>
        <p:nvSpPr>
          <p:cNvPr id="6" name="Rounded Rectangle 5"/>
          <p:cNvSpPr/>
          <p:nvPr/>
        </p:nvSpPr>
        <p:spPr>
          <a:xfrm>
            <a:off x="609600" y="2171700"/>
            <a:ext cx="10896600" cy="693420"/>
          </a:xfrm>
          <a:prstGeom prst="roundRect">
            <a:avLst>
              <a:gd name="adj" fmla="val 13186"/>
            </a:avLst>
          </a:prstGeom>
          <a:solidFill>
            <a:srgbClr val="1D40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38200" y="2308860"/>
            <a:ext cx="10439400" cy="419100"/>
          </a:xfrm>
          <a:prstGeom prst="rect">
            <a:avLst/>
          </a:prstGeom>
          <a:noFill/>
        </p:spPr>
        <p:txBody>
          <a:bodyPr wrap="none" lIns="0" tIns="0" rIns="0" bIns="0" anchor="t">
            <a:spAutoFit/>
          </a:bodyPr>
          <a:lstStyle/>
          <a:p>
            <a:pPr>
              <a:lnSpc>
                <a:spcPts val="2460"/>
              </a:lnSpc>
              <a:spcBef>
                <a:spcPts val="0"/>
              </a:spcBef>
              <a:spcAft>
                <a:spcPts val="0"/>
              </a:spcAft>
              <a:defRPr sz="1800" b="1">
                <a:solidFill>
                  <a:srgbClr val="FFFFFF"/>
                </a:solidFill>
                <a:latin typeface="Noto Sans"/>
              </a:defRPr>
            </a:pPr>
            <a:r>
              <a:t>Modela para una pregunta y una audiencia.</a:t>
            </a:r>
          </a:p>
        </p:txBody>
      </p:sp>
      <p:sp>
        <p:nvSpPr>
          <p:cNvPr id="8" name="Rounded Rectangle 7"/>
          <p:cNvSpPr/>
          <p:nvPr/>
        </p:nvSpPr>
        <p:spPr>
          <a:xfrm>
            <a:off x="609600" y="2964180"/>
            <a:ext cx="10896600" cy="693420"/>
          </a:xfrm>
          <a:prstGeom prst="roundRect">
            <a:avLst>
              <a:gd name="adj" fmla="val 13186"/>
            </a:avLst>
          </a:prstGeom>
          <a:solidFill>
            <a:srgbClr val="1D40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38200" y="3101340"/>
            <a:ext cx="10439400" cy="419100"/>
          </a:xfrm>
          <a:prstGeom prst="rect">
            <a:avLst/>
          </a:prstGeom>
          <a:noFill/>
        </p:spPr>
        <p:txBody>
          <a:bodyPr wrap="none" lIns="0" tIns="0" rIns="0" bIns="0" anchor="t">
            <a:spAutoFit/>
          </a:bodyPr>
          <a:lstStyle/>
          <a:p>
            <a:pPr>
              <a:lnSpc>
                <a:spcPts val="2460"/>
              </a:lnSpc>
              <a:spcBef>
                <a:spcPts val="0"/>
              </a:spcBef>
              <a:spcAft>
                <a:spcPts val="0"/>
              </a:spcAft>
              <a:defRPr sz="1800" b="1">
                <a:solidFill>
                  <a:srgbClr val="FFFFFF"/>
                </a:solidFill>
                <a:latin typeface="Noto Sans"/>
              </a:defRPr>
            </a:pPr>
            <a:r>
              <a:t>Mantén escalas y versiones claras.</a:t>
            </a:r>
          </a:p>
        </p:txBody>
      </p:sp>
      <p:sp>
        <p:nvSpPr>
          <p:cNvPr id="10" name="Rounded Rectangle 9"/>
          <p:cNvSpPr/>
          <p:nvPr/>
        </p:nvSpPr>
        <p:spPr>
          <a:xfrm>
            <a:off x="609600" y="3756660"/>
            <a:ext cx="10896600" cy="693420"/>
          </a:xfrm>
          <a:prstGeom prst="roundRect">
            <a:avLst>
              <a:gd name="adj" fmla="val 13186"/>
            </a:avLst>
          </a:prstGeom>
          <a:solidFill>
            <a:srgbClr val="1D40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38200" y="3893820"/>
            <a:ext cx="10439400" cy="419100"/>
          </a:xfrm>
          <a:prstGeom prst="rect">
            <a:avLst/>
          </a:prstGeom>
          <a:noFill/>
        </p:spPr>
        <p:txBody>
          <a:bodyPr wrap="none" lIns="0" tIns="0" rIns="0" bIns="0" anchor="t">
            <a:spAutoFit/>
          </a:bodyPr>
          <a:lstStyle/>
          <a:p>
            <a:pPr>
              <a:lnSpc>
                <a:spcPts val="2460"/>
              </a:lnSpc>
              <a:spcBef>
                <a:spcPts val="0"/>
              </a:spcBef>
              <a:spcAft>
                <a:spcPts val="0"/>
              </a:spcAft>
              <a:defRPr sz="1800" b="1">
                <a:solidFill>
                  <a:srgbClr val="FFFFFF"/>
                </a:solidFill>
                <a:latin typeface="Noto Sans"/>
              </a:defRPr>
            </a:pPr>
            <a:r>
              <a:t>Valida recorridos y conecta datos.</a:t>
            </a:r>
          </a:p>
        </p:txBody>
      </p:sp>
      <p:sp>
        <p:nvSpPr>
          <p:cNvPr id="12" name="TextBox 11"/>
          <p:cNvSpPr txBox="1"/>
          <p:nvPr/>
        </p:nvSpPr>
        <p:spPr>
          <a:xfrm>
            <a:off x="685800" y="4777740"/>
            <a:ext cx="10744200" cy="594360"/>
          </a:xfrm>
          <a:prstGeom prst="rect">
            <a:avLst/>
          </a:prstGeom>
          <a:noFill/>
        </p:spPr>
        <p:txBody>
          <a:bodyPr wrap="none" lIns="0" tIns="0" rIns="0" bIns="0" anchor="t">
            <a:spAutoFit/>
          </a:bodyPr>
          <a:lstStyle/>
          <a:p>
            <a:pPr>
              <a:lnSpc>
                <a:spcPts val="1920"/>
              </a:lnSpc>
              <a:spcBef>
                <a:spcPts val="0"/>
              </a:spcBef>
              <a:spcAft>
                <a:spcPts val="0"/>
              </a:spcAft>
              <a:defRPr sz="1380" b="0">
                <a:solidFill>
                  <a:srgbClr val="D6E4E8"/>
                </a:solidFill>
                <a:latin typeface="Noto Sans"/>
              </a:defRPr>
            </a:pPr>
            <a:r>
              <a:t>Base curricular: sílabo UPS adjunto, página 1. Referencia de ampliación: Dumas et al. (2018), Fundamentals of Business Process</a:t>
            </a:r>
          </a:p>
          <a:p>
            <a:pPr>
              <a:lnSpc>
                <a:spcPts val="1920"/>
              </a:lnSpc>
              <a:spcBef>
                <a:spcPts val="0"/>
              </a:spcBef>
              <a:spcAft>
                <a:spcPts val="0"/>
              </a:spcAft>
              <a:defRPr sz="1380" b="0">
                <a:solidFill>
                  <a:srgbClr val="D6E4E8"/>
                </a:solidFill>
                <a:latin typeface="Noto Sans"/>
              </a:defRPr>
            </a:pPr>
            <a:r>
              <a:t>Management. OMG, BPMN 2.0.2: https://www.omg.org/spec/BPMN/2.0.2/</a:t>
            </a:r>
          </a:p>
        </p:txBody>
      </p:sp>
      <p:sp>
        <p:nvSpPr>
          <p:cNvPr id="13" name="TextBox 12"/>
          <p:cNvSpPr txBox="1"/>
          <p:nvPr/>
        </p:nvSpPr>
        <p:spPr>
          <a:xfrm>
            <a:off x="609600" y="6446520"/>
            <a:ext cx="10591800" cy="281940"/>
          </a:xfrm>
          <a:prstGeom prst="rect">
            <a:avLst/>
          </a:prstGeom>
          <a:noFill/>
        </p:spPr>
        <p:txBody>
          <a:bodyPr wrap="none" lIns="0" tIns="0" rIns="0" bIns="0" anchor="t">
            <a:spAutoFit/>
          </a:bodyPr>
          <a:lstStyle/>
          <a:p>
            <a:pPr>
              <a:lnSpc>
                <a:spcPts val="1380"/>
              </a:lnSpc>
              <a:spcBef>
                <a:spcPts val="0"/>
              </a:spcBef>
              <a:spcAft>
                <a:spcPts val="0"/>
              </a:spcAft>
              <a:defRPr sz="1019" b="0">
                <a:solidFill>
                  <a:srgbClr val="C5D6DC"/>
                </a:solidFill>
                <a:latin typeface="Noto Sans"/>
              </a:defRPr>
            </a:pPr>
            <a:r>
              <a:t>Material didáctico de elaboración original · Caso y datos ficticios</a:t>
            </a:r>
          </a:p>
        </p:txBody>
      </p:sp>
      <p:sp>
        <p:nvSpPr>
          <p:cNvPr id="14" name="TextBox 13"/>
          <p:cNvSpPr txBox="1"/>
          <p:nvPr/>
        </p:nvSpPr>
        <p:spPr>
          <a:xfrm>
            <a:off x="11049000" y="6446520"/>
            <a:ext cx="762000" cy="281940"/>
          </a:xfrm>
          <a:prstGeom prst="rect">
            <a:avLst/>
          </a:prstGeom>
          <a:noFill/>
        </p:spPr>
        <p:txBody>
          <a:bodyPr wrap="none" lIns="0" tIns="0" rIns="0" bIns="0" anchor="t">
            <a:spAutoFit/>
          </a:bodyPr>
          <a:lstStyle/>
          <a:p>
            <a:pPr>
              <a:lnSpc>
                <a:spcPts val="1380"/>
              </a:lnSpc>
              <a:spcBef>
                <a:spcPts val="0"/>
              </a:spcBef>
              <a:spcAft>
                <a:spcPts val="0"/>
              </a:spcAft>
              <a:defRPr sz="1019" b="0">
                <a:solidFill>
                  <a:srgbClr val="C5D6DC"/>
                </a:solidFill>
                <a:latin typeface="Noto Sans"/>
              </a:defRPr>
            </a:pPr>
            <a:r>
              <a:t>10 / 10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Importancia del modelado en la gestión de procesos</dc:title>
  <dc:subject>Técnicas de modelado de procesos</dc:subject>
  <dc:creator>Proyecto educativo · elaboración asistida por IA</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