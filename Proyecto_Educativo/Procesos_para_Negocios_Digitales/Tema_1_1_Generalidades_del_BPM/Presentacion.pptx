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Hoy estudiaremos generalidades del bpm. El propósito es reconocer proceso, actividad, evento y flujo, y distinguir gestión por procesos, notación y software. Este contenido forma parte de procesos para negocios digitales. Trabajaremos con conceptos y un caso ficticio para tomar decisiones justificadas.</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proponer una solución, considera esta pregunta: ¿Cuál es el proceso completo y por qué sumar las horas de trabajo no explica los tres días? Al terminar deberás explicar tu decisión, indicar cómo la comprobarías y reconocer los límites de la evidencia utilizada.</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proceso es un conjunto relacionado de actividades que transforma entradas en resultados para un destinatario. Tiene un propósito, un desencadenante y límites que permiten distinguirlo de otras operaciones. Puede atravesar varios departamentos. Analizar solo las tareas de un área deja fuera esperas y transferencias que influyen en el resultado que recibe el cliente.</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actividad representa trabajo realizado; una tarea es una unidad de trabajo dentro del nivel de detalle elegido. Un evento indica algo que ocurre y afecta el recorrido, como recibir una solicitud. El flujo expresa el orden o la relación entre elementos. Distinguir estos conceptos evita mezclar acciones, condiciones y resultados cuando se describe cómo funciona una organización.</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qué inicia el proceso, qué trabajo transforma la entrada y qué resultado recibe el destinatario. Después pregunta si ese resultado satisface el propósito y cómo lo comprobarías. Si el recorrido atraviesa áreas, conserva una visión completa: el tiempo de cada tarea no explica por sí solo todas las esperas de una solicitud.</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ficticio: una empresa recibe una solicitud de cotización, verifica requisitos, prepara una propuesta y la comunica al cliente. Ventas tarda una hora y revisión técnica otra, pero la respuesta llega tres días después por esperas entre áreas. El proceso no es solo redactar la propuesta. Para gestionarlo, necesita un responsable del recorrido, estados compartidos y una medida de tiempo desde la recepción hasta la respuesta.</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BPM es una disciplina de gestión orientada a comprender, ejecutar, medir y mejorar procesos de manera continua. Requiere responsables, acuerdos y evidencia sobre desempeño. Un diagrama puede apoyar esa disciplina, pero no reemplaza la gestión. Si nadie revisa el resultado ni decide mejoras, dibujar un proceso no basta para afirmar que se está gestionando por procesos.</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BPM es el enfoque de gestión; BPMN es una notación para representar procesos; una plataforma informática puede apoyar modelado, ejecución o seguimiento. No son sinónimos. Una organización puede empezar a mejorar un proceso con herramientas sencillas, siempre que defina propósito, responsabilidades y comprobaciones. Automatizar tareas sin entender el recorrido puede conservar o amplificar un problema existente.</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aplicar lo aprendido, desarrolla la tarea editable. Delimita el proceso con entrada, evento inicial, destinatario y resultado. Después, representa el recorrido entre áreas y distingue trabajo de espera. Justifica tus decisiones con los conceptos de esta explicación y comprueba tus respuestas en la actividad interactiva.</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 estas ideas. Un proceso entrega un resultado a alguien. Distingue trabajo, eventos y flujo. BPM, BPMN y software cumplen funciones distintas. El caso y sus datos son ficticios. Revisa las fuentes indicadas en los materiales y continúa con la práctica para transferir estos criterios a otra situación.</a:t>
            </a:r>
          </a:p>
          <a:p/>
          <a:p>
            <a:r>
              <a:t>Fuente curricular: Procesos para Negocios Digitales, 1.1, UPS 2026–2027. Referencia: Dumas, La Rosa, Mendling y Reijers (2018), Fundamentals of Business Process Management, 2.ª ed. Springer.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U1 · 1.1</a:t>
            </a:r>
          </a:p>
        </p:txBody>
      </p:sp>
      <p:sp>
        <p:nvSpPr>
          <p:cNvPr id="5" name="TextBox 4"/>
          <p:cNvSpPr txBox="1"/>
          <p:nvPr/>
        </p:nvSpPr>
        <p:spPr>
          <a:xfrm>
            <a:off x="609600" y="1203960"/>
            <a:ext cx="10744200" cy="77724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Generalidades del BPM</a:t>
            </a:r>
          </a:p>
        </p:txBody>
      </p:sp>
      <p:sp>
        <p:nvSpPr>
          <p:cNvPr id="6" name="TextBox 5"/>
          <p:cNvSpPr txBox="1"/>
          <p:nvPr/>
        </p:nvSpPr>
        <p:spPr>
          <a:xfrm>
            <a:off x="647700" y="208026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Reconocer proceso, actividad, evento y flujo, y distinguir gestión por procesos,</a:t>
            </a:r>
          </a:p>
          <a:p>
            <a:pPr>
              <a:lnSpc>
                <a:spcPts val="2640"/>
              </a:lnSpc>
              <a:spcBef>
                <a:spcPts val="0"/>
              </a:spcBef>
              <a:spcAft>
                <a:spcPts val="0"/>
              </a:spcAft>
              <a:defRPr sz="1920" b="0">
                <a:solidFill>
                  <a:srgbClr val="D6E4E8"/>
                </a:solidFill>
                <a:latin typeface="Noto Sans"/>
              </a:defRPr>
            </a:pPr>
            <a:r>
              <a:t>notación y software.</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Reconocer proceso, actividad, evento y flujo, y distinguir gestión por procesos,</a:t>
            </a:r>
          </a:p>
          <a:p>
            <a:pPr>
              <a:lnSpc>
                <a:spcPts val="2820"/>
              </a:lnSpc>
              <a:spcBef>
                <a:spcPts val="0"/>
              </a:spcBef>
              <a:spcAft>
                <a:spcPts val="0"/>
              </a:spcAft>
              <a:defRPr sz="2039" b="1">
                <a:solidFill>
                  <a:srgbClr val="18394A"/>
                </a:solidFill>
                <a:latin typeface="Noto Sans"/>
              </a:defRPr>
            </a:pPr>
            <a:r>
              <a:t>notación y software.</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¿Cuál es el proceso completo y por qué sumar las horas de trabajo no explica los tres</a:t>
            </a:r>
          </a:p>
          <a:p>
            <a:pPr>
              <a:lnSpc>
                <a:spcPts val="2820"/>
              </a:lnSpc>
              <a:spcBef>
                <a:spcPts val="0"/>
              </a:spcBef>
              <a:spcAft>
                <a:spcPts val="0"/>
              </a:spcAft>
              <a:defRPr sz="2039" b="0">
                <a:solidFill>
                  <a:srgbClr val="18394A"/>
                </a:solidFill>
                <a:latin typeface="Noto Sans"/>
              </a:defRPr>
            </a:pPr>
            <a:r>
              <a:t>días?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Qué es un proceso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 proceso es un conjunto relacionado de actividades que transforma entradas en</a:t>
            </a:r>
          </a:p>
          <a:p>
            <a:pPr>
              <a:lnSpc>
                <a:spcPts val="2580"/>
              </a:lnSpc>
              <a:spcBef>
                <a:spcPts val="0"/>
              </a:spcBef>
              <a:spcAft>
                <a:spcPts val="0"/>
              </a:spcAft>
              <a:defRPr sz="1859" b="0">
                <a:solidFill>
                  <a:srgbClr val="18394A"/>
                </a:solidFill>
                <a:latin typeface="Noto Sans"/>
              </a:defRPr>
            </a:pPr>
            <a:r>
              <a:t>resultados para un destinatario. Tiene un propósito, un desencadenante y límites que</a:t>
            </a:r>
          </a:p>
          <a:p>
            <a:pPr>
              <a:lnSpc>
                <a:spcPts val="2580"/>
              </a:lnSpc>
              <a:spcBef>
                <a:spcPts val="0"/>
              </a:spcBef>
              <a:spcAft>
                <a:spcPts val="0"/>
              </a:spcAft>
              <a:defRPr sz="1859" b="0">
                <a:solidFill>
                  <a:srgbClr val="18394A"/>
                </a:solidFill>
                <a:latin typeface="Noto Sans"/>
              </a:defRPr>
            </a:pPr>
            <a:r>
              <a:t>permiten distinguirlo de otras operaciones. Puede atravesar varios departamentos. Analizar</a:t>
            </a:r>
          </a:p>
          <a:p>
            <a:pPr>
              <a:lnSpc>
                <a:spcPts val="2580"/>
              </a:lnSpc>
              <a:spcBef>
                <a:spcPts val="0"/>
              </a:spcBef>
              <a:spcAft>
                <a:spcPts val="0"/>
              </a:spcAft>
              <a:defRPr sz="1859" b="0">
                <a:solidFill>
                  <a:srgbClr val="18394A"/>
                </a:solidFill>
                <a:latin typeface="Noto Sans"/>
              </a:defRPr>
            </a:pPr>
            <a:r>
              <a:t>solo las tareas de un área deja fuera esperas y transferencias que influyen en el resultado</a:t>
            </a:r>
          </a:p>
          <a:p>
            <a:pPr>
              <a:lnSpc>
                <a:spcPts val="2580"/>
              </a:lnSpc>
              <a:spcBef>
                <a:spcPts val="0"/>
              </a:spcBef>
              <a:spcAft>
                <a:spcPts val="0"/>
              </a:spcAft>
              <a:defRPr sz="1859" b="0">
                <a:solidFill>
                  <a:srgbClr val="18394A"/>
                </a:solidFill>
                <a:latin typeface="Noto Sans"/>
              </a:defRPr>
            </a:pPr>
            <a:r>
              <a:t>que recibe el cliente.</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Vocabulario fundamental</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actividad representa trabajo realizado; una tarea es una unidad de trabajo dentro del</a:t>
            </a:r>
          </a:p>
          <a:p>
            <a:pPr>
              <a:lnSpc>
                <a:spcPts val="2580"/>
              </a:lnSpc>
              <a:spcBef>
                <a:spcPts val="0"/>
              </a:spcBef>
              <a:spcAft>
                <a:spcPts val="0"/>
              </a:spcAft>
              <a:defRPr sz="1859" b="0">
                <a:solidFill>
                  <a:srgbClr val="18394A"/>
                </a:solidFill>
                <a:latin typeface="Noto Sans"/>
              </a:defRPr>
            </a:pPr>
            <a:r>
              <a:t>nivel de detalle elegido. Un evento indica algo que ocurre y afecta el recorrido, como recibir</a:t>
            </a:r>
          </a:p>
          <a:p>
            <a:pPr>
              <a:lnSpc>
                <a:spcPts val="2580"/>
              </a:lnSpc>
              <a:spcBef>
                <a:spcPts val="0"/>
              </a:spcBef>
              <a:spcAft>
                <a:spcPts val="0"/>
              </a:spcAft>
              <a:defRPr sz="1859" b="0">
                <a:solidFill>
                  <a:srgbClr val="18394A"/>
                </a:solidFill>
                <a:latin typeface="Noto Sans"/>
              </a:defRPr>
            </a:pPr>
            <a:r>
              <a:t>una solicitud. El flujo expresa el orden o la relación entre elementos. Distinguir estos</a:t>
            </a:r>
          </a:p>
          <a:p>
            <a:pPr>
              <a:lnSpc>
                <a:spcPts val="2580"/>
              </a:lnSpc>
              <a:spcBef>
                <a:spcPts val="0"/>
              </a:spcBef>
              <a:spcAft>
                <a:spcPts val="0"/>
              </a:spcAft>
              <a:defRPr sz="1859" b="0">
                <a:solidFill>
                  <a:srgbClr val="18394A"/>
                </a:solidFill>
                <a:latin typeface="Noto Sans"/>
              </a:defRPr>
            </a:pPr>
            <a:r>
              <a:t>conceptos evita mezclar acciones, condiciones y resultados cuando se describe cómo</a:t>
            </a:r>
          </a:p>
          <a:p>
            <a:pPr>
              <a:lnSpc>
                <a:spcPts val="2580"/>
              </a:lnSpc>
              <a:spcBef>
                <a:spcPts val="0"/>
              </a:spcBef>
              <a:spcAft>
                <a:spcPts val="0"/>
              </a:spcAft>
              <a:defRPr sz="1859" b="0">
                <a:solidFill>
                  <a:srgbClr val="18394A"/>
                </a:solidFill>
                <a:latin typeface="Noto Sans"/>
              </a:defRPr>
            </a:pPr>
            <a:r>
              <a:t>funciona una organización.</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Recibir entrada</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Realizar trabajo</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Entregar resultado</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Evaluar propósito</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Describe qué inicia el proceso, qué trabajo transforma la entrada y qué resultado recibe el</a:t>
            </a:r>
          </a:p>
          <a:p>
            <a:pPr>
              <a:lnSpc>
                <a:spcPts val="2400"/>
              </a:lnSpc>
              <a:spcBef>
                <a:spcPts val="0"/>
              </a:spcBef>
              <a:spcAft>
                <a:spcPts val="0"/>
              </a:spcAft>
              <a:defRPr sz="1739" b="0">
                <a:solidFill>
                  <a:srgbClr val="536975"/>
                </a:solidFill>
                <a:latin typeface="Noto Sans"/>
              </a:defRPr>
            </a:pPr>
            <a:r>
              <a:t>destinatario. Después pregunta si ese resultado satisface el propósito y cómo lo comprobarías. Si el</a:t>
            </a:r>
          </a:p>
          <a:p>
            <a:pPr>
              <a:lnSpc>
                <a:spcPts val="2400"/>
              </a:lnSpc>
              <a:spcBef>
                <a:spcPts val="0"/>
              </a:spcBef>
              <a:spcAft>
                <a:spcPts val="0"/>
              </a:spcAft>
              <a:defRPr sz="1739" b="0">
                <a:solidFill>
                  <a:srgbClr val="536975"/>
                </a:solidFill>
                <a:latin typeface="Noto Sans"/>
              </a:defRPr>
            </a:pPr>
            <a:r>
              <a:t>recorrido atraviesa áreas, conserva una visión completa: el tiempo de cada tarea no explica por sí</a:t>
            </a:r>
          </a:p>
          <a:p>
            <a:pPr>
              <a:lnSpc>
                <a:spcPts val="2400"/>
              </a:lnSpc>
              <a:spcBef>
                <a:spcPts val="0"/>
              </a:spcBef>
              <a:spcAft>
                <a:spcPts val="0"/>
              </a:spcAft>
              <a:defRPr sz="1739" b="0">
                <a:solidFill>
                  <a:srgbClr val="536975"/>
                </a:solidFill>
                <a:latin typeface="Noto Sans"/>
              </a:defRPr>
            </a:pPr>
            <a:r>
              <a:t>solo todas las esperas de una solicitud.</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una empresa recibe una solicitud de cotización, verifica requisitos, prepara una</a:t>
            </a:r>
          </a:p>
          <a:p>
            <a:pPr>
              <a:lnSpc>
                <a:spcPts val="2400"/>
              </a:lnSpc>
              <a:spcBef>
                <a:spcPts val="0"/>
              </a:spcBef>
              <a:spcAft>
                <a:spcPts val="0"/>
              </a:spcAft>
              <a:defRPr sz="1739" b="0">
                <a:solidFill>
                  <a:srgbClr val="18394A"/>
                </a:solidFill>
                <a:latin typeface="Noto Sans"/>
              </a:defRPr>
            </a:pPr>
            <a:r>
              <a:t>propuesta y la comunica al cliente. Ventas tarda una hora y revisión técnica otra, pero la respuesta</a:t>
            </a:r>
          </a:p>
          <a:p>
            <a:pPr>
              <a:lnSpc>
                <a:spcPts val="2400"/>
              </a:lnSpc>
              <a:spcBef>
                <a:spcPts val="0"/>
              </a:spcBef>
              <a:spcAft>
                <a:spcPts val="0"/>
              </a:spcAft>
              <a:defRPr sz="1739" b="0">
                <a:solidFill>
                  <a:srgbClr val="18394A"/>
                </a:solidFill>
                <a:latin typeface="Noto Sans"/>
              </a:defRPr>
            </a:pPr>
            <a:r>
              <a:t>llega tres días después por esperas entre áreas. El proceso no es solo redactar la propuesta. Para</a:t>
            </a:r>
          </a:p>
          <a:p>
            <a:pPr>
              <a:lnSpc>
                <a:spcPts val="2400"/>
              </a:lnSpc>
              <a:spcBef>
                <a:spcPts val="0"/>
              </a:spcBef>
              <a:spcAft>
                <a:spcPts val="0"/>
              </a:spcAft>
              <a:defRPr sz="1739" b="0">
                <a:solidFill>
                  <a:srgbClr val="18394A"/>
                </a:solidFill>
                <a:latin typeface="Noto Sans"/>
              </a:defRPr>
            </a:pPr>
            <a:r>
              <a:t>gestionarlo, necesita un responsable del recorrido, estados compartidos y una medida de tiempo</a:t>
            </a:r>
          </a:p>
          <a:p>
            <a:pPr>
              <a:lnSpc>
                <a:spcPts val="2400"/>
              </a:lnSpc>
              <a:spcBef>
                <a:spcPts val="0"/>
              </a:spcBef>
              <a:spcAft>
                <a:spcPts val="0"/>
              </a:spcAft>
              <a:defRPr sz="1739" b="0">
                <a:solidFill>
                  <a:srgbClr val="18394A"/>
                </a:solidFill>
                <a:latin typeface="Noto Sans"/>
              </a:defRPr>
            </a:pPr>
            <a:r>
              <a:t>desde la recepción hasta la respuesta.</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¿Cuál es el proceso completo y por qué sumar las horas de trabajo no explica los tres días?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Gestión por procesos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BPM es una disciplina de gestión orientada a comprender, ejecutar, medir y mejorar</a:t>
            </a:r>
          </a:p>
          <a:p>
            <a:pPr>
              <a:lnSpc>
                <a:spcPts val="2580"/>
              </a:lnSpc>
              <a:spcBef>
                <a:spcPts val="0"/>
              </a:spcBef>
              <a:spcAft>
                <a:spcPts val="0"/>
              </a:spcAft>
              <a:defRPr sz="1859" b="0">
                <a:solidFill>
                  <a:srgbClr val="18394A"/>
                </a:solidFill>
                <a:latin typeface="Noto Sans"/>
              </a:defRPr>
            </a:pPr>
            <a:r>
              <a:t>procesos de manera continua. Requiere responsables, acuerdos y evidencia sobre</a:t>
            </a:r>
          </a:p>
          <a:p>
            <a:pPr>
              <a:lnSpc>
                <a:spcPts val="2580"/>
              </a:lnSpc>
              <a:spcBef>
                <a:spcPts val="0"/>
              </a:spcBef>
              <a:spcAft>
                <a:spcPts val="0"/>
              </a:spcAft>
              <a:defRPr sz="1859" b="0">
                <a:solidFill>
                  <a:srgbClr val="18394A"/>
                </a:solidFill>
                <a:latin typeface="Noto Sans"/>
              </a:defRPr>
            </a:pPr>
            <a:r>
              <a:t>desempeño. Un diagrama puede apoyar esa disciplina, pero no reemplaza la gestión. Si</a:t>
            </a:r>
          </a:p>
          <a:p>
            <a:pPr>
              <a:lnSpc>
                <a:spcPts val="2580"/>
              </a:lnSpc>
              <a:spcBef>
                <a:spcPts val="0"/>
              </a:spcBef>
              <a:spcAft>
                <a:spcPts val="0"/>
              </a:spcAft>
              <a:defRPr sz="1859" b="0">
                <a:solidFill>
                  <a:srgbClr val="18394A"/>
                </a:solidFill>
                <a:latin typeface="Noto Sans"/>
              </a:defRPr>
            </a:pPr>
            <a:r>
              <a:t>nadie revisa el resultado ni decide mejoras, dibujar un proceso no basta para afirmar que se</a:t>
            </a:r>
          </a:p>
          <a:p>
            <a:pPr>
              <a:lnSpc>
                <a:spcPts val="2580"/>
              </a:lnSpc>
              <a:spcBef>
                <a:spcPts val="0"/>
              </a:spcBef>
              <a:spcAft>
                <a:spcPts val="0"/>
              </a:spcAft>
              <a:defRPr sz="1859" b="0">
                <a:solidFill>
                  <a:srgbClr val="18394A"/>
                </a:solidFill>
                <a:latin typeface="Noto Sans"/>
              </a:defRPr>
            </a:pPr>
            <a:r>
              <a:t>está gestionando por procesos.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Disciplina, notación y herramienta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BPM es el enfoque de gestión; BPMN es una notación para representar procesos; una</a:t>
            </a:r>
          </a:p>
          <a:p>
            <a:pPr>
              <a:lnSpc>
                <a:spcPts val="2580"/>
              </a:lnSpc>
              <a:spcBef>
                <a:spcPts val="0"/>
              </a:spcBef>
              <a:spcAft>
                <a:spcPts val="0"/>
              </a:spcAft>
              <a:defRPr sz="1859" b="0">
                <a:solidFill>
                  <a:srgbClr val="18394A"/>
                </a:solidFill>
                <a:latin typeface="Noto Sans"/>
              </a:defRPr>
            </a:pPr>
            <a:r>
              <a:t>plataforma informática puede apoyar modelado, ejecución o seguimiento. No son</a:t>
            </a:r>
          </a:p>
          <a:p>
            <a:pPr>
              <a:lnSpc>
                <a:spcPts val="2580"/>
              </a:lnSpc>
              <a:spcBef>
                <a:spcPts val="0"/>
              </a:spcBef>
              <a:spcAft>
                <a:spcPts val="0"/>
              </a:spcAft>
              <a:defRPr sz="1859" b="0">
                <a:solidFill>
                  <a:srgbClr val="18394A"/>
                </a:solidFill>
                <a:latin typeface="Noto Sans"/>
              </a:defRPr>
            </a:pPr>
            <a:r>
              <a:t>sinónimos. Una organización puede empezar a mejorar un proceso con herramientas</a:t>
            </a:r>
          </a:p>
          <a:p>
            <a:pPr>
              <a:lnSpc>
                <a:spcPts val="2580"/>
              </a:lnSpc>
              <a:spcBef>
                <a:spcPts val="0"/>
              </a:spcBef>
              <a:spcAft>
                <a:spcPts val="0"/>
              </a:spcAft>
              <a:defRPr sz="1859" b="0">
                <a:solidFill>
                  <a:srgbClr val="18394A"/>
                </a:solidFill>
                <a:latin typeface="Noto Sans"/>
              </a:defRPr>
            </a:pPr>
            <a:r>
              <a:t>sencillas, siempre que defina propósito, responsabilidades y comprobaciones. Automatizar</a:t>
            </a:r>
          </a:p>
          <a:p>
            <a:pPr>
              <a:lnSpc>
                <a:spcPts val="2580"/>
              </a:lnSpc>
              <a:spcBef>
                <a:spcPts val="0"/>
              </a:spcBef>
              <a:spcAft>
                <a:spcPts val="0"/>
              </a:spcAft>
              <a:defRPr sz="1859" b="0">
                <a:solidFill>
                  <a:srgbClr val="18394A"/>
                </a:solidFill>
                <a:latin typeface="Noto Sans"/>
              </a:defRPr>
            </a:pPr>
            <a:r>
              <a:t>tareas sin entender el recorrido puede conservar o amplificar un problema existente.</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U1 · 1.1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Delimita el proceso con entrada, evento inicial, destinatario y resultado.</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Identifica dos actividades, un evento y una relación de flujo del caso.</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Representa el recorrido entre áreas y distingue trabajo de espera.</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Explica qué decisiones pertenecen a BPM, qué representa BPMN y qué podría apoyar una herramienta.</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U1 · 1.1</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Un proceso entrega un resultado a alguien.</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Distingue trabajo, eventos y flujo.</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BPM, BPMN y software cumplen funciones distintas.</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Dumas, La Rosa, Mendling y Reijers (2018), Fundamentals</a:t>
            </a:r>
          </a:p>
          <a:p>
            <a:pPr>
              <a:lnSpc>
                <a:spcPts val="1920"/>
              </a:lnSpc>
              <a:spcBef>
                <a:spcPts val="0"/>
              </a:spcBef>
              <a:spcAft>
                <a:spcPts val="0"/>
              </a:spcAft>
              <a:defRPr sz="1380" b="0">
                <a:solidFill>
                  <a:srgbClr val="D6E4E8"/>
                </a:solidFill>
                <a:latin typeface="Noto Sans"/>
              </a:defRPr>
            </a:pPr>
            <a:r>
              <a:t>of Business Process Management, 2.ª ed. Springer.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Generalidades del BPM</dc:title>
  <dc:subject>Introducción del BPM</dc:subject>
  <dc:creator>Proyecto educativo · elaboración asistida por IA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