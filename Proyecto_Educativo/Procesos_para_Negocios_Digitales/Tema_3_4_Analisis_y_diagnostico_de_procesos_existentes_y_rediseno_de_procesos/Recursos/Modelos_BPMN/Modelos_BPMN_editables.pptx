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Versión simplificada del recorrido; las esperas y responsabilidades deben investigarse.</a:t>
            </a:r>
          </a:p>
          <a:p>
            <a:r>
              <a:t>Modelo BPMN 2.0.2 educativo y no ejecutable. La rama No es el flujo por defecto. El tratamiento de abandono o falta de respuesta debe acordarse antes de usarlo como especificación operacional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Asignación explícita y validación temprana. El resultado debe comprobarse en un piloto.</a:t>
            </a:r>
          </a:p>
          <a:p>
            <a:r>
              <a:t>Modelo BPMN 2.0.2 educativo y no ejecutable. La rama No es el flujo por defecto. El tratamiento de abandono o falta de respuesta debe acordarse antes de usarlo como especificación operacional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BPMN · MODELO DE ENSEÑANZA · NO EJECUTABLE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15340"/>
            <a:ext cx="109728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8394A"/>
                </a:solidFill>
                <a:latin typeface="Noto Sans"/>
              </a:defRPr>
            </a:pPr>
            <a:r>
              <a:t>Proceso de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9240"/>
            <a:ext cx="108966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536975"/>
                </a:solidFill>
                <a:latin typeface="Noto Sans"/>
              </a:defRPr>
            </a:pPr>
            <a:r>
              <a:t>Versión simplificada del recorrido; las esperas y responsabilidades deben investigarse.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84120"/>
            <a:ext cx="10896600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621280"/>
            <a:ext cx="103632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087E8B"/>
                </a:solidFill>
                <a:latin typeface="Noto Sans"/>
              </a:defRPr>
            </a:pPr>
            <a:r>
              <a:t>EQUIPO DE SOPORTE · UN SOLO PARTICIPANTE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26820" y="3261360"/>
            <a:ext cx="44958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33700" y="3261360"/>
            <a:ext cx="38100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86300" y="3261360"/>
            <a:ext cx="41910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3261360"/>
            <a:ext cx="60198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0940" y="3261360"/>
            <a:ext cx="518159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0700" y="3261360"/>
            <a:ext cx="76200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18760" y="3482340"/>
            <a:ext cx="0" cy="1409700"/>
          </a:xfrm>
          <a:prstGeom prst="line">
            <a:avLst/>
          </a:prstGeom>
          <a:ln>
            <a:solidFill>
              <a:srgbClr val="183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18760" y="4892040"/>
            <a:ext cx="81534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20940" y="4892040"/>
            <a:ext cx="518159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24900" y="5212080"/>
            <a:ext cx="0" cy="411480"/>
          </a:xfrm>
          <a:prstGeom prst="line">
            <a:avLst/>
          </a:prstGeom>
          <a:ln>
            <a:solidFill>
              <a:srgbClr val="183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000500" y="5623560"/>
            <a:ext cx="4724400" cy="0"/>
          </a:xfrm>
          <a:prstGeom prst="line">
            <a:avLst/>
          </a:prstGeom>
          <a:ln>
            <a:solidFill>
              <a:srgbClr val="183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000500" y="3581400"/>
            <a:ext cx="0" cy="204216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52500" y="3124200"/>
            <a:ext cx="274320" cy="2743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7740" y="3139440"/>
            <a:ext cx="243840" cy="243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420" y="2750820"/>
            <a:ext cx="8763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8394A"/>
                </a:solidFill>
                <a:latin typeface="Noto Sans"/>
              </a:defRPr>
            </a:pPr>
            <a:r>
              <a:t>Solicitud</a:t>
            </a:r>
          </a:p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8394A"/>
                </a:solidFill>
                <a:latin typeface="Noto Sans"/>
              </a:defRPr>
            </a:pPr>
            <a:r>
              <a:t>recibida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76400" y="2941320"/>
            <a:ext cx="12573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67840" y="3048000"/>
            <a:ext cx="10744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Registrar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solicitud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4700" y="2941320"/>
            <a:ext cx="13716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6140" y="3048000"/>
            <a:ext cx="1188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Revisar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requisitos</a:t>
            </a:r>
          </a:p>
        </p:txBody>
      </p:sp>
      <p:sp>
        <p:nvSpPr>
          <p:cNvPr id="26" name="Diamond 25"/>
          <p:cNvSpPr/>
          <p:nvPr/>
        </p:nvSpPr>
        <p:spPr>
          <a:xfrm>
            <a:off x="5105400" y="3055620"/>
            <a:ext cx="426720" cy="426720"/>
          </a:xfrm>
          <a:prstGeom prst="diamond">
            <a:avLst/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4940" y="3131820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A"/>
                </a:solidFill>
                <a:latin typeface="Noto Sans"/>
              </a:defRPr>
            </a:pPr>
            <a: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4900" y="2727960"/>
            <a:ext cx="990599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18394A"/>
                </a:solidFill>
                <a:latin typeface="Noto Sans"/>
              </a:defRPr>
            </a:pPr>
            <a:r>
              <a:t>¿Completa?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4100" y="2941320"/>
            <a:ext cx="138684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5540" y="3048000"/>
            <a:ext cx="1203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Preparar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respuesta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9099" y="2941320"/>
            <a:ext cx="13716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0540" y="3048000"/>
            <a:ext cx="1188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Comunicar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respuesta</a:t>
            </a:r>
          </a:p>
        </p:txBody>
      </p:sp>
      <p:sp>
        <p:nvSpPr>
          <p:cNvPr id="33" name="Oval 32"/>
          <p:cNvSpPr/>
          <p:nvPr/>
        </p:nvSpPr>
        <p:spPr>
          <a:xfrm>
            <a:off x="10172700" y="3124200"/>
            <a:ext cx="274320" cy="2743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26040" y="3177540"/>
            <a:ext cx="167640" cy="167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3620" y="2750820"/>
            <a:ext cx="8763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8394A"/>
                </a:solidFill>
                <a:latin typeface="Noto Sans"/>
              </a:defRPr>
            </a:pPr>
            <a:r>
              <a:t>Respuesta útil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4100" y="4572000"/>
            <a:ext cx="138684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5540" y="4678680"/>
            <a:ext cx="120396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Solicitar datos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9099" y="4572000"/>
            <a:ext cx="13716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0540" y="4678680"/>
            <a:ext cx="118872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Recibir datos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4040" y="3032760"/>
            <a:ext cx="4572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087E8B"/>
                </a:solidFill>
                <a:latin typeface="Noto Sans"/>
              </a:defRPr>
            </a:pPr>
            <a:r>
              <a:t>Sí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5440" y="4076699"/>
            <a:ext cx="4572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087E8B"/>
                </a:solidFill>
                <a:latin typeface="Noto Sans"/>
              </a:defRPr>
            </a:pPr>
            <a: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248400"/>
            <a:ext cx="109347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36975"/>
                </a:solidFill>
                <a:latin typeface="Noto Sans"/>
              </a:defRPr>
            </a:pPr>
            <a:r>
              <a:t>Ruta exclusiva: una solicitud incompleta vuelve a revisión cuando se reciben datos. El caso sin respuesta requiere una regla adicional según el alcance.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BPMN · MODELO DE ENSEÑANZA · NO EJECUTABLE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15340"/>
            <a:ext cx="109728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8394A"/>
                </a:solidFill>
                <a:latin typeface="Noto Sans"/>
              </a:defRPr>
            </a:pPr>
            <a:r>
              <a:t>Propuesta de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39240"/>
            <a:ext cx="108966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536975"/>
                </a:solidFill>
                <a:latin typeface="Noto Sans"/>
              </a:defRPr>
            </a:pPr>
            <a:r>
              <a:t>Asignación explícita y validación temprana. El resultado debe comprobarse en un piloto.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84120"/>
            <a:ext cx="10896600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621280"/>
            <a:ext cx="103632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087E8B"/>
                </a:solidFill>
                <a:latin typeface="Noto Sans"/>
              </a:defRPr>
            </a:pPr>
            <a:r>
              <a:t>EQUIPO DE SOPORTE · UN SOLO PARTICIPANTE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26820" y="3261360"/>
            <a:ext cx="44958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33700" y="3261360"/>
            <a:ext cx="38100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86300" y="3261360"/>
            <a:ext cx="41910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3261360"/>
            <a:ext cx="60198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0940" y="3261360"/>
            <a:ext cx="518159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0700" y="3261360"/>
            <a:ext cx="76200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18760" y="3482340"/>
            <a:ext cx="0" cy="1409700"/>
          </a:xfrm>
          <a:prstGeom prst="line">
            <a:avLst/>
          </a:prstGeom>
          <a:ln>
            <a:solidFill>
              <a:srgbClr val="183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18760" y="4892040"/>
            <a:ext cx="815340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20940" y="4892040"/>
            <a:ext cx="518159" cy="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24900" y="5212080"/>
            <a:ext cx="0" cy="411480"/>
          </a:xfrm>
          <a:prstGeom prst="line">
            <a:avLst/>
          </a:prstGeom>
          <a:ln>
            <a:solidFill>
              <a:srgbClr val="183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000500" y="5623560"/>
            <a:ext cx="4724400" cy="0"/>
          </a:xfrm>
          <a:prstGeom prst="line">
            <a:avLst/>
          </a:prstGeom>
          <a:ln>
            <a:solidFill>
              <a:srgbClr val="183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000500" y="3581400"/>
            <a:ext cx="0" cy="2042160"/>
          </a:xfrm>
          <a:prstGeom prst="line">
            <a:avLst/>
          </a:prstGeom>
          <a:ln>
            <a:solidFill>
              <a:srgbClr val="1839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52500" y="3124200"/>
            <a:ext cx="274320" cy="2743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7740" y="3139440"/>
            <a:ext cx="243840" cy="243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420" y="2750820"/>
            <a:ext cx="8763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8394A"/>
                </a:solidFill>
                <a:latin typeface="Noto Sans"/>
              </a:defRPr>
            </a:pPr>
            <a:r>
              <a:t>Solicitud</a:t>
            </a:r>
          </a:p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8394A"/>
                </a:solidFill>
                <a:latin typeface="Noto Sans"/>
              </a:defRPr>
            </a:pPr>
            <a:r>
              <a:t>recibida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76400" y="2941320"/>
            <a:ext cx="12573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67840" y="3048000"/>
            <a:ext cx="10744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Registrar y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asignar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4700" y="2941320"/>
            <a:ext cx="13716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6140" y="3048000"/>
            <a:ext cx="118872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Validar al recibir</a:t>
            </a:r>
          </a:p>
        </p:txBody>
      </p:sp>
      <p:sp>
        <p:nvSpPr>
          <p:cNvPr id="26" name="Diamond 25"/>
          <p:cNvSpPr/>
          <p:nvPr/>
        </p:nvSpPr>
        <p:spPr>
          <a:xfrm>
            <a:off x="5105400" y="3055620"/>
            <a:ext cx="426720" cy="426720"/>
          </a:xfrm>
          <a:prstGeom prst="diamond">
            <a:avLst/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4940" y="3131820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A"/>
                </a:solidFill>
                <a:latin typeface="Noto Sans"/>
              </a:defRPr>
            </a:pPr>
            <a: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4900" y="2727960"/>
            <a:ext cx="990599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18394A"/>
                </a:solidFill>
                <a:latin typeface="Noto Sans"/>
              </a:defRPr>
            </a:pPr>
            <a:r>
              <a:t>¿Completa?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4100" y="2941320"/>
            <a:ext cx="138684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5540" y="3048000"/>
            <a:ext cx="1203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Preparar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respuesta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9099" y="2941320"/>
            <a:ext cx="13716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0540" y="3048000"/>
            <a:ext cx="1188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Comunicar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respuesta</a:t>
            </a:r>
          </a:p>
        </p:txBody>
      </p:sp>
      <p:sp>
        <p:nvSpPr>
          <p:cNvPr id="33" name="Oval 32"/>
          <p:cNvSpPr/>
          <p:nvPr/>
        </p:nvSpPr>
        <p:spPr>
          <a:xfrm>
            <a:off x="10172700" y="3124200"/>
            <a:ext cx="274320" cy="27432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26040" y="3177540"/>
            <a:ext cx="167640" cy="167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3620" y="2750820"/>
            <a:ext cx="8763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18394A"/>
                </a:solidFill>
                <a:latin typeface="Noto Sans"/>
              </a:defRPr>
            </a:pPr>
            <a:r>
              <a:t>Respuesta útil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4100" y="4572000"/>
            <a:ext cx="138684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5540" y="4678680"/>
            <a:ext cx="120396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Solicitar datos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9099" y="4572000"/>
            <a:ext cx="1371600" cy="640080"/>
          </a:xfrm>
          <a:prstGeom prst="roundRect">
            <a:avLst>
              <a:gd name="adj" fmla="val 15476"/>
            </a:avLst>
          </a:prstGeom>
          <a:solidFill>
            <a:srgbClr val="E2F0EE"/>
          </a:solidFill>
          <a:ln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0540" y="4678680"/>
            <a:ext cx="118872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18394A"/>
                </a:solidFill>
                <a:latin typeface="Noto Sans"/>
              </a:defRPr>
            </a:pPr>
            <a:r>
              <a:t>Recibir datos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4040" y="3032760"/>
            <a:ext cx="4572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087E8B"/>
                </a:solidFill>
                <a:latin typeface="Noto Sans"/>
              </a:defRPr>
            </a:pPr>
            <a:r>
              <a:t>Sí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5440" y="4076699"/>
            <a:ext cx="4572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087E8B"/>
                </a:solidFill>
                <a:latin typeface="Noto Sans"/>
              </a:defRPr>
            </a:pPr>
            <a: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248400"/>
            <a:ext cx="10934700" cy="29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36975"/>
                </a:solidFill>
                <a:latin typeface="Noto Sans"/>
              </a:defRPr>
            </a:pPr>
            <a:r>
              <a:t>Ruta exclusiva: una solicitud incompleta vuelve a revisión cuando se reciben datos. El caso sin respuesta requiere una regla adicional según el alcance.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